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451" r:id="rId6"/>
    <p:sldId id="452" r:id="rId7"/>
    <p:sldId id="453" r:id="rId8"/>
    <p:sldId id="454" r:id="rId9"/>
    <p:sldId id="455" r:id="rId10"/>
    <p:sldId id="456" r:id="rId11"/>
    <p:sldId id="457" r:id="rId12"/>
    <p:sldId id="458" r:id="rId13"/>
    <p:sldId id="459" r:id="rId14"/>
    <p:sldId id="448" r:id="rId15"/>
    <p:sldId id="356" r:id="rId16"/>
    <p:sldId id="359" r:id="rId17"/>
    <p:sldId id="360" r:id="rId18"/>
    <p:sldId id="443" r:id="rId19"/>
    <p:sldId id="446" r:id="rId20"/>
    <p:sldId id="447" r:id="rId21"/>
    <p:sldId id="441" r:id="rId22"/>
    <p:sldId id="442" r:id="rId23"/>
    <p:sldId id="444" r:id="rId24"/>
    <p:sldId id="445" r:id="rId25"/>
    <p:sldId id="449" r:id="rId26"/>
    <p:sldId id="376" r:id="rId27"/>
    <p:sldId id="382" r:id="rId28"/>
    <p:sldId id="362" r:id="rId29"/>
    <p:sldId id="367" r:id="rId30"/>
    <p:sldId id="368" r:id="rId31"/>
    <p:sldId id="369" r:id="rId32"/>
    <p:sldId id="371" r:id="rId33"/>
    <p:sldId id="450" r:id="rId34"/>
    <p:sldId id="372" r:id="rId35"/>
    <p:sldId id="373" r:id="rId36"/>
    <p:sldId id="374" r:id="rId37"/>
    <p:sldId id="381" r:id="rId38"/>
    <p:sldId id="386" r:id="rId39"/>
    <p:sldId id="387" r:id="rId40"/>
    <p:sldId id="388" r:id="rId41"/>
    <p:sldId id="435" r:id="rId42"/>
    <p:sldId id="436" r:id="rId43"/>
    <p:sldId id="437" r:id="rId44"/>
    <p:sldId id="438" r:id="rId45"/>
    <p:sldId id="389" r:id="rId46"/>
    <p:sldId id="399" r:id="rId47"/>
    <p:sldId id="398" r:id="rId48"/>
    <p:sldId id="400" r:id="rId49"/>
    <p:sldId id="401" r:id="rId50"/>
    <p:sldId id="403" r:id="rId51"/>
    <p:sldId id="404" r:id="rId52"/>
    <p:sldId id="405" r:id="rId53"/>
    <p:sldId id="406" r:id="rId54"/>
    <p:sldId id="407" r:id="rId55"/>
    <p:sldId id="408" r:id="rId56"/>
    <p:sldId id="409" r:id="rId57"/>
    <p:sldId id="410" r:id="rId58"/>
    <p:sldId id="411" r:id="rId59"/>
    <p:sldId id="412" r:id="rId60"/>
    <p:sldId id="413" r:id="rId61"/>
    <p:sldId id="415" r:id="rId62"/>
    <p:sldId id="416" r:id="rId63"/>
    <p:sldId id="418" r:id="rId64"/>
    <p:sldId id="427" r:id="rId65"/>
    <p:sldId id="419" r:id="rId66"/>
    <p:sldId id="422" r:id="rId67"/>
    <p:sldId id="420" r:id="rId68"/>
    <p:sldId id="460" r:id="rId69"/>
    <p:sldId id="333" r:id="rId70"/>
    <p:sldId id="334" r:id="rId71"/>
    <p:sldId id="335" r:id="rId72"/>
    <p:sldId id="336" r:id="rId73"/>
    <p:sldId id="338" r:id="rId74"/>
    <p:sldId id="393" r:id="rId75"/>
    <p:sldId id="402" r:id="rId76"/>
    <p:sldId id="424" r:id="rId77"/>
    <p:sldId id="425" r:id="rId78"/>
    <p:sldId id="426" r:id="rId79"/>
    <p:sldId id="430" r:id="rId80"/>
    <p:sldId id="431" r:id="rId81"/>
    <p:sldId id="432" r:id="rId82"/>
    <p:sldId id="433" r:id="rId83"/>
    <p:sldId id="434" r:id="rId84"/>
    <p:sldId id="439" r:id="rId85"/>
    <p:sldId id="377" r:id="rId86"/>
    <p:sldId id="365" r:id="rId87"/>
    <p:sldId id="378" r:id="rId88"/>
    <p:sldId id="440" r:id="rId8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5" d="100"/>
          <a:sy n="75" d="100"/>
        </p:scale>
        <p:origin x="902" y="43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2.xml"/><Relationship Id="rId21" Type="http://schemas.openxmlformats.org/officeDocument/2006/relationships/slide" Target="slides/slide17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63" Type="http://schemas.openxmlformats.org/officeDocument/2006/relationships/slide" Target="slides/slide59.xml"/><Relationship Id="rId68" Type="http://schemas.openxmlformats.org/officeDocument/2006/relationships/slide" Target="slides/slide64.xml"/><Relationship Id="rId84" Type="http://schemas.openxmlformats.org/officeDocument/2006/relationships/slide" Target="slides/slide80.xml"/><Relationship Id="rId89" Type="http://schemas.openxmlformats.org/officeDocument/2006/relationships/slide" Target="slides/slide85.xml"/><Relationship Id="rId16" Type="http://schemas.openxmlformats.org/officeDocument/2006/relationships/slide" Target="slides/slide12.xml"/><Relationship Id="rId11" Type="http://schemas.openxmlformats.org/officeDocument/2006/relationships/slide" Target="slides/slide7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53" Type="http://schemas.openxmlformats.org/officeDocument/2006/relationships/slide" Target="slides/slide49.xml"/><Relationship Id="rId58" Type="http://schemas.openxmlformats.org/officeDocument/2006/relationships/slide" Target="slides/slide54.xml"/><Relationship Id="rId74" Type="http://schemas.openxmlformats.org/officeDocument/2006/relationships/slide" Target="slides/slide70.xml"/><Relationship Id="rId79" Type="http://schemas.openxmlformats.org/officeDocument/2006/relationships/slide" Target="slides/slide75.xml"/><Relationship Id="rId5" Type="http://schemas.openxmlformats.org/officeDocument/2006/relationships/slide" Target="slides/slide1.xml"/><Relationship Id="rId90" Type="http://schemas.openxmlformats.org/officeDocument/2006/relationships/presProps" Target="presProps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64" Type="http://schemas.openxmlformats.org/officeDocument/2006/relationships/slide" Target="slides/slide60.xml"/><Relationship Id="rId69" Type="http://schemas.openxmlformats.org/officeDocument/2006/relationships/slide" Target="slides/slide65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72" Type="http://schemas.openxmlformats.org/officeDocument/2006/relationships/slide" Target="slides/slide68.xml"/><Relationship Id="rId80" Type="http://schemas.openxmlformats.org/officeDocument/2006/relationships/slide" Target="slides/slide76.xml"/><Relationship Id="rId85" Type="http://schemas.openxmlformats.org/officeDocument/2006/relationships/slide" Target="slides/slide81.xml"/><Relationship Id="rId93" Type="http://schemas.openxmlformats.org/officeDocument/2006/relationships/tableStyles" Target="tableStyles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59" Type="http://schemas.openxmlformats.org/officeDocument/2006/relationships/slide" Target="slides/slide55.xml"/><Relationship Id="rId67" Type="http://schemas.openxmlformats.org/officeDocument/2006/relationships/slide" Target="slides/slide63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54" Type="http://schemas.openxmlformats.org/officeDocument/2006/relationships/slide" Target="slides/slide50.xml"/><Relationship Id="rId62" Type="http://schemas.openxmlformats.org/officeDocument/2006/relationships/slide" Target="slides/slide58.xml"/><Relationship Id="rId70" Type="http://schemas.openxmlformats.org/officeDocument/2006/relationships/slide" Target="slides/slide66.xml"/><Relationship Id="rId75" Type="http://schemas.openxmlformats.org/officeDocument/2006/relationships/slide" Target="slides/slide71.xml"/><Relationship Id="rId83" Type="http://schemas.openxmlformats.org/officeDocument/2006/relationships/slide" Target="slides/slide79.xml"/><Relationship Id="rId88" Type="http://schemas.openxmlformats.org/officeDocument/2006/relationships/slide" Target="slides/slide84.xml"/><Relationship Id="rId91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openxmlformats.org/officeDocument/2006/relationships/slide" Target="slides/slide53.xml"/><Relationship Id="rId10" Type="http://schemas.openxmlformats.org/officeDocument/2006/relationships/slide" Target="slides/slide6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slide" Target="slides/slide48.xml"/><Relationship Id="rId60" Type="http://schemas.openxmlformats.org/officeDocument/2006/relationships/slide" Target="slides/slide56.xml"/><Relationship Id="rId65" Type="http://schemas.openxmlformats.org/officeDocument/2006/relationships/slide" Target="slides/slide61.xml"/><Relationship Id="rId73" Type="http://schemas.openxmlformats.org/officeDocument/2006/relationships/slide" Target="slides/slide69.xml"/><Relationship Id="rId78" Type="http://schemas.openxmlformats.org/officeDocument/2006/relationships/slide" Target="slides/slide74.xml"/><Relationship Id="rId81" Type="http://schemas.openxmlformats.org/officeDocument/2006/relationships/slide" Target="slides/slide77.xml"/><Relationship Id="rId86" Type="http://schemas.openxmlformats.org/officeDocument/2006/relationships/slide" Target="slides/slide82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9" Type="http://schemas.openxmlformats.org/officeDocument/2006/relationships/slide" Target="slides/slide35.xml"/><Relationship Id="rId34" Type="http://schemas.openxmlformats.org/officeDocument/2006/relationships/slide" Target="slides/slide30.xml"/><Relationship Id="rId50" Type="http://schemas.openxmlformats.org/officeDocument/2006/relationships/slide" Target="slides/slide46.xml"/><Relationship Id="rId55" Type="http://schemas.openxmlformats.org/officeDocument/2006/relationships/slide" Target="slides/slide51.xml"/><Relationship Id="rId76" Type="http://schemas.openxmlformats.org/officeDocument/2006/relationships/slide" Target="slides/slide72.xml"/><Relationship Id="rId7" Type="http://schemas.openxmlformats.org/officeDocument/2006/relationships/slide" Target="slides/slide3.xml"/><Relationship Id="rId71" Type="http://schemas.openxmlformats.org/officeDocument/2006/relationships/slide" Target="slides/slide67.xml"/><Relationship Id="rId92" Type="http://schemas.openxmlformats.org/officeDocument/2006/relationships/theme" Target="theme/theme1.xml"/><Relationship Id="rId2" Type="http://schemas.openxmlformats.org/officeDocument/2006/relationships/customXml" Target="../customXml/item2.xml"/><Relationship Id="rId29" Type="http://schemas.openxmlformats.org/officeDocument/2006/relationships/slide" Target="slides/slide25.xml"/><Relationship Id="rId24" Type="http://schemas.openxmlformats.org/officeDocument/2006/relationships/slide" Target="slides/slide20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66" Type="http://schemas.openxmlformats.org/officeDocument/2006/relationships/slide" Target="slides/slide62.xml"/><Relationship Id="rId87" Type="http://schemas.openxmlformats.org/officeDocument/2006/relationships/slide" Target="slides/slide83.xml"/><Relationship Id="rId61" Type="http://schemas.openxmlformats.org/officeDocument/2006/relationships/slide" Target="slides/slide57.xml"/><Relationship Id="rId82" Type="http://schemas.openxmlformats.org/officeDocument/2006/relationships/slide" Target="slides/slide78.xml"/><Relationship Id="rId19" Type="http://schemas.openxmlformats.org/officeDocument/2006/relationships/slide" Target="slides/slide15.xml"/><Relationship Id="rId14" Type="http://schemas.openxmlformats.org/officeDocument/2006/relationships/slide" Target="slides/slide10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56" Type="http://schemas.openxmlformats.org/officeDocument/2006/relationships/slide" Target="slides/slide52.xml"/><Relationship Id="rId77" Type="http://schemas.openxmlformats.org/officeDocument/2006/relationships/slide" Target="slides/slide7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89369C-619B-9968-3DFA-43B0233184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57934D-F3CE-9E9A-629D-0BC273A807B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FE9486-D215-5B97-25FE-CBC5F2542F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F5F3D-BA63-4271-9F17-5F1916C6CF56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FBEC91-F92C-618F-006A-8E0082B9E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7DC0A6-F9A9-3B25-4B5C-FFCB0AEC89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A4D6-B23F-46C3-ADC5-190CA0A4F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323476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ACC14-E936-E695-7829-24936131D5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BAAD43-69BB-49AA-4B22-6F07A3FA8B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A17B50-4E0A-1982-69E1-6D11B89226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F5F3D-BA63-4271-9F17-5F1916C6CF56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C6EE5-0214-49A1-FBB2-10014DA60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6CD76D-33EF-C037-BCF3-724E31BD94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A4D6-B23F-46C3-ADC5-190CA0A4F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625421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C7877-B499-66E9-F9EC-B4CB9498D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D9C643-F99C-06FB-C61B-BFC315C8ED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A7CBE1-D741-8DBF-82DF-0A660DAEE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F5F3D-BA63-4271-9F17-5F1916C6CF56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130BE2-8117-00A5-FC59-B9EC4D491A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348BE7-F9D4-8389-680E-FD9370EB74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A4D6-B23F-46C3-ADC5-190CA0A4F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485118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9DD992-E93C-F652-43B5-1EA73D7C4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EE6145-4EB0-4F3A-1E2E-892B57E47E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14F3A7-E9AE-0B22-083A-BBEEE60A3F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D61A6-3E7A-2F2A-0948-DE41AC41A8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F5F3D-BA63-4271-9F17-5F1916C6CF56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F31EE6-E21B-AC66-DA6D-778F04D78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DC961C-5D64-1E4D-039B-0A75766209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A4D6-B23F-46C3-ADC5-190CA0A4F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04843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59FBD-43AB-BE69-5D3D-E8C0B5FAFA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4FA281-266A-340D-9C31-07D7BE84B2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A9BEB35-CE1C-4570-653C-DBCC71D2D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98D450-FDE3-B201-FD94-AAD5276825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A92B585-B966-5113-B9EB-7159DE6D02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15E09F1-812E-6EA3-F949-320956A53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F5F3D-BA63-4271-9F17-5F1916C6CF56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8CE1B1-3601-ECB8-76C3-DBBE0DCBE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3CC8A5-8AB6-9962-750F-9C4EE3F88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A4D6-B23F-46C3-ADC5-190CA0A4F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5480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96B1-2B37-4B06-E480-F5628AA6C2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A17C5E7-A49D-420D-91AC-BA732B31C2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F5F3D-BA63-4271-9F17-5F1916C6CF56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145F89-FF18-A288-A7EF-C7A8DCC7F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FC47D3-1025-4452-9CC2-D0A264B3C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A4D6-B23F-46C3-ADC5-190CA0A4F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8934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782B1DE-4210-0512-4723-1CB8864923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F5F3D-BA63-4271-9F17-5F1916C6CF56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2E2EC1-3771-9649-BA21-8A49EFA903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5C2222-1A46-18EF-3BE2-0A7BD6F0A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A4D6-B23F-46C3-ADC5-190CA0A4F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583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1C92B-66C5-1477-B407-3D411E0DF9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AB7C70-66CF-98B4-DB78-2E1BD9AB86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7C39F9-8446-E835-0FDE-431AED6637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8D5651C-3441-D911-FC85-A9B8202486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F5F3D-BA63-4271-9F17-5F1916C6CF56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3BCFC9-A039-C585-1512-2906E166D6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46F376-0C08-EFA5-7D6F-8B2AA07B4B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A4D6-B23F-46C3-ADC5-190CA0A4F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352249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4E9C2-804B-9BD9-DFF8-A18BCCB88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5D6C08-D64F-0542-3FC3-EAA6C0A731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618C2F-DF23-3E47-C47A-0C05DC9B95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E69458-945E-31F4-DBF3-6AA3E276AB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F5F3D-BA63-4271-9F17-5F1916C6CF56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DEB35C-7F4A-B4A1-F5B6-290194BFCB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27787-C3D8-9941-BAE8-D14E9619E9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A4D6-B23F-46C3-ADC5-190CA0A4F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7775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A23BE-C08B-3B62-5F8A-79F83CB8C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3756C6-F386-9551-ED2B-32B8F676BE0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DFDC33-9DC7-3356-4765-66E801DE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F5F3D-BA63-4271-9F17-5F1916C6CF56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0B8C53-426F-4076-2F6E-5808F23D2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5186E6-BED5-19A9-34EA-5264EE3A27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A4D6-B23F-46C3-ADC5-190CA0A4F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821826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7C9B8F-CA36-4024-35FA-55DDBF56A2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9FB5AC2-CEE6-9F62-0210-C3BC6B8B54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7D0C33-F463-1B24-F814-1A1093B8D4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BF5F3D-BA63-4271-9F17-5F1916C6CF56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C69DE8-725D-536F-BAE0-DC2B7F68A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9D215-44D5-421E-10BC-B1077D373F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3AA4D6-B23F-46C3-ADC5-190CA0A4F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97605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1A11BE0-AB3D-07DA-9769-5CC285A5E7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1BE8E9-CDC3-86C7-0CE1-3E58D9139C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E8B30C-B14A-F7F5-A95E-81C29808AC5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BF5F3D-BA63-4271-9F17-5F1916C6CF56}" type="datetimeFigureOut">
              <a:rPr lang="en-IN" smtClean="0"/>
              <a:t>23-05-2025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FF1B4F-6062-A297-7F61-633BADD7F0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B6B31C-95C0-BD4C-E3D0-B844D0E25DB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03AA4D6-B23F-46C3-ADC5-190CA0A4F6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5833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6BC5C0-33CC-345B-8320-A439768DC8F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6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037105A-9F82-493E-C913-939C1D4E43C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Advanced </a:t>
            </a:r>
            <a:r>
              <a:rPr lang="en-US" dirty="0" err="1"/>
              <a:t>Javascript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882434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AB2A0-045B-A655-4C6F-1D49BCE4F1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Operators in </a:t>
            </a:r>
            <a:r>
              <a:rPr lang="en-US" dirty="0" err="1"/>
              <a:t>Javascript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B887D0B3-C6A2-C743-E82E-78735AB4794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721134"/>
          <a:ext cx="10515600" cy="256032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235189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443746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5107966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275831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Addition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+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74901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-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Subtraction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-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5001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Multiplication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*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37209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/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Division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/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70414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%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Modulus (Remainder)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%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9542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**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Exponentiation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 **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56803167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EEB59B7-E562-878E-4E81-8E2C6A6F457C}"/>
              </a:ext>
            </a:extLst>
          </p:cNvPr>
          <p:cNvSpPr txBox="1"/>
          <p:nvPr/>
        </p:nvSpPr>
        <p:spPr>
          <a:xfrm>
            <a:off x="1513114" y="1690688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1. </a:t>
            </a:r>
            <a:r>
              <a:rPr lang="en-IN" b="1" dirty="0"/>
              <a:t>Arithmetic Operators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15679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4F96FE-B67C-341F-C685-8B6075C66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Assignment Operator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F83A4505-DB6B-B650-E726-3B01A7A7EB4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368054029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5275416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9186710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81723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95579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+=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Add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+=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854766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-=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Subtract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-=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16257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*=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Multiply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*=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4863946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/=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Divide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/=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617184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%=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Modulus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%= 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5767978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**=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Exponentiate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 **= 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06101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5073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6C041D-4B40-9FE9-8F23-F95006D0D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Comparison Operators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E17849FB-7D25-FEAA-691B-BA7B134E53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355374"/>
          <a:ext cx="10515600" cy="32918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285918808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3599338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59586484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8131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==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Equal to (type coercion)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==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0152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===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Strict equal (no type coercion)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===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7011452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!=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Not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!=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711354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!==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Strict not equal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!==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03257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Greater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&gt;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94629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&lt;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Less than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&lt;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0346997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&gt;=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Greater than or 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&gt;=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362989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&lt;=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Less than or equal to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 &lt;=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2953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3558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2FA9F-E403-CD66-E0B7-5627E61F21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Logical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905B1D49-4BC9-38ED-70E7-1C242A72300F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269774"/>
          <a:ext cx="10515600" cy="146304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0561796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1728035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8959020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66137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&amp;&amp;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Logical 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 &amp;&amp; 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0593995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27964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!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Logical 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!a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34609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458526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6B2ED-B5A7-A91E-4AA4-F92674EC9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Bitwise Operators</a:t>
            </a:r>
            <a:br>
              <a:rPr lang="en-IN" b="1" dirty="0"/>
            </a:b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4B1492F-0CBC-4F00-AC9C-C746399CA210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2538254"/>
          <a:ext cx="10515600" cy="292608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101825963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69393940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61856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&amp;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AND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84179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`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95926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^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XOR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4307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~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NOT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08647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&lt;&lt;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Left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8189655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&gt;&gt;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Right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090689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&gt;&gt;&gt;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Zero-fill right shift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7914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753021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EE7AEF-2C23-E629-FB25-91F4A706EF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Operators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D96FCF1-5647-E2AE-68DD-FF05EAFA21F7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452654"/>
          <a:ext cx="10515600" cy="10972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2997537394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84605563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73292513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3303601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+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Concatenation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"Hello " + "World"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04589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+=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Append and assign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str += " World"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78205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26682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661BC4-ED48-FDCA-7DBA-BB847F0B5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</a:t>
            </a:r>
            <a:r>
              <a:rPr lang="en-IN" b="1" dirty="0"/>
              <a:t>Type Operators</a:t>
            </a:r>
            <a:endParaRPr lang="en-IN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6F347C5-FBE2-0C4C-4FAB-E3AD49101234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838200" y="3315494"/>
          <a:ext cx="10515600" cy="137160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55461517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39866180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4769029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Operator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Description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6365027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typeof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Returns the type of a variable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/>
                        <a:t>typeof "Hello"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95417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instanceof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Checks if an object is an instance of a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a </a:t>
                      </a:r>
                      <a:r>
                        <a:rPr lang="en-IN" dirty="0" err="1"/>
                        <a:t>instanceof</a:t>
                      </a:r>
                      <a:r>
                        <a:rPr lang="en-IN" dirty="0"/>
                        <a:t> Array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6285652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720952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DE7B208-C8F4-0CD9-722B-2C5DADD4D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Autofit/>
          </a:bodyPr>
          <a:lstStyle/>
          <a:p>
            <a:r>
              <a:rPr lang="en-US" sz="3600" b="1" dirty="0">
                <a:solidFill>
                  <a:srgbClr val="FFFFFF"/>
                </a:solidFill>
              </a:rPr>
              <a:t>1. Primitive Data Types</a:t>
            </a:r>
            <a:br>
              <a:rPr lang="en-US" sz="3600" b="1" dirty="0">
                <a:solidFill>
                  <a:srgbClr val="FFFFFF"/>
                </a:solidFill>
              </a:rPr>
            </a:br>
            <a:r>
              <a:rPr lang="en-US" sz="3600" dirty="0">
                <a:solidFill>
                  <a:srgbClr val="FFFFFF"/>
                </a:solidFill>
              </a:rPr>
              <a:t>These are </a:t>
            </a:r>
            <a:r>
              <a:rPr lang="en-US" sz="3600" b="1" dirty="0">
                <a:solidFill>
                  <a:srgbClr val="FFFFFF"/>
                </a:solidFill>
              </a:rPr>
              <a:t>immutable</a:t>
            </a:r>
            <a:r>
              <a:rPr lang="en-US" sz="3600" dirty="0">
                <a:solidFill>
                  <a:srgbClr val="FFFFFF"/>
                </a:solidFill>
              </a:rPr>
              <a:t> and represent a single value.</a:t>
            </a:r>
            <a:br>
              <a:rPr lang="en-US" sz="3600" dirty="0">
                <a:solidFill>
                  <a:srgbClr val="FFFFFF"/>
                </a:solidFill>
              </a:rPr>
            </a:br>
            <a:endParaRPr lang="en-IN" sz="3600" dirty="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DD6FEE-BC5E-FD04-03CC-1D44A8E1140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0845785"/>
              </p:ext>
            </p:extLst>
          </p:nvPr>
        </p:nvGraphicFramePr>
        <p:xfrm>
          <a:off x="644056" y="2210740"/>
          <a:ext cx="10927831" cy="3996489"/>
        </p:xfrm>
        <a:graphic>
          <a:graphicData uri="http://schemas.openxmlformats.org/drawingml/2006/table">
            <a:tbl>
              <a:tblPr/>
              <a:tblGrid>
                <a:gridCol w="2027526">
                  <a:extLst>
                    <a:ext uri="{9D8B030D-6E8A-4147-A177-3AD203B41FA5}">
                      <a16:colId xmlns:a16="http://schemas.microsoft.com/office/drawing/2014/main" val="3967260770"/>
                    </a:ext>
                  </a:extLst>
                </a:gridCol>
                <a:gridCol w="3667056">
                  <a:extLst>
                    <a:ext uri="{9D8B030D-6E8A-4147-A177-3AD203B41FA5}">
                      <a16:colId xmlns:a16="http://schemas.microsoft.com/office/drawing/2014/main" val="4078282545"/>
                    </a:ext>
                  </a:extLst>
                </a:gridCol>
                <a:gridCol w="3110171">
                  <a:extLst>
                    <a:ext uri="{9D8B030D-6E8A-4147-A177-3AD203B41FA5}">
                      <a16:colId xmlns:a16="http://schemas.microsoft.com/office/drawing/2014/main" val="1634332592"/>
                    </a:ext>
                  </a:extLst>
                </a:gridCol>
                <a:gridCol w="2123078">
                  <a:extLst>
                    <a:ext uri="{9D8B030D-6E8A-4147-A177-3AD203B41FA5}">
                      <a16:colId xmlns:a16="http://schemas.microsoft.com/office/drawing/2014/main" val="1279758058"/>
                    </a:ext>
                  </a:extLst>
                </a:gridCol>
              </a:tblGrid>
              <a:tr h="3052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Data Type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Example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Use Case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50213776"/>
                  </a:ext>
                </a:extLst>
              </a:tr>
              <a:tr h="5134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String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Represents textual data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"Hello"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Storing and manipulating text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5124186"/>
                  </a:ext>
                </a:extLst>
              </a:tr>
              <a:tr h="5134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Number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Represents integers and floating-point numbers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42, 3.14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Arithmetic, counters, scores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5037533"/>
                  </a:ext>
                </a:extLst>
              </a:tr>
              <a:tr h="5134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BigInt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For large integers beyond Number.MAX_SAFE_INTEGER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12345678901234567890n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Cryptography, large datasets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8206435"/>
                  </a:ext>
                </a:extLst>
              </a:tr>
              <a:tr h="3052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Boolean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Represents logical values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true, false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Conditional logic, flags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32810895"/>
                  </a:ext>
                </a:extLst>
              </a:tr>
              <a:tr h="5134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undefined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Variable declared but not assigned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let a; → undefined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Checking if value is initialized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7475284"/>
                  </a:ext>
                </a:extLst>
              </a:tr>
              <a:tr h="5134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null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Intentionally no value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let user = null;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US" sz="1400" b="0" i="0" u="none" strike="noStrike">
                          <a:effectLst/>
                          <a:latin typeface="Arial" panose="020B0604020202020204" pitchFamily="34" charset="0"/>
                        </a:rPr>
                        <a:t>Resetting or clearing a value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8725901"/>
                  </a:ext>
                </a:extLst>
              </a:tr>
              <a:tr h="3052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Symbol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Unique and immutable value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Symbol('id')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Unique keys in objects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6710206"/>
                  </a:ext>
                </a:extLst>
              </a:tr>
              <a:tr h="513438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typeof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To check type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typeof 42 → "number"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1400" b="0" i="0" u="none" strike="noStrike">
                          <a:effectLst/>
                          <a:latin typeface="Arial" panose="020B0604020202020204" pitchFamily="34" charset="0"/>
                        </a:rPr>
                        <a:t>Debugging, type checking</a:t>
                      </a:r>
                    </a:p>
                  </a:txBody>
                  <a:tcPr marL="69383" marR="69383" marT="34692" marB="3469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198666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631252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A478CE-8A1D-C938-DCA7-532C5F564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2500" b="1">
                <a:solidFill>
                  <a:srgbClr val="FFFFFF"/>
                </a:solidFill>
              </a:rPr>
              <a:t>2. Non-Primitive (Reference) Data Types</a:t>
            </a:r>
            <a:br>
              <a:rPr lang="en-US" sz="2500" b="1">
                <a:solidFill>
                  <a:srgbClr val="FFFFFF"/>
                </a:solidFill>
              </a:rPr>
            </a:br>
            <a:r>
              <a:rPr lang="en-US" sz="2500">
                <a:solidFill>
                  <a:srgbClr val="FFFFFF"/>
                </a:solidFill>
              </a:rPr>
              <a:t>These are </a:t>
            </a:r>
            <a:r>
              <a:rPr lang="en-US" sz="2500" b="1">
                <a:solidFill>
                  <a:srgbClr val="FFFFFF"/>
                </a:solidFill>
              </a:rPr>
              <a:t>mutable</a:t>
            </a:r>
            <a:r>
              <a:rPr lang="en-US" sz="2500">
                <a:solidFill>
                  <a:srgbClr val="FFFFFF"/>
                </a:solidFill>
              </a:rPr>
              <a:t> and can hold collections of values or complex entities.</a:t>
            </a:r>
            <a:br>
              <a:rPr lang="en-US" sz="2500">
                <a:solidFill>
                  <a:srgbClr val="FFFFFF"/>
                </a:solidFill>
              </a:rPr>
            </a:br>
            <a:endParaRPr lang="en-IN" sz="2500">
              <a:solidFill>
                <a:srgbClr val="FFFFFF"/>
              </a:solidFill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29EE78F-7DF5-C05C-CC31-D3F07E1D135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3565332"/>
              </p:ext>
            </p:extLst>
          </p:nvPr>
        </p:nvGraphicFramePr>
        <p:xfrm>
          <a:off x="861632" y="2615979"/>
          <a:ext cx="10492678" cy="3689410"/>
        </p:xfrm>
        <a:graphic>
          <a:graphicData uri="http://schemas.openxmlformats.org/drawingml/2006/table">
            <a:tbl>
              <a:tblPr/>
              <a:tblGrid>
                <a:gridCol w="2159956">
                  <a:extLst>
                    <a:ext uri="{9D8B030D-6E8A-4147-A177-3AD203B41FA5}">
                      <a16:colId xmlns:a16="http://schemas.microsoft.com/office/drawing/2014/main" val="3858628318"/>
                    </a:ext>
                  </a:extLst>
                </a:gridCol>
                <a:gridCol w="2762250">
                  <a:extLst>
                    <a:ext uri="{9D8B030D-6E8A-4147-A177-3AD203B41FA5}">
                      <a16:colId xmlns:a16="http://schemas.microsoft.com/office/drawing/2014/main" val="2074444978"/>
                    </a:ext>
                  </a:extLst>
                </a:gridCol>
                <a:gridCol w="2763385">
                  <a:extLst>
                    <a:ext uri="{9D8B030D-6E8A-4147-A177-3AD203B41FA5}">
                      <a16:colId xmlns:a16="http://schemas.microsoft.com/office/drawing/2014/main" val="3356452548"/>
                    </a:ext>
                  </a:extLst>
                </a:gridCol>
                <a:gridCol w="2807087">
                  <a:extLst>
                    <a:ext uri="{9D8B030D-6E8A-4147-A177-3AD203B41FA5}">
                      <a16:colId xmlns:a16="http://schemas.microsoft.com/office/drawing/2014/main" val="118769088"/>
                    </a:ext>
                  </a:extLst>
                </a:gridCol>
              </a:tblGrid>
              <a:tr h="422745">
                <a:tc>
                  <a:txBody>
                    <a:bodyPr/>
                    <a:lstStyle/>
                    <a:p>
                      <a:r>
                        <a:rPr lang="en-IN" sz="1900"/>
                        <a:t>Data Type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Description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Example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Use Case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99238244"/>
                  </a:ext>
                </a:extLst>
              </a:tr>
              <a:tr h="710980">
                <a:tc>
                  <a:txBody>
                    <a:bodyPr/>
                    <a:lstStyle/>
                    <a:p>
                      <a:r>
                        <a:rPr lang="en-IN" sz="1900"/>
                        <a:t>Object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Collection of key-value pairs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{ name: "Alice", age: 25 }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Storing related data as a single unit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09477221"/>
                  </a:ext>
                </a:extLst>
              </a:tr>
              <a:tr h="422745">
                <a:tc>
                  <a:txBody>
                    <a:bodyPr/>
                    <a:lstStyle/>
                    <a:p>
                      <a:r>
                        <a:rPr lang="en-IN" sz="1900"/>
                        <a:t>Array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Ordered list of values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[1, 2, 3]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Lists, queues, stacks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50171402"/>
                  </a:ext>
                </a:extLst>
              </a:tr>
              <a:tr h="710980">
                <a:tc>
                  <a:txBody>
                    <a:bodyPr/>
                    <a:lstStyle/>
                    <a:p>
                      <a:r>
                        <a:rPr lang="en-IN" sz="1900"/>
                        <a:t>Function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Block of reusable code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function greet() {}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Encapsulation, reusability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7496338"/>
                  </a:ext>
                </a:extLst>
              </a:tr>
              <a:tr h="710980">
                <a:tc>
                  <a:txBody>
                    <a:bodyPr/>
                    <a:lstStyle/>
                    <a:p>
                      <a:r>
                        <a:rPr lang="en-IN" sz="1900"/>
                        <a:t>Date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Represents date and time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new Date()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Timestamps, calendars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969828"/>
                  </a:ext>
                </a:extLst>
              </a:tr>
              <a:tr h="710980">
                <a:tc>
                  <a:txBody>
                    <a:bodyPr/>
                    <a:lstStyle/>
                    <a:p>
                      <a:r>
                        <a:rPr lang="en-IN" sz="1900"/>
                        <a:t>RegExp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900"/>
                        <a:t>Regular expressions for pattern matching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/abc/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1900"/>
                        <a:t>Form validation, string search</a:t>
                      </a:r>
                    </a:p>
                  </a:txBody>
                  <a:tcPr marL="96078" marR="96078" marT="48039" marB="48039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07933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055542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08DF0D-F1DC-782C-33A8-8D70E8EB9F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90800" y="2400754"/>
            <a:ext cx="10515600" cy="1325563"/>
          </a:xfrm>
        </p:spPr>
        <p:txBody>
          <a:bodyPr/>
          <a:lstStyle/>
          <a:p>
            <a:r>
              <a:rPr lang="en-US" dirty="0"/>
              <a:t>Switch Case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026977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A1DDD7-67B7-D4AC-9B2D-553FCE785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7591" y="334755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&lt;!DOCTYPE html&gt;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&lt;html&gt;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&lt;body&gt;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&lt;h2&gt;JavaScript switch&lt;/h2&gt;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&lt;p id="demo"&gt;&lt;/p&gt;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&lt;script&gt;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text;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(new Date().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getDay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()) {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case 6: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text = "Today is Saturday";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break;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case 0: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text = "Today is Sunday";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break;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default: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text = "Looking forward to the Weekend";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  <a:p>
            <a:pPr marL="0" indent="0">
              <a:buNone/>
            </a:pP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document.getElementById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("demo").</a:t>
            </a:r>
            <a:r>
              <a:rPr lang="en-IN" sz="1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innerHTML</a:t>
            </a: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text;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&lt;/script&gt;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&lt;/body&gt;</a:t>
            </a:r>
          </a:p>
          <a:p>
            <a:pPr marL="0" indent="0">
              <a:buNone/>
            </a:pPr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&lt;/html&gt;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31BEC6E-7F2E-DD8F-2480-CA88E31BB525}"/>
              </a:ext>
            </a:extLst>
          </p:cNvPr>
          <p:cNvSpPr txBox="1"/>
          <p:nvPr/>
        </p:nvSpPr>
        <p:spPr>
          <a:xfrm>
            <a:off x="5260258" y="589935"/>
            <a:ext cx="4758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Default Statement</a:t>
            </a:r>
          </a:p>
        </p:txBody>
      </p:sp>
    </p:spTree>
    <p:extLst>
      <p:ext uri="{BB962C8B-B14F-4D97-AF65-F5344CB8AC3E}">
        <p14:creationId xmlns:p14="http://schemas.microsoft.com/office/powerpoint/2010/main" val="27689689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BEF169-F97D-E54C-FDD0-365416401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065"/>
            <a:ext cx="10515600" cy="5242898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let text;</a:t>
            </a:r>
          </a:p>
          <a:p>
            <a:pPr marL="0" indent="0">
              <a:buNone/>
            </a:pPr>
            <a:r>
              <a:rPr lang="en-US" dirty="0"/>
              <a:t>switch (new Date().</a:t>
            </a:r>
            <a:r>
              <a:rPr lang="en-US" dirty="0" err="1"/>
              <a:t>getDay</a:t>
            </a:r>
            <a:r>
              <a:rPr lang="en-US" dirty="0"/>
              <a:t>()) {</a:t>
            </a:r>
          </a:p>
          <a:p>
            <a:pPr marL="0" indent="0">
              <a:buNone/>
            </a:pPr>
            <a:r>
              <a:rPr lang="en-US" dirty="0"/>
              <a:t>  case 4:</a:t>
            </a:r>
          </a:p>
          <a:p>
            <a:pPr marL="0" indent="0">
              <a:buNone/>
            </a:pPr>
            <a:r>
              <a:rPr lang="en-US" dirty="0"/>
              <a:t>  case 5:</a:t>
            </a:r>
          </a:p>
          <a:p>
            <a:pPr marL="0" indent="0">
              <a:buNone/>
            </a:pPr>
            <a:r>
              <a:rPr lang="en-US" dirty="0"/>
              <a:t>    text = "Soon it is Weekend";</a:t>
            </a:r>
          </a:p>
          <a:p>
            <a:pPr marL="0" indent="0">
              <a:buNone/>
            </a:pPr>
            <a:r>
              <a:rPr lang="en-US" dirty="0"/>
              <a:t>    break;</a:t>
            </a:r>
          </a:p>
          <a:p>
            <a:pPr marL="0" indent="0">
              <a:buNone/>
            </a:pPr>
            <a:r>
              <a:rPr lang="en-US" dirty="0"/>
              <a:t>  case 0:</a:t>
            </a:r>
          </a:p>
          <a:p>
            <a:pPr marL="0" indent="0">
              <a:buNone/>
            </a:pPr>
            <a:r>
              <a:rPr lang="en-US" dirty="0"/>
              <a:t>  case 6:</a:t>
            </a:r>
          </a:p>
          <a:p>
            <a:pPr marL="0" indent="0">
              <a:buNone/>
            </a:pPr>
            <a:r>
              <a:rPr lang="en-US" dirty="0"/>
              <a:t>    text = "It is Weekend";</a:t>
            </a:r>
          </a:p>
          <a:p>
            <a:pPr marL="0" indent="0">
              <a:buNone/>
            </a:pPr>
            <a:r>
              <a:rPr lang="en-US" dirty="0"/>
              <a:t>    break;</a:t>
            </a:r>
          </a:p>
          <a:p>
            <a:pPr marL="0" indent="0">
              <a:buNone/>
            </a:pPr>
            <a:r>
              <a:rPr lang="en-US" dirty="0"/>
              <a:t>  default:</a:t>
            </a:r>
          </a:p>
          <a:p>
            <a:pPr marL="0" indent="0">
              <a:buNone/>
            </a:pPr>
            <a:r>
              <a:rPr lang="en-US" dirty="0"/>
              <a:t>    text = "Looking forward to the Weekend";</a:t>
            </a:r>
          </a:p>
          <a:p>
            <a:pPr marL="0" indent="0">
              <a:buNone/>
            </a:pPr>
            <a:r>
              <a:rPr lang="en-US" dirty="0"/>
              <a:t>}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BAEF81-031F-5DB6-D40D-211772E39D6C}"/>
              </a:ext>
            </a:extLst>
          </p:cNvPr>
          <p:cNvSpPr txBox="1"/>
          <p:nvPr/>
        </p:nvSpPr>
        <p:spPr>
          <a:xfrm>
            <a:off x="6096000" y="353961"/>
            <a:ext cx="416887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Combining Two Switch Cases</a:t>
            </a:r>
          </a:p>
        </p:txBody>
      </p:sp>
    </p:spTree>
    <p:extLst>
      <p:ext uri="{BB962C8B-B14F-4D97-AF65-F5344CB8AC3E}">
        <p14:creationId xmlns:p14="http://schemas.microsoft.com/office/powerpoint/2010/main" val="1027771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F4C53E-66AA-BAC4-2558-F9B5443E4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2284"/>
            <a:ext cx="10515600" cy="5724679"/>
          </a:xfrm>
        </p:spPr>
        <p:txBody>
          <a:bodyPr>
            <a:normAutofit fontScale="25000" lnSpcReduction="20000"/>
          </a:bodyPr>
          <a:lstStyle/>
          <a:p>
            <a:pPr marL="0" indent="0">
              <a:buNone/>
            </a:pPr>
            <a:r>
              <a:rPr lang="en-IN" sz="7200" dirty="0"/>
              <a:t>&lt;!DOCTYPE html&gt;</a:t>
            </a:r>
          </a:p>
          <a:p>
            <a:pPr marL="0" indent="0">
              <a:buNone/>
            </a:pPr>
            <a:r>
              <a:rPr lang="en-IN" sz="7200" dirty="0"/>
              <a:t>&lt;html&gt;</a:t>
            </a:r>
          </a:p>
          <a:p>
            <a:pPr marL="0" indent="0">
              <a:buNone/>
            </a:pPr>
            <a:r>
              <a:rPr lang="en-IN" sz="7200" dirty="0"/>
              <a:t>&lt;body&gt;</a:t>
            </a:r>
          </a:p>
          <a:p>
            <a:pPr marL="0" indent="0">
              <a:buNone/>
            </a:pPr>
            <a:endParaRPr lang="en-IN" sz="7200" dirty="0"/>
          </a:p>
          <a:p>
            <a:pPr marL="0" indent="0">
              <a:buNone/>
            </a:pPr>
            <a:r>
              <a:rPr lang="en-IN" sz="7200" dirty="0"/>
              <a:t>&lt;input type="text" id="</a:t>
            </a:r>
            <a:r>
              <a:rPr lang="en-IN" sz="7200" dirty="0" err="1"/>
              <a:t>myText</a:t>
            </a:r>
            <a:r>
              <a:rPr lang="en-IN" sz="7200" dirty="0"/>
              <a:t>" value="Some text..."&gt;</a:t>
            </a:r>
          </a:p>
          <a:p>
            <a:pPr marL="0" indent="0">
              <a:buNone/>
            </a:pPr>
            <a:r>
              <a:rPr lang="en-IN" sz="7200" dirty="0"/>
              <a:t>&lt;button onclick="</a:t>
            </a:r>
            <a:r>
              <a:rPr lang="en-IN" sz="7200" dirty="0" err="1"/>
              <a:t>myFunction</a:t>
            </a:r>
            <a:r>
              <a:rPr lang="en-IN" sz="7200" dirty="0"/>
              <a:t>()"&gt;Try it&lt;/button&gt;</a:t>
            </a:r>
          </a:p>
          <a:p>
            <a:pPr marL="0" indent="0">
              <a:buNone/>
            </a:pPr>
            <a:r>
              <a:rPr lang="en-IN" sz="7200" dirty="0"/>
              <a:t>&lt;p id="demo"&gt;&lt;/p&gt;</a:t>
            </a:r>
          </a:p>
          <a:p>
            <a:pPr marL="0" indent="0">
              <a:buNone/>
            </a:pPr>
            <a:r>
              <a:rPr lang="en-IN" sz="7200" dirty="0"/>
              <a:t>&lt;script&gt;</a:t>
            </a:r>
          </a:p>
          <a:p>
            <a:pPr marL="0" indent="0">
              <a:buNone/>
            </a:pPr>
            <a:r>
              <a:rPr lang="en-IN" sz="7200" dirty="0"/>
              <a:t>function </a:t>
            </a:r>
            <a:r>
              <a:rPr lang="en-IN" sz="7200" dirty="0" err="1"/>
              <a:t>myFunction</a:t>
            </a:r>
            <a:r>
              <a:rPr lang="en-IN" sz="7200" dirty="0"/>
              <a:t>() {</a:t>
            </a:r>
          </a:p>
          <a:p>
            <a:pPr marL="0" indent="0">
              <a:buNone/>
            </a:pPr>
            <a:r>
              <a:rPr lang="en-IN" sz="7200" dirty="0"/>
              <a:t>  var x = </a:t>
            </a:r>
            <a:r>
              <a:rPr lang="en-IN" sz="7200" dirty="0" err="1"/>
              <a:t>document.getElementById</a:t>
            </a:r>
            <a:r>
              <a:rPr lang="en-IN" sz="7200" dirty="0"/>
              <a:t>("</a:t>
            </a:r>
            <a:r>
              <a:rPr lang="en-IN" sz="7200" dirty="0" err="1"/>
              <a:t>myText</a:t>
            </a:r>
            <a:r>
              <a:rPr lang="en-IN" sz="7200" dirty="0"/>
              <a:t>").value;</a:t>
            </a:r>
          </a:p>
          <a:p>
            <a:pPr marL="0" indent="0">
              <a:buNone/>
            </a:pPr>
            <a:r>
              <a:rPr lang="en-IN" sz="7200" dirty="0"/>
              <a:t>  </a:t>
            </a:r>
            <a:r>
              <a:rPr lang="en-IN" sz="7200" dirty="0" err="1"/>
              <a:t>document.getElementById</a:t>
            </a:r>
            <a:r>
              <a:rPr lang="en-IN" sz="7200" dirty="0"/>
              <a:t>("demo").</a:t>
            </a:r>
            <a:r>
              <a:rPr lang="en-IN" sz="7200" dirty="0" err="1"/>
              <a:t>innerHTML</a:t>
            </a:r>
            <a:r>
              <a:rPr lang="en-IN" sz="7200" dirty="0"/>
              <a:t> = x;</a:t>
            </a:r>
          </a:p>
          <a:p>
            <a:pPr marL="0" indent="0">
              <a:buNone/>
            </a:pPr>
            <a:r>
              <a:rPr lang="en-IN" sz="7200" dirty="0"/>
              <a:t>}</a:t>
            </a:r>
          </a:p>
          <a:p>
            <a:pPr marL="0" indent="0">
              <a:buNone/>
            </a:pPr>
            <a:r>
              <a:rPr lang="en-IN" sz="7200" dirty="0"/>
              <a:t>&lt;/script&gt;</a:t>
            </a:r>
          </a:p>
          <a:p>
            <a:pPr marL="0" indent="0">
              <a:buNone/>
            </a:pPr>
            <a:endParaRPr lang="en-IN" sz="7200" dirty="0"/>
          </a:p>
          <a:p>
            <a:pPr marL="0" indent="0">
              <a:buNone/>
            </a:pPr>
            <a:r>
              <a:rPr lang="en-IN" sz="7200" dirty="0"/>
              <a:t>&lt;/body&gt;</a:t>
            </a:r>
          </a:p>
          <a:p>
            <a:pPr marL="0" indent="0">
              <a:buNone/>
            </a:pPr>
            <a:r>
              <a:rPr lang="en-IN" sz="7200" dirty="0"/>
              <a:t>&lt;/html&gt;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BD7B8E9-3CB8-FFE5-D675-0B3DE157E699}"/>
              </a:ext>
            </a:extLst>
          </p:cNvPr>
          <p:cNvSpPr txBox="1"/>
          <p:nvPr/>
        </p:nvSpPr>
        <p:spPr>
          <a:xfrm>
            <a:off x="6838336" y="681037"/>
            <a:ext cx="5176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Taking Value from different Elements</a:t>
            </a:r>
          </a:p>
        </p:txBody>
      </p:sp>
    </p:spTree>
    <p:extLst>
      <p:ext uri="{BB962C8B-B14F-4D97-AF65-F5344CB8AC3E}">
        <p14:creationId xmlns:p14="http://schemas.microsoft.com/office/powerpoint/2010/main" val="40086233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40684FCE-0017-0797-2DAC-AFC767E29C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 Else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609D84-0840-53F9-A4C7-F1C08EF029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879033"/>
            <a:ext cx="5157787" cy="2535011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&lt;!DOCTYPE html&gt;</a:t>
            </a:r>
          </a:p>
          <a:p>
            <a:pPr marL="0" indent="0">
              <a:buNone/>
            </a:pPr>
            <a:r>
              <a:rPr lang="en-IN" sz="1800" dirty="0"/>
              <a:t>&lt;html&gt;</a:t>
            </a:r>
          </a:p>
          <a:p>
            <a:pPr marL="0" indent="0">
              <a:buNone/>
            </a:pPr>
            <a:r>
              <a:rPr lang="en-IN" sz="1800" dirty="0"/>
              <a:t>&lt;head&gt; &lt;</a:t>
            </a:r>
            <a:r>
              <a:rPr lang="en-IN" sz="1800" dirty="0">
                <a:highlight>
                  <a:srgbClr val="FFFF00"/>
                </a:highlight>
              </a:rPr>
              <a:t>script:  shown on the left &gt;</a:t>
            </a:r>
          </a:p>
          <a:p>
            <a:pPr marL="0" indent="0">
              <a:buNone/>
            </a:pPr>
            <a:r>
              <a:rPr lang="en-IN" sz="1800" dirty="0"/>
              <a:t>&lt;/head&gt;</a:t>
            </a:r>
          </a:p>
          <a:p>
            <a:pPr marL="0" indent="0">
              <a:buNone/>
            </a:pPr>
            <a:r>
              <a:rPr lang="en-IN" sz="1800" dirty="0"/>
              <a:t>&lt;body&gt;</a:t>
            </a:r>
          </a:p>
          <a:p>
            <a:pPr marL="0" indent="0">
              <a:buNone/>
            </a:pPr>
            <a:r>
              <a:rPr lang="en-IN" sz="1800" dirty="0"/>
              <a:t>  &lt;h2&gt;Check Even or Odd&lt;/h2&gt;</a:t>
            </a:r>
          </a:p>
          <a:p>
            <a:pPr marL="0" indent="0">
              <a:buNone/>
            </a:pPr>
            <a:r>
              <a:rPr lang="en-IN" sz="1800" dirty="0"/>
              <a:t>  &lt;label&gt;Enter a number: &lt;/label&gt;</a:t>
            </a:r>
          </a:p>
          <a:p>
            <a:pPr marL="0" indent="0">
              <a:buNone/>
            </a:pPr>
            <a:r>
              <a:rPr lang="en-IN" sz="1800" dirty="0"/>
              <a:t>  &lt;input type="number" id="</a:t>
            </a:r>
            <a:r>
              <a:rPr lang="en-IN" sz="1800" dirty="0" err="1"/>
              <a:t>numberInput</a:t>
            </a:r>
            <a:r>
              <a:rPr lang="en-IN" sz="1800" dirty="0"/>
              <a:t>"&gt;</a:t>
            </a:r>
          </a:p>
          <a:p>
            <a:pPr marL="0" indent="0">
              <a:buNone/>
            </a:pPr>
            <a:r>
              <a:rPr lang="en-IN" sz="1800" dirty="0"/>
              <a:t>  &lt;button onclick="</a:t>
            </a:r>
            <a:r>
              <a:rPr lang="en-IN" sz="1800" dirty="0" err="1"/>
              <a:t>checkEvenOdd</a:t>
            </a:r>
            <a:r>
              <a:rPr lang="en-IN" sz="1800" dirty="0"/>
              <a:t>()"&gt;Check&lt;/button&gt;</a:t>
            </a:r>
          </a:p>
          <a:p>
            <a:pPr marL="0" indent="0">
              <a:buNone/>
            </a:pPr>
            <a:r>
              <a:rPr lang="en-IN" sz="1800" dirty="0"/>
              <a:t>&lt;/body&gt;</a:t>
            </a:r>
          </a:p>
          <a:p>
            <a:pPr marL="0" indent="0">
              <a:buNone/>
            </a:pPr>
            <a:r>
              <a:rPr lang="en-IN" sz="1800" dirty="0"/>
              <a:t>&lt;/html&gt;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4D94F1F0-9A60-6002-F1EB-491C12803BF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Script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2CD1485-2FCD-6A22-340A-AEFA07CD02D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sz="2800" dirty="0"/>
              <a:t>&lt;script&gt;</a:t>
            </a:r>
          </a:p>
          <a:p>
            <a:pPr marL="0" indent="0">
              <a:buNone/>
            </a:pPr>
            <a:r>
              <a:rPr lang="en-IN" sz="2800" dirty="0"/>
              <a:t>    function </a:t>
            </a:r>
            <a:r>
              <a:rPr lang="en-IN" sz="2800" dirty="0" err="1"/>
              <a:t>checkEvenOdd</a:t>
            </a:r>
            <a:r>
              <a:rPr lang="en-IN" sz="2800" dirty="0"/>
              <a:t>() {</a:t>
            </a:r>
          </a:p>
          <a:p>
            <a:pPr marL="0" indent="0">
              <a:buNone/>
            </a:pPr>
            <a:r>
              <a:rPr lang="en-IN" sz="2800" dirty="0"/>
              <a:t>      let </a:t>
            </a:r>
            <a:r>
              <a:rPr lang="en-IN" sz="2800" dirty="0" err="1"/>
              <a:t>num</a:t>
            </a:r>
            <a:r>
              <a:rPr lang="en-IN" sz="2800" dirty="0"/>
              <a:t> = </a:t>
            </a:r>
            <a:r>
              <a:rPr lang="en-IN" sz="2800" dirty="0" err="1"/>
              <a:t>document.getElementById</a:t>
            </a:r>
            <a:r>
              <a:rPr lang="en-IN" sz="2800" dirty="0"/>
              <a:t>("</a:t>
            </a:r>
            <a:r>
              <a:rPr lang="en-IN" sz="2800" dirty="0" err="1"/>
              <a:t>numberInput</a:t>
            </a:r>
            <a:r>
              <a:rPr lang="en-IN" sz="2800" dirty="0"/>
              <a:t>").value;</a:t>
            </a:r>
          </a:p>
          <a:p>
            <a:pPr marL="0" indent="0">
              <a:buNone/>
            </a:pPr>
            <a:r>
              <a:rPr lang="en-IN" sz="2800" dirty="0"/>
              <a:t>      </a:t>
            </a:r>
            <a:r>
              <a:rPr lang="en-IN" sz="2800" dirty="0" err="1"/>
              <a:t>num</a:t>
            </a:r>
            <a:r>
              <a:rPr lang="en-IN" sz="2800" dirty="0"/>
              <a:t> = </a:t>
            </a:r>
            <a:r>
              <a:rPr lang="en-IN" sz="2800" dirty="0" err="1"/>
              <a:t>parseInt</a:t>
            </a:r>
            <a:r>
              <a:rPr lang="en-IN" sz="2800" dirty="0"/>
              <a:t>(</a:t>
            </a:r>
            <a:r>
              <a:rPr lang="en-IN" sz="2800" dirty="0" err="1"/>
              <a:t>num</a:t>
            </a:r>
            <a:r>
              <a:rPr lang="en-IN" sz="2800" dirty="0"/>
              <a:t>);</a:t>
            </a:r>
          </a:p>
          <a:p>
            <a:pPr marL="0" indent="0">
              <a:buNone/>
            </a:pPr>
            <a:r>
              <a:rPr lang="en-IN" sz="2800" dirty="0"/>
              <a:t>      if (</a:t>
            </a:r>
            <a:r>
              <a:rPr lang="en-IN" sz="2800" dirty="0" err="1"/>
              <a:t>num</a:t>
            </a:r>
            <a:r>
              <a:rPr lang="en-IN" sz="2800" dirty="0"/>
              <a:t> % 2 === 0) {</a:t>
            </a:r>
          </a:p>
          <a:p>
            <a:pPr marL="0" indent="0">
              <a:buNone/>
            </a:pPr>
            <a:r>
              <a:rPr lang="en-IN" sz="2800" dirty="0"/>
              <a:t>        </a:t>
            </a:r>
            <a:r>
              <a:rPr lang="en-IN" sz="2800" dirty="0" err="1"/>
              <a:t>document.write</a:t>
            </a:r>
            <a:r>
              <a:rPr lang="en-IN" sz="2800" dirty="0"/>
              <a:t>(</a:t>
            </a:r>
            <a:r>
              <a:rPr lang="en-IN" sz="2800" dirty="0" err="1"/>
              <a:t>num</a:t>
            </a:r>
            <a:r>
              <a:rPr lang="en-IN" sz="2800" dirty="0"/>
              <a:t> + " is Even");</a:t>
            </a:r>
          </a:p>
          <a:p>
            <a:pPr marL="0" indent="0">
              <a:buNone/>
            </a:pPr>
            <a:r>
              <a:rPr lang="en-IN" sz="2800" dirty="0"/>
              <a:t>      } else {</a:t>
            </a:r>
          </a:p>
          <a:p>
            <a:pPr marL="0" indent="0">
              <a:buNone/>
            </a:pPr>
            <a:r>
              <a:rPr lang="en-IN" sz="2800" dirty="0"/>
              <a:t>        </a:t>
            </a:r>
            <a:r>
              <a:rPr lang="en-IN" sz="2800" dirty="0" err="1"/>
              <a:t>document.write</a:t>
            </a:r>
            <a:r>
              <a:rPr lang="en-IN" sz="2800" dirty="0"/>
              <a:t>(</a:t>
            </a:r>
            <a:r>
              <a:rPr lang="en-IN" sz="2800" dirty="0" err="1"/>
              <a:t>num</a:t>
            </a:r>
            <a:r>
              <a:rPr lang="en-IN" sz="2800" dirty="0"/>
              <a:t> + " is Odd");</a:t>
            </a:r>
          </a:p>
          <a:p>
            <a:pPr marL="0" indent="0">
              <a:buNone/>
            </a:pPr>
            <a:r>
              <a:rPr lang="en-IN" sz="2800" dirty="0"/>
              <a:t>      }</a:t>
            </a:r>
          </a:p>
          <a:p>
            <a:pPr marL="0" indent="0">
              <a:buNone/>
            </a:pPr>
            <a:r>
              <a:rPr lang="en-IN" sz="2800" dirty="0"/>
              <a:t>    }</a:t>
            </a:r>
          </a:p>
          <a:p>
            <a:pPr marL="0" indent="0">
              <a:buNone/>
            </a:pPr>
            <a:r>
              <a:rPr lang="en-IN" sz="2800" dirty="0"/>
              <a:t>  &lt;/script&gt;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468873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D1DBE13-76F7-669D-BD2D-2088EEBF23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If- else if - else</a:t>
            </a:r>
            <a:endParaRPr lang="en-IN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E9B504C-4814-B009-1D9F-B3BCE2EF06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    function </a:t>
            </a:r>
            <a:r>
              <a:rPr lang="en-IN" dirty="0" err="1"/>
              <a:t>checkNumber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let </a:t>
            </a:r>
            <a:r>
              <a:rPr lang="en-IN" dirty="0" err="1"/>
              <a:t>num</a:t>
            </a:r>
            <a:r>
              <a:rPr lang="en-IN" dirty="0"/>
              <a:t> = </a:t>
            </a:r>
            <a:r>
              <a:rPr lang="en-IN" dirty="0" err="1"/>
              <a:t>parseFloat</a:t>
            </a:r>
            <a:r>
              <a:rPr lang="en-IN" dirty="0"/>
              <a:t>(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numberInput</a:t>
            </a:r>
            <a:r>
              <a:rPr lang="en-IN" dirty="0"/>
              <a:t>").value);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      if (</a:t>
            </a:r>
            <a:r>
              <a:rPr lang="en-IN" dirty="0" err="1"/>
              <a:t>num</a:t>
            </a:r>
            <a:r>
              <a:rPr lang="en-IN" dirty="0"/>
              <a:t> &gt; 0)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num</a:t>
            </a:r>
            <a:r>
              <a:rPr lang="en-IN" dirty="0"/>
              <a:t> + " is Positive");</a:t>
            </a:r>
          </a:p>
          <a:p>
            <a:pPr marL="0" indent="0">
              <a:buNone/>
            </a:pPr>
            <a:r>
              <a:rPr lang="en-IN" dirty="0"/>
              <a:t>      } else if (</a:t>
            </a:r>
            <a:r>
              <a:rPr lang="en-IN" dirty="0" err="1"/>
              <a:t>num</a:t>
            </a:r>
            <a:r>
              <a:rPr lang="en-IN" dirty="0"/>
              <a:t> &lt; 0)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num</a:t>
            </a:r>
            <a:r>
              <a:rPr lang="en-IN" dirty="0"/>
              <a:t> + " is Negative");</a:t>
            </a:r>
          </a:p>
          <a:p>
            <a:pPr marL="0" indent="0">
              <a:buNone/>
            </a:pPr>
            <a:r>
              <a:rPr lang="en-IN" dirty="0"/>
              <a:t>      } else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document.write</a:t>
            </a:r>
            <a:r>
              <a:rPr lang="en-IN" dirty="0"/>
              <a:t>("The number is Zero");</a:t>
            </a:r>
          </a:p>
          <a:p>
            <a:pPr marL="0" indent="0">
              <a:buNone/>
            </a:pPr>
            <a:r>
              <a:rPr lang="en-IN" dirty="0"/>
              <a:t>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&lt;/script&gt;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589319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0BDAE-5563-06CB-1F60-96842B8AD3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 conditions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2AD9DC-38E9-CAFB-59D3-BDC303058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if (num &gt;= 10 &amp;&amp; num &lt;= 100)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document.write</a:t>
            </a:r>
            <a:r>
              <a:rPr lang="en-US" dirty="0"/>
              <a:t>(num + " is between 10 and 100");</a:t>
            </a:r>
          </a:p>
          <a:p>
            <a:pPr marL="0" indent="0">
              <a:buNone/>
            </a:pPr>
            <a:r>
              <a:rPr lang="en-US" dirty="0"/>
              <a:t>      } else {</a:t>
            </a:r>
          </a:p>
          <a:p>
            <a:pPr marL="0" indent="0">
              <a:buNone/>
            </a:pPr>
            <a:r>
              <a:rPr lang="en-US" dirty="0"/>
              <a:t>        </a:t>
            </a:r>
            <a:r>
              <a:rPr lang="en-US" dirty="0" err="1"/>
              <a:t>document.write</a:t>
            </a:r>
            <a:r>
              <a:rPr lang="en-US" dirty="0"/>
              <a:t>(num + " is NOT between 10 and 100");</a:t>
            </a:r>
          </a:p>
          <a:p>
            <a:pPr marL="0" indent="0">
              <a:buNone/>
            </a:pPr>
            <a:r>
              <a:rPr lang="en-US" dirty="0"/>
              <a:t>      }</a:t>
            </a:r>
          </a:p>
          <a:p>
            <a:pPr marL="0" indent="0">
              <a:buNone/>
            </a:pPr>
            <a:r>
              <a:rPr lang="en-US" dirty="0"/>
              <a:t>    }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22567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BEF6CE-EE88-D1E9-258F-844D821C7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Loop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A210A5-4ECC-8AB9-C434-63CD5B969C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3377746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2000" dirty="0"/>
              <a:t>&lt;!DOCTYPE html&gt;</a:t>
            </a:r>
          </a:p>
          <a:p>
            <a:pPr marL="0" indent="0">
              <a:buNone/>
            </a:pPr>
            <a:r>
              <a:rPr lang="en-IN" sz="2000" dirty="0"/>
              <a:t>&lt;html&gt;</a:t>
            </a:r>
          </a:p>
          <a:p>
            <a:pPr marL="0" indent="0">
              <a:buNone/>
            </a:pPr>
            <a:r>
              <a:rPr lang="en-IN" sz="2000" dirty="0"/>
              <a:t>&lt;head&gt;</a:t>
            </a:r>
          </a:p>
          <a:p>
            <a:pPr marL="0" indent="0">
              <a:buNone/>
            </a:pPr>
            <a:r>
              <a:rPr lang="en-IN" sz="2000" dirty="0"/>
              <a:t>  &lt;title&gt;For Loop Example&lt;/title&gt;</a:t>
            </a:r>
          </a:p>
          <a:p>
            <a:pPr marL="0" indent="0">
              <a:buNone/>
            </a:pPr>
            <a:r>
              <a:rPr lang="en-IN" sz="2000" dirty="0">
                <a:highlight>
                  <a:srgbClr val="FFFF00"/>
                </a:highlight>
              </a:rPr>
              <a:t>&lt;script&gt; ---shown in next slide </a:t>
            </a:r>
          </a:p>
          <a:p>
            <a:pPr marL="0" indent="0">
              <a:buNone/>
            </a:pPr>
            <a:r>
              <a:rPr lang="en-IN" sz="2000" dirty="0"/>
              <a:t>&lt;/head&gt;</a:t>
            </a:r>
          </a:p>
          <a:p>
            <a:pPr marL="0" indent="0">
              <a:buNone/>
            </a:pPr>
            <a:r>
              <a:rPr lang="en-IN" sz="2000" dirty="0"/>
              <a:t>&lt;body&gt;</a:t>
            </a:r>
          </a:p>
          <a:p>
            <a:pPr marL="0" indent="0">
              <a:buNone/>
            </a:pPr>
            <a:r>
              <a:rPr lang="en-IN" sz="2000" dirty="0"/>
              <a:t>  &lt;h2&gt;Print Numbers Using For Loop&lt;/h2&gt;</a:t>
            </a:r>
          </a:p>
          <a:p>
            <a:pPr marL="0" indent="0">
              <a:buNone/>
            </a:pPr>
            <a:r>
              <a:rPr lang="en-IN" sz="2000" dirty="0"/>
              <a:t>  &lt;label&gt;Enter a number: &lt;/label&gt;</a:t>
            </a:r>
          </a:p>
          <a:p>
            <a:pPr marL="0" indent="0">
              <a:buNone/>
            </a:pPr>
            <a:r>
              <a:rPr lang="en-IN" sz="2000" dirty="0"/>
              <a:t>  &lt;input type="number" id="</a:t>
            </a:r>
            <a:r>
              <a:rPr lang="en-IN" sz="2000" dirty="0" err="1"/>
              <a:t>numInput</a:t>
            </a:r>
            <a:r>
              <a:rPr lang="en-IN" sz="2000" dirty="0"/>
              <a:t>" min="1"&gt;</a:t>
            </a:r>
          </a:p>
          <a:p>
            <a:pPr marL="0" indent="0">
              <a:buNone/>
            </a:pPr>
            <a:r>
              <a:rPr lang="en-IN" sz="2000" dirty="0"/>
              <a:t>  &lt;button onclick="</a:t>
            </a:r>
            <a:r>
              <a:rPr lang="en-IN" sz="2000" dirty="0" err="1"/>
              <a:t>printNumbers</a:t>
            </a:r>
            <a:r>
              <a:rPr lang="en-IN" sz="2000" dirty="0"/>
              <a:t>()"&gt;Print&lt;/button&gt;</a:t>
            </a:r>
          </a:p>
          <a:p>
            <a:pPr marL="0" indent="0">
              <a:buNone/>
            </a:pPr>
            <a:r>
              <a:rPr lang="en-IN" sz="2000" dirty="0"/>
              <a:t>&lt;/body&gt;</a:t>
            </a:r>
          </a:p>
          <a:p>
            <a:pPr marL="0" indent="0">
              <a:buNone/>
            </a:pPr>
            <a:r>
              <a:rPr lang="en-IN" sz="2000" dirty="0"/>
              <a:t>&lt;/html&gt;</a:t>
            </a:r>
          </a:p>
          <a:p>
            <a:pPr marL="0" indent="0">
              <a:buNone/>
            </a:pP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41352873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773C3-E2EA-2A11-6301-C832B2F715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4400" dirty="0"/>
              <a:t>For Loop Example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3275FB-0328-ECFC-2FE2-2A80A96983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sz="2800" dirty="0"/>
              <a:t> &lt;script&gt;</a:t>
            </a:r>
          </a:p>
          <a:p>
            <a:pPr marL="0" indent="0">
              <a:buNone/>
            </a:pPr>
            <a:r>
              <a:rPr lang="en-IN" sz="2800" dirty="0"/>
              <a:t>    function </a:t>
            </a:r>
            <a:r>
              <a:rPr lang="en-IN" sz="2800" dirty="0" err="1"/>
              <a:t>printNumbers</a:t>
            </a:r>
            <a:r>
              <a:rPr lang="en-IN" sz="2800" dirty="0"/>
              <a:t>() {</a:t>
            </a:r>
          </a:p>
          <a:p>
            <a:pPr marL="0" indent="0">
              <a:buNone/>
            </a:pPr>
            <a:r>
              <a:rPr lang="en-IN" sz="2800" dirty="0"/>
              <a:t>      let </a:t>
            </a:r>
            <a:r>
              <a:rPr lang="en-IN" sz="2800" dirty="0" err="1"/>
              <a:t>num</a:t>
            </a:r>
            <a:r>
              <a:rPr lang="en-IN" sz="2800" dirty="0"/>
              <a:t> = </a:t>
            </a:r>
            <a:r>
              <a:rPr lang="en-IN" sz="2800" dirty="0" err="1"/>
              <a:t>document.getElementById</a:t>
            </a:r>
            <a:r>
              <a:rPr lang="en-IN" sz="2800" dirty="0"/>
              <a:t>("</a:t>
            </a:r>
            <a:r>
              <a:rPr lang="en-IN" sz="2800" dirty="0" err="1"/>
              <a:t>numInput</a:t>
            </a:r>
            <a:r>
              <a:rPr lang="en-IN" sz="2800" dirty="0"/>
              <a:t>").value;</a:t>
            </a:r>
          </a:p>
          <a:p>
            <a:pPr marL="0" indent="0">
              <a:buNone/>
            </a:pPr>
            <a:r>
              <a:rPr lang="en-IN" sz="2800" dirty="0"/>
              <a:t>      </a:t>
            </a:r>
            <a:r>
              <a:rPr lang="en-IN" sz="2800" dirty="0" err="1"/>
              <a:t>num</a:t>
            </a:r>
            <a:r>
              <a:rPr lang="en-IN" sz="2800" dirty="0"/>
              <a:t> = </a:t>
            </a:r>
            <a:r>
              <a:rPr lang="en-IN" sz="2800" dirty="0" err="1"/>
              <a:t>parseInt</a:t>
            </a:r>
            <a:r>
              <a:rPr lang="en-IN" sz="2800" dirty="0"/>
              <a:t>(</a:t>
            </a:r>
            <a:r>
              <a:rPr lang="en-IN" sz="2800" dirty="0" err="1"/>
              <a:t>num</a:t>
            </a:r>
            <a:r>
              <a:rPr lang="en-IN" sz="2800" dirty="0"/>
              <a:t>);</a:t>
            </a:r>
          </a:p>
          <a:p>
            <a:pPr marL="0" indent="0">
              <a:buNone/>
            </a:pPr>
            <a:r>
              <a:rPr lang="en-IN" sz="2800" dirty="0"/>
              <a:t>    for (let </a:t>
            </a:r>
            <a:r>
              <a:rPr lang="en-IN" sz="2800" dirty="0" err="1"/>
              <a:t>i</a:t>
            </a:r>
            <a:r>
              <a:rPr lang="en-IN" sz="2800" dirty="0"/>
              <a:t> = 1; </a:t>
            </a:r>
            <a:r>
              <a:rPr lang="en-IN" sz="2800" dirty="0" err="1"/>
              <a:t>i</a:t>
            </a:r>
            <a:r>
              <a:rPr lang="en-IN" sz="2800" dirty="0"/>
              <a:t> &lt;= </a:t>
            </a:r>
            <a:r>
              <a:rPr lang="en-IN" sz="2800" dirty="0" err="1"/>
              <a:t>num</a:t>
            </a:r>
            <a:r>
              <a:rPr lang="en-IN" sz="2800" dirty="0"/>
              <a:t>; </a:t>
            </a:r>
            <a:r>
              <a:rPr lang="en-IN" sz="2800" dirty="0" err="1"/>
              <a:t>i</a:t>
            </a:r>
            <a:r>
              <a:rPr lang="en-IN" sz="2800" dirty="0"/>
              <a:t>++) {</a:t>
            </a:r>
          </a:p>
          <a:p>
            <a:pPr marL="0" indent="0">
              <a:buNone/>
            </a:pPr>
            <a:r>
              <a:rPr lang="en-IN" sz="2800" dirty="0"/>
              <a:t>        </a:t>
            </a:r>
            <a:r>
              <a:rPr lang="en-IN" sz="2800" dirty="0" err="1"/>
              <a:t>document.write</a:t>
            </a:r>
            <a:r>
              <a:rPr lang="en-IN" sz="2800" dirty="0"/>
              <a:t>(</a:t>
            </a:r>
            <a:r>
              <a:rPr lang="en-IN" sz="2800" dirty="0" err="1"/>
              <a:t>i</a:t>
            </a:r>
            <a:r>
              <a:rPr lang="en-IN" sz="2800" dirty="0"/>
              <a:t> + "&lt;</a:t>
            </a:r>
            <a:r>
              <a:rPr lang="en-IN" sz="2800" dirty="0" err="1"/>
              <a:t>br</a:t>
            </a:r>
            <a:r>
              <a:rPr lang="en-IN" sz="2800" dirty="0"/>
              <a:t>&gt;");</a:t>
            </a:r>
          </a:p>
          <a:p>
            <a:pPr marL="0" indent="0">
              <a:buNone/>
            </a:pPr>
            <a:r>
              <a:rPr lang="en-IN" sz="2800" dirty="0"/>
              <a:t>      }</a:t>
            </a:r>
          </a:p>
          <a:p>
            <a:pPr marL="0" indent="0">
              <a:buNone/>
            </a:pPr>
            <a:r>
              <a:rPr lang="en-IN" sz="2800" dirty="0"/>
              <a:t>    }</a:t>
            </a:r>
          </a:p>
          <a:p>
            <a:pPr marL="0" indent="0">
              <a:buNone/>
            </a:pPr>
            <a:r>
              <a:rPr lang="en-IN" sz="2800" dirty="0"/>
              <a:t>  &lt;/script&gt;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282567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5B2C9A-9DAF-D50B-1B69-34E981BB182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&lt;head&gt; </a:t>
            </a:r>
            <a:r>
              <a:rPr lang="en-IN" sz="2800" dirty="0"/>
              <a:t>&lt;</a:t>
            </a:r>
            <a:r>
              <a:rPr lang="en-IN" sz="2800" dirty="0">
                <a:highlight>
                  <a:srgbClr val="FFFF00"/>
                </a:highlight>
              </a:rPr>
              <a:t>script:  shown on the left &gt;</a:t>
            </a:r>
            <a:endParaRPr lang="en-IN" dirty="0"/>
          </a:p>
          <a:p>
            <a:pPr marL="0" indent="0">
              <a:buNone/>
            </a:pPr>
            <a:r>
              <a:rPr lang="en-IN" dirty="0"/>
              <a:t>&lt;/head&gt;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  &lt;h2&gt;Print Numbers Using While Loop&lt;/h2&gt;</a:t>
            </a:r>
          </a:p>
          <a:p>
            <a:pPr marL="0" indent="0">
              <a:buNone/>
            </a:pPr>
            <a:r>
              <a:rPr lang="en-IN" dirty="0"/>
              <a:t>  &lt;label&gt;Enter a number: &lt;/label&gt;</a:t>
            </a:r>
          </a:p>
          <a:p>
            <a:pPr marL="0" indent="0">
              <a:buNone/>
            </a:pPr>
            <a:r>
              <a:rPr lang="en-IN" dirty="0"/>
              <a:t>  &lt;input type="number" id="</a:t>
            </a:r>
            <a:r>
              <a:rPr lang="en-IN" dirty="0" err="1"/>
              <a:t>numInput</a:t>
            </a:r>
            <a:r>
              <a:rPr lang="en-IN" dirty="0"/>
              <a:t>"&gt;</a:t>
            </a:r>
          </a:p>
          <a:p>
            <a:pPr marL="0" indent="0">
              <a:buNone/>
            </a:pPr>
            <a:r>
              <a:rPr lang="en-IN" dirty="0"/>
              <a:t>  &lt;button onclick="</a:t>
            </a:r>
            <a:r>
              <a:rPr lang="en-IN" dirty="0" err="1"/>
              <a:t>printNumbers</a:t>
            </a:r>
            <a:r>
              <a:rPr lang="en-IN" dirty="0"/>
              <a:t>()"&gt;Print&lt;/button&gt;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4234D5D1-B7CE-DE9B-2572-9C73340E741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script</a:t>
            </a:r>
            <a:endParaRPr lang="en-IN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3C44A35-7E8F-20F7-27C4-D06AA395E79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 &lt;script&gt;</a:t>
            </a:r>
          </a:p>
          <a:p>
            <a:pPr marL="0" indent="0">
              <a:buNone/>
            </a:pPr>
            <a:r>
              <a:rPr lang="en-IN" dirty="0"/>
              <a:t>    function </a:t>
            </a:r>
            <a:r>
              <a:rPr lang="en-IN" dirty="0" err="1"/>
              <a:t>printNumbers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    let </a:t>
            </a:r>
            <a:r>
              <a:rPr lang="en-IN" dirty="0" err="1"/>
              <a:t>num</a:t>
            </a:r>
            <a:r>
              <a:rPr lang="en-IN" dirty="0"/>
              <a:t> = </a:t>
            </a:r>
            <a:r>
              <a:rPr lang="en-IN" dirty="0" err="1"/>
              <a:t>parseInt</a:t>
            </a:r>
            <a:r>
              <a:rPr lang="en-IN" dirty="0"/>
              <a:t>(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numInput</a:t>
            </a:r>
            <a:r>
              <a:rPr lang="en-IN" dirty="0"/>
              <a:t>").value);</a:t>
            </a:r>
          </a:p>
          <a:p>
            <a:pPr marL="0" indent="0">
              <a:buNone/>
            </a:pPr>
            <a:r>
              <a:rPr lang="en-IN" dirty="0"/>
              <a:t>      let </a:t>
            </a:r>
            <a:r>
              <a:rPr lang="en-IN" dirty="0" err="1"/>
              <a:t>i</a:t>
            </a:r>
            <a:r>
              <a:rPr lang="en-IN" dirty="0"/>
              <a:t> = 1;</a:t>
            </a:r>
          </a:p>
          <a:p>
            <a:pPr marL="0" indent="0">
              <a:buNone/>
            </a:pPr>
            <a:r>
              <a:rPr lang="en-IN" dirty="0"/>
              <a:t>      </a:t>
            </a:r>
            <a:r>
              <a:rPr lang="en-IN" dirty="0" err="1"/>
              <a:t>document.write</a:t>
            </a:r>
            <a:r>
              <a:rPr lang="en-IN" dirty="0"/>
              <a:t>("&lt;h3&gt;Output:&lt;/h3&gt;");</a:t>
            </a:r>
          </a:p>
          <a:p>
            <a:pPr marL="0" indent="0">
              <a:buNone/>
            </a:pPr>
            <a:r>
              <a:rPr lang="en-IN" dirty="0"/>
              <a:t>      while (</a:t>
            </a:r>
            <a:r>
              <a:rPr lang="en-IN" dirty="0" err="1"/>
              <a:t>i</a:t>
            </a:r>
            <a:r>
              <a:rPr lang="en-IN" dirty="0"/>
              <a:t> &lt;= </a:t>
            </a:r>
            <a:r>
              <a:rPr lang="en-IN" dirty="0" err="1"/>
              <a:t>num</a:t>
            </a:r>
            <a:r>
              <a:rPr lang="en-IN" dirty="0"/>
              <a:t>) {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document.write</a:t>
            </a:r>
            <a:r>
              <a:rPr lang="en-IN" dirty="0"/>
              <a:t>(</a:t>
            </a:r>
            <a:r>
              <a:rPr lang="en-IN" dirty="0" err="1"/>
              <a:t>i</a:t>
            </a:r>
            <a:r>
              <a:rPr lang="en-IN" dirty="0"/>
              <a:t> + "&lt;</a:t>
            </a:r>
            <a:r>
              <a:rPr lang="en-IN" dirty="0" err="1"/>
              <a:t>br</a:t>
            </a:r>
            <a:r>
              <a:rPr lang="en-IN" dirty="0"/>
              <a:t>&gt;");</a:t>
            </a:r>
          </a:p>
          <a:p>
            <a:pPr marL="0" indent="0">
              <a:buNone/>
            </a:pPr>
            <a:r>
              <a:rPr lang="en-IN" dirty="0"/>
              <a:t>        </a:t>
            </a:r>
            <a:r>
              <a:rPr lang="en-IN" dirty="0" err="1"/>
              <a:t>i</a:t>
            </a:r>
            <a:r>
              <a:rPr lang="en-IN" dirty="0"/>
              <a:t>++;</a:t>
            </a:r>
          </a:p>
          <a:p>
            <a:pPr marL="0" indent="0">
              <a:buNone/>
            </a:pPr>
            <a:r>
              <a:rPr lang="en-IN" dirty="0"/>
              <a:t>      }</a:t>
            </a:r>
          </a:p>
          <a:p>
            <a:pPr marL="0" indent="0">
              <a:buNone/>
            </a:pPr>
            <a:r>
              <a:rPr lang="en-IN" dirty="0"/>
              <a:t>    }</a:t>
            </a:r>
          </a:p>
          <a:p>
            <a:pPr marL="0" indent="0">
              <a:buNone/>
            </a:pPr>
            <a:r>
              <a:rPr lang="en-IN" dirty="0"/>
              <a:t>  &lt;/script&gt;</a:t>
            </a:r>
          </a:p>
        </p:txBody>
      </p:sp>
      <p:sp>
        <p:nvSpPr>
          <p:cNvPr id="8" name="Title 3">
            <a:extLst>
              <a:ext uri="{FF2B5EF4-FFF2-40B4-BE49-F238E27FC236}">
                <a16:creationId xmlns:a16="http://schemas.microsoft.com/office/drawing/2014/main" id="{FB4FB652-9E0C-1CF6-3326-98593358CE68}"/>
              </a:ext>
            </a:extLst>
          </p:cNvPr>
          <p:cNvSpPr txBox="1">
            <a:spLocks/>
          </p:cNvSpPr>
          <p:nvPr/>
        </p:nvSpPr>
        <p:spPr>
          <a:xfrm>
            <a:off x="992188" y="517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9" name="Title 3">
            <a:extLst>
              <a:ext uri="{FF2B5EF4-FFF2-40B4-BE49-F238E27FC236}">
                <a16:creationId xmlns:a16="http://schemas.microsoft.com/office/drawing/2014/main" id="{AC20554E-DC65-D1EB-0355-6BE4E71A8A45}"/>
              </a:ext>
            </a:extLst>
          </p:cNvPr>
          <p:cNvSpPr txBox="1">
            <a:spLocks/>
          </p:cNvSpPr>
          <p:nvPr/>
        </p:nvSpPr>
        <p:spPr>
          <a:xfrm>
            <a:off x="1144588" y="6699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742DEADB-17BB-7E87-87FA-9C5D601D255F}"/>
              </a:ext>
            </a:extLst>
          </p:cNvPr>
          <p:cNvSpPr txBox="1">
            <a:spLocks/>
          </p:cNvSpPr>
          <p:nvPr/>
        </p:nvSpPr>
        <p:spPr>
          <a:xfrm>
            <a:off x="1296988" y="8223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D26995FD-65BB-FC22-DE70-D0CB7B1A0646}"/>
              </a:ext>
            </a:extLst>
          </p:cNvPr>
          <p:cNvSpPr txBox="1">
            <a:spLocks/>
          </p:cNvSpPr>
          <p:nvPr/>
        </p:nvSpPr>
        <p:spPr>
          <a:xfrm>
            <a:off x="1601788" y="133350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  <p:sp>
        <p:nvSpPr>
          <p:cNvPr id="12" name="Title 3">
            <a:extLst>
              <a:ext uri="{FF2B5EF4-FFF2-40B4-BE49-F238E27FC236}">
                <a16:creationId xmlns:a16="http://schemas.microsoft.com/office/drawing/2014/main" id="{37BEC3A9-299F-3128-2921-7C6A8D92D73B}"/>
              </a:ext>
            </a:extLst>
          </p:cNvPr>
          <p:cNvSpPr txBox="1">
            <a:spLocks/>
          </p:cNvSpPr>
          <p:nvPr/>
        </p:nvSpPr>
        <p:spPr>
          <a:xfrm>
            <a:off x="1601788" y="1127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While loop</a:t>
            </a:r>
            <a:endParaRPr lang="en-IN" dirty="0"/>
          </a:p>
        </p:txBody>
      </p:sp>
      <p:sp>
        <p:nvSpPr>
          <p:cNvPr id="13" name="Title 3">
            <a:extLst>
              <a:ext uri="{FF2B5EF4-FFF2-40B4-BE49-F238E27FC236}">
                <a16:creationId xmlns:a16="http://schemas.microsoft.com/office/drawing/2014/main" id="{84690621-58EE-33F2-ED85-2820A3C6E0F9}"/>
              </a:ext>
            </a:extLst>
          </p:cNvPr>
          <p:cNvSpPr txBox="1">
            <a:spLocks/>
          </p:cNvSpPr>
          <p:nvPr/>
        </p:nvSpPr>
        <p:spPr>
          <a:xfrm>
            <a:off x="1754188" y="12795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4882699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33272-2DA9-20F2-41BF-764D1A8EBA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Do- while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B4E38F-2A9B-1BF9-87D4-23B26EE602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387123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html</a:t>
            </a:r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BE01E15-D0C1-09B8-997D-60F9AA69FA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6612" y="1982560"/>
            <a:ext cx="5157787" cy="368458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800" dirty="0"/>
              <a:t>&lt;!DOCTYPE html&gt;</a:t>
            </a:r>
          </a:p>
          <a:p>
            <a:pPr marL="0" indent="0">
              <a:buNone/>
            </a:pPr>
            <a:r>
              <a:rPr lang="en-IN" sz="1800" dirty="0"/>
              <a:t>&lt;html&gt;</a:t>
            </a:r>
          </a:p>
          <a:p>
            <a:pPr marL="0" indent="0">
              <a:buNone/>
            </a:pPr>
            <a:r>
              <a:rPr lang="en-IN" sz="1800" dirty="0"/>
              <a:t>&lt;head&gt;</a:t>
            </a:r>
          </a:p>
          <a:p>
            <a:pPr marL="0" indent="0">
              <a:buNone/>
            </a:pPr>
            <a:r>
              <a:rPr lang="en-IN" sz="1800" dirty="0"/>
              <a:t>&lt;</a:t>
            </a:r>
            <a:r>
              <a:rPr lang="en-IN" sz="1800" dirty="0">
                <a:highlight>
                  <a:srgbClr val="FFFF00"/>
                </a:highlight>
              </a:rPr>
              <a:t>script:  shown on the left &gt;</a:t>
            </a:r>
            <a:endParaRPr lang="en-IN" sz="1800" dirty="0"/>
          </a:p>
          <a:p>
            <a:pPr marL="0" indent="0">
              <a:buNone/>
            </a:pPr>
            <a:r>
              <a:rPr lang="en-IN" sz="1800" dirty="0"/>
              <a:t>&lt;/head&gt;</a:t>
            </a:r>
          </a:p>
          <a:p>
            <a:pPr marL="0" indent="0">
              <a:buNone/>
            </a:pPr>
            <a:r>
              <a:rPr lang="en-IN" sz="1800" dirty="0"/>
              <a:t>&lt;body&gt;</a:t>
            </a:r>
          </a:p>
          <a:p>
            <a:pPr marL="0" indent="0">
              <a:buNone/>
            </a:pPr>
            <a:r>
              <a:rPr lang="en-IN" sz="1800" dirty="0"/>
              <a:t>  &lt;h2&gt;Print Numbers Using Do...While Loop&lt;/h2&gt;</a:t>
            </a:r>
          </a:p>
          <a:p>
            <a:pPr marL="0" indent="0">
              <a:buNone/>
            </a:pPr>
            <a:r>
              <a:rPr lang="en-IN" sz="1800" dirty="0"/>
              <a:t>  &lt;label&gt;Enter a number: &lt;/label&gt;</a:t>
            </a:r>
          </a:p>
          <a:p>
            <a:pPr marL="0" indent="0">
              <a:buNone/>
            </a:pPr>
            <a:r>
              <a:rPr lang="en-IN" sz="1800" dirty="0"/>
              <a:t>  &lt;input type="number" id="</a:t>
            </a:r>
            <a:r>
              <a:rPr lang="en-IN" sz="1800" dirty="0" err="1"/>
              <a:t>numInput</a:t>
            </a:r>
            <a:r>
              <a:rPr lang="en-IN" sz="1800" dirty="0"/>
              <a:t>"&gt;</a:t>
            </a:r>
          </a:p>
          <a:p>
            <a:pPr marL="0" indent="0">
              <a:buNone/>
            </a:pPr>
            <a:r>
              <a:rPr lang="en-IN" sz="1800" dirty="0"/>
              <a:t>  &lt;button onclick="</a:t>
            </a:r>
            <a:r>
              <a:rPr lang="en-IN" sz="1800" dirty="0" err="1"/>
              <a:t>printNumbers</a:t>
            </a:r>
            <a:r>
              <a:rPr lang="en-IN" sz="1800" dirty="0"/>
              <a:t>()"&gt;Print&lt;/button&gt;</a:t>
            </a:r>
          </a:p>
          <a:p>
            <a:pPr marL="0" indent="0">
              <a:buNone/>
            </a:pPr>
            <a:r>
              <a:rPr lang="en-IN" sz="1800" dirty="0"/>
              <a:t>&lt;/body&gt;</a:t>
            </a:r>
          </a:p>
          <a:p>
            <a:pPr marL="0" indent="0">
              <a:buNone/>
            </a:pPr>
            <a:r>
              <a:rPr lang="en-IN" sz="1800" dirty="0"/>
              <a:t>&lt;/html&gt;</a:t>
            </a:r>
          </a:p>
          <a:p>
            <a:pPr marL="0" indent="0">
              <a:buNone/>
            </a:pPr>
            <a:endParaRPr lang="en-IN" sz="1800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F64FBE1-8EAC-BB1C-A353-8C27B9C6890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081711" y="1244374"/>
            <a:ext cx="5183188" cy="823912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script</a:t>
            </a:r>
            <a:endParaRPr lang="en-IN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FA9B5-B896-5172-675B-0CF1E737FE4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053134" y="1874724"/>
            <a:ext cx="5183188" cy="3684588"/>
          </a:xfrm>
        </p:spPr>
        <p:txBody>
          <a:bodyPr>
            <a:noAutofit/>
          </a:bodyPr>
          <a:lstStyle/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&lt;script&gt;</a:t>
            </a:r>
          </a:p>
          <a:p>
            <a:pPr marL="0" indent="0">
              <a:buNone/>
            </a:pPr>
            <a:r>
              <a:rPr lang="en-IN" sz="1600" dirty="0"/>
              <a:t>    function </a:t>
            </a:r>
            <a:r>
              <a:rPr lang="en-IN" sz="1600" dirty="0" err="1"/>
              <a:t>printNumbers</a:t>
            </a:r>
            <a:r>
              <a:rPr lang="en-IN" sz="1600" dirty="0"/>
              <a:t>() {</a:t>
            </a:r>
          </a:p>
          <a:p>
            <a:pPr marL="0" indent="0">
              <a:buNone/>
            </a:pPr>
            <a:r>
              <a:rPr lang="en-IN" sz="1600" dirty="0"/>
              <a:t>      let </a:t>
            </a:r>
            <a:r>
              <a:rPr lang="en-IN" sz="1600" dirty="0" err="1"/>
              <a:t>num</a:t>
            </a:r>
            <a:r>
              <a:rPr lang="en-IN" sz="1600" dirty="0"/>
              <a:t> = </a:t>
            </a:r>
            <a:r>
              <a:rPr lang="en-IN" sz="1600" dirty="0" err="1"/>
              <a:t>parseInt</a:t>
            </a:r>
            <a:r>
              <a:rPr lang="en-IN" sz="1600" dirty="0"/>
              <a:t>(</a:t>
            </a:r>
            <a:r>
              <a:rPr lang="en-IN" sz="1600" dirty="0" err="1"/>
              <a:t>document.getElementById</a:t>
            </a:r>
            <a:r>
              <a:rPr lang="en-IN" sz="1600" dirty="0"/>
              <a:t>("</a:t>
            </a:r>
            <a:r>
              <a:rPr lang="en-IN" sz="1600" dirty="0" err="1"/>
              <a:t>numInput</a:t>
            </a:r>
            <a:r>
              <a:rPr lang="en-IN" sz="1600" dirty="0"/>
              <a:t>").value);</a:t>
            </a:r>
          </a:p>
          <a:p>
            <a:pPr marL="0" indent="0">
              <a:buNone/>
            </a:pPr>
            <a:r>
              <a:rPr lang="en-IN" sz="1600" dirty="0"/>
              <a:t>      let </a:t>
            </a:r>
            <a:r>
              <a:rPr lang="en-IN" sz="1600" dirty="0" err="1"/>
              <a:t>i</a:t>
            </a:r>
            <a:r>
              <a:rPr lang="en-IN" sz="1600" dirty="0"/>
              <a:t> = 1;</a:t>
            </a:r>
          </a:p>
          <a:p>
            <a:pPr marL="0" indent="0">
              <a:buNone/>
            </a:pPr>
            <a:endParaRPr lang="en-IN" sz="1600" dirty="0"/>
          </a:p>
          <a:p>
            <a:pPr marL="0" indent="0">
              <a:buNone/>
            </a:pPr>
            <a:r>
              <a:rPr lang="en-IN" sz="1600" dirty="0"/>
              <a:t>      </a:t>
            </a:r>
            <a:r>
              <a:rPr lang="en-IN" sz="1600" dirty="0" err="1"/>
              <a:t>document.write</a:t>
            </a:r>
            <a:r>
              <a:rPr lang="en-IN" sz="1600" dirty="0"/>
              <a:t>("&lt;h3&gt;Output:&lt;/h3&gt;");</a:t>
            </a:r>
          </a:p>
          <a:p>
            <a:pPr marL="0" indent="0">
              <a:buNone/>
            </a:pPr>
            <a:r>
              <a:rPr lang="en-IN" sz="1600" dirty="0"/>
              <a:t>      do {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document.write</a:t>
            </a:r>
            <a:r>
              <a:rPr lang="en-IN" sz="1600" dirty="0"/>
              <a:t>(</a:t>
            </a:r>
            <a:r>
              <a:rPr lang="en-IN" sz="1600" dirty="0" err="1"/>
              <a:t>i</a:t>
            </a:r>
            <a:r>
              <a:rPr lang="en-IN" sz="1600" dirty="0"/>
              <a:t> + "&lt;</a:t>
            </a:r>
            <a:r>
              <a:rPr lang="en-IN" sz="1600" dirty="0" err="1"/>
              <a:t>br</a:t>
            </a:r>
            <a:r>
              <a:rPr lang="en-IN" sz="1600" dirty="0"/>
              <a:t>&gt;");</a:t>
            </a:r>
          </a:p>
          <a:p>
            <a:pPr marL="0" indent="0">
              <a:buNone/>
            </a:pPr>
            <a:r>
              <a:rPr lang="en-IN" sz="1600" dirty="0"/>
              <a:t>        </a:t>
            </a:r>
            <a:r>
              <a:rPr lang="en-IN" sz="1600" dirty="0" err="1"/>
              <a:t>i</a:t>
            </a:r>
            <a:r>
              <a:rPr lang="en-IN" sz="1600" dirty="0"/>
              <a:t>++;</a:t>
            </a:r>
          </a:p>
          <a:p>
            <a:pPr marL="0" indent="0">
              <a:buNone/>
            </a:pPr>
            <a:r>
              <a:rPr lang="en-IN" sz="1600" dirty="0"/>
              <a:t>      } while (</a:t>
            </a:r>
            <a:r>
              <a:rPr lang="en-IN" sz="1600" dirty="0" err="1"/>
              <a:t>i</a:t>
            </a:r>
            <a:r>
              <a:rPr lang="en-IN" sz="1600" dirty="0"/>
              <a:t> &lt;= </a:t>
            </a:r>
            <a:r>
              <a:rPr lang="en-IN" sz="1600" dirty="0" err="1"/>
              <a:t>num</a:t>
            </a:r>
            <a:r>
              <a:rPr lang="en-IN" sz="1600" dirty="0"/>
              <a:t>);</a:t>
            </a:r>
          </a:p>
          <a:p>
            <a:pPr marL="0" indent="0">
              <a:buNone/>
            </a:pPr>
            <a:r>
              <a:rPr lang="en-IN" sz="1600" dirty="0"/>
              <a:t>    }</a:t>
            </a:r>
          </a:p>
          <a:p>
            <a:pPr marL="0" indent="0">
              <a:buNone/>
            </a:pPr>
            <a:r>
              <a:rPr lang="en-IN" sz="1600" dirty="0"/>
              <a:t>  &lt;/script&gt;</a:t>
            </a:r>
          </a:p>
          <a:p>
            <a:pPr marL="0" indent="0">
              <a:buNone/>
            </a:pPr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6798341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B051D-DAFD-4BD7-5CBE-A72219806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2743" y="2103437"/>
            <a:ext cx="10515600" cy="1325563"/>
          </a:xfrm>
        </p:spPr>
        <p:txBody>
          <a:bodyPr/>
          <a:lstStyle/>
          <a:p>
            <a:r>
              <a:rPr lang="en-US" dirty="0"/>
              <a:t>Accessing Values  from various Elements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89850889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F860C2-F23F-DB18-F430-A13B97BA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Month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1D4EFF-3E33-67A5-4567-132D613A8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3"/>
            <a:ext cx="10515600" cy="5437238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US" dirty="0"/>
              <a:t>&lt;!</a:t>
            </a:r>
            <a:r>
              <a:rPr lang="en-US" sz="3300" dirty="0"/>
              <a:t>DOCTYPE html&gt;</a:t>
            </a:r>
          </a:p>
          <a:p>
            <a:pPr marL="0" indent="0">
              <a:buNone/>
            </a:pPr>
            <a:r>
              <a:rPr lang="en-US" sz="3300" dirty="0"/>
              <a:t>&lt;html&gt;</a:t>
            </a:r>
          </a:p>
          <a:p>
            <a:pPr marL="0" indent="0">
              <a:buNone/>
            </a:pPr>
            <a:r>
              <a:rPr lang="en-US" sz="3300" dirty="0"/>
              <a:t>&lt;body&gt;</a:t>
            </a:r>
          </a:p>
          <a:p>
            <a:pPr marL="0" indent="0">
              <a:buNone/>
            </a:pPr>
            <a:r>
              <a:rPr lang="en-US" sz="3300" dirty="0"/>
              <a:t>&lt;h3&gt;A demonstration of how to access a Month field&lt;/h3&gt;</a:t>
            </a:r>
          </a:p>
          <a:p>
            <a:pPr marL="0" indent="0">
              <a:buNone/>
            </a:pPr>
            <a:r>
              <a:rPr lang="en-US" sz="3300" dirty="0"/>
              <a:t>&lt;input type="month" id="</a:t>
            </a:r>
            <a:r>
              <a:rPr lang="en-US" sz="3300" dirty="0" err="1"/>
              <a:t>myMonth</a:t>
            </a:r>
            <a:r>
              <a:rPr lang="en-US" sz="3300" dirty="0"/>
              <a:t>" value="2014-05"&gt;</a:t>
            </a:r>
          </a:p>
          <a:p>
            <a:pPr marL="0" indent="0">
              <a:buNone/>
            </a:pPr>
            <a:r>
              <a:rPr lang="en-US" sz="3300" dirty="0"/>
              <a:t>&lt;p&gt;Click the button to get the month and year of the month field.&lt;/p&gt;</a:t>
            </a:r>
          </a:p>
          <a:p>
            <a:pPr marL="0" indent="0">
              <a:buNone/>
            </a:pPr>
            <a:r>
              <a:rPr lang="en-US" sz="3300" dirty="0"/>
              <a:t>&lt;button onclick="</a:t>
            </a:r>
            <a:r>
              <a:rPr lang="en-US" sz="3300" dirty="0" err="1"/>
              <a:t>myFunction</a:t>
            </a:r>
            <a:r>
              <a:rPr lang="en-US" sz="3300" dirty="0"/>
              <a:t>()"&gt;Try it&lt;/button&gt;</a:t>
            </a:r>
          </a:p>
          <a:p>
            <a:pPr marL="0" indent="0">
              <a:buNone/>
            </a:pPr>
            <a:r>
              <a:rPr lang="en-US" sz="3300" dirty="0"/>
              <a:t>&lt;p&gt;&lt;strong&gt;Note:&lt;/strong&gt; input elements with type="month" do not show as any date field/calendar in Firefox.&lt;/p&gt;</a:t>
            </a:r>
          </a:p>
          <a:p>
            <a:pPr marL="0" indent="0">
              <a:buNone/>
            </a:pPr>
            <a:r>
              <a:rPr lang="en-US" sz="3300" dirty="0"/>
              <a:t>&lt;p id="demo"&gt;&lt;/p&gt;</a:t>
            </a:r>
          </a:p>
          <a:p>
            <a:pPr marL="0" indent="0">
              <a:buNone/>
            </a:pPr>
            <a:r>
              <a:rPr lang="en-US" sz="3300" dirty="0"/>
              <a:t>&lt;script&gt;</a:t>
            </a:r>
          </a:p>
          <a:p>
            <a:pPr marL="0" indent="0">
              <a:buNone/>
            </a:pPr>
            <a:r>
              <a:rPr lang="en-US" sz="3300" dirty="0"/>
              <a:t>function </a:t>
            </a:r>
            <a:r>
              <a:rPr lang="en-US" sz="3300" dirty="0" err="1"/>
              <a:t>myFunction</a:t>
            </a:r>
            <a:r>
              <a:rPr lang="en-US" sz="3300" dirty="0"/>
              <a:t>() {</a:t>
            </a:r>
          </a:p>
          <a:p>
            <a:pPr marL="0" indent="0">
              <a:buNone/>
            </a:pPr>
            <a:r>
              <a:rPr lang="en-US" sz="3300" dirty="0"/>
              <a:t>  var x = </a:t>
            </a:r>
            <a:r>
              <a:rPr lang="en-US" sz="3300" dirty="0" err="1"/>
              <a:t>document.getElementById</a:t>
            </a:r>
            <a:r>
              <a:rPr lang="en-US" sz="3300" dirty="0"/>
              <a:t>("</a:t>
            </a:r>
            <a:r>
              <a:rPr lang="en-US" sz="3300" dirty="0" err="1"/>
              <a:t>myMonth</a:t>
            </a:r>
            <a:r>
              <a:rPr lang="en-US" sz="3300" dirty="0"/>
              <a:t>").value;</a:t>
            </a:r>
          </a:p>
          <a:p>
            <a:pPr marL="0" indent="0">
              <a:buNone/>
            </a:pPr>
            <a:r>
              <a:rPr lang="en-US" sz="3300" dirty="0"/>
              <a:t>  </a:t>
            </a:r>
            <a:r>
              <a:rPr lang="en-US" sz="3300" dirty="0" err="1"/>
              <a:t>document.getElementById</a:t>
            </a:r>
            <a:r>
              <a:rPr lang="en-US" sz="3300" dirty="0"/>
              <a:t>("demo").</a:t>
            </a:r>
            <a:r>
              <a:rPr lang="en-US" sz="3300" dirty="0" err="1"/>
              <a:t>innerHTML</a:t>
            </a:r>
            <a:r>
              <a:rPr lang="en-US" sz="3300" dirty="0"/>
              <a:t> = x;</a:t>
            </a:r>
          </a:p>
          <a:p>
            <a:pPr marL="0" indent="0">
              <a:buNone/>
            </a:pPr>
            <a:r>
              <a:rPr lang="en-US" sz="3300" dirty="0"/>
              <a:t>}</a:t>
            </a:r>
          </a:p>
          <a:p>
            <a:pPr marL="0" indent="0">
              <a:buNone/>
            </a:pPr>
            <a:r>
              <a:rPr lang="en-US" sz="3300" dirty="0"/>
              <a:t>&lt;/script&gt;</a:t>
            </a:r>
          </a:p>
          <a:p>
            <a:pPr marL="0" indent="0">
              <a:buNone/>
            </a:pPr>
            <a:r>
              <a:rPr lang="en-US" sz="3300" dirty="0"/>
              <a:t>&lt;/body&gt;</a:t>
            </a:r>
          </a:p>
          <a:p>
            <a:pPr marL="0" indent="0">
              <a:buNone/>
            </a:pPr>
            <a:r>
              <a:rPr lang="en-US" sz="3300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003968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9B9772-E9DA-79C5-B7DA-5DA1327416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078" y="1120878"/>
            <a:ext cx="10515600" cy="5881995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&lt;h3&gt;A demonstration of how to access a LEGEND element&lt;/h3&gt;</a:t>
            </a:r>
          </a:p>
          <a:p>
            <a:pPr marL="0" indent="0">
              <a:buNone/>
            </a:pPr>
            <a:r>
              <a:rPr lang="en-IN" dirty="0"/>
              <a:t>&lt;</a:t>
            </a:r>
            <a:r>
              <a:rPr lang="en-IN" dirty="0" err="1"/>
              <a:t>fieldset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&lt;legend id="</a:t>
            </a:r>
            <a:r>
              <a:rPr lang="en-IN" dirty="0" err="1"/>
              <a:t>myLegend</a:t>
            </a:r>
            <a:r>
              <a:rPr lang="en-IN" dirty="0"/>
              <a:t>"&gt;Personalia:&lt;/legend&gt;</a:t>
            </a:r>
          </a:p>
          <a:p>
            <a:pPr marL="0" indent="0">
              <a:buNone/>
            </a:pPr>
            <a:r>
              <a:rPr lang="en-IN" dirty="0"/>
              <a:t>  Name: &lt;input type="text"&gt;</a:t>
            </a:r>
          </a:p>
          <a:p>
            <a:pPr marL="0" indent="0">
              <a:buNone/>
            </a:pPr>
            <a:r>
              <a:rPr lang="en-IN" dirty="0"/>
              <a:t>&lt;/</a:t>
            </a:r>
            <a:r>
              <a:rPr lang="en-IN" dirty="0" err="1"/>
              <a:t>fieldset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&lt;p&gt;Click the button to get the text of the legend element.&lt;/p&gt;</a:t>
            </a:r>
          </a:p>
          <a:p>
            <a:pPr marL="0" indent="0">
              <a:buNone/>
            </a:pPr>
            <a:r>
              <a:rPr lang="en-IN" dirty="0"/>
              <a:t>&lt;button onclick="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var x =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myLegend</a:t>
            </a:r>
            <a:r>
              <a:rPr lang="en-IN" dirty="0"/>
              <a:t>").</a:t>
            </a:r>
            <a:r>
              <a:rPr lang="en-IN" dirty="0" err="1"/>
              <a:t>innerHTML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x;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F250C7C-69A7-E340-AB6F-89B76A7A6B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7251" y="116578"/>
            <a:ext cx="8531942" cy="1210777"/>
          </a:xfrm>
        </p:spPr>
        <p:txBody>
          <a:bodyPr/>
          <a:lstStyle/>
          <a:p>
            <a:r>
              <a:rPr lang="en-IN" dirty="0"/>
              <a:t>Field Set</a:t>
            </a:r>
          </a:p>
        </p:txBody>
      </p:sp>
    </p:spTree>
    <p:extLst>
      <p:ext uri="{BB962C8B-B14F-4D97-AF65-F5344CB8AC3E}">
        <p14:creationId xmlns:p14="http://schemas.microsoft.com/office/powerpoint/2010/main" val="18126233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28B9E3-2AA0-263D-38C7-7A5BEE51A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Password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ECAA13-66A2-8A49-CA4E-7708CE87A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Password: &lt;input type="password" id="</a:t>
            </a:r>
            <a:r>
              <a:rPr lang="en-IN" dirty="0" err="1"/>
              <a:t>myPsw</a:t>
            </a:r>
            <a:r>
              <a:rPr lang="en-IN" dirty="0"/>
              <a:t>" value="psw123"&gt;</a:t>
            </a:r>
          </a:p>
          <a:p>
            <a:pPr marL="0" indent="0">
              <a:buNone/>
            </a:pPr>
            <a:r>
              <a:rPr lang="en-IN" dirty="0"/>
              <a:t>&lt;p&gt;Click the button to get the password of the password field.&lt;/p&gt;</a:t>
            </a:r>
          </a:p>
          <a:p>
            <a:pPr marL="0" indent="0">
              <a:buNone/>
            </a:pPr>
            <a:r>
              <a:rPr lang="en-IN" dirty="0"/>
              <a:t>&lt;button onclick="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var x =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myPsw</a:t>
            </a:r>
            <a:r>
              <a:rPr lang="en-IN" dirty="0"/>
              <a:t>").value;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x;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869533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363634-80FF-17EE-CF3F-F119E3635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55914"/>
            <a:ext cx="10515600" cy="5121049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&lt;input type="range" id="</a:t>
            </a:r>
            <a:r>
              <a:rPr lang="en-IN" dirty="0" err="1"/>
              <a:t>myRange</a:t>
            </a:r>
            <a:r>
              <a:rPr lang="en-IN" dirty="0"/>
              <a:t>" value="90"&gt;</a:t>
            </a:r>
          </a:p>
          <a:p>
            <a:pPr marL="0" indent="0">
              <a:buNone/>
            </a:pPr>
            <a:r>
              <a:rPr lang="en-IN" dirty="0"/>
              <a:t>&lt;p&gt;Click the button to get the value of the slider control.&lt;/p&gt;</a:t>
            </a:r>
          </a:p>
          <a:p>
            <a:pPr marL="0" indent="0">
              <a:buNone/>
            </a:pPr>
            <a:r>
              <a:rPr lang="en-IN" dirty="0"/>
              <a:t>&lt;button onclick="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var x =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myRange</a:t>
            </a:r>
            <a:r>
              <a:rPr lang="en-IN" dirty="0"/>
              <a:t>").value;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x;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04C6D5D-84ED-250F-25EC-F9D5A3F451C2}"/>
              </a:ext>
            </a:extLst>
          </p:cNvPr>
          <p:cNvSpPr txBox="1"/>
          <p:nvPr/>
        </p:nvSpPr>
        <p:spPr>
          <a:xfrm>
            <a:off x="1045029" y="96262"/>
            <a:ext cx="4572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dirty="0"/>
              <a:t>Range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14644034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A1A2-31E9-6006-7A1E-1C2E02F7BC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01675"/>
          </a:xfrm>
        </p:spPr>
        <p:txBody>
          <a:bodyPr/>
          <a:lstStyle/>
          <a:p>
            <a:r>
              <a:rPr lang="en-IN" dirty="0"/>
              <a:t>Time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1D2D83-B314-AE47-8306-EC62028CE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66800"/>
            <a:ext cx="10515600" cy="555171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&lt;h3&gt;A demonstration of how to access a Time field&lt;/h3&gt;</a:t>
            </a:r>
          </a:p>
          <a:p>
            <a:pPr marL="0" indent="0">
              <a:buNone/>
            </a:pPr>
            <a:r>
              <a:rPr lang="en-IN" dirty="0"/>
              <a:t>&lt;input type="time" id="</a:t>
            </a:r>
            <a:r>
              <a:rPr lang="en-IN" dirty="0" err="1"/>
              <a:t>myTime</a:t>
            </a:r>
            <a:r>
              <a:rPr lang="en-IN" dirty="0"/>
              <a:t>" value="22:15:00"&gt;</a:t>
            </a:r>
          </a:p>
          <a:p>
            <a:pPr marL="0" indent="0">
              <a:buNone/>
            </a:pPr>
            <a:r>
              <a:rPr lang="en-IN" dirty="0"/>
              <a:t>&lt;p&gt;Click the button to get the time of the time field.&lt;/p&gt;</a:t>
            </a:r>
          </a:p>
          <a:p>
            <a:pPr marL="0" indent="0">
              <a:buNone/>
            </a:pPr>
            <a:r>
              <a:rPr lang="en-IN" dirty="0"/>
              <a:t>&lt;button onclick="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var x =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myTime</a:t>
            </a:r>
            <a:r>
              <a:rPr lang="en-IN" dirty="0"/>
              <a:t>").value;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x;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1838802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B7254-ABDF-4DCF-6919-504623FA1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3029" y="282007"/>
            <a:ext cx="11326410" cy="6052272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&lt;h3&gt;A demonstration of how to access a Week field&lt;/h3&gt;</a:t>
            </a:r>
          </a:p>
          <a:p>
            <a:pPr marL="0" indent="0">
              <a:buNone/>
            </a:pPr>
            <a:r>
              <a:rPr lang="en-IN" dirty="0"/>
              <a:t>&lt;input type="week" id="</a:t>
            </a:r>
            <a:r>
              <a:rPr lang="en-IN" dirty="0" err="1"/>
              <a:t>myWeek</a:t>
            </a:r>
            <a:r>
              <a:rPr lang="en-IN" dirty="0"/>
              <a:t>" value="2014-W15"&gt;</a:t>
            </a:r>
          </a:p>
          <a:p>
            <a:pPr marL="0" indent="0">
              <a:buNone/>
            </a:pPr>
            <a:r>
              <a:rPr lang="en-IN" dirty="0"/>
              <a:t>&lt;p&gt;Click the button to get the week and year of the week field.&lt;/p&gt;</a:t>
            </a:r>
          </a:p>
          <a:p>
            <a:pPr marL="0" indent="0">
              <a:buNone/>
            </a:pPr>
            <a:r>
              <a:rPr lang="en-IN" dirty="0"/>
              <a:t>&lt;button onclick="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pPr marL="0" indent="0">
              <a:buNone/>
            </a:pPr>
            <a:r>
              <a:rPr lang="en-IN" dirty="0"/>
              <a:t>&lt;p&gt;&lt;strong&gt;Note:&lt;/strong&gt; input elements with type="week" are not supported in IE11, Firefox, or Safari.&lt;/p&gt;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var x =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myWeek</a:t>
            </a:r>
            <a:r>
              <a:rPr lang="en-IN" dirty="0"/>
              <a:t>").value;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x;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DD635B-3188-3072-1BFB-04330B6E176C}"/>
              </a:ext>
            </a:extLst>
          </p:cNvPr>
          <p:cNvSpPr txBox="1"/>
          <p:nvPr/>
        </p:nvSpPr>
        <p:spPr>
          <a:xfrm>
            <a:off x="5965371" y="120710"/>
            <a:ext cx="24928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WEEK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837849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1A644B-D91F-37AC-25D3-B372B7A0F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Redirecting to other Pages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19554E-FD54-840A-87B6-25A5341EF9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&lt;!DOCTYPE html&gt;</a:t>
            </a:r>
          </a:p>
          <a:p>
            <a:pPr marL="0" indent="0">
              <a:buNone/>
            </a:pPr>
            <a:r>
              <a:rPr lang="en-US" dirty="0"/>
              <a:t>&lt;html&gt;</a:t>
            </a:r>
          </a:p>
          <a:p>
            <a:pPr marL="0" indent="0">
              <a:buNone/>
            </a:pPr>
            <a:r>
              <a:rPr lang="en-US" dirty="0"/>
              <a:t>&lt;body&gt;</a:t>
            </a:r>
          </a:p>
          <a:p>
            <a:pPr marL="0" indent="0">
              <a:buNone/>
            </a:pPr>
            <a:r>
              <a:rPr lang="en-US" dirty="0"/>
              <a:t>&lt;button onclick="</a:t>
            </a:r>
            <a:r>
              <a:rPr lang="en-US" dirty="0" err="1"/>
              <a:t>myFunction</a:t>
            </a:r>
            <a:r>
              <a:rPr lang="en-US" dirty="0"/>
              <a:t>()"&gt;Replace document&lt;/button&gt;</a:t>
            </a:r>
          </a:p>
          <a:p>
            <a:pPr marL="0" indent="0">
              <a:buNone/>
            </a:pPr>
            <a:r>
              <a:rPr lang="en-US" dirty="0"/>
              <a:t>&lt;script&gt;</a:t>
            </a:r>
          </a:p>
          <a:p>
            <a:pPr marL="0" indent="0">
              <a:buNone/>
            </a:pPr>
            <a:r>
              <a:rPr lang="en-US" dirty="0"/>
              <a:t>function </a:t>
            </a:r>
            <a:r>
              <a:rPr lang="en-US" dirty="0" err="1"/>
              <a:t>myFunction</a:t>
            </a:r>
            <a:r>
              <a:rPr lang="en-US" dirty="0"/>
              <a:t>() {</a:t>
            </a:r>
          </a:p>
          <a:p>
            <a:pPr marL="0" indent="0">
              <a:buNone/>
            </a:pPr>
            <a:r>
              <a:rPr lang="en-US" dirty="0"/>
              <a:t>  </a:t>
            </a:r>
            <a:r>
              <a:rPr lang="en-US" dirty="0" err="1"/>
              <a:t>location.replace</a:t>
            </a:r>
            <a:r>
              <a:rPr lang="en-US" dirty="0"/>
              <a:t>("https://www.w3schools.com")</a:t>
            </a:r>
          </a:p>
          <a:p>
            <a:pPr marL="0" indent="0">
              <a:buNone/>
            </a:pPr>
            <a:r>
              <a:rPr lang="en-US" dirty="0"/>
              <a:t>}</a:t>
            </a:r>
          </a:p>
          <a:p>
            <a:pPr marL="0" indent="0">
              <a:buNone/>
            </a:pPr>
            <a:r>
              <a:rPr lang="en-US" dirty="0"/>
              <a:t>&lt;/script&gt;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&lt;/body&gt;</a:t>
            </a:r>
          </a:p>
          <a:p>
            <a:pPr marL="0" indent="0">
              <a:buNone/>
            </a:pPr>
            <a:r>
              <a:rPr lang="en-US" dirty="0"/>
              <a:t>&lt;/html&gt;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240888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499B9F-1B3F-AB96-7A21-ADE1989DF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7686" y="2400753"/>
            <a:ext cx="10515600" cy="1325563"/>
          </a:xfrm>
        </p:spPr>
        <p:txBody>
          <a:bodyPr/>
          <a:lstStyle/>
          <a:p>
            <a:r>
              <a:rPr lang="en-US" dirty="0"/>
              <a:t>Accessing Data from Elements- Methods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89636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8AE9A-63DE-5792-7665-3B4BE3E717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Tag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31BC58-9B5B-CCC0-6362-13CA3E363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&lt;h2&gt;JavaScript HTML DOM&lt;/h2&gt;</a:t>
            </a:r>
          </a:p>
          <a:p>
            <a:pPr marL="0" indent="0">
              <a:buNone/>
            </a:pPr>
            <a:r>
              <a:rPr lang="en-IN" dirty="0"/>
              <a:t>&lt;p&gt;Finding HTML Elements by Tag Name.&lt;/p&gt;</a:t>
            </a:r>
          </a:p>
          <a:p>
            <a:pPr marL="0" indent="0">
              <a:buNone/>
            </a:pPr>
            <a:r>
              <a:rPr lang="en-IN" dirty="0"/>
              <a:t>&lt;p&gt;This example demonstrates the &lt;b&gt;</a:t>
            </a:r>
            <a:r>
              <a:rPr lang="en-IN" dirty="0" err="1"/>
              <a:t>getElementsByTagName</a:t>
            </a:r>
            <a:r>
              <a:rPr lang="en-IN" dirty="0"/>
              <a:t>&lt;/b&gt; method.&lt;/p&gt;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element = </a:t>
            </a:r>
            <a:r>
              <a:rPr lang="en-IN" dirty="0" err="1"/>
              <a:t>document.getElementsByTagName</a:t>
            </a:r>
            <a:r>
              <a:rPr lang="en-IN" dirty="0"/>
              <a:t>("p");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'The text in first paragraph (index 1) is: ' + element[1].</a:t>
            </a:r>
            <a:r>
              <a:rPr lang="en-IN" dirty="0" err="1"/>
              <a:t>innerHTML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8261014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AE453-9D9F-AC10-5D45-2C4C459BB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 Name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CEDE5-A7C3-5B9E-2303-15B972FBC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&lt;h2&gt;JavaScript HTML DOM&lt;/h2&gt;</a:t>
            </a:r>
          </a:p>
          <a:p>
            <a:pPr marL="0" indent="0">
              <a:buNone/>
            </a:pPr>
            <a:r>
              <a:rPr lang="en-IN" dirty="0"/>
              <a:t>&lt;p&gt;Finding HTML Elements by Class Name.&lt;/p&gt;</a:t>
            </a:r>
          </a:p>
          <a:p>
            <a:pPr marL="0" indent="0">
              <a:buNone/>
            </a:pPr>
            <a:r>
              <a:rPr lang="en-IN" dirty="0"/>
              <a:t>&lt;p class="intro"&gt;Hello World!&lt;/p&gt;</a:t>
            </a:r>
          </a:p>
          <a:p>
            <a:pPr marL="0" indent="0">
              <a:buNone/>
            </a:pPr>
            <a:r>
              <a:rPr lang="en-IN" dirty="0"/>
              <a:t>&lt;p class="intro"&gt;This example demonstrates the &lt;b&gt;</a:t>
            </a:r>
            <a:r>
              <a:rPr lang="en-IN" dirty="0" err="1"/>
              <a:t>getElementsByClassName</a:t>
            </a:r>
            <a:r>
              <a:rPr lang="en-IN" dirty="0"/>
              <a:t>&lt;/b&gt; method.&lt;/p&gt;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x = </a:t>
            </a:r>
            <a:r>
              <a:rPr lang="en-IN" dirty="0" err="1"/>
              <a:t>document.getElementsByClassName</a:t>
            </a:r>
            <a:r>
              <a:rPr lang="en-IN" dirty="0"/>
              <a:t>("intro");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</a:t>
            </a:r>
          </a:p>
          <a:p>
            <a:pPr marL="0" indent="0">
              <a:buNone/>
            </a:pPr>
            <a:r>
              <a:rPr lang="en-IN" dirty="0"/>
              <a:t>'The first paragraph (index 0) with class="intro" is: ' + x[0].</a:t>
            </a:r>
            <a:r>
              <a:rPr lang="en-IN" dirty="0" err="1"/>
              <a:t>innerHTML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0643714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FC10C-421E-7C5B-DC37-0C44CA6770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Query Selector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9F656-1355-9566-F385-F5D6468E28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&lt;h2&gt;JavaScript HTML DOM&lt;/h2&gt;</a:t>
            </a:r>
          </a:p>
          <a:p>
            <a:pPr marL="0" indent="0">
              <a:buNone/>
            </a:pPr>
            <a:r>
              <a:rPr lang="en-IN" dirty="0"/>
              <a:t>&lt;p&gt;Finding HTML Elements by Query Selector&lt;/p&gt;</a:t>
            </a:r>
          </a:p>
          <a:p>
            <a:pPr marL="0" indent="0">
              <a:buNone/>
            </a:pPr>
            <a:r>
              <a:rPr lang="en-IN" dirty="0"/>
              <a:t>&lt;p class="intro"&gt;Hello World!.&lt;/p&gt;</a:t>
            </a:r>
          </a:p>
          <a:p>
            <a:pPr marL="0" indent="0">
              <a:buNone/>
            </a:pPr>
            <a:r>
              <a:rPr lang="en-IN" dirty="0"/>
              <a:t>&lt;p class="intro"&gt;This example demonstrates the &lt;b&gt;</a:t>
            </a:r>
            <a:r>
              <a:rPr lang="en-IN" dirty="0" err="1"/>
              <a:t>querySelectorAll</a:t>
            </a:r>
            <a:r>
              <a:rPr lang="en-IN" dirty="0"/>
              <a:t>&lt;/b&gt; method.&lt;/p&gt;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x = </a:t>
            </a:r>
            <a:r>
              <a:rPr lang="en-IN" dirty="0" err="1"/>
              <a:t>document.querySelectorAll</a:t>
            </a:r>
            <a:r>
              <a:rPr lang="en-IN" dirty="0"/>
              <a:t>("</a:t>
            </a:r>
            <a:r>
              <a:rPr lang="en-IN" dirty="0" err="1"/>
              <a:t>p.intro</a:t>
            </a:r>
            <a:r>
              <a:rPr lang="en-IN" dirty="0"/>
              <a:t>");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</a:t>
            </a:r>
          </a:p>
          <a:p>
            <a:pPr marL="0" indent="0">
              <a:buNone/>
            </a:pPr>
            <a:r>
              <a:rPr lang="en-IN" dirty="0"/>
              <a:t>'The first paragraph (index 0) with class="intro" is: ' + x[0].</a:t>
            </a:r>
            <a:r>
              <a:rPr lang="en-IN" dirty="0" err="1"/>
              <a:t>innerHTML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4343011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AFFDD-3DF7-1BB3-5166-F201C54EA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9374" y="0"/>
            <a:ext cx="10515600" cy="1325563"/>
          </a:xfrm>
        </p:spPr>
        <p:txBody>
          <a:bodyPr/>
          <a:lstStyle/>
          <a:p>
            <a:r>
              <a:rPr lang="en-IN" dirty="0"/>
              <a:t>Label Id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C65AE8-CA7D-9B37-E542-F49EF3060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40542"/>
            <a:ext cx="10515600" cy="5909187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&lt;h3&gt;A demonstration of how to access a LABEL element&lt;/h3&gt;</a:t>
            </a:r>
          </a:p>
          <a:p>
            <a:pPr marL="0" indent="0">
              <a:buNone/>
            </a:pPr>
            <a:r>
              <a:rPr lang="en-IN" dirty="0"/>
              <a:t>&lt;label id="</a:t>
            </a:r>
            <a:r>
              <a:rPr lang="en-IN" dirty="0" err="1"/>
              <a:t>myLabel</a:t>
            </a:r>
            <a:r>
              <a:rPr lang="en-IN" dirty="0"/>
              <a:t>" for="male"&gt;Male&lt;/label&gt;</a:t>
            </a:r>
          </a:p>
          <a:p>
            <a:pPr marL="0" indent="0">
              <a:buNone/>
            </a:pPr>
            <a:r>
              <a:rPr lang="en-IN" dirty="0"/>
              <a:t>&lt;input type="radio" name="sex" id="male" value="male"&gt;&lt;</a:t>
            </a:r>
            <a:r>
              <a:rPr lang="en-IN" dirty="0" err="1"/>
              <a:t>br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&lt;p&gt;Click the button to get the id of the element the label is bound to.&lt;/p&gt;</a:t>
            </a:r>
          </a:p>
          <a:p>
            <a:pPr marL="0" indent="0">
              <a:buNone/>
            </a:pPr>
            <a:r>
              <a:rPr lang="en-IN" dirty="0"/>
              <a:t>&lt;button onclick="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var x =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myLabel</a:t>
            </a:r>
            <a:r>
              <a:rPr lang="en-IN" dirty="0"/>
              <a:t>").</a:t>
            </a:r>
            <a:r>
              <a:rPr lang="en-IN" dirty="0" err="1"/>
              <a:t>htmlFor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x;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59095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402C3F-8C44-9944-1A81-217239A16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  <a:t>Why Use Arrays?</a:t>
            </a:r>
            <a:b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Segoe UI" panose="020B0502040204020203" pitchFamily="34" charset="0"/>
              </a:rPr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AF536-104C-79D1-6895-E4394F60B2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If you have a list of items (a list of car names, for example), storing the cars in single variables could look like this:</a:t>
            </a:r>
          </a:p>
          <a:p>
            <a:pPr algn="l"/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car1 =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"Saab"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car2 =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"Volvo"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  <a:b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</a:br>
            <a:r>
              <a:rPr lang="en-US" b="0" i="0" dirty="0">
                <a:solidFill>
                  <a:srgbClr val="0000CD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let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 car3 = </a:t>
            </a:r>
            <a:r>
              <a:rPr lang="en-US" b="0" i="0" dirty="0">
                <a:solidFill>
                  <a:srgbClr val="A52A2A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"BMW"</a:t>
            </a: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Consolas" panose="020B0609020204030204" pitchFamily="49" charset="0"/>
              </a:rPr>
              <a:t>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564842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A71BC7-25C3-92BD-E4B2-BE957BB84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Creating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EDDF25-EA00-3A28-FE72-2A0A7D3526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Arrays&lt;/h1&gt;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cars = ["Saab", "Volvo", "BMW"];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cars;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3653615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FF3BD-5446-D192-9FF8-A1C6214C26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44129"/>
            <a:ext cx="10515600" cy="583283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Arrays&lt;/h1&gt;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cars = [];</a:t>
            </a:r>
          </a:p>
          <a:p>
            <a:pPr marL="0" indent="0">
              <a:buNone/>
            </a:pPr>
            <a:r>
              <a:rPr lang="en-IN" dirty="0"/>
              <a:t>cars[0]= "Saab";</a:t>
            </a:r>
          </a:p>
          <a:p>
            <a:pPr marL="0" indent="0">
              <a:buNone/>
            </a:pPr>
            <a:r>
              <a:rPr lang="en-IN" dirty="0"/>
              <a:t>cars[1]= "Volvo";</a:t>
            </a:r>
          </a:p>
          <a:p>
            <a:pPr marL="0" indent="0">
              <a:buNone/>
            </a:pPr>
            <a:r>
              <a:rPr lang="en-IN" dirty="0"/>
              <a:t>cars[2]= "BMW";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cars;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52212251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D2EB67-21E1-427A-9F50-D24E621EF1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Sorting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252005-7B71-B225-1BA2-BA45252330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Arrays&lt;/h1&gt;</a:t>
            </a:r>
          </a:p>
          <a:p>
            <a:pPr marL="0" indent="0">
              <a:buNone/>
            </a:pPr>
            <a:r>
              <a:rPr lang="en-IN" dirty="0"/>
              <a:t>&lt;h2&gt;The sort() Method&lt;/h2&gt;</a:t>
            </a:r>
          </a:p>
          <a:p>
            <a:pPr marL="0" indent="0">
              <a:buNone/>
            </a:pPr>
            <a:r>
              <a:rPr lang="en-IN" dirty="0"/>
              <a:t>&lt;p&gt;The sort() method sorts an array alphabetically:&lt;/p&gt;</a:t>
            </a:r>
          </a:p>
          <a:p>
            <a:pPr marL="0" indent="0">
              <a:buNone/>
            </a:pPr>
            <a:r>
              <a:rPr lang="en-IN" dirty="0"/>
              <a:t>&lt;p id="demo1"&gt;&lt;/p&gt;</a:t>
            </a:r>
          </a:p>
          <a:p>
            <a:pPr marL="0" indent="0">
              <a:buNone/>
            </a:pPr>
            <a:r>
              <a:rPr lang="en-IN" dirty="0"/>
              <a:t>&lt;p id="demo2"&gt;&lt;/p&gt;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fruits = ["Banana", "Orange", "Apple", "Mango"];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("demo1").</a:t>
            </a:r>
            <a:r>
              <a:rPr lang="en-IN" dirty="0" err="1"/>
              <a:t>innerHTML</a:t>
            </a:r>
            <a:r>
              <a:rPr lang="en-IN" dirty="0"/>
              <a:t> = fruits;</a:t>
            </a:r>
          </a:p>
          <a:p>
            <a:pPr marL="0" indent="0">
              <a:buNone/>
            </a:pPr>
            <a:r>
              <a:rPr lang="en-IN" dirty="0" err="1"/>
              <a:t>fruits.sort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("demo2").</a:t>
            </a:r>
            <a:r>
              <a:rPr lang="en-IN" dirty="0" err="1"/>
              <a:t>innerHTML</a:t>
            </a:r>
            <a:r>
              <a:rPr lang="en-IN" dirty="0"/>
              <a:t> = fruits;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6708522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18DEB5-7EEC-BCFF-1274-7A1C532EE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3232" y="-297657"/>
            <a:ext cx="10515600" cy="1325563"/>
          </a:xfrm>
        </p:spPr>
        <p:txBody>
          <a:bodyPr/>
          <a:lstStyle/>
          <a:p>
            <a:r>
              <a:rPr lang="en-IN" dirty="0"/>
              <a:t>Reversing an 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E2377E-83AC-D506-5ED8-7D42C7F3FF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232" y="52646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600" dirty="0"/>
              <a:t>&lt;!DOCTYPE html&gt;</a:t>
            </a:r>
          </a:p>
          <a:p>
            <a:pPr marL="0" indent="0">
              <a:buNone/>
            </a:pPr>
            <a:r>
              <a:rPr lang="en-IN" sz="1600" dirty="0"/>
              <a:t>&lt;html&gt;</a:t>
            </a:r>
          </a:p>
          <a:p>
            <a:pPr marL="0" indent="0">
              <a:buNone/>
            </a:pPr>
            <a:r>
              <a:rPr lang="en-IN" sz="1600" dirty="0"/>
              <a:t>&lt;body&gt;</a:t>
            </a:r>
          </a:p>
          <a:p>
            <a:pPr marL="0" indent="0">
              <a:buNone/>
            </a:pPr>
            <a:r>
              <a:rPr lang="en-IN" sz="1600" dirty="0"/>
              <a:t>&lt;h1&gt;JavaScript Arrays&lt;/h1&gt;</a:t>
            </a:r>
          </a:p>
          <a:p>
            <a:pPr marL="0" indent="0">
              <a:buNone/>
            </a:pPr>
            <a:r>
              <a:rPr lang="en-IN" sz="1600" dirty="0"/>
              <a:t>&lt;h2&gt;The reverse() Method&lt;/h2&gt;</a:t>
            </a:r>
          </a:p>
          <a:p>
            <a:pPr marL="0" indent="0">
              <a:buNone/>
            </a:pPr>
            <a:r>
              <a:rPr lang="en-IN" sz="1600" dirty="0"/>
              <a:t>&lt;p&gt;The reverse() method reverses the elements in an array:&lt;/p&gt;</a:t>
            </a:r>
          </a:p>
          <a:p>
            <a:pPr marL="0" indent="0">
              <a:buNone/>
            </a:pPr>
            <a:r>
              <a:rPr lang="en-IN" sz="1600" dirty="0"/>
              <a:t>&lt;p id="demo1"&gt;&lt;/p&gt;</a:t>
            </a:r>
          </a:p>
          <a:p>
            <a:pPr marL="0" indent="0">
              <a:buNone/>
            </a:pPr>
            <a:r>
              <a:rPr lang="en-IN" sz="1600" dirty="0"/>
              <a:t>&lt;p id="demo2"&gt;&lt;/p&gt;</a:t>
            </a:r>
          </a:p>
          <a:p>
            <a:pPr marL="0" indent="0">
              <a:buNone/>
            </a:pPr>
            <a:r>
              <a:rPr lang="en-IN" sz="1600" dirty="0"/>
              <a:t>&lt;script&gt;</a:t>
            </a:r>
          </a:p>
          <a:p>
            <a:pPr marL="0" indent="0">
              <a:buNone/>
            </a:pPr>
            <a:r>
              <a:rPr lang="en-IN" sz="1600" dirty="0"/>
              <a:t>// Create and display an array:</a:t>
            </a:r>
          </a:p>
          <a:p>
            <a:pPr marL="0" indent="0">
              <a:buNone/>
            </a:pPr>
            <a:r>
              <a:rPr lang="en-IN" sz="1600" dirty="0" err="1"/>
              <a:t>const</a:t>
            </a:r>
            <a:r>
              <a:rPr lang="en-IN" sz="1600" dirty="0"/>
              <a:t> fruits = ["Banana", "Orange", "Apple", "Mango"];</a:t>
            </a:r>
          </a:p>
          <a:p>
            <a:pPr marL="0" indent="0">
              <a:buNone/>
            </a:pPr>
            <a:r>
              <a:rPr lang="en-IN" sz="1600" dirty="0" err="1"/>
              <a:t>document.getElementById</a:t>
            </a:r>
            <a:r>
              <a:rPr lang="en-IN" sz="1600" dirty="0"/>
              <a:t>("demo1").</a:t>
            </a:r>
            <a:r>
              <a:rPr lang="en-IN" sz="1600" dirty="0" err="1"/>
              <a:t>innerHTML</a:t>
            </a:r>
            <a:r>
              <a:rPr lang="en-IN" sz="1600" dirty="0"/>
              <a:t> = fruits;</a:t>
            </a:r>
          </a:p>
          <a:p>
            <a:pPr marL="0" indent="0">
              <a:buNone/>
            </a:pPr>
            <a:r>
              <a:rPr lang="en-IN" sz="1600" dirty="0"/>
              <a:t>// Reverse the array:</a:t>
            </a:r>
          </a:p>
          <a:p>
            <a:pPr marL="0" indent="0">
              <a:buNone/>
            </a:pPr>
            <a:r>
              <a:rPr lang="en-IN" sz="1600" dirty="0" err="1"/>
              <a:t>fruits.reverse</a:t>
            </a:r>
            <a:r>
              <a:rPr lang="en-IN" sz="1600" dirty="0"/>
              <a:t>();</a:t>
            </a:r>
          </a:p>
          <a:p>
            <a:pPr marL="0" indent="0">
              <a:buNone/>
            </a:pPr>
            <a:r>
              <a:rPr lang="en-IN" sz="1600" dirty="0" err="1"/>
              <a:t>document.getElementById</a:t>
            </a:r>
            <a:r>
              <a:rPr lang="en-IN" sz="1600" dirty="0"/>
              <a:t>("demo2").</a:t>
            </a:r>
            <a:r>
              <a:rPr lang="en-IN" sz="1600" dirty="0" err="1"/>
              <a:t>innerHTML</a:t>
            </a:r>
            <a:r>
              <a:rPr lang="en-IN" sz="1600" dirty="0"/>
              <a:t> = fruits;</a:t>
            </a:r>
          </a:p>
          <a:p>
            <a:pPr marL="0" indent="0">
              <a:buNone/>
            </a:pPr>
            <a:r>
              <a:rPr lang="en-IN" sz="1600" dirty="0"/>
              <a:t>&lt;/script&gt;</a:t>
            </a:r>
          </a:p>
          <a:p>
            <a:pPr marL="0" indent="0">
              <a:buNone/>
            </a:pPr>
            <a:r>
              <a:rPr lang="en-IN" sz="1600" dirty="0"/>
              <a:t>&lt;/body&gt;</a:t>
            </a:r>
          </a:p>
          <a:p>
            <a:pPr marL="0" indent="0">
              <a:buNone/>
            </a:pPr>
            <a:r>
              <a:rPr lang="en-IN" sz="1600" dirty="0"/>
              <a:t>&lt;/html&gt;</a:t>
            </a:r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32422788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AFEE0-EC09-EB76-9F1E-210CDB97C6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Push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79EC5B-687C-288E-58A9-D81564EC2C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Arrays&lt;/h1&gt;</a:t>
            </a:r>
          </a:p>
          <a:p>
            <a:pPr marL="0" indent="0">
              <a:buNone/>
            </a:pPr>
            <a:r>
              <a:rPr lang="en-IN" dirty="0"/>
              <a:t>&lt;h2&gt;The push() Method&lt;/h2&gt;</a:t>
            </a:r>
          </a:p>
          <a:p>
            <a:pPr marL="0" indent="0">
              <a:buNone/>
            </a:pPr>
            <a:r>
              <a:rPr lang="en-IN" dirty="0"/>
              <a:t>&lt;p&gt;push() adds new items to the end of an array:&lt;/p&gt;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fruits = ["Banana", "Orange", "Apple", "Mango"];</a:t>
            </a:r>
          </a:p>
          <a:p>
            <a:pPr marL="0" indent="0">
              <a:buNone/>
            </a:pPr>
            <a:r>
              <a:rPr lang="en-IN" dirty="0" err="1"/>
              <a:t>fruits.push</a:t>
            </a:r>
            <a:r>
              <a:rPr lang="en-IN" dirty="0"/>
              <a:t>("Kiwi");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fruits;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47415366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A6FC1D-8CF9-9B94-7DE3-E81E494ED0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PoP</a:t>
            </a:r>
            <a:r>
              <a:rPr lang="en-IN" dirty="0"/>
              <a:t>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03F303-A5EF-3808-3E4F-3BBB52A01E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Arrays&lt;/h1&gt;</a:t>
            </a:r>
          </a:p>
          <a:p>
            <a:pPr marL="0" indent="0">
              <a:buNone/>
            </a:pPr>
            <a:r>
              <a:rPr lang="en-IN" dirty="0"/>
              <a:t>&lt;h2&gt;The pop() Method&lt;/h2&gt;</a:t>
            </a:r>
          </a:p>
          <a:p>
            <a:pPr marL="0" indent="0">
              <a:buNone/>
            </a:pPr>
            <a:r>
              <a:rPr lang="en-IN" dirty="0"/>
              <a:t>&lt;p&gt;pop() removes the last element of an array.&lt;/p&gt;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fruits = ["Banana", "Orange", "Apple", "Mango"];</a:t>
            </a:r>
          </a:p>
          <a:p>
            <a:pPr marL="0" indent="0">
              <a:buNone/>
            </a:pPr>
            <a:r>
              <a:rPr lang="en-IN" dirty="0" err="1"/>
              <a:t>fruits.pop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fruits;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2379902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9926ED-48DC-93CD-9B72-8C4C523D4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Accessing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8BEEB0-3C95-A4CC-C9C1-5E49A43FD2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Arrays&lt;/h1&gt;</a:t>
            </a:r>
          </a:p>
          <a:p>
            <a:pPr marL="0" indent="0">
              <a:buNone/>
            </a:pPr>
            <a:r>
              <a:rPr lang="en-IN" dirty="0"/>
              <a:t>&lt;h2&gt;Bracket Indexing&lt;/h2&gt;</a:t>
            </a:r>
          </a:p>
          <a:p>
            <a:pPr marL="0" indent="0">
              <a:buNone/>
            </a:pPr>
            <a:r>
              <a:rPr lang="en-IN" dirty="0"/>
              <a:t>&lt;p&gt;JavaScript array elements are accessed using numeric indexes (starting from 0).&lt;/p&gt;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cars = ["Saab", "Volvo", "BMW"];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cars[0];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1206204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B979B-E78F-1FB5-2211-BCB6FC6DC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F42AF-84C7-0893-783D-F59CE516E6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&lt;h2&gt;JavaScript For Loop&lt;/h2&gt;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let text = "";</a:t>
            </a:r>
          </a:p>
          <a:p>
            <a:pPr marL="0" indent="0">
              <a:buNone/>
            </a:pPr>
            <a:r>
              <a:rPr lang="en-IN" dirty="0"/>
              <a:t>for (let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5;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text += "The number is " + </a:t>
            </a:r>
            <a:r>
              <a:rPr lang="en-IN" dirty="0" err="1"/>
              <a:t>i</a:t>
            </a:r>
            <a:r>
              <a:rPr lang="en-IN" dirty="0"/>
              <a:t> + "&lt;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text;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35025762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EA7E5-99C3-913C-B537-6F06D9E765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For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09F257-3E78-76C2-06FC-024743187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&lt;h2&gt;JavaScript For Loop&lt;/h2&gt;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cars = ["BMW", "Volvo", "Saab", "Ford", "Fiat", "Audi"];</a:t>
            </a:r>
          </a:p>
          <a:p>
            <a:pPr marL="0" indent="0">
              <a:buNone/>
            </a:pPr>
            <a:r>
              <a:rPr lang="en-IN" dirty="0"/>
              <a:t>let text = "";</a:t>
            </a:r>
          </a:p>
          <a:p>
            <a:pPr marL="0" indent="0">
              <a:buNone/>
            </a:pPr>
            <a:r>
              <a:rPr lang="en-IN" dirty="0"/>
              <a:t>for (let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cars.length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text += cars[</a:t>
            </a:r>
            <a:r>
              <a:rPr lang="en-IN" dirty="0" err="1"/>
              <a:t>i</a:t>
            </a:r>
            <a:r>
              <a:rPr lang="en-IN" dirty="0"/>
              <a:t>] + "&lt;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text;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73049454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54707F-EE63-6D1A-8B37-37DEC78CC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IN" dirty="0"/>
              <a:t>For IN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F44C67-670B-2B3E-36A6-ADDEA7D3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2226" y="1137367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IN" sz="1400" dirty="0"/>
              <a:t>&lt;!DOCTYPE html&gt;</a:t>
            </a:r>
          </a:p>
          <a:p>
            <a:pPr marL="0" indent="0">
              <a:buNone/>
            </a:pPr>
            <a:r>
              <a:rPr lang="en-IN" sz="1400" dirty="0"/>
              <a:t>&lt;html&gt;</a:t>
            </a:r>
          </a:p>
          <a:p>
            <a:pPr marL="0" indent="0">
              <a:buNone/>
            </a:pPr>
            <a:r>
              <a:rPr lang="en-IN" sz="1400" dirty="0"/>
              <a:t>&lt;body&gt;</a:t>
            </a:r>
          </a:p>
          <a:p>
            <a:pPr marL="0" indent="0">
              <a:buNone/>
            </a:pPr>
            <a:r>
              <a:rPr lang="en-IN" sz="1400" dirty="0"/>
              <a:t>&lt;h1&gt;JavaScript Arrays&lt;/h1&gt;</a:t>
            </a:r>
          </a:p>
          <a:p>
            <a:pPr marL="0" indent="0">
              <a:buNone/>
            </a:pPr>
            <a:r>
              <a:rPr lang="en-IN" sz="1400" dirty="0"/>
              <a:t>&lt;h2&gt;For In Loops&lt;/h2&gt;</a:t>
            </a:r>
          </a:p>
          <a:p>
            <a:pPr marL="0" indent="0">
              <a:buNone/>
            </a:pPr>
            <a:r>
              <a:rPr lang="en-IN" sz="1400" dirty="0"/>
              <a:t>&lt;p&gt;The for in statement can loops over array values:&lt;/p&gt;</a:t>
            </a:r>
          </a:p>
          <a:p>
            <a:pPr marL="0" indent="0">
              <a:buNone/>
            </a:pPr>
            <a:r>
              <a:rPr lang="en-IN" sz="1400" dirty="0"/>
              <a:t>&lt;p id="demo"&gt;&lt;/p&gt;</a:t>
            </a:r>
          </a:p>
          <a:p>
            <a:pPr marL="0" indent="0">
              <a:buNone/>
            </a:pPr>
            <a:r>
              <a:rPr lang="en-IN" sz="1400" dirty="0"/>
              <a:t>&lt;script&gt;</a:t>
            </a:r>
          </a:p>
          <a:p>
            <a:pPr marL="0" indent="0">
              <a:buNone/>
            </a:pPr>
            <a:r>
              <a:rPr lang="en-IN" sz="1400" dirty="0" err="1"/>
              <a:t>const</a:t>
            </a:r>
            <a:r>
              <a:rPr lang="en-IN" sz="1400" dirty="0"/>
              <a:t> numbers = [45, 4, 9, 16, 25];</a:t>
            </a:r>
          </a:p>
          <a:p>
            <a:pPr marL="0" indent="0">
              <a:buNone/>
            </a:pPr>
            <a:r>
              <a:rPr lang="en-IN" sz="1400" dirty="0"/>
              <a:t>let txt = "";</a:t>
            </a:r>
          </a:p>
          <a:p>
            <a:pPr marL="0" indent="0">
              <a:buNone/>
            </a:pPr>
            <a:r>
              <a:rPr lang="en-IN" sz="1400" dirty="0"/>
              <a:t>for (let x in numbers) {</a:t>
            </a:r>
          </a:p>
          <a:p>
            <a:pPr marL="0" indent="0">
              <a:buNone/>
            </a:pPr>
            <a:r>
              <a:rPr lang="en-IN" sz="1400" dirty="0"/>
              <a:t>  txt += numbers[x] + "&lt;</a:t>
            </a:r>
            <a:r>
              <a:rPr lang="en-IN" sz="1400" dirty="0" err="1"/>
              <a:t>br</a:t>
            </a:r>
            <a:r>
              <a:rPr lang="en-IN" sz="1400" dirty="0"/>
              <a:t>&gt;"; </a:t>
            </a:r>
          </a:p>
          <a:p>
            <a:pPr marL="0" indent="0">
              <a:buNone/>
            </a:pPr>
            <a:r>
              <a:rPr lang="en-IN" sz="1400" dirty="0"/>
              <a:t>}</a:t>
            </a:r>
          </a:p>
          <a:p>
            <a:pPr marL="0" indent="0">
              <a:buNone/>
            </a:pPr>
            <a:r>
              <a:rPr lang="en-IN" sz="1400" dirty="0" err="1"/>
              <a:t>document.getElementById</a:t>
            </a:r>
            <a:r>
              <a:rPr lang="en-IN" sz="1400" dirty="0"/>
              <a:t>("demo").</a:t>
            </a:r>
            <a:r>
              <a:rPr lang="en-IN" sz="1400" dirty="0" err="1"/>
              <a:t>innerHTML</a:t>
            </a:r>
            <a:r>
              <a:rPr lang="en-IN" sz="1400" dirty="0"/>
              <a:t> = txt;</a:t>
            </a:r>
          </a:p>
          <a:p>
            <a:pPr marL="0" indent="0">
              <a:buNone/>
            </a:pPr>
            <a:r>
              <a:rPr lang="en-IN" sz="1400" dirty="0"/>
              <a:t>&lt;/script&gt;</a:t>
            </a:r>
          </a:p>
          <a:p>
            <a:pPr marL="0" indent="0">
              <a:buNone/>
            </a:pPr>
            <a:r>
              <a:rPr lang="en-IN" sz="1400" dirty="0"/>
              <a:t>&lt;/body&gt;</a:t>
            </a:r>
          </a:p>
          <a:p>
            <a:pPr marL="0" indent="0">
              <a:buNone/>
            </a:pPr>
            <a:r>
              <a:rPr lang="en-IN" sz="1400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6108217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9CB141-31EA-2D06-3BA5-0268A01E9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90ABE9-A9E7-D2BE-205E-4A5AEAB081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&lt;h2&gt;JavaScript For Of Loop&lt;/h2&gt;</a:t>
            </a:r>
          </a:p>
          <a:p>
            <a:pPr marL="0" indent="0">
              <a:buNone/>
            </a:pPr>
            <a:r>
              <a:rPr lang="en-IN" dirty="0"/>
              <a:t>&lt;p&gt;The for of statement loops through the values of any </a:t>
            </a:r>
            <a:r>
              <a:rPr lang="en-IN" dirty="0" err="1"/>
              <a:t>iterable</a:t>
            </a:r>
            <a:r>
              <a:rPr lang="en-IN" dirty="0"/>
              <a:t> object:&lt;/p&gt;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cars = ["BMW", "Volvo", "Mini"];</a:t>
            </a:r>
          </a:p>
          <a:p>
            <a:pPr marL="0" indent="0">
              <a:buNone/>
            </a:pPr>
            <a:r>
              <a:rPr lang="en-IN" dirty="0"/>
              <a:t>let text = "";</a:t>
            </a:r>
          </a:p>
          <a:p>
            <a:pPr marL="0" indent="0">
              <a:buNone/>
            </a:pPr>
            <a:r>
              <a:rPr lang="en-IN" dirty="0"/>
              <a:t>for (let x of cars) {</a:t>
            </a:r>
          </a:p>
          <a:p>
            <a:pPr marL="0" indent="0">
              <a:buNone/>
            </a:pPr>
            <a:r>
              <a:rPr lang="en-IN" dirty="0"/>
              <a:t>  text += x + "&lt;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text;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59725268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42FE2A-30E2-E5B7-23B1-59E8AED316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While 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3DF28D-E8C5-476F-3F48-16D6AEA9BB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&lt;h2&gt;JavaScript While Loop&lt;/h2&gt;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let text = "";</a:t>
            </a:r>
          </a:p>
          <a:p>
            <a:pPr marL="0" indent="0">
              <a:buNone/>
            </a:pPr>
            <a:r>
              <a:rPr lang="en-IN" dirty="0"/>
              <a:t>let </a:t>
            </a:r>
            <a:r>
              <a:rPr lang="en-IN" dirty="0" err="1"/>
              <a:t>i</a:t>
            </a:r>
            <a:r>
              <a:rPr lang="en-IN" dirty="0"/>
              <a:t> = 0;</a:t>
            </a:r>
          </a:p>
          <a:p>
            <a:pPr marL="0" indent="0">
              <a:buNone/>
            </a:pPr>
            <a:r>
              <a:rPr lang="en-IN" dirty="0"/>
              <a:t>while (</a:t>
            </a:r>
            <a:r>
              <a:rPr lang="en-IN" dirty="0" err="1"/>
              <a:t>i</a:t>
            </a:r>
            <a:r>
              <a:rPr lang="en-IN" dirty="0"/>
              <a:t> &lt; 10) {</a:t>
            </a:r>
          </a:p>
          <a:p>
            <a:pPr marL="0" indent="0">
              <a:buNone/>
            </a:pPr>
            <a:r>
              <a:rPr lang="en-IN" dirty="0"/>
              <a:t>  text += "&lt;</a:t>
            </a:r>
            <a:r>
              <a:rPr lang="en-IN" dirty="0" err="1"/>
              <a:t>br</a:t>
            </a:r>
            <a:r>
              <a:rPr lang="en-IN" dirty="0"/>
              <a:t>&gt;The number is " +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i</a:t>
            </a:r>
            <a:r>
              <a:rPr lang="en-IN" dirty="0"/>
              <a:t>++;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text;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0574021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C349D1-5284-3E5C-8E6D-C031197B63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Do- While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9D221-1C23-47CF-AE44-E6C71DD291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&lt;h2&gt;JavaScript Do While Loop&lt;/h2&gt;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let text = ""</a:t>
            </a:r>
          </a:p>
          <a:p>
            <a:pPr marL="0" indent="0">
              <a:buNone/>
            </a:pPr>
            <a:r>
              <a:rPr lang="en-IN" dirty="0"/>
              <a:t>let </a:t>
            </a:r>
            <a:r>
              <a:rPr lang="en-IN" dirty="0" err="1"/>
              <a:t>i</a:t>
            </a:r>
            <a:r>
              <a:rPr lang="en-IN" dirty="0"/>
              <a:t> = 0;</a:t>
            </a:r>
          </a:p>
          <a:p>
            <a:pPr marL="0" indent="0">
              <a:buNone/>
            </a:pPr>
            <a:r>
              <a:rPr lang="en-IN" dirty="0"/>
              <a:t>do {</a:t>
            </a:r>
          </a:p>
          <a:p>
            <a:pPr marL="0" indent="0">
              <a:buNone/>
            </a:pPr>
            <a:r>
              <a:rPr lang="en-IN" dirty="0"/>
              <a:t>  text += "&lt;</a:t>
            </a:r>
            <a:r>
              <a:rPr lang="en-IN" dirty="0" err="1"/>
              <a:t>br</a:t>
            </a:r>
            <a:r>
              <a:rPr lang="en-IN" dirty="0"/>
              <a:t>&gt;The number is " + </a:t>
            </a:r>
            <a:r>
              <a:rPr lang="en-IN" dirty="0" err="1"/>
              <a:t>i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i</a:t>
            </a:r>
            <a:r>
              <a:rPr lang="en-IN" dirty="0"/>
              <a:t>++;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while (</a:t>
            </a:r>
            <a:r>
              <a:rPr lang="en-IN" dirty="0" err="1"/>
              <a:t>i</a:t>
            </a:r>
            <a:r>
              <a:rPr lang="en-IN" dirty="0"/>
              <a:t> &lt; 10);  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text;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883020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OM HTML tree">
            <a:extLst>
              <a:ext uri="{FF2B5EF4-FFF2-40B4-BE49-F238E27FC236}">
                <a16:creationId xmlns:a16="http://schemas.microsoft.com/office/drawing/2014/main" id="{72839575-BAE8-2B5A-C11E-D1AB8337475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9044" y="1206129"/>
            <a:ext cx="10291665" cy="4061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99754485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5F355-24FA-2B60-1AFE-87722648F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33019-1D66-0DF2-E0F6-BAEC6D89E5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JavaScript can change all the HTML elements in the page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JavaScript can change all the HTML attributes in the page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JavaScript can change all the CSS styles in the page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JavaScript can remove existing HTML elements and attributes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JavaScript can add new HTML elements and attributes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JavaScript can react to all existing HTML events in the page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JavaScript can create new HTML events in the page</a:t>
            </a:r>
          </a:p>
          <a:p>
            <a:pPr marL="0" indent="0">
              <a:buNone/>
            </a:pPr>
            <a:br>
              <a:rPr lang="en-US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772130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332C64-7582-6D2C-B1F5-9EA6448262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7C6B37-7FFA-545B-5D55-172265E198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The W3C DOM standard is separated into 3 different parts: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Core DOM - standard model for all document types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XML DOM - standard model for XML documents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000000"/>
                </a:solidFill>
                <a:effectLst/>
                <a:highlight>
                  <a:srgbClr val="FFFFFF"/>
                </a:highlight>
                <a:latin typeface="Verdana" panose="020B0604030504040204" pitchFamily="34" charset="0"/>
              </a:rPr>
              <a:t>HTML DOM - standard model for HTML documents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017052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F01FF-D85C-9FD2-8998-DF80D65FD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getElementById</a:t>
            </a:r>
            <a:r>
              <a:rPr lang="en-US" dirty="0"/>
              <a:t> Method</a:t>
            </a:r>
            <a:br>
              <a:rPr lang="en-US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BBB524-097D-8B98-2133-36B75C0747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most common way to access an HTML element is to use the id of the element.</a:t>
            </a:r>
          </a:p>
          <a:p>
            <a:endParaRPr lang="en-US" dirty="0"/>
          </a:p>
          <a:p>
            <a:r>
              <a:rPr lang="en-US" dirty="0"/>
              <a:t>In the example above the </a:t>
            </a:r>
            <a:r>
              <a:rPr lang="en-US" dirty="0" err="1"/>
              <a:t>getElementById</a:t>
            </a:r>
            <a:r>
              <a:rPr lang="en-US" dirty="0"/>
              <a:t> method used id="demo" to find the element.</a:t>
            </a:r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3440347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47BB1D-A9E1-838B-8465-941854DEB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ABF8B2-7207-9DB0-DDBA-5080AF28A51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63480" rIns="0" bIns="6348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Segoe UI" panose="020B0502040204020203" pitchFamily="34" charset="0"/>
                <a:cs typeface="Segoe UI" panose="020B0502040204020203" pitchFamily="34" charset="0"/>
              </a:rPr>
              <a:t>The innerHTML Property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 easiest way to get the content of an element is by using the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property.</a:t>
            </a:r>
            <a:endParaRPr kumimoji="0" lang="en-US" altLang="en-US" sz="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DC143C"/>
                </a:solidFill>
                <a:effectLst/>
                <a:latin typeface="Consolas" panose="020B0609020204030204" pitchFamily="49" charset="0"/>
              </a:rPr>
              <a:t>innerHTML</a:t>
            </a:r>
            <a:r>
              <a:rPr kumimoji="0" lang="en-US" altLang="en-US" sz="1100" b="0" i="0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  <a:latin typeface="Verdana" panose="020B0604030504040204" pitchFamily="34" charset="0"/>
              </a:rPr>
              <a:t> property is useful for getting or replacing the content of HTML elements.</a:t>
            </a:r>
            <a:endParaRPr kumimoji="0" lang="en-US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242286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C86486-BBF4-C43A-FE03-639E342D9E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50AFF70-7A55-D321-9E1C-0D741E1583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448794"/>
            <a:ext cx="10515600" cy="3105000"/>
          </a:xfrm>
        </p:spPr>
      </p:pic>
    </p:spTree>
    <p:extLst>
      <p:ext uri="{BB962C8B-B14F-4D97-AF65-F5344CB8AC3E}">
        <p14:creationId xmlns:p14="http://schemas.microsoft.com/office/powerpoint/2010/main" val="153042779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B8B74B-BC56-DD5C-3C94-E2322ECE5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287F70F-A36C-2A27-6FD8-AC6BCA362C3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29787"/>
            <a:ext cx="10515600" cy="4143013"/>
          </a:xfrm>
        </p:spPr>
      </p:pic>
    </p:spTree>
    <p:extLst>
      <p:ext uri="{BB962C8B-B14F-4D97-AF65-F5344CB8AC3E}">
        <p14:creationId xmlns:p14="http://schemas.microsoft.com/office/powerpoint/2010/main" val="404188602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D12AC-F298-C8A9-127F-888D6734A9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974608A-CEFC-B683-762A-82B86CC14B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979063"/>
            <a:ext cx="10515600" cy="4044461"/>
          </a:xfrm>
        </p:spPr>
      </p:pic>
    </p:spTree>
    <p:extLst>
      <p:ext uri="{BB962C8B-B14F-4D97-AF65-F5344CB8AC3E}">
        <p14:creationId xmlns:p14="http://schemas.microsoft.com/office/powerpoint/2010/main" val="1455106032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06A839-66A5-CE54-6432-8B6CC3336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D8FE452-914B-E5FB-B815-F0B55F950DF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592600"/>
            <a:ext cx="10515600" cy="2817387"/>
          </a:xfrm>
        </p:spPr>
      </p:pic>
    </p:spTree>
    <p:extLst>
      <p:ext uri="{BB962C8B-B14F-4D97-AF65-F5344CB8AC3E}">
        <p14:creationId xmlns:p14="http://schemas.microsoft.com/office/powerpoint/2010/main" val="2464854737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3CE70-CEC8-C758-37C0-BD94EF5A74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Required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F76A75-4646-4D8F-5B76-93488AD08F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&lt;h2&gt;JavaScript Validation&lt;/h2&gt;</a:t>
            </a:r>
          </a:p>
          <a:p>
            <a:pPr marL="0" indent="0">
              <a:buNone/>
            </a:pPr>
            <a:r>
              <a:rPr lang="en-IN" dirty="0"/>
              <a:t>&lt;form action="/</a:t>
            </a:r>
            <a:r>
              <a:rPr lang="en-IN" dirty="0" err="1"/>
              <a:t>action_page.php</a:t>
            </a:r>
            <a:r>
              <a:rPr lang="en-IN" dirty="0"/>
              <a:t>" method="post"&gt;</a:t>
            </a:r>
          </a:p>
          <a:p>
            <a:pPr marL="0" indent="0">
              <a:buNone/>
            </a:pPr>
            <a:r>
              <a:rPr lang="en-IN" dirty="0"/>
              <a:t>  &lt;input type="text" name="</a:t>
            </a:r>
            <a:r>
              <a:rPr lang="en-IN" dirty="0" err="1"/>
              <a:t>fname</a:t>
            </a:r>
            <a:r>
              <a:rPr lang="en-IN" dirty="0"/>
              <a:t>" required&gt;</a:t>
            </a:r>
          </a:p>
          <a:p>
            <a:pPr marL="0" indent="0">
              <a:buNone/>
            </a:pPr>
            <a:r>
              <a:rPr lang="en-IN" dirty="0"/>
              <a:t>  &lt;input type="submit" value="Submit"&gt;</a:t>
            </a:r>
          </a:p>
          <a:p>
            <a:pPr marL="0" indent="0">
              <a:buNone/>
            </a:pPr>
            <a:r>
              <a:rPr lang="en-IN" dirty="0"/>
              <a:t>&lt;/form&gt;</a:t>
            </a:r>
          </a:p>
          <a:p>
            <a:pPr marL="0" indent="0">
              <a:buNone/>
            </a:pPr>
            <a:r>
              <a:rPr lang="en-IN" dirty="0"/>
              <a:t>&lt;p&gt;If you click submit, without filling out the text field,</a:t>
            </a:r>
          </a:p>
          <a:p>
            <a:pPr marL="0" indent="0">
              <a:buNone/>
            </a:pPr>
            <a:r>
              <a:rPr lang="en-IN" dirty="0"/>
              <a:t>your browser will display an error message.&lt;/p&gt;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2454200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8F1D8-3A42-730F-CF7D-F0753B575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31304" y="0"/>
            <a:ext cx="10515600" cy="4351338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1400" dirty="0"/>
              <a:t>&lt;!DOCTYPE html&gt;</a:t>
            </a:r>
          </a:p>
          <a:p>
            <a:pPr marL="0" indent="0">
              <a:buNone/>
            </a:pPr>
            <a:r>
              <a:rPr lang="en-US" sz="1400" dirty="0"/>
              <a:t>&lt;html&gt;</a:t>
            </a:r>
          </a:p>
          <a:p>
            <a:pPr marL="0" indent="0">
              <a:buNone/>
            </a:pPr>
            <a:r>
              <a:rPr lang="en-US" sz="1400" dirty="0"/>
              <a:t>&lt;head&gt;</a:t>
            </a:r>
          </a:p>
          <a:p>
            <a:pPr marL="0" indent="0">
              <a:buNone/>
            </a:pPr>
            <a:r>
              <a:rPr lang="en-US" sz="1400" dirty="0"/>
              <a:t>&lt;style&gt;</a:t>
            </a:r>
          </a:p>
          <a:p>
            <a:pPr marL="0" indent="0">
              <a:buNone/>
            </a:pPr>
            <a:r>
              <a:rPr lang="en-US" sz="1400" dirty="0"/>
              <a:t>/* unvisited link */</a:t>
            </a:r>
          </a:p>
          <a:p>
            <a:pPr marL="0" indent="0">
              <a:buNone/>
            </a:pPr>
            <a:r>
              <a:rPr lang="en-US" sz="1400" dirty="0"/>
              <a:t>a:link {</a:t>
            </a:r>
          </a:p>
          <a:p>
            <a:pPr marL="0" indent="0">
              <a:buNone/>
            </a:pPr>
            <a:r>
              <a:rPr lang="en-US" sz="1400" dirty="0"/>
              <a:t>  color: red;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  <a:p>
            <a:pPr marL="0" indent="0">
              <a:buNone/>
            </a:pPr>
            <a:r>
              <a:rPr lang="en-US" sz="1400" dirty="0"/>
              <a:t>/* visited link */</a:t>
            </a:r>
          </a:p>
          <a:p>
            <a:pPr marL="0" indent="0">
              <a:buNone/>
            </a:pPr>
            <a:r>
              <a:rPr lang="en-US" sz="1400" dirty="0"/>
              <a:t>a:visited {</a:t>
            </a:r>
          </a:p>
          <a:p>
            <a:pPr marL="0" indent="0">
              <a:buNone/>
            </a:pPr>
            <a:r>
              <a:rPr lang="en-US" sz="1400" dirty="0"/>
              <a:t>  color: green;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  <a:p>
            <a:pPr marL="0" indent="0">
              <a:buNone/>
            </a:pPr>
            <a:r>
              <a:rPr lang="en-US" sz="1400" dirty="0"/>
              <a:t>/* mouse over link */</a:t>
            </a:r>
          </a:p>
          <a:p>
            <a:pPr marL="0" indent="0">
              <a:buNone/>
            </a:pPr>
            <a:r>
              <a:rPr lang="en-US" sz="1400" dirty="0"/>
              <a:t>a:hover {</a:t>
            </a:r>
          </a:p>
          <a:p>
            <a:pPr marL="0" indent="0">
              <a:buNone/>
            </a:pPr>
            <a:r>
              <a:rPr lang="en-US" sz="1400" dirty="0"/>
              <a:t>  color: </a:t>
            </a:r>
            <a:r>
              <a:rPr lang="en-US" sz="1400" dirty="0" err="1"/>
              <a:t>hotpink</a:t>
            </a:r>
            <a:r>
              <a:rPr lang="en-US" sz="1400" dirty="0"/>
              <a:t>;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  <a:p>
            <a:pPr marL="0" indent="0">
              <a:buNone/>
            </a:pPr>
            <a:r>
              <a:rPr lang="en-US" sz="1400" dirty="0"/>
              <a:t>/* selected link */</a:t>
            </a:r>
          </a:p>
          <a:p>
            <a:pPr marL="0" indent="0">
              <a:buNone/>
            </a:pPr>
            <a:r>
              <a:rPr lang="en-US" sz="1400" dirty="0"/>
              <a:t>a:active {</a:t>
            </a:r>
          </a:p>
          <a:p>
            <a:pPr marL="0" indent="0">
              <a:buNone/>
            </a:pPr>
            <a:r>
              <a:rPr lang="en-US" sz="1400" dirty="0"/>
              <a:t>  color: blue;</a:t>
            </a:r>
          </a:p>
          <a:p>
            <a:pPr marL="0" indent="0">
              <a:buNone/>
            </a:pPr>
            <a:r>
              <a:rPr lang="en-US" sz="1400" dirty="0"/>
              <a:t>}</a:t>
            </a:r>
          </a:p>
          <a:p>
            <a:pPr marL="0" indent="0">
              <a:buNone/>
            </a:pPr>
            <a:r>
              <a:rPr lang="en-US" sz="1400" dirty="0"/>
              <a:t>&lt;/style&gt;</a:t>
            </a:r>
          </a:p>
          <a:p>
            <a:pPr marL="0" indent="0">
              <a:buNone/>
            </a:pPr>
            <a:r>
              <a:rPr lang="en-US" sz="1400" dirty="0"/>
              <a:t>&lt;/head&gt;</a:t>
            </a:r>
          </a:p>
          <a:p>
            <a:pPr marL="0" indent="0">
              <a:buNone/>
            </a:pP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298218769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CB2E83-CE0A-3161-A09A-D3D4959DFA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8169FA-D9F0-E297-5127-01D588AEA8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HTML Events&lt;/h1&gt;</a:t>
            </a:r>
          </a:p>
          <a:p>
            <a:pPr marL="0" indent="0">
              <a:buNone/>
            </a:pPr>
            <a:r>
              <a:rPr lang="en-IN" dirty="0"/>
              <a:t>&lt;h2&gt;The onclick Attribute&lt;/h2&gt;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&lt;h2 onclick="</a:t>
            </a:r>
            <a:r>
              <a:rPr lang="en-IN" dirty="0" err="1"/>
              <a:t>this.innerHTML</a:t>
            </a:r>
            <a:r>
              <a:rPr lang="en-IN" dirty="0"/>
              <a:t>='</a:t>
            </a:r>
            <a:r>
              <a:rPr lang="en-IN" dirty="0" err="1"/>
              <a:t>Ooops</a:t>
            </a:r>
            <a:r>
              <a:rPr lang="en-IN" dirty="0"/>
              <a:t>!'"&gt;Click on this text!&lt;/h2&gt;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343626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F066CF-2094-CC7A-2F53-51653DDC9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3A406C43-E8B3-5861-9290-755208606F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232918"/>
            <a:ext cx="10515600" cy="3536752"/>
          </a:xfrm>
        </p:spPr>
      </p:pic>
    </p:spTree>
    <p:extLst>
      <p:ext uri="{BB962C8B-B14F-4D97-AF65-F5344CB8AC3E}">
        <p14:creationId xmlns:p14="http://schemas.microsoft.com/office/powerpoint/2010/main" val="2688025723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B42D8-01B4-98FF-D90C-D794943802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Onclick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AF2A03-D35D-5AAB-9969-0B87708AA3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HTML Events&lt;/h1&gt;</a:t>
            </a:r>
          </a:p>
          <a:p>
            <a:pPr marL="0" indent="0">
              <a:buNone/>
            </a:pPr>
            <a:r>
              <a:rPr lang="en-IN" dirty="0"/>
              <a:t>&lt;h2&gt;The onclick Attribute&lt;/h2&gt;</a:t>
            </a:r>
          </a:p>
          <a:p>
            <a:pPr marL="0" indent="0">
              <a:buNone/>
            </a:pPr>
            <a:r>
              <a:rPr lang="en-IN" dirty="0"/>
              <a:t>&lt;h2 onclick="</a:t>
            </a:r>
            <a:r>
              <a:rPr lang="en-IN" dirty="0" err="1"/>
              <a:t>changeText</a:t>
            </a:r>
            <a:r>
              <a:rPr lang="en-IN" dirty="0"/>
              <a:t>(this)"&gt;Click on this text!&lt;/h2&gt;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changeText</a:t>
            </a:r>
            <a:r>
              <a:rPr lang="en-IN" dirty="0"/>
              <a:t>(id)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id.innerHTML</a:t>
            </a:r>
            <a:r>
              <a:rPr lang="en-IN" dirty="0"/>
              <a:t> = "</a:t>
            </a:r>
            <a:r>
              <a:rPr lang="en-IN" dirty="0" err="1"/>
              <a:t>Ooops</a:t>
            </a:r>
            <a:r>
              <a:rPr lang="en-IN" dirty="0"/>
              <a:t>!";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07401643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EA34F7-94AB-5FC2-0F37-E7DEC71EA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7200"/>
            <a:ext cx="10515600" cy="571976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&lt;h1&gt;HTML DOM Events&lt;/h1&gt;</a:t>
            </a:r>
          </a:p>
          <a:p>
            <a:pPr marL="0" indent="0">
              <a:buNone/>
            </a:pPr>
            <a:r>
              <a:rPr lang="en-IN" dirty="0"/>
              <a:t>&lt;h2&gt;The </a:t>
            </a:r>
            <a:r>
              <a:rPr lang="en-IN" dirty="0" err="1"/>
              <a:t>onmousedown</a:t>
            </a:r>
            <a:r>
              <a:rPr lang="en-IN" dirty="0"/>
              <a:t> Event&lt;/h2&gt;</a:t>
            </a:r>
          </a:p>
          <a:p>
            <a:pPr marL="0" indent="0">
              <a:buNone/>
            </a:pPr>
            <a:r>
              <a:rPr lang="en-IN" dirty="0"/>
              <a:t>&lt;p&gt;Clock the text below!&lt;/p&gt;</a:t>
            </a:r>
          </a:p>
          <a:p>
            <a:pPr marL="0" indent="0">
              <a:buNone/>
            </a:pPr>
            <a:r>
              <a:rPr lang="en-IN" dirty="0"/>
              <a:t>&lt;p id="</a:t>
            </a:r>
            <a:r>
              <a:rPr lang="en-IN" dirty="0" err="1"/>
              <a:t>myP</a:t>
            </a:r>
            <a:r>
              <a:rPr lang="en-IN" dirty="0"/>
              <a:t>" </a:t>
            </a:r>
            <a:r>
              <a:rPr lang="en-IN" dirty="0" err="1"/>
              <a:t>onmousedown</a:t>
            </a:r>
            <a:r>
              <a:rPr lang="en-IN" dirty="0"/>
              <a:t>="</a:t>
            </a:r>
            <a:r>
              <a:rPr lang="en-IN" dirty="0" err="1"/>
              <a:t>mouseDown</a:t>
            </a:r>
            <a:r>
              <a:rPr lang="en-IN" dirty="0"/>
              <a:t>()" </a:t>
            </a:r>
            <a:r>
              <a:rPr lang="en-IN" dirty="0" err="1"/>
              <a:t>onmouseup</a:t>
            </a:r>
            <a:r>
              <a:rPr lang="en-IN" dirty="0"/>
              <a:t>="</a:t>
            </a:r>
            <a:r>
              <a:rPr lang="en-IN" dirty="0" err="1"/>
              <a:t>mouseUp</a:t>
            </a:r>
            <a:r>
              <a:rPr lang="en-IN" dirty="0"/>
              <a:t>()"&gt;</a:t>
            </a:r>
          </a:p>
          <a:p>
            <a:pPr marL="0" indent="0">
              <a:buNone/>
            </a:pPr>
            <a:r>
              <a:rPr lang="en-IN" dirty="0"/>
              <a:t>The </a:t>
            </a:r>
            <a:r>
              <a:rPr lang="en-IN" dirty="0" err="1"/>
              <a:t>mouseDown</a:t>
            </a:r>
            <a:r>
              <a:rPr lang="en-IN" dirty="0"/>
              <a:t>() function sets the </a:t>
            </a:r>
            <a:r>
              <a:rPr lang="en-IN" dirty="0" err="1"/>
              <a:t>color</a:t>
            </a:r>
            <a:r>
              <a:rPr lang="en-IN" dirty="0"/>
              <a:t> of this text to red.</a:t>
            </a:r>
          </a:p>
          <a:p>
            <a:pPr marL="0" indent="0">
              <a:buNone/>
            </a:pPr>
            <a:r>
              <a:rPr lang="en-IN" dirty="0"/>
              <a:t>The </a:t>
            </a:r>
            <a:r>
              <a:rPr lang="en-IN" dirty="0" err="1"/>
              <a:t>mouseUp</a:t>
            </a:r>
            <a:r>
              <a:rPr lang="en-IN" dirty="0"/>
              <a:t>() function sets the </a:t>
            </a:r>
            <a:r>
              <a:rPr lang="en-IN" dirty="0" err="1"/>
              <a:t>color</a:t>
            </a:r>
            <a:r>
              <a:rPr lang="en-IN" dirty="0"/>
              <a:t> of this text to blue.</a:t>
            </a:r>
          </a:p>
          <a:p>
            <a:pPr marL="0" indent="0">
              <a:buNone/>
            </a:pPr>
            <a:r>
              <a:rPr lang="en-IN" dirty="0"/>
              <a:t>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mouseDown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myP</a:t>
            </a:r>
            <a:r>
              <a:rPr lang="en-IN" dirty="0"/>
              <a:t>").</a:t>
            </a:r>
            <a:r>
              <a:rPr lang="en-IN" dirty="0" err="1"/>
              <a:t>style.color</a:t>
            </a:r>
            <a:r>
              <a:rPr lang="en-IN" dirty="0"/>
              <a:t> = "red";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mouseUp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myP</a:t>
            </a:r>
            <a:r>
              <a:rPr lang="en-IN" dirty="0"/>
              <a:t>").</a:t>
            </a:r>
            <a:r>
              <a:rPr lang="en-IN" dirty="0" err="1"/>
              <a:t>style.color</a:t>
            </a:r>
            <a:r>
              <a:rPr lang="en-IN" dirty="0"/>
              <a:t> = "blue";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886228D-4176-FD50-AD7F-C26C15819D0C}"/>
              </a:ext>
            </a:extLst>
          </p:cNvPr>
          <p:cNvSpPr txBox="1"/>
          <p:nvPr/>
        </p:nvSpPr>
        <p:spPr>
          <a:xfrm>
            <a:off x="6662058" y="311705"/>
            <a:ext cx="55299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 err="1"/>
              <a:t>onmousedown</a:t>
            </a:r>
            <a:endParaRPr lang="en-IN" sz="3600" dirty="0"/>
          </a:p>
        </p:txBody>
      </p:sp>
    </p:spTree>
    <p:extLst>
      <p:ext uri="{BB962C8B-B14F-4D97-AF65-F5344CB8AC3E}">
        <p14:creationId xmlns:p14="http://schemas.microsoft.com/office/powerpoint/2010/main" val="8924273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028D2-ADBD-605D-DF8D-826B9AE7BB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Event Listener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FDD6B9-5F04-2E5C-7103-C2133C59A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&lt;h2&gt;JavaScript </a:t>
            </a:r>
            <a:r>
              <a:rPr lang="en-IN" dirty="0" err="1"/>
              <a:t>addEventListener</a:t>
            </a:r>
            <a:r>
              <a:rPr lang="en-IN" dirty="0"/>
              <a:t>()&lt;/h2&gt;</a:t>
            </a:r>
          </a:p>
          <a:p>
            <a:pPr marL="0" indent="0">
              <a:buNone/>
            </a:pPr>
            <a:r>
              <a:rPr lang="en-IN" dirty="0"/>
              <a:t>&lt;p&gt;This example uses the </a:t>
            </a:r>
            <a:r>
              <a:rPr lang="en-IN" dirty="0" err="1"/>
              <a:t>addEventListener</a:t>
            </a:r>
            <a:r>
              <a:rPr lang="en-IN" dirty="0"/>
              <a:t>() method to attach a click event to a button.&lt;/p&gt;</a:t>
            </a:r>
          </a:p>
          <a:p>
            <a:pPr marL="0" indent="0">
              <a:buNone/>
            </a:pPr>
            <a:r>
              <a:rPr lang="en-IN" dirty="0"/>
              <a:t>&lt;button id="</a:t>
            </a:r>
            <a:r>
              <a:rPr lang="en-IN" dirty="0" err="1"/>
              <a:t>myBtn</a:t>
            </a:r>
            <a:r>
              <a:rPr lang="en-IN" dirty="0"/>
              <a:t>"&gt;Try it&lt;/button&gt;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myBtn</a:t>
            </a:r>
            <a:r>
              <a:rPr lang="en-IN" dirty="0"/>
              <a:t>").</a:t>
            </a:r>
            <a:r>
              <a:rPr lang="en-IN" dirty="0" err="1"/>
              <a:t>addEventListener</a:t>
            </a:r>
            <a:r>
              <a:rPr lang="en-IN" dirty="0"/>
              <a:t>("click", function() {</a:t>
            </a:r>
          </a:p>
          <a:p>
            <a:pPr marL="0" indent="0">
              <a:buNone/>
            </a:pPr>
            <a:r>
              <a:rPr lang="en-IN" dirty="0"/>
              <a:t>  alert("Hello World!");</a:t>
            </a:r>
          </a:p>
          <a:p>
            <a:pPr marL="0" indent="0">
              <a:buNone/>
            </a:pPr>
            <a:r>
              <a:rPr lang="en-IN" dirty="0"/>
              <a:t>});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848007920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5BC4B-91A0-A86A-95C3-105A543629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String Methods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3930169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D4ED3-D683-7606-6D34-6724018829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 Length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320ECE-29EA-11F8-7F86-9F54D07CD0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317523"/>
            <a:ext cx="10515600" cy="4859440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Strings&lt;/h1&gt;</a:t>
            </a:r>
          </a:p>
          <a:p>
            <a:pPr marL="0" indent="0">
              <a:buNone/>
            </a:pPr>
            <a:r>
              <a:rPr lang="en-IN" dirty="0"/>
              <a:t>&lt;h2&gt;The length Property&lt;/h2&gt;</a:t>
            </a:r>
          </a:p>
          <a:p>
            <a:pPr marL="0" indent="0">
              <a:buNone/>
            </a:pPr>
            <a:r>
              <a:rPr lang="en-IN" dirty="0"/>
              <a:t>&lt;p&gt;The length of the string is:&lt;/p&gt;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let text = "ABCDEFGHIJKLMNOPQRSTUVWXYZ";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</a:t>
            </a:r>
            <a:r>
              <a:rPr lang="en-IN" dirty="0" err="1"/>
              <a:t>text.length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8357896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ED2E56-DFF0-ACDF-BC03-D906F3EF82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490"/>
            <a:ext cx="10515600" cy="6088473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&lt;h1&gt;JavaScript String&lt;/h1&gt;</a:t>
            </a:r>
          </a:p>
          <a:p>
            <a:pPr marL="0" indent="0">
              <a:buNone/>
            </a:pPr>
            <a:r>
              <a:rPr lang="en-IN" dirty="0"/>
              <a:t>&lt;h2&gt;The </a:t>
            </a:r>
            <a:r>
              <a:rPr lang="en-IN" dirty="0" err="1"/>
              <a:t>charAt</a:t>
            </a:r>
            <a:r>
              <a:rPr lang="en-IN" dirty="0"/>
              <a:t>() Method&lt;/h2&gt;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&lt;p&gt;The </a:t>
            </a:r>
            <a:r>
              <a:rPr lang="en-IN" dirty="0" err="1"/>
              <a:t>charAt</a:t>
            </a:r>
            <a:r>
              <a:rPr lang="en-IN" dirty="0"/>
              <a:t>() method returns the character at a given position in a string:&lt;/p&gt;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var text = "HELLO WORLD";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</a:t>
            </a:r>
            <a:r>
              <a:rPr lang="en-IN" dirty="0" err="1"/>
              <a:t>text.charAt</a:t>
            </a:r>
            <a:r>
              <a:rPr lang="en-IN" dirty="0"/>
              <a:t>(0);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77535554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D447ED-8E92-1248-E9F1-13E98A42E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8490"/>
            <a:ext cx="10515600" cy="608847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Strings&lt;/h1&gt;</a:t>
            </a:r>
          </a:p>
          <a:p>
            <a:pPr marL="0" indent="0">
              <a:buNone/>
            </a:pPr>
            <a:r>
              <a:rPr lang="en-IN" dirty="0"/>
              <a:t>&lt;h2&gt;The at() Method&lt;/h2&gt;</a:t>
            </a:r>
          </a:p>
          <a:p>
            <a:pPr marL="0" indent="0">
              <a:buNone/>
            </a:pPr>
            <a:r>
              <a:rPr lang="en-IN" dirty="0"/>
              <a:t>&lt;p&gt;The at() method returns an indexed element from a string:&lt;/p&gt;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name = "W3Schools";</a:t>
            </a:r>
          </a:p>
          <a:p>
            <a:pPr marL="0" indent="0">
              <a:buNone/>
            </a:pPr>
            <a:r>
              <a:rPr lang="en-IN" dirty="0"/>
              <a:t>let letter = name.at(2);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letter;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3523448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EF354F-6050-78B2-1AD5-C1900B0097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6310"/>
            <a:ext cx="10515600" cy="5960653"/>
          </a:xfrm>
        </p:spPr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&lt;h1&gt;JavaScript Strings&lt;/h1&gt;</a:t>
            </a:r>
          </a:p>
          <a:p>
            <a:pPr marL="0" indent="0">
              <a:buNone/>
            </a:pPr>
            <a:r>
              <a:rPr lang="en-IN" dirty="0"/>
              <a:t>&lt;h2&gt;The </a:t>
            </a:r>
            <a:r>
              <a:rPr lang="en-IN" dirty="0" err="1"/>
              <a:t>lastIndexOf</a:t>
            </a:r>
            <a:r>
              <a:rPr lang="en-IN" dirty="0"/>
              <a:t>() Method&lt;/h2&gt;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&lt;p&gt;The position of the last occurrence of "locate" is:&lt;/p&gt;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let text = "Please le";</a:t>
            </a:r>
          </a:p>
          <a:p>
            <a:pPr marL="0" indent="0">
              <a:buNone/>
            </a:pPr>
            <a:r>
              <a:rPr lang="en-IN" dirty="0"/>
              <a:t>let index = </a:t>
            </a:r>
            <a:r>
              <a:rPr lang="en-IN" dirty="0" err="1"/>
              <a:t>text.lastIndexOf</a:t>
            </a:r>
            <a:r>
              <a:rPr lang="en-IN" dirty="0"/>
              <a:t>("le");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index;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419092395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BF791-336A-75F2-1DB7-A9009BF61C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Array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9541D-6CD7-F39B-0DA4-5F845FEEEA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Arrays&lt;/h1&gt;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cars = ["Saab", "Volvo", "BMW"];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cars;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4961472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E2FD19-C5C0-B0AD-3533-019A94B147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107"/>
          </a:xfrm>
        </p:spPr>
        <p:txBody>
          <a:bodyPr>
            <a:normAutofit fontScale="90000"/>
          </a:bodyPr>
          <a:lstStyle/>
          <a:p>
            <a:r>
              <a:rPr lang="en-IN" dirty="0"/>
              <a:t>LOOP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4B89A8-81A4-1D67-7476-3EC7070FE3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554" y="1029211"/>
            <a:ext cx="10515600" cy="5735383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&lt;h2&gt;JavaScript For Loop&lt;/h2&gt;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cars = ["BMW", "Volvo", "Saab", "Ford", "Fiat", "Audi"];</a:t>
            </a:r>
          </a:p>
          <a:p>
            <a:pPr marL="0" indent="0">
              <a:buNone/>
            </a:pPr>
            <a:r>
              <a:rPr lang="en-IN" dirty="0"/>
              <a:t>let text = "";</a:t>
            </a:r>
          </a:p>
          <a:p>
            <a:pPr marL="0" indent="0">
              <a:buNone/>
            </a:pPr>
            <a:r>
              <a:rPr lang="en-IN" dirty="0"/>
              <a:t>for (let </a:t>
            </a:r>
            <a:r>
              <a:rPr lang="en-IN" dirty="0" err="1"/>
              <a:t>i</a:t>
            </a:r>
            <a:r>
              <a:rPr lang="en-IN" dirty="0"/>
              <a:t> = 0; </a:t>
            </a:r>
            <a:r>
              <a:rPr lang="en-IN" dirty="0" err="1"/>
              <a:t>i</a:t>
            </a:r>
            <a:r>
              <a:rPr lang="en-IN" dirty="0"/>
              <a:t> &lt; </a:t>
            </a:r>
            <a:r>
              <a:rPr lang="en-IN" dirty="0" err="1"/>
              <a:t>cars.length</a:t>
            </a:r>
            <a:r>
              <a:rPr lang="en-IN" dirty="0"/>
              <a:t>; </a:t>
            </a:r>
            <a:r>
              <a:rPr lang="en-IN" dirty="0" err="1"/>
              <a:t>i</a:t>
            </a:r>
            <a:r>
              <a:rPr lang="en-IN" dirty="0"/>
              <a:t>++) {</a:t>
            </a:r>
          </a:p>
          <a:p>
            <a:pPr marL="0" indent="0">
              <a:buNone/>
            </a:pPr>
            <a:r>
              <a:rPr lang="en-IN" dirty="0"/>
              <a:t>  text += cars[</a:t>
            </a:r>
            <a:r>
              <a:rPr lang="en-IN" dirty="0" err="1"/>
              <a:t>i</a:t>
            </a:r>
            <a:r>
              <a:rPr lang="en-IN" dirty="0"/>
              <a:t>] + "&lt;</a:t>
            </a:r>
            <a:r>
              <a:rPr lang="en-IN" dirty="0" err="1"/>
              <a:t>br</a:t>
            </a:r>
            <a:r>
              <a:rPr lang="en-IN" dirty="0"/>
              <a:t>&gt;";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text;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488622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E54DF-3E08-8B82-1EC9-1FD62C1A1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308F3-1B7C-93EB-60ED-EA4FBD6DF3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&lt;p&gt;Enter some text in the fields below, then press the "Reset form" button to reset the form.&lt;/p&gt;</a:t>
            </a:r>
          </a:p>
          <a:p>
            <a:pPr marL="0" indent="0">
              <a:buNone/>
            </a:pPr>
            <a:r>
              <a:rPr lang="en-IN" dirty="0"/>
              <a:t>&lt;form id="</a:t>
            </a:r>
            <a:r>
              <a:rPr lang="en-IN" dirty="0" err="1"/>
              <a:t>myForm</a:t>
            </a:r>
            <a:r>
              <a:rPr lang="en-IN" dirty="0"/>
              <a:t>"&gt;</a:t>
            </a:r>
          </a:p>
          <a:p>
            <a:pPr marL="0" indent="0">
              <a:buNone/>
            </a:pPr>
            <a:r>
              <a:rPr lang="en-IN" dirty="0"/>
              <a:t>  First name: &lt;input type="text" name="</a:t>
            </a:r>
            <a:r>
              <a:rPr lang="en-IN" dirty="0" err="1"/>
              <a:t>fname</a:t>
            </a:r>
            <a:r>
              <a:rPr lang="en-IN" dirty="0"/>
              <a:t>"&gt;&lt;</a:t>
            </a:r>
            <a:r>
              <a:rPr lang="en-IN" dirty="0" err="1"/>
              <a:t>br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Last name: &lt;input type="text" name="</a:t>
            </a:r>
            <a:r>
              <a:rPr lang="en-IN" dirty="0" err="1"/>
              <a:t>lname</a:t>
            </a:r>
            <a:r>
              <a:rPr lang="en-IN" dirty="0"/>
              <a:t>"&gt;&lt;</a:t>
            </a:r>
            <a:r>
              <a:rPr lang="en-IN" dirty="0" err="1"/>
              <a:t>br</a:t>
            </a:r>
            <a:r>
              <a:rPr lang="en-IN" dirty="0"/>
              <a:t>&gt;&lt;</a:t>
            </a:r>
            <a:r>
              <a:rPr lang="en-IN" dirty="0" err="1"/>
              <a:t>br</a:t>
            </a:r>
            <a:r>
              <a:rPr lang="en-IN" dirty="0"/>
              <a:t>&gt;</a:t>
            </a:r>
          </a:p>
          <a:p>
            <a:pPr marL="0" indent="0">
              <a:buNone/>
            </a:pPr>
            <a:r>
              <a:rPr lang="en-IN" dirty="0"/>
              <a:t>  &lt;input type="button" onclick="</a:t>
            </a:r>
            <a:r>
              <a:rPr lang="en-IN" dirty="0" err="1"/>
              <a:t>myFunction</a:t>
            </a:r>
            <a:r>
              <a:rPr lang="en-IN" dirty="0"/>
              <a:t>()" value="Reset form"&gt;</a:t>
            </a:r>
          </a:p>
          <a:p>
            <a:pPr marL="0" indent="0">
              <a:buNone/>
            </a:pPr>
            <a:r>
              <a:rPr lang="en-IN" dirty="0"/>
              <a:t>&lt;/form&gt;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myForm</a:t>
            </a:r>
            <a:r>
              <a:rPr lang="en-IN" dirty="0"/>
              <a:t>").reset();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51751853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C876C2-250E-7B2E-37B5-A338CE4E2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Data Type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DDA98E-086A-D7E5-D235-2CD5E6170F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Objects&lt;/h1&gt;</a:t>
            </a:r>
          </a:p>
          <a:p>
            <a:pPr marL="0" indent="0">
              <a:buNone/>
            </a:pPr>
            <a:r>
              <a:rPr lang="en-IN" dirty="0"/>
              <a:t>&lt;h2&gt;Creating an Object&lt;/h2&gt;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// Create an Object: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car = {</a:t>
            </a:r>
            <a:r>
              <a:rPr lang="en-IN" dirty="0" err="1"/>
              <a:t>type:"Fiat</a:t>
            </a:r>
            <a:r>
              <a:rPr lang="en-IN" dirty="0"/>
              <a:t>", model:"500", </a:t>
            </a:r>
            <a:r>
              <a:rPr lang="en-IN" dirty="0" err="1"/>
              <a:t>color</a:t>
            </a:r>
            <a:r>
              <a:rPr lang="en-IN" dirty="0"/>
              <a:t>:"white"};</a:t>
            </a:r>
          </a:p>
          <a:p>
            <a:pPr marL="0" indent="0">
              <a:buNone/>
            </a:pPr>
            <a:r>
              <a:rPr lang="en-IN" dirty="0"/>
              <a:t>// Display Data from the Object: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</a:t>
            </a:r>
          </a:p>
          <a:p>
            <a:pPr marL="0" indent="0">
              <a:buNone/>
            </a:pPr>
            <a:r>
              <a:rPr lang="en-IN" dirty="0"/>
              <a:t>"The car type is " + </a:t>
            </a:r>
            <a:r>
              <a:rPr lang="en-IN" dirty="0" err="1"/>
              <a:t>car.type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975667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3DB0FA-2149-8B3F-02A6-760ED44F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 Properties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7CA22-0F43-C813-E32F-C004B177F5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Object Properties&lt;/h1&gt;</a:t>
            </a:r>
          </a:p>
          <a:p>
            <a:pPr marL="0" indent="0">
              <a:buNone/>
            </a:pPr>
            <a:r>
              <a:rPr lang="en-IN" dirty="0"/>
              <a:t>&lt;h2&gt;Access a Property with .&lt;/h2&gt;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person =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firstname</a:t>
            </a:r>
            <a:r>
              <a:rPr lang="en-IN" dirty="0"/>
              <a:t>: "John",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lastname</a:t>
            </a:r>
            <a:r>
              <a:rPr lang="en-IN" dirty="0"/>
              <a:t>: "Doe",</a:t>
            </a:r>
          </a:p>
          <a:p>
            <a:pPr marL="0" indent="0">
              <a:buNone/>
            </a:pPr>
            <a:r>
              <a:rPr lang="en-IN" dirty="0"/>
              <a:t>  age: 50,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eyecolor</a:t>
            </a:r>
            <a:r>
              <a:rPr lang="en-IN" dirty="0"/>
              <a:t>: "blue"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</a:t>
            </a:r>
            <a:r>
              <a:rPr lang="en-IN" dirty="0" err="1"/>
              <a:t>person.firstname</a:t>
            </a:r>
            <a:r>
              <a:rPr lang="en-IN" dirty="0"/>
              <a:t> + " is " + </a:t>
            </a:r>
            <a:r>
              <a:rPr lang="en-IN" dirty="0" err="1"/>
              <a:t>person.age</a:t>
            </a:r>
            <a:r>
              <a:rPr lang="en-IN" dirty="0"/>
              <a:t> + " years old.";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47714391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D99EB0-B3C5-F864-FCD4-188938A12E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9107"/>
          </a:xfrm>
        </p:spPr>
        <p:txBody>
          <a:bodyPr>
            <a:normAutofit fontScale="90000"/>
          </a:bodyPr>
          <a:lstStyle/>
          <a:p>
            <a:r>
              <a:rPr lang="en-IN" dirty="0"/>
              <a:t>This Variable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A853DA-A750-4A22-7044-EF888F1A2C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796413"/>
            <a:ext cx="10515600" cy="5380550"/>
          </a:xfrm>
        </p:spPr>
        <p:txBody>
          <a:bodyPr>
            <a:normAutofit fontScale="47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Objects&lt;/h1&gt;</a:t>
            </a:r>
          </a:p>
          <a:p>
            <a:pPr marL="0" indent="0">
              <a:buNone/>
            </a:pPr>
            <a:r>
              <a:rPr lang="en-IN" dirty="0"/>
              <a:t>&lt;h2&gt;Object Methods&lt;/h2&gt;</a:t>
            </a:r>
          </a:p>
          <a:p>
            <a:pPr marL="0" indent="0">
              <a:buNone/>
            </a:pPr>
            <a:r>
              <a:rPr lang="en-IN" dirty="0"/>
              <a:t>&lt;p&gt;A method is a function definition stored as a property value.&lt;/p&gt;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person =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firstName</a:t>
            </a:r>
            <a:r>
              <a:rPr lang="en-IN" dirty="0"/>
              <a:t>: "John",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lastName</a:t>
            </a:r>
            <a:r>
              <a:rPr lang="en-IN" dirty="0"/>
              <a:t>: "Doe",</a:t>
            </a:r>
          </a:p>
          <a:p>
            <a:pPr marL="0" indent="0">
              <a:buNone/>
            </a:pPr>
            <a:r>
              <a:rPr lang="en-IN" dirty="0"/>
              <a:t>  id: 5566,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fullName</a:t>
            </a:r>
            <a:r>
              <a:rPr lang="en-IN" dirty="0"/>
              <a:t>: function() {</a:t>
            </a:r>
          </a:p>
          <a:p>
            <a:pPr marL="0" indent="0">
              <a:buNone/>
            </a:pPr>
            <a:r>
              <a:rPr lang="en-IN" dirty="0"/>
              <a:t>    return </a:t>
            </a:r>
            <a:r>
              <a:rPr lang="en-IN" dirty="0" err="1"/>
              <a:t>this.firstName</a:t>
            </a:r>
            <a:r>
              <a:rPr lang="en-IN" dirty="0"/>
              <a:t> + " " + </a:t>
            </a:r>
            <a:r>
              <a:rPr lang="en-IN" dirty="0" err="1"/>
              <a:t>this.lastName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  }</a:t>
            </a:r>
          </a:p>
          <a:p>
            <a:pPr marL="0" indent="0">
              <a:buNone/>
            </a:pPr>
            <a:r>
              <a:rPr lang="en-IN" dirty="0"/>
              <a:t>};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</a:t>
            </a:r>
            <a:r>
              <a:rPr lang="en-IN" dirty="0" err="1"/>
              <a:t>person.fullName</a:t>
            </a:r>
            <a:r>
              <a:rPr lang="en-IN" dirty="0"/>
              <a:t>();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7661202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5AFD27-96D2-3E85-4774-D9690480A5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String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C46699-D367-C2C6-F6DA-9258B53B37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Strings&lt;/h1&gt;</a:t>
            </a:r>
          </a:p>
          <a:p>
            <a:pPr marL="0" indent="0">
              <a:buNone/>
            </a:pPr>
            <a:r>
              <a:rPr lang="en-IN" dirty="0"/>
              <a:t>&lt;h2&gt;The length Property&lt;/h2&gt;</a:t>
            </a:r>
          </a:p>
          <a:p>
            <a:pPr marL="0" indent="0">
              <a:buNone/>
            </a:pPr>
            <a:r>
              <a:rPr lang="en-IN" dirty="0"/>
              <a:t>&lt;p&gt;The length of the string is:&lt;/p&gt;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let text = "ABCDEFGHIJKLMNOPQRSTUVWXYZ";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</a:t>
            </a:r>
            <a:r>
              <a:rPr lang="en-IN" dirty="0" err="1"/>
              <a:t>text.length</a:t>
            </a:r>
            <a:r>
              <a:rPr lang="en-IN" dirty="0"/>
              <a:t>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2542754813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C916B0-08B9-B26A-7C39-1A06F850D8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CharCode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DC068-B9D2-938B-2326-CD5DCC4135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String&lt;/h1&gt;</a:t>
            </a:r>
          </a:p>
          <a:p>
            <a:pPr marL="0" indent="0">
              <a:buNone/>
            </a:pPr>
            <a:r>
              <a:rPr lang="en-IN" dirty="0"/>
              <a:t>&lt;h2&gt;The </a:t>
            </a:r>
            <a:r>
              <a:rPr lang="en-IN" dirty="0" err="1"/>
              <a:t>charCodeAt</a:t>
            </a:r>
            <a:r>
              <a:rPr lang="en-IN" dirty="0"/>
              <a:t>() Method&lt;/h2&gt;</a:t>
            </a:r>
          </a:p>
          <a:p>
            <a:pPr marL="0" indent="0">
              <a:buNone/>
            </a:pPr>
            <a:r>
              <a:rPr lang="en-IN" dirty="0"/>
              <a:t>&lt;p&gt;The </a:t>
            </a:r>
            <a:r>
              <a:rPr lang="en-IN" dirty="0" err="1"/>
              <a:t>charCodeAt</a:t>
            </a:r>
            <a:r>
              <a:rPr lang="en-IN" dirty="0"/>
              <a:t>() method returns the </a:t>
            </a:r>
            <a:r>
              <a:rPr lang="en-IN" dirty="0" err="1"/>
              <a:t>unicode</a:t>
            </a:r>
            <a:r>
              <a:rPr lang="en-IN" dirty="0"/>
              <a:t> of the character at a given position in a string:&lt;/p&gt;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let text = "AELLO WORLD";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</a:t>
            </a:r>
            <a:r>
              <a:rPr lang="en-IN" dirty="0" err="1"/>
              <a:t>text.charCodeAt</a:t>
            </a:r>
            <a:r>
              <a:rPr lang="en-IN" dirty="0"/>
              <a:t>(0);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236277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0A3E4-DAC5-89E3-14A3-DBC04B254E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At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308638-3790-FE8B-73A7-7E8461A432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Strings&lt;/h1&gt;</a:t>
            </a:r>
          </a:p>
          <a:p>
            <a:pPr marL="0" indent="0">
              <a:buNone/>
            </a:pPr>
            <a:r>
              <a:rPr lang="en-IN" dirty="0"/>
              <a:t>&lt;h2&gt;The at() Method&lt;/h2&gt;</a:t>
            </a:r>
          </a:p>
          <a:p>
            <a:pPr marL="0" indent="0">
              <a:buNone/>
            </a:pPr>
            <a:r>
              <a:rPr lang="en-IN" dirty="0"/>
              <a:t>&lt;p&gt;The at() method returns an indexed element from a string:&lt;/p&gt;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 err="1"/>
              <a:t>const</a:t>
            </a:r>
            <a:r>
              <a:rPr lang="en-IN" dirty="0"/>
              <a:t> name = "W3Schools";</a:t>
            </a:r>
          </a:p>
          <a:p>
            <a:pPr marL="0" indent="0">
              <a:buNone/>
            </a:pPr>
            <a:r>
              <a:rPr lang="en-IN" dirty="0"/>
              <a:t>let letter = name.at(2);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letter;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228453639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83F2BD-DDC5-1CAD-A046-2996792A6F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Index Of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C8AD4C-33AA-6FA6-990E-C3498779B2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Strings&lt;/h1&gt;</a:t>
            </a:r>
          </a:p>
          <a:p>
            <a:pPr marL="0" indent="0">
              <a:buNone/>
            </a:pPr>
            <a:r>
              <a:rPr lang="en-IN" dirty="0"/>
              <a:t>&lt;h2&gt;The </a:t>
            </a:r>
            <a:r>
              <a:rPr lang="en-IN" dirty="0" err="1"/>
              <a:t>indexOf</a:t>
            </a:r>
            <a:r>
              <a:rPr lang="en-IN" dirty="0"/>
              <a:t>() Method&lt;/h2&gt;</a:t>
            </a:r>
          </a:p>
          <a:p>
            <a:pPr marL="0" indent="0">
              <a:buNone/>
            </a:pPr>
            <a:r>
              <a:rPr lang="en-IN" dirty="0"/>
              <a:t>&lt;p&gt;The </a:t>
            </a:r>
            <a:r>
              <a:rPr lang="en-IN" dirty="0" err="1"/>
              <a:t>indexOf</a:t>
            </a:r>
            <a:r>
              <a:rPr lang="en-IN" dirty="0"/>
              <a:t>() method returns the position of the first occurrence of a string in a string.&lt;/p&gt;</a:t>
            </a:r>
          </a:p>
          <a:p>
            <a:pPr marL="0" indent="0">
              <a:buNone/>
            </a:pPr>
            <a:r>
              <a:rPr lang="en-IN" dirty="0"/>
              <a:t>&lt;p&gt;The position of the first occurrence of "locate" is:&lt;/p&gt;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let text = "Please locate where 'locate' occurs!";</a:t>
            </a:r>
          </a:p>
          <a:p>
            <a:pPr marL="0" indent="0">
              <a:buNone/>
            </a:pPr>
            <a:r>
              <a:rPr lang="en-IN" dirty="0"/>
              <a:t>let index = </a:t>
            </a:r>
            <a:r>
              <a:rPr lang="en-IN" dirty="0" err="1"/>
              <a:t>text.indexOf</a:t>
            </a:r>
            <a:r>
              <a:rPr lang="en-IN" dirty="0"/>
              <a:t>("locate");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index; 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458225204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A3537F-E83B-19DB-D6F9-500D7BD342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Last Index Of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52E6C-F42C-9F79-33AA-DF746C2A65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&lt;h1&gt;JavaScript Strings&lt;/h1&gt;</a:t>
            </a:r>
          </a:p>
          <a:p>
            <a:pPr marL="0" indent="0">
              <a:buNone/>
            </a:pPr>
            <a:r>
              <a:rPr lang="en-IN" dirty="0"/>
              <a:t>&lt;h2&gt;The </a:t>
            </a:r>
            <a:r>
              <a:rPr lang="en-IN" dirty="0" err="1"/>
              <a:t>lastIndexOf</a:t>
            </a:r>
            <a:r>
              <a:rPr lang="en-IN" dirty="0"/>
              <a:t>() Method&lt;/h2&gt;</a:t>
            </a:r>
          </a:p>
          <a:p>
            <a:pPr marL="0" indent="0">
              <a:buNone/>
            </a:pPr>
            <a:r>
              <a:rPr lang="en-IN" dirty="0"/>
              <a:t>&lt;p&gt;The position of the last occurrence of "locate" is:&lt;/p&gt;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let text = "Please locate where 'locate' occurs!";</a:t>
            </a:r>
          </a:p>
          <a:p>
            <a:pPr marL="0" indent="0">
              <a:buNone/>
            </a:pPr>
            <a:r>
              <a:rPr lang="en-IN" dirty="0"/>
              <a:t>let index = </a:t>
            </a:r>
            <a:r>
              <a:rPr lang="en-IN" dirty="0" err="1"/>
              <a:t>text.lastIndexOf</a:t>
            </a:r>
            <a:r>
              <a:rPr lang="en-IN" dirty="0"/>
              <a:t>("locate");</a:t>
            </a:r>
          </a:p>
          <a:p>
            <a:pPr marL="0" indent="0">
              <a:buNone/>
            </a:pP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index;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175679911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38486-D8F0-AEE0-F063-3E461AD2D5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864" y="391679"/>
            <a:ext cx="10515600" cy="4351338"/>
          </a:xfrm>
        </p:spPr>
        <p:txBody>
          <a:bodyPr>
            <a:normAutofit fontScale="25000" lnSpcReduction="20000"/>
          </a:bodyPr>
          <a:lstStyle/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IN" sz="8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Declare the following array and print only multiples of 3 from it.</a:t>
            </a:r>
          </a:p>
          <a:p>
            <a:pPr marL="457200">
              <a:lnSpc>
                <a:spcPct val="115000"/>
              </a:lnSpc>
            </a:pPr>
            <a:r>
              <a:rPr lang="en-IN" sz="8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[100,6767,989,26,299,89,7,16,12.14]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IN" sz="8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Declare the following array and print only odd numbers from it. Sort this array, reverse it, add element 67, and remove element 67.</a:t>
            </a:r>
          </a:p>
          <a:p>
            <a:pPr marL="457200">
              <a:lnSpc>
                <a:spcPct val="115000"/>
              </a:lnSpc>
            </a:pPr>
            <a:r>
              <a:rPr lang="en-IN" sz="8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[3,12,45,43,45,78,89,23,22,19,18,17,16,12.14]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IN" sz="8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Print all the prime numbers between 3 and 128</a:t>
            </a: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IN" sz="8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Create an object Student, add properties First Name, Middle Name , last Name , Age , Gender.</a:t>
            </a:r>
            <a:br>
              <a:rPr lang="en-IN" sz="8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</a:br>
            <a:r>
              <a:rPr lang="en-IN" sz="8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Print the line : My name is </a:t>
            </a:r>
            <a:r>
              <a:rPr lang="en-IN" sz="8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First Name Middle Name</a:t>
            </a:r>
            <a:r>
              <a:rPr lang="en-IN" sz="80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. My age is </a:t>
            </a:r>
            <a:r>
              <a:rPr lang="en-IN" sz="8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Age. My Gender is Gender.</a:t>
            </a:r>
            <a:endParaRPr lang="en-IN" sz="80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342900" lvl="0" indent="-342900">
              <a:lnSpc>
                <a:spcPct val="115000"/>
              </a:lnSpc>
              <a:buFont typeface="+mj-lt"/>
              <a:buAutoNum type="arabicPeriod"/>
            </a:pPr>
            <a:r>
              <a:rPr lang="en-IN" sz="8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Declare a string ”AEROSPACE Engineering from Amity University Bengaluru”, do the following:</a:t>
            </a:r>
            <a:endParaRPr lang="en-IN" sz="80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</a:pPr>
            <a:r>
              <a:rPr lang="en-IN" sz="8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find its length</a:t>
            </a:r>
            <a:endParaRPr lang="en-IN" sz="80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</a:pPr>
            <a:r>
              <a:rPr lang="en-IN" sz="8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find char code of E</a:t>
            </a:r>
            <a:endParaRPr lang="en-IN" sz="80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</a:pPr>
            <a:r>
              <a:rPr lang="en-IN" sz="8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Find Element at Index 9</a:t>
            </a:r>
            <a:endParaRPr lang="en-IN" sz="80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</a:pPr>
            <a:r>
              <a:rPr lang="en-IN" sz="80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Find index </a:t>
            </a:r>
            <a:r>
              <a:rPr lang="en-IN" sz="8000" b="1" kern="10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of </a:t>
            </a:r>
            <a:r>
              <a:rPr lang="en-IN" sz="8000" b="1" kern="100"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Bengaluru</a:t>
            </a:r>
            <a:endParaRPr lang="en-IN" sz="80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 marL="457200">
              <a:lnSpc>
                <a:spcPct val="115000"/>
              </a:lnSpc>
              <a:spcAft>
                <a:spcPts val="800"/>
              </a:spcAft>
            </a:pPr>
            <a:r>
              <a:rPr lang="en-IN" sz="1800" b="1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  <a:endParaRPr lang="en-IN" sz="1800" kern="100" dirty="0">
              <a:effectLst/>
              <a:latin typeface="Aptos" panose="020B0004020202020204" pitchFamily="34" charset="0"/>
              <a:ea typeface="DengXian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15000"/>
              </a:lnSpc>
              <a:spcAft>
                <a:spcPts val="800"/>
              </a:spcAft>
            </a:pPr>
            <a:r>
              <a:rPr lang="en-IN" sz="1800" kern="100" dirty="0">
                <a:effectLst/>
                <a:latin typeface="Aptos" panose="020B0004020202020204" pitchFamily="34" charset="0"/>
                <a:ea typeface="DengXian" panose="02010600030101010101" pitchFamily="2" charset="-122"/>
                <a:cs typeface="Times New Roman" panose="02020603050405020304" pitchFamily="18" charset="0"/>
              </a:rPr>
              <a:t> 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53381623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AE5ECC-0F9F-DC03-BEFE-61C444CF0A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/>
              <a:t>AutoFocus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697153-472D-BF4D-92A4-E5328BE155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97858"/>
            <a:ext cx="10515600" cy="4879105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Password: &lt;input type="password" id="</a:t>
            </a:r>
            <a:r>
              <a:rPr lang="en-IN" dirty="0" err="1"/>
              <a:t>myPsw</a:t>
            </a:r>
            <a:r>
              <a:rPr lang="en-IN" dirty="0"/>
              <a:t>" autofocus&gt;</a:t>
            </a:r>
          </a:p>
          <a:p>
            <a:pPr marL="0" indent="0">
              <a:buNone/>
            </a:pPr>
            <a:r>
              <a:rPr lang="en-IN" dirty="0"/>
              <a:t>&lt;p&gt;Click the button to find out if the password field automatically gets focus when the page loads.&lt;/p&gt;</a:t>
            </a:r>
          </a:p>
          <a:p>
            <a:pPr marL="0" indent="0">
              <a:buNone/>
            </a:pPr>
            <a:r>
              <a:rPr lang="en-IN" dirty="0"/>
              <a:t>&lt;button onclick="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pPr marL="0" indent="0">
              <a:buNone/>
            </a:pPr>
            <a:r>
              <a:rPr lang="en-IN" dirty="0"/>
              <a:t>&lt;p id="demo"&gt;&lt;/p&gt;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var x =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myPsw</a:t>
            </a:r>
            <a:r>
              <a:rPr lang="en-IN" dirty="0"/>
              <a:t>").autofocus;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("demo").</a:t>
            </a:r>
            <a:r>
              <a:rPr lang="en-IN" dirty="0" err="1"/>
              <a:t>innerHTML</a:t>
            </a:r>
            <a:r>
              <a:rPr lang="en-IN" dirty="0"/>
              <a:t> = x;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26778473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303783-95AF-D1E9-64AB-A53A4B31B2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94968"/>
            <a:ext cx="10515600" cy="588199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&lt;button onclick="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var x = </a:t>
            </a:r>
            <a:r>
              <a:rPr lang="en-IN" dirty="0" err="1"/>
              <a:t>document.createElement</a:t>
            </a:r>
            <a:r>
              <a:rPr lang="en-IN" dirty="0"/>
              <a:t>("INPUT");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x.setAttribute</a:t>
            </a:r>
            <a:r>
              <a:rPr lang="en-IN" dirty="0"/>
              <a:t>("type", "text");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x.setAttribute</a:t>
            </a:r>
            <a:r>
              <a:rPr lang="en-IN" dirty="0"/>
              <a:t>("value", "Hello World!");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document.body.appendChild</a:t>
            </a:r>
            <a:r>
              <a:rPr lang="en-IN" dirty="0"/>
              <a:t>(x);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</p:txBody>
      </p:sp>
    </p:spTree>
    <p:extLst>
      <p:ext uri="{BB962C8B-B14F-4D97-AF65-F5344CB8AC3E}">
        <p14:creationId xmlns:p14="http://schemas.microsoft.com/office/powerpoint/2010/main" val="383465296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6D2C0-F501-7A61-AE79-BDF1297A1F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Disable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DD2176-C8F4-9C32-CDD5-D57CED2A5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IN" dirty="0"/>
              <a:t>&lt;!DOCTYPE html&gt;</a:t>
            </a:r>
          </a:p>
          <a:p>
            <a:pPr marL="0" indent="0">
              <a:buNone/>
            </a:pPr>
            <a:r>
              <a:rPr lang="en-IN" dirty="0"/>
              <a:t>&lt;html&gt;</a:t>
            </a:r>
          </a:p>
          <a:p>
            <a:pPr marL="0" indent="0">
              <a:buNone/>
            </a:pPr>
            <a:r>
              <a:rPr lang="en-IN" dirty="0"/>
              <a:t>&lt;body&gt;</a:t>
            </a:r>
          </a:p>
          <a:p>
            <a:pPr marL="0" indent="0">
              <a:buNone/>
            </a:pPr>
            <a:r>
              <a:rPr lang="en-IN" dirty="0"/>
              <a:t>Password: &lt;input type="password" id="</a:t>
            </a:r>
            <a:r>
              <a:rPr lang="en-IN" dirty="0" err="1"/>
              <a:t>myPsw</a:t>
            </a:r>
            <a:r>
              <a:rPr lang="en-IN" dirty="0"/>
              <a:t>"&gt;</a:t>
            </a:r>
          </a:p>
          <a:p>
            <a:pPr marL="0" indent="0">
              <a:buNone/>
            </a:pPr>
            <a:r>
              <a:rPr lang="en-IN" dirty="0"/>
              <a:t>&lt;p&gt;Click the button to disable the password field.&lt;/p&gt;</a:t>
            </a:r>
          </a:p>
          <a:p>
            <a:pPr marL="0" indent="0">
              <a:buNone/>
            </a:pPr>
            <a:r>
              <a:rPr lang="en-IN" dirty="0"/>
              <a:t>&lt;button onclick="</a:t>
            </a:r>
            <a:r>
              <a:rPr lang="en-IN" dirty="0" err="1"/>
              <a:t>myFunction</a:t>
            </a:r>
            <a:r>
              <a:rPr lang="en-IN" dirty="0"/>
              <a:t>()"&gt;Try it&lt;/button&gt;</a:t>
            </a:r>
          </a:p>
          <a:p>
            <a:pPr marL="0" indent="0">
              <a:buNone/>
            </a:pPr>
            <a:r>
              <a:rPr lang="en-IN" dirty="0"/>
              <a:t>&lt;script&gt;</a:t>
            </a:r>
          </a:p>
          <a:p>
            <a:pPr marL="0" indent="0">
              <a:buNone/>
            </a:pPr>
            <a:r>
              <a:rPr lang="en-IN" dirty="0"/>
              <a:t>function </a:t>
            </a:r>
            <a:r>
              <a:rPr lang="en-IN" dirty="0" err="1"/>
              <a:t>myFunction</a:t>
            </a:r>
            <a:r>
              <a:rPr lang="en-IN" dirty="0"/>
              <a:t>() {</a:t>
            </a:r>
          </a:p>
          <a:p>
            <a:pPr marL="0" indent="0">
              <a:buNone/>
            </a:pPr>
            <a:r>
              <a:rPr lang="en-IN" dirty="0"/>
              <a:t>  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myPsw</a:t>
            </a:r>
            <a:r>
              <a:rPr lang="en-IN" dirty="0"/>
              <a:t>").disabled = true;</a:t>
            </a:r>
          </a:p>
          <a:p>
            <a:pPr marL="0" indent="0">
              <a:buNone/>
            </a:pPr>
            <a:r>
              <a:rPr lang="en-IN" dirty="0"/>
              <a:t>}</a:t>
            </a:r>
          </a:p>
          <a:p>
            <a:pPr marL="0" indent="0">
              <a:buNone/>
            </a:pPr>
            <a:r>
              <a:rPr lang="en-IN" dirty="0"/>
              <a:t>&lt;/script&gt;</a:t>
            </a:r>
          </a:p>
          <a:p>
            <a:pPr marL="0" indent="0">
              <a:buNone/>
            </a:pPr>
            <a:r>
              <a:rPr lang="en-IN" dirty="0"/>
              <a:t>&lt;/body&gt;</a:t>
            </a:r>
          </a:p>
          <a:p>
            <a:pPr marL="0" indent="0">
              <a:buNone/>
            </a:pPr>
            <a:r>
              <a:rPr lang="en-IN" dirty="0"/>
              <a:t>&lt;/html&gt;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781040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12442-082F-D04C-F284-8C099EE93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19513A-F8C1-3AFA-BA11-5134226230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1.Write a program, to get two number boxes and Three Buttons on a webpage.</a:t>
            </a:r>
          </a:p>
          <a:p>
            <a:pPr marL="0" indent="0">
              <a:buNone/>
            </a:pPr>
            <a:r>
              <a:rPr lang="en-US" dirty="0"/>
              <a:t>On Click of Button 1: The Largest of Two Numbers should be displayed</a:t>
            </a:r>
          </a:p>
          <a:p>
            <a:pPr marL="0" indent="0">
              <a:buNone/>
            </a:pPr>
            <a:r>
              <a:rPr lang="en-US" dirty="0"/>
              <a:t>Onclick of Button 2:  Prime Numbers Between those Numbers should Be Displayed</a:t>
            </a:r>
          </a:p>
          <a:p>
            <a:pPr marL="0" indent="0">
              <a:buNone/>
            </a:pPr>
            <a:r>
              <a:rPr lang="en-US" dirty="0"/>
              <a:t>2.Using Switch Case Statement for grades ('A', 'B', 'C', 'D', 'F') and  correspondingly returns the corresponding description ("Excellent", "Good", "Average", "Poor", "Fail").</a:t>
            </a:r>
          </a:p>
          <a:p>
            <a:pPr marL="0" indent="0">
              <a:buNone/>
            </a:pPr>
            <a:r>
              <a:rPr lang="en-US" dirty="0"/>
              <a:t>3.Using Switch Case write a program that takes a number from 0 to 6 and returns "Weekend" for 0 (Sunday) and 6 (Saturday), and "Weekday" for the other days (1 to 5).</a:t>
            </a:r>
          </a:p>
          <a:p>
            <a:pPr marL="0" indent="0">
              <a:buNone/>
            </a:pPr>
            <a:r>
              <a:rPr lang="en-US" dirty="0"/>
              <a:t>4.Write a while loop that sums the numbers from 1 to 100 and prints the </a:t>
            </a:r>
            <a:r>
              <a:rPr lang="en-US"/>
              <a:t>result.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5.Given an array of numbers, write a while loop to find and print the first number greater than 50.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078928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FA86D12D1B014DB198FAB3E37B07B9" ma:contentTypeVersion="4" ma:contentTypeDescription="Create a new document." ma:contentTypeScope="" ma:versionID="15e152072294d46d781187ed6762cd44">
  <xsd:schema xmlns:xsd="http://www.w3.org/2001/XMLSchema" xmlns:xs="http://www.w3.org/2001/XMLSchema" xmlns:p="http://schemas.microsoft.com/office/2006/metadata/properties" xmlns:ns2="9ef65180-3060-485a-9b44-d87fe391d260" targetNamespace="http://schemas.microsoft.com/office/2006/metadata/properties" ma:root="true" ma:fieldsID="9fcb60f28bcbccb28401cdf720a328c1" ns2:_="">
    <xsd:import namespace="9ef65180-3060-485a-9b44-d87fe391d2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ef65180-3060-485a-9b44-d87fe391d26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E150B1A-5C0C-4958-88A8-A03FFD9B4A35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ED6B533-649B-4F49-A434-AA2A1E3856C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88CC5A38-F73B-46A7-8E78-95C1BA7B067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ef65180-3060-485a-9b44-d87fe391d26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4336</TotalTime>
  <Words>6777</Words>
  <Application>Microsoft Office PowerPoint</Application>
  <PresentationFormat>Widescreen</PresentationFormat>
  <Paragraphs>1185</Paragraphs>
  <Slides>85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85</vt:i4>
      </vt:variant>
    </vt:vector>
  </HeadingPairs>
  <TitlesOfParts>
    <vt:vector size="93" baseType="lpstr">
      <vt:lpstr>Aptos</vt:lpstr>
      <vt:lpstr>Aptos Display</vt:lpstr>
      <vt:lpstr>Arial</vt:lpstr>
      <vt:lpstr>Consolas</vt:lpstr>
      <vt:lpstr>Segoe UI</vt:lpstr>
      <vt:lpstr>Times New Roman</vt:lpstr>
      <vt:lpstr>Verdana</vt:lpstr>
      <vt:lpstr>Office Theme</vt:lpstr>
      <vt:lpstr>Unit 6</vt:lpstr>
      <vt:lpstr>Operators in Javascript</vt:lpstr>
      <vt:lpstr>Assignment Operator</vt:lpstr>
      <vt:lpstr>Comparison Operators</vt:lpstr>
      <vt:lpstr>Logical Operators</vt:lpstr>
      <vt:lpstr>Bitwise Operators </vt:lpstr>
      <vt:lpstr>String Operators</vt:lpstr>
      <vt:lpstr>7. Type Operators</vt:lpstr>
      <vt:lpstr>1. Primitive Data Types These are immutable and represent a single value. </vt:lpstr>
      <vt:lpstr>2. Non-Primitive (Reference) Data Types These are mutable and can hold collections of values or complex entities. </vt:lpstr>
      <vt:lpstr>Switch Case</vt:lpstr>
      <vt:lpstr>PowerPoint Presentation</vt:lpstr>
      <vt:lpstr>PowerPoint Presentation</vt:lpstr>
      <vt:lpstr>PowerPoint Presentation</vt:lpstr>
      <vt:lpstr>If Else</vt:lpstr>
      <vt:lpstr>If- else if - else</vt:lpstr>
      <vt:lpstr>Two conditions</vt:lpstr>
      <vt:lpstr>For Loop</vt:lpstr>
      <vt:lpstr>For Loop Example</vt:lpstr>
      <vt:lpstr>PowerPoint Presentation</vt:lpstr>
      <vt:lpstr>Do- while</vt:lpstr>
      <vt:lpstr>Accessing Values  from various Elements</vt:lpstr>
      <vt:lpstr>Month</vt:lpstr>
      <vt:lpstr>Field Set</vt:lpstr>
      <vt:lpstr>Password</vt:lpstr>
      <vt:lpstr>PowerPoint Presentation</vt:lpstr>
      <vt:lpstr>Time</vt:lpstr>
      <vt:lpstr>PowerPoint Presentation</vt:lpstr>
      <vt:lpstr>Redirecting to other Pages</vt:lpstr>
      <vt:lpstr>Accessing Data from Elements- Methods</vt:lpstr>
      <vt:lpstr>Tag Name</vt:lpstr>
      <vt:lpstr>Class Name</vt:lpstr>
      <vt:lpstr>Query Selector</vt:lpstr>
      <vt:lpstr>Label Id</vt:lpstr>
      <vt:lpstr>Why Use Arrays? </vt:lpstr>
      <vt:lpstr>Creating an Array</vt:lpstr>
      <vt:lpstr>PowerPoint Presentation</vt:lpstr>
      <vt:lpstr>Sorting an Array</vt:lpstr>
      <vt:lpstr>Reversing an Array</vt:lpstr>
      <vt:lpstr>Push Method</vt:lpstr>
      <vt:lpstr>PoP Method</vt:lpstr>
      <vt:lpstr>Accessing</vt:lpstr>
      <vt:lpstr>For Loop</vt:lpstr>
      <vt:lpstr>For LOOP</vt:lpstr>
      <vt:lpstr>For IN</vt:lpstr>
      <vt:lpstr>OF</vt:lpstr>
      <vt:lpstr>While Loop</vt:lpstr>
      <vt:lpstr>Do- While</vt:lpstr>
      <vt:lpstr>PowerPoint Presentation</vt:lpstr>
      <vt:lpstr>PowerPoint Presentation</vt:lpstr>
      <vt:lpstr>PowerPoint Presentation</vt:lpstr>
      <vt:lpstr>The getElementById Method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Required</vt:lpstr>
      <vt:lpstr>PowerPoint Presentation</vt:lpstr>
      <vt:lpstr>Events</vt:lpstr>
      <vt:lpstr>PowerPoint Presentation</vt:lpstr>
      <vt:lpstr>Onclick</vt:lpstr>
      <vt:lpstr>PowerPoint Presentation</vt:lpstr>
      <vt:lpstr>Event Listener</vt:lpstr>
      <vt:lpstr>String Methods</vt:lpstr>
      <vt:lpstr>String Length</vt:lpstr>
      <vt:lpstr>PowerPoint Presentation</vt:lpstr>
      <vt:lpstr>PowerPoint Presentation</vt:lpstr>
      <vt:lpstr>PowerPoint Presentation</vt:lpstr>
      <vt:lpstr>Array</vt:lpstr>
      <vt:lpstr>LOOP</vt:lpstr>
      <vt:lpstr>Reset</vt:lpstr>
      <vt:lpstr>Object Data Type</vt:lpstr>
      <vt:lpstr>Object Properties</vt:lpstr>
      <vt:lpstr>This Variable</vt:lpstr>
      <vt:lpstr>String</vt:lpstr>
      <vt:lpstr>CharCode</vt:lpstr>
      <vt:lpstr>At Method</vt:lpstr>
      <vt:lpstr>Index Of Method</vt:lpstr>
      <vt:lpstr>Last Index Of</vt:lpstr>
      <vt:lpstr>PowerPoint Presentation</vt:lpstr>
      <vt:lpstr>AutoFocus</vt:lpstr>
      <vt:lpstr>PowerPoint Presentation</vt:lpstr>
      <vt:lpstr>Disable 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shashvat.sharma13@outlook.com</dc:creator>
  <cp:lastModifiedBy>neethut.nhce</cp:lastModifiedBy>
  <cp:revision>12</cp:revision>
  <dcterms:created xsi:type="dcterms:W3CDTF">2024-06-13T05:46:03Z</dcterms:created>
  <dcterms:modified xsi:type="dcterms:W3CDTF">2025-05-25T15:05:12Z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0x0101002DFA86D12D1B014DB198FAB3E37B07B9</vt:lpwstr>
  </property>
</Properties>
</file>