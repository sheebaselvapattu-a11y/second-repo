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0"/>
  </p:notesMasterIdLst>
  <p:sldIdLst>
    <p:sldId id="382" r:id="rId2"/>
    <p:sldId id="506" r:id="rId3"/>
    <p:sldId id="507" r:id="rId4"/>
    <p:sldId id="508" r:id="rId5"/>
    <p:sldId id="509" r:id="rId6"/>
    <p:sldId id="510" r:id="rId7"/>
    <p:sldId id="348" r:id="rId8"/>
    <p:sldId id="511" r:id="rId9"/>
    <p:sldId id="443" r:id="rId10"/>
    <p:sldId id="536" r:id="rId11"/>
    <p:sldId id="537" r:id="rId12"/>
    <p:sldId id="538" r:id="rId13"/>
    <p:sldId id="512" r:id="rId14"/>
    <p:sldId id="513" r:id="rId15"/>
    <p:sldId id="514" r:id="rId16"/>
    <p:sldId id="515" r:id="rId17"/>
    <p:sldId id="516" r:id="rId18"/>
    <p:sldId id="519" r:id="rId19"/>
    <p:sldId id="520" r:id="rId20"/>
    <p:sldId id="517" r:id="rId21"/>
    <p:sldId id="518" r:id="rId22"/>
    <p:sldId id="521" r:id="rId23"/>
    <p:sldId id="522" r:id="rId24"/>
    <p:sldId id="523" r:id="rId25"/>
    <p:sldId id="524" r:id="rId26"/>
    <p:sldId id="525" r:id="rId27"/>
    <p:sldId id="526" r:id="rId28"/>
    <p:sldId id="528" r:id="rId29"/>
    <p:sldId id="527" r:id="rId30"/>
    <p:sldId id="529" r:id="rId31"/>
    <p:sldId id="530" r:id="rId32"/>
    <p:sldId id="531" r:id="rId33"/>
    <p:sldId id="532" r:id="rId34"/>
    <p:sldId id="533" r:id="rId35"/>
    <p:sldId id="534" r:id="rId36"/>
    <p:sldId id="535" r:id="rId37"/>
    <p:sldId id="444" r:id="rId38"/>
    <p:sldId id="445" r:id="rId39"/>
    <p:sldId id="335" r:id="rId40"/>
    <p:sldId id="539" r:id="rId41"/>
    <p:sldId id="540" r:id="rId42"/>
    <p:sldId id="541" r:id="rId43"/>
    <p:sldId id="542" r:id="rId44"/>
    <p:sldId id="543" r:id="rId45"/>
    <p:sldId id="544" r:id="rId46"/>
    <p:sldId id="545" r:id="rId47"/>
    <p:sldId id="546" r:id="rId48"/>
    <p:sldId id="547" r:id="rId49"/>
    <p:sldId id="548" r:id="rId50"/>
    <p:sldId id="549" r:id="rId51"/>
    <p:sldId id="550" r:id="rId52"/>
    <p:sldId id="551" r:id="rId53"/>
    <p:sldId id="552" r:id="rId54"/>
    <p:sldId id="553" r:id="rId55"/>
    <p:sldId id="554" r:id="rId56"/>
    <p:sldId id="555" r:id="rId57"/>
    <p:sldId id="556" r:id="rId58"/>
    <p:sldId id="557" r:id="rId59"/>
    <p:sldId id="558" r:id="rId60"/>
    <p:sldId id="559" r:id="rId61"/>
    <p:sldId id="560" r:id="rId62"/>
    <p:sldId id="561" r:id="rId63"/>
    <p:sldId id="563" r:id="rId64"/>
    <p:sldId id="564" r:id="rId65"/>
    <p:sldId id="565" r:id="rId66"/>
    <p:sldId id="566" r:id="rId67"/>
    <p:sldId id="567" r:id="rId68"/>
    <p:sldId id="568" r:id="rId69"/>
    <p:sldId id="562" r:id="rId70"/>
    <p:sldId id="569" r:id="rId71"/>
    <p:sldId id="570" r:id="rId72"/>
    <p:sldId id="571" r:id="rId73"/>
    <p:sldId id="572" r:id="rId74"/>
    <p:sldId id="573" r:id="rId75"/>
    <p:sldId id="574" r:id="rId76"/>
    <p:sldId id="575" r:id="rId77"/>
    <p:sldId id="576" r:id="rId78"/>
    <p:sldId id="577" r:id="rId79"/>
    <p:sldId id="578" r:id="rId80"/>
    <p:sldId id="579" r:id="rId81"/>
    <p:sldId id="580" r:id="rId82"/>
    <p:sldId id="390" r:id="rId83"/>
    <p:sldId id="336" r:id="rId84"/>
    <p:sldId id="337" r:id="rId85"/>
    <p:sldId id="341" r:id="rId86"/>
    <p:sldId id="342" r:id="rId87"/>
    <p:sldId id="384" r:id="rId88"/>
    <p:sldId id="385" r:id="rId89"/>
    <p:sldId id="389" r:id="rId90"/>
    <p:sldId id="350" r:id="rId91"/>
    <p:sldId id="383" r:id="rId92"/>
    <p:sldId id="355" r:id="rId93"/>
    <p:sldId id="387" r:id="rId94"/>
    <p:sldId id="343" r:id="rId95"/>
    <p:sldId id="344" r:id="rId96"/>
    <p:sldId id="376" r:id="rId97"/>
    <p:sldId id="388" r:id="rId98"/>
    <p:sldId id="386" r:id="rId99"/>
    <p:sldId id="499" r:id="rId100"/>
    <p:sldId id="500" r:id="rId101"/>
    <p:sldId id="501" r:id="rId102"/>
    <p:sldId id="503" r:id="rId103"/>
    <p:sldId id="502" r:id="rId104"/>
    <p:sldId id="305" r:id="rId105"/>
    <p:sldId id="306" r:id="rId106"/>
    <p:sldId id="307" r:id="rId107"/>
    <p:sldId id="308" r:id="rId108"/>
    <p:sldId id="309" r:id="rId109"/>
    <p:sldId id="314" r:id="rId110"/>
    <p:sldId id="315" r:id="rId111"/>
    <p:sldId id="316" r:id="rId112"/>
    <p:sldId id="317" r:id="rId113"/>
    <p:sldId id="310" r:id="rId114"/>
    <p:sldId id="311" r:id="rId115"/>
    <p:sldId id="312" r:id="rId116"/>
    <p:sldId id="313" r:id="rId117"/>
    <p:sldId id="321" r:id="rId118"/>
    <p:sldId id="322" r:id="rId119"/>
    <p:sldId id="323" r:id="rId120"/>
    <p:sldId id="324" r:id="rId121"/>
    <p:sldId id="325" r:id="rId122"/>
    <p:sldId id="351" r:id="rId123"/>
    <p:sldId id="378" r:id="rId124"/>
    <p:sldId id="352" r:id="rId125"/>
    <p:sldId id="353" r:id="rId126"/>
    <p:sldId id="354" r:id="rId127"/>
    <p:sldId id="497" r:id="rId128"/>
    <p:sldId id="498" r:id="rId1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68260" autoAdjust="0"/>
  </p:normalViewPr>
  <p:slideViewPr>
    <p:cSldViewPr snapToGrid="0">
      <p:cViewPr varScale="1">
        <p:scale>
          <a:sx n="56" d="100"/>
          <a:sy n="56" d="100"/>
        </p:scale>
        <p:origin x="1627"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3/14/2026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714976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GB" sz="1200" b="0" i="0" kern="1200" dirty="0" smtClean="0">
                <a:solidFill>
                  <a:schemeClr val="tx1"/>
                </a:solidFill>
                <a:effectLst/>
                <a:latin typeface="+mn-lt"/>
                <a:ea typeface="+mn-ea"/>
                <a:cs typeface="+mn-cs"/>
              </a:rPr>
              <a:t>HTML acts as the car’s frame, forming the foundation.</a:t>
            </a:r>
          </a:p>
          <a:p>
            <a:pPr fontAlgn="base"/>
            <a:r>
              <a:rPr lang="en-GB" sz="1200" b="0" i="0" kern="1200" dirty="0" smtClean="0">
                <a:solidFill>
                  <a:schemeClr val="tx1"/>
                </a:solidFill>
                <a:effectLst/>
                <a:latin typeface="+mn-lt"/>
                <a:ea typeface="+mn-ea"/>
                <a:cs typeface="+mn-cs"/>
              </a:rPr>
              <a:t>CSS is like the car’s paint, giving it style and design.</a:t>
            </a:r>
          </a:p>
          <a:p>
            <a:pPr fontAlgn="base"/>
            <a:r>
              <a:rPr lang="en-GB" sz="1200" b="0" i="0" kern="1200" dirty="0" smtClean="0">
                <a:solidFill>
                  <a:schemeClr val="tx1"/>
                </a:solidFill>
                <a:effectLst/>
                <a:latin typeface="+mn-lt"/>
                <a:ea typeface="+mn-ea"/>
                <a:cs typeface="+mn-cs"/>
              </a:rPr>
              <a:t>JavaScript is the engine, adding motion and behaviour.</a:t>
            </a:r>
          </a:p>
          <a:p>
            <a:pPr fontAlgn="base"/>
            <a:r>
              <a:rPr lang="en-GB" sz="1200" b="0" i="0" kern="1200" dirty="0" smtClean="0">
                <a:solidFill>
                  <a:schemeClr val="tx1"/>
                </a:solidFill>
                <a:effectLst/>
                <a:latin typeface="+mn-lt"/>
                <a:ea typeface="+mn-ea"/>
                <a:cs typeface="+mn-cs"/>
              </a:rPr>
              <a:t>When combined, they create a complete, interactive website.</a:t>
            </a:r>
          </a:p>
          <a:p>
            <a:endParaRPr lang="en-GB" dirty="0"/>
          </a:p>
        </p:txBody>
      </p:sp>
      <p:sp>
        <p:nvSpPr>
          <p:cNvPr id="4" name="Slide Number Placeholder 3"/>
          <p:cNvSpPr>
            <a:spLocks noGrp="1"/>
          </p:cNvSpPr>
          <p:nvPr>
            <p:ph type="sldNum" sz="quarter" idx="10"/>
          </p:nvPr>
        </p:nvSpPr>
        <p:spPr/>
        <p:txBody>
          <a:bodyPr/>
          <a:lstStyle/>
          <a:p>
            <a:fld id="{21B2AA4F-B828-4D7C-AFD3-893933DAFCB4}" type="slidenum">
              <a:rPr lang="en-US" smtClean="0"/>
              <a:t>13</a:t>
            </a:fld>
            <a:endParaRPr lang="en-US"/>
          </a:p>
        </p:txBody>
      </p:sp>
    </p:spTree>
    <p:extLst>
      <p:ext uri="{BB962C8B-B14F-4D97-AF65-F5344CB8AC3E}">
        <p14:creationId xmlns:p14="http://schemas.microsoft.com/office/powerpoint/2010/main" val="4068716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Each element appears </a:t>
            </a:r>
            <a:r>
              <a:rPr lang="en-GB" b="1" dirty="0" smtClean="0"/>
              <a:t>on a new line</a:t>
            </a:r>
            <a:r>
              <a:rPr lang="en-GB" dirty="0" smtClean="0"/>
              <a:t> because they are </a:t>
            </a:r>
            <a:r>
              <a:rPr lang="en-GB" b="1" dirty="0" smtClean="0"/>
              <a:t>block elements</a:t>
            </a:r>
            <a:r>
              <a:rPr lang="en-GB" dirty="0" smtClean="0"/>
              <a:t>.</a:t>
            </a:r>
            <a:endParaRPr lang="en-GB" dirty="0"/>
          </a:p>
        </p:txBody>
      </p:sp>
      <p:sp>
        <p:nvSpPr>
          <p:cNvPr id="4" name="Slide Number Placeholder 3"/>
          <p:cNvSpPr>
            <a:spLocks noGrp="1"/>
          </p:cNvSpPr>
          <p:nvPr>
            <p:ph type="sldNum" sz="quarter" idx="10"/>
          </p:nvPr>
        </p:nvSpPr>
        <p:spPr/>
        <p:txBody>
          <a:bodyPr/>
          <a:lstStyle/>
          <a:p>
            <a:fld id="{21B2AA4F-B828-4D7C-AFD3-893933DAFCB4}" type="slidenum">
              <a:rPr lang="en-US" smtClean="0"/>
              <a:t>43</a:t>
            </a:fld>
            <a:endParaRPr lang="en-US"/>
          </a:p>
        </p:txBody>
      </p:sp>
    </p:spTree>
    <p:extLst>
      <p:ext uri="{BB962C8B-B14F-4D97-AF65-F5344CB8AC3E}">
        <p14:creationId xmlns:p14="http://schemas.microsoft.com/office/powerpoint/2010/main" val="702844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The words </a:t>
            </a:r>
            <a:r>
              <a:rPr lang="en-GB" b="1" dirty="0" smtClean="0"/>
              <a:t>bold, italic, underline</a:t>
            </a:r>
            <a:r>
              <a:rPr lang="en-GB" dirty="0" smtClean="0"/>
              <a:t> appear </a:t>
            </a:r>
            <a:r>
              <a:rPr lang="en-GB" b="1" dirty="0" smtClean="0"/>
              <a:t>in the same line</a:t>
            </a:r>
            <a:r>
              <a:rPr lang="en-GB" dirty="0" smtClean="0"/>
              <a:t> because they are </a:t>
            </a:r>
            <a:r>
              <a:rPr lang="en-GB" b="1" dirty="0" smtClean="0"/>
              <a:t>inline elements</a:t>
            </a:r>
            <a:r>
              <a:rPr lang="en-GB" dirty="0" smtClean="0"/>
              <a:t>.</a:t>
            </a:r>
            <a:endParaRPr lang="en-GB" dirty="0"/>
          </a:p>
        </p:txBody>
      </p:sp>
      <p:sp>
        <p:nvSpPr>
          <p:cNvPr id="4" name="Slide Number Placeholder 3"/>
          <p:cNvSpPr>
            <a:spLocks noGrp="1"/>
          </p:cNvSpPr>
          <p:nvPr>
            <p:ph type="sldNum" sz="quarter" idx="10"/>
          </p:nvPr>
        </p:nvSpPr>
        <p:spPr/>
        <p:txBody>
          <a:bodyPr/>
          <a:lstStyle/>
          <a:p>
            <a:fld id="{21B2AA4F-B828-4D7C-AFD3-893933DAFCB4}" type="slidenum">
              <a:rPr lang="en-US" smtClean="0"/>
              <a:t>46</a:t>
            </a:fld>
            <a:endParaRPr lang="en-US"/>
          </a:p>
        </p:txBody>
      </p:sp>
    </p:spTree>
    <p:extLst>
      <p:ext uri="{BB962C8B-B14F-4D97-AF65-F5344CB8AC3E}">
        <p14:creationId xmlns:p14="http://schemas.microsoft.com/office/powerpoint/2010/main" val="1822436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GB" dirty="0" smtClean="0"/>
              <a:t>5 &amp;</a:t>
            </a:r>
            <a:r>
              <a:rPr lang="en-GB" dirty="0" err="1" smtClean="0"/>
              <a:t>lt</a:t>
            </a:r>
            <a:r>
              <a:rPr lang="en-GB" dirty="0" smtClean="0"/>
              <a:t>; 10</a:t>
            </a:r>
          </a:p>
          <a:p>
            <a:r>
              <a:rPr lang="en-GB" dirty="0" smtClean="0"/>
              <a:t>Output:</a:t>
            </a:r>
          </a:p>
          <a:p>
            <a:r>
              <a:rPr lang="en-GB" dirty="0" smtClean="0"/>
              <a:t>5 &lt; 10</a:t>
            </a:r>
          </a:p>
          <a:p>
            <a:endParaRPr lang="en-GB" dirty="0"/>
          </a:p>
        </p:txBody>
      </p:sp>
      <p:sp>
        <p:nvSpPr>
          <p:cNvPr id="4" name="Slide Number Placeholder 3"/>
          <p:cNvSpPr>
            <a:spLocks noGrp="1"/>
          </p:cNvSpPr>
          <p:nvPr>
            <p:ph type="sldNum" sz="quarter" idx="10"/>
          </p:nvPr>
        </p:nvSpPr>
        <p:spPr/>
        <p:txBody>
          <a:bodyPr/>
          <a:lstStyle/>
          <a:p>
            <a:fld id="{21B2AA4F-B828-4D7C-AFD3-893933DAFCB4}" type="slidenum">
              <a:rPr lang="en-US" smtClean="0"/>
              <a:t>51</a:t>
            </a:fld>
            <a:endParaRPr lang="en-US"/>
          </a:p>
        </p:txBody>
      </p:sp>
    </p:spTree>
    <p:extLst>
      <p:ext uri="{BB962C8B-B14F-4D97-AF65-F5344CB8AC3E}">
        <p14:creationId xmlns:p14="http://schemas.microsoft.com/office/powerpoint/2010/main" val="17911062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B2AA4F-B828-4D7C-AFD3-893933DAFCB4}" type="slidenum">
              <a:rPr lang="en-US" smtClean="0"/>
              <a:t>54</a:t>
            </a:fld>
            <a:endParaRPr lang="en-US"/>
          </a:p>
        </p:txBody>
      </p:sp>
    </p:spTree>
    <p:extLst>
      <p:ext uri="{BB962C8B-B14F-4D97-AF65-F5344CB8AC3E}">
        <p14:creationId xmlns:p14="http://schemas.microsoft.com/office/powerpoint/2010/main" val="69701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7D3BCD5-138B-401B-991C-D48322A50983}"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E9F594-62A2-46B6-8B87-84016B707E41}"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7D3BCD5-138B-401B-991C-D48322A50983}"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E9F594-62A2-46B6-8B87-84016B707E41}"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D3BCD5-138B-401B-991C-D48322A50983}"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E9F594-62A2-46B6-8B87-84016B707E41}"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7D3BCD5-138B-401B-991C-D48322A50983}" type="datetimeFigureOut">
              <a:rPr lang="en-IN" smtClean="0"/>
              <a:t>14-03-2026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4E9F594-62A2-46B6-8B87-84016B707E41}"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7D3BCD5-138B-401B-991C-D48322A50983}" type="datetimeFigureOut">
              <a:rPr lang="en-IN" smtClean="0"/>
              <a:t>14-03-2026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4E9F594-62A2-46B6-8B87-84016B707E41}"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7D3BCD5-138B-401B-991C-D48322A50983}" type="datetimeFigureOut">
              <a:rPr lang="en-IN" smtClean="0"/>
              <a:t>14-03-2026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4E9F594-62A2-46B6-8B87-84016B707E41}"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D3BCD5-138B-401B-991C-D48322A50983}" type="datetimeFigureOut">
              <a:rPr lang="en-IN" smtClean="0"/>
              <a:t>14-03-2026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4E9F594-62A2-46B6-8B87-84016B707E41}"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7D3BCD5-138B-401B-991C-D48322A50983}" type="datetimeFigureOut">
              <a:rPr lang="en-IN" smtClean="0"/>
              <a:t>14-03-2026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4E9F594-62A2-46B6-8B87-84016B707E41}"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7D3BCD5-138B-401B-991C-D48322A50983}" type="datetimeFigureOut">
              <a:rPr lang="en-IN" smtClean="0"/>
              <a:t>14-03-2026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4E9F594-62A2-46B6-8B87-84016B707E41}"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7D3BCD5-138B-401B-991C-D48322A50983}"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E9F594-62A2-46B6-8B87-84016B707E41}"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7D3BCD5-138B-401B-991C-D48322A50983}"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E9F594-62A2-46B6-8B87-84016B707E41}"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696000" y="394405"/>
            <a:ext cx="10800000" cy="705600"/>
          </a:xfrm>
        </p:spPr>
        <p:txBody>
          <a:bodyPr/>
          <a:lstStyle>
            <a:lvl1pPr algn="ctr">
              <a:defRPr sz="3200">
                <a:solidFill>
                  <a:schemeClr val="tx1"/>
                </a:solidFill>
                <a:latin typeface="+mj-lt"/>
              </a:defRPr>
            </a:lvl1pPr>
          </a:lstStyle>
          <a:p>
            <a:r>
              <a:rPr lang="en-US"/>
              <a:t>Click to add title</a:t>
            </a:r>
          </a:p>
        </p:txBody>
      </p:sp>
      <p:sp>
        <p:nvSpPr>
          <p:cNvPr id="3" name="日期占位符 2"/>
          <p:cNvSpPr>
            <a:spLocks noGrp="1"/>
          </p:cNvSpPr>
          <p:nvPr>
            <p:ph type="dt" sz="half" idx="10"/>
            <p:custDataLst>
              <p:tags r:id="rId2"/>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p>
        </p:txBody>
      </p:sp>
      <p:sp>
        <p:nvSpPr>
          <p:cNvPr id="4" name="页脚占位符 3"/>
          <p:cNvSpPr>
            <a:spLocks noGrp="1"/>
          </p:cNvSpPr>
          <p:nvPr>
            <p:ph type="ftr" sz="quarter" idx="11"/>
            <p:custDataLst>
              <p:tags r:id="rId3"/>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4"/>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D3BCD5-138B-401B-991C-D48322A50983}" type="datetimeFigureOut">
              <a:rPr lang="en-IN" smtClean="0"/>
              <a:t>14-03-2026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E9F594-62A2-46B6-8B87-84016B707E4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javascript/javascript-tutorial/" TargetMode="External"/><Relationship Id="rId2" Type="http://schemas.openxmlformats.org/officeDocument/2006/relationships/hyperlink" Target="https://www.geeksforgeeks.org/css/css-tutoria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geeksforgeeks.org/html/html-src-attribute/" TargetMode="External"/><Relationship Id="rId2" Type="http://schemas.openxmlformats.org/officeDocument/2006/relationships/hyperlink" Target="https://www.geeksforgeeks.org/html/html-href-attribute/"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geeksforgeeks.org/html/html-alt-attribute/"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geeksforgeeks.org/html/html-height-attribute/"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geeksforgeeks.org/html/html-id-attribute/"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geeksforgeeks.org/html/html-title-attribute/"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geeksforgeeks.org/html/html-href-attribute/"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www.geeksforgeeks.org/html/html-style-attribute/"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geeksforgeeks.org/html/how-to-align-text-in-html/"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www.geeksforgeeks.org/html/html-ol-tag/" TargetMode="External"/><Relationship Id="rId7" Type="http://schemas.openxmlformats.org/officeDocument/2006/relationships/hyperlink" Target="https://www.geeksforgeeks.org/html/html-dd-tag/" TargetMode="External"/><Relationship Id="rId2" Type="http://schemas.openxmlformats.org/officeDocument/2006/relationships/hyperlink" Target="https://www.geeksforgeeks.org/html/html-ul-tag/" TargetMode="External"/><Relationship Id="rId1" Type="http://schemas.openxmlformats.org/officeDocument/2006/relationships/slideLayout" Target="../slideLayouts/slideLayout2.xml"/><Relationship Id="rId6" Type="http://schemas.openxmlformats.org/officeDocument/2006/relationships/hyperlink" Target="https://www.geeksforgeeks.org/html/html-dt-tag/" TargetMode="External"/><Relationship Id="rId5" Type="http://schemas.openxmlformats.org/officeDocument/2006/relationships/hyperlink" Target="https://www.geeksforgeeks.org/html/html-dl-tag/" TargetMode="External"/><Relationship Id="rId4" Type="http://schemas.openxmlformats.org/officeDocument/2006/relationships/hyperlink" Target="https://www.geeksforgeeks.org/html/html-li-tag/" TargetMode="External"/></Relationships>
</file>

<file path=ppt/slides/_rels/slide59.xml.rels><?xml version="1.0" encoding="UTF-8" standalone="yes"?>
<Relationships xmlns="http://schemas.openxmlformats.org/package/2006/relationships"><Relationship Id="rId2" Type="http://schemas.openxmlformats.org/officeDocument/2006/relationships/hyperlink" Target="https://www.geeksforgeeks.org/html/html-unordered-lists/"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https://www.geeksforgeeks.org/html/html-ol-reversed-attribute/" TargetMode="External"/><Relationship Id="rId2" Type="http://schemas.openxmlformats.org/officeDocument/2006/relationships/hyperlink" Target="https://www.geeksforgeeks.org/html/html-ordered-lists/" TargetMode="External"/><Relationship Id="rId1" Type="http://schemas.openxmlformats.org/officeDocument/2006/relationships/slideLayout" Target="../slideLayouts/slideLayout2.xml"/><Relationship Id="rId5" Type="http://schemas.openxmlformats.org/officeDocument/2006/relationships/hyperlink" Target="https://www.geeksforgeeks.org/html/html-ol-type-attribute/" TargetMode="External"/><Relationship Id="rId4" Type="http://schemas.openxmlformats.org/officeDocument/2006/relationships/hyperlink" Target="https://www.geeksforgeeks.org/html/html-ol-start-attribute/"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hyperlink" Target="https://www.geeksforgeeks.org/html/explain-description-lists-in-html/"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www.geeksforgeeks.org/html/html-img-alt-attribute/" TargetMode="External"/><Relationship Id="rId2" Type="http://schemas.openxmlformats.org/officeDocument/2006/relationships/hyperlink" Target="https://www.geeksforgeeks.org/html/html-img-src-attribute/" TargetMode="External"/><Relationship Id="rId1" Type="http://schemas.openxmlformats.org/officeDocument/2006/relationships/slideLayout" Target="../slideLayouts/slideLayout2.xml"/><Relationship Id="rId6" Type="http://schemas.openxmlformats.org/officeDocument/2006/relationships/hyperlink" Target="https://www.geeksforgeeks.org/html/html-img-width-attribute/" TargetMode="External"/><Relationship Id="rId5" Type="http://schemas.openxmlformats.org/officeDocument/2006/relationships/hyperlink" Target="https://www.geeksforgeeks.org/html/html-img-height-attribute/" TargetMode="External"/><Relationship Id="rId4" Type="http://schemas.openxmlformats.org/officeDocument/2006/relationships/hyperlink" Target="https://www.geeksforgeeks.org/html/html-link-crossorigin-attribute/"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8" Type="http://schemas.openxmlformats.org/officeDocument/2006/relationships/hyperlink" Target="https://www.geeksforgeeks.org/html5-aside-tag/" TargetMode="External"/><Relationship Id="rId3" Type="http://schemas.openxmlformats.org/officeDocument/2006/relationships/hyperlink" Target="https://www.geeksforgeeks.org/html5-footer-tag/" TargetMode="External"/><Relationship Id="rId7" Type="http://schemas.openxmlformats.org/officeDocument/2006/relationships/hyperlink" Target="https://www.geeksforgeeks.org/html5-article-tag/" TargetMode="External"/><Relationship Id="rId12" Type="http://schemas.openxmlformats.org/officeDocument/2006/relationships/hyperlink" Target="https://www.geeksforgeeks.org/html-mark-tag/" TargetMode="External"/><Relationship Id="rId2" Type="http://schemas.openxmlformats.org/officeDocument/2006/relationships/hyperlink" Target="https://www.geeksforgeeks.org/html5-header-tag/" TargetMode="External"/><Relationship Id="rId1" Type="http://schemas.openxmlformats.org/officeDocument/2006/relationships/slideLayout" Target="../slideLayouts/slideLayout2.xml"/><Relationship Id="rId6" Type="http://schemas.openxmlformats.org/officeDocument/2006/relationships/hyperlink" Target="https://www.geeksforgeeks.org/html-section-tag/" TargetMode="External"/><Relationship Id="rId11" Type="http://schemas.openxmlformats.org/officeDocument/2006/relationships/hyperlink" Target="https://www.geeksforgeeks.org/html5-figure-tag/" TargetMode="External"/><Relationship Id="rId5" Type="http://schemas.openxmlformats.org/officeDocument/2006/relationships/hyperlink" Target="https://www.geeksforgeeks.org/html-main-tag/" TargetMode="External"/><Relationship Id="rId10" Type="http://schemas.openxmlformats.org/officeDocument/2006/relationships/hyperlink" Target="https://www.geeksforgeeks.org/html5-figcaption-tag/" TargetMode="External"/><Relationship Id="rId4" Type="http://schemas.openxmlformats.org/officeDocument/2006/relationships/hyperlink" Target="https://www.geeksforgeeks.org/html-nav-tag/" TargetMode="External"/><Relationship Id="rId9" Type="http://schemas.openxmlformats.org/officeDocument/2006/relationships/hyperlink" Target="https://www.geeksforgeeks.org/html5-details-tag/" TargetMode="Externa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hyperlink" Target="https://www.geeksforgeeks.org/" TargetMode="Externa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hyperlink" Target="https://www.w3schools.com/tags/tag_address.asp" TargetMode="External"/><Relationship Id="rId7" Type="http://schemas.openxmlformats.org/officeDocument/2006/relationships/hyperlink" Target="https://www.w3schools.com/tags/tag_q.asp" TargetMode="External"/><Relationship Id="rId2" Type="http://schemas.openxmlformats.org/officeDocument/2006/relationships/hyperlink" Target="https://www.w3schools.com/tags/tag_abbr.asp" TargetMode="External"/><Relationship Id="rId1" Type="http://schemas.openxmlformats.org/officeDocument/2006/relationships/slideLayout" Target="../slideLayouts/slideLayout2.xml"/><Relationship Id="rId6" Type="http://schemas.openxmlformats.org/officeDocument/2006/relationships/hyperlink" Target="https://www.w3schools.com/tags/tag_cite.asp" TargetMode="External"/><Relationship Id="rId5" Type="http://schemas.openxmlformats.org/officeDocument/2006/relationships/hyperlink" Target="https://www.w3schools.com/tags/tag_blockquote.asp" TargetMode="External"/><Relationship Id="rId4" Type="http://schemas.openxmlformats.org/officeDocument/2006/relationships/hyperlink" Target="https://www.w3schools.com/tags/tag_bdo.asp" TargetMode="External"/></Relationships>
</file>

<file path=ppt/slides/_rels/slide1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Unit 2</a:t>
            </a:r>
          </a:p>
        </p:txBody>
      </p:sp>
      <p:sp>
        <p:nvSpPr>
          <p:cNvPr id="5" name="Text Placeholder 4"/>
          <p:cNvSpPr>
            <a:spLocks noGrp="1"/>
          </p:cNvSpPr>
          <p:nvPr>
            <p:ph type="body" idx="1"/>
          </p:nvPr>
        </p:nvSpPr>
        <p:spPr/>
        <p:txBody>
          <a:bodyPr/>
          <a:lstStyle/>
          <a:p>
            <a:r>
              <a:rPr lang="en-US" b="1" dirty="0"/>
              <a:t>Hypertext Markup Language </a:t>
            </a:r>
            <a:endParaRPr lang="en-GB" dirty="0"/>
          </a:p>
          <a:p>
            <a:r>
              <a:rPr lang="en-US" b="1" dirty="0"/>
              <a:t>(HTML-5):</a:t>
            </a:r>
            <a:endParaRPr lang="en-I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Assignment 1: Student Details Table</a:t>
            </a:r>
          </a:p>
        </p:txBody>
      </p:sp>
      <p:sp>
        <p:nvSpPr>
          <p:cNvPr id="3" name="Content Placeholder 2"/>
          <p:cNvSpPr>
            <a:spLocks noGrp="1"/>
          </p:cNvSpPr>
          <p:nvPr>
            <p:ph idx="1"/>
          </p:nvPr>
        </p:nvSpPr>
        <p:spPr/>
        <p:txBody>
          <a:bodyPr>
            <a:normAutofit lnSpcReduction="10000"/>
          </a:bodyPr>
          <a:lstStyle/>
          <a:p>
            <a:r>
              <a:rPr lang="en-GB" dirty="0" smtClean="0"/>
              <a:t>Create </a:t>
            </a:r>
            <a:r>
              <a:rPr lang="en-GB" dirty="0"/>
              <a:t>an HTML page and design a </a:t>
            </a:r>
            <a:r>
              <a:rPr lang="en-GB" b="1" dirty="0"/>
              <a:t>table to display student details</a:t>
            </a:r>
            <a:r>
              <a:rPr lang="en-GB" dirty="0"/>
              <a:t>.</a:t>
            </a:r>
          </a:p>
          <a:p>
            <a:r>
              <a:rPr lang="en-GB" b="1" dirty="0"/>
              <a:t>Table Columns:</a:t>
            </a:r>
            <a:endParaRPr lang="en-GB" dirty="0"/>
          </a:p>
          <a:p>
            <a:r>
              <a:rPr lang="en-GB" dirty="0"/>
              <a:t>Register Number</a:t>
            </a:r>
          </a:p>
          <a:p>
            <a:r>
              <a:rPr lang="en-GB" dirty="0"/>
              <a:t>Name</a:t>
            </a:r>
          </a:p>
          <a:p>
            <a:r>
              <a:rPr lang="en-GB" dirty="0"/>
              <a:t>Department</a:t>
            </a:r>
          </a:p>
          <a:p>
            <a:r>
              <a:rPr lang="en-GB" dirty="0"/>
              <a:t>Year</a:t>
            </a:r>
          </a:p>
          <a:p>
            <a:r>
              <a:rPr lang="en-GB" dirty="0" smtClean="0"/>
              <a:t>Email</a:t>
            </a:r>
          </a:p>
          <a:p>
            <a:r>
              <a:rPr lang="en-GB" dirty="0"/>
              <a:t>Add a </a:t>
            </a:r>
            <a:r>
              <a:rPr lang="en-GB" b="1" dirty="0"/>
              <a:t>table heading</a:t>
            </a:r>
            <a:r>
              <a:rPr lang="en-GB" dirty="0"/>
              <a:t> called </a:t>
            </a:r>
            <a:r>
              <a:rPr lang="en-GB" b="1" dirty="0"/>
              <a:t>"Student Information"</a:t>
            </a:r>
            <a:r>
              <a:rPr lang="en-GB" dirty="0"/>
              <a:t>.</a:t>
            </a:r>
          </a:p>
        </p:txBody>
      </p:sp>
    </p:spTree>
    <p:extLst>
      <p:ext uri="{BB962C8B-B14F-4D97-AF65-F5344CB8AC3E}">
        <p14:creationId xmlns:p14="http://schemas.microsoft.com/office/powerpoint/2010/main" val="41723407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b="1" dirty="0" smtClean="0">
                <a:latin typeface="Arial" panose="020B0604020202020204" pitchFamily="34" charset="0"/>
              </a:rPr>
              <a:t>College </a:t>
            </a:r>
            <a:r>
              <a:rPr lang="en-US" b="1" dirty="0">
                <a:latin typeface="Arial" panose="020B0604020202020204" pitchFamily="34" charset="0"/>
              </a:rPr>
              <a:t>Time Table using Table Tags</a:t>
            </a:r>
            <a:br>
              <a:rPr lang="en-US" b="1" dirty="0">
                <a:latin typeface="Arial" panose="020B0604020202020204" pitchFamily="34" charset="0"/>
              </a:rPr>
            </a:br>
            <a:endParaRPr lang="en-GB" dirty="0"/>
          </a:p>
        </p:txBody>
      </p:sp>
      <p:sp>
        <p:nvSpPr>
          <p:cNvPr id="4" name="Rectangle 1"/>
          <p:cNvSpPr>
            <a:spLocks noGrp="1" noChangeArrowheads="1"/>
          </p:cNvSpPr>
          <p:nvPr>
            <p:ph idx="1"/>
          </p:nvPr>
        </p:nvSpPr>
        <p:spPr bwMode="auto">
          <a:xfrm>
            <a:off x="838200" y="2165789"/>
            <a:ext cx="9546125"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panose="020B0604020202020204" pitchFamily="34" charset="0"/>
              </a:rPr>
              <a:t/>
            </a:r>
            <a:br>
              <a:rPr kumimoji="0" lang="en-US" sz="2400" b="0" i="0" u="none" strike="noStrike" cap="none" normalizeH="0" baseline="0" dirty="0" smtClean="0">
                <a:ln>
                  <a:noFill/>
                </a:ln>
                <a:solidFill>
                  <a:schemeClr val="tx1"/>
                </a:solidFill>
                <a:effectLst/>
                <a:latin typeface="Arial" panose="020B0604020202020204" pitchFamily="34" charset="0"/>
              </a:rPr>
            </a:br>
            <a:r>
              <a:rPr kumimoji="0" lang="en-US" sz="2400" b="0" i="0" u="none" strike="noStrike" cap="none" normalizeH="0" baseline="0" dirty="0" smtClean="0">
                <a:ln>
                  <a:noFill/>
                </a:ln>
                <a:solidFill>
                  <a:schemeClr val="tx1"/>
                </a:solidFill>
                <a:effectLst/>
                <a:latin typeface="Arial" panose="020B0604020202020204" pitchFamily="34" charset="0"/>
              </a:rPr>
              <a:t>To create an HTML table using </a:t>
            </a:r>
            <a:r>
              <a:rPr kumimoji="0" lang="en-US" sz="2400" b="1" i="0" u="none" strike="noStrike" cap="none" normalizeH="0" baseline="0" dirty="0" smtClean="0">
                <a:ln>
                  <a:noFill/>
                </a:ln>
                <a:solidFill>
                  <a:schemeClr val="tx1"/>
                </a:solidFill>
                <a:effectLst/>
                <a:latin typeface="Arial Unicode MS" panose="020B0604020202020204" pitchFamily="34" charset="-128"/>
              </a:rPr>
              <a:t>&lt;table&gt;</a:t>
            </a:r>
            <a:r>
              <a:rPr kumimoji="0" lang="en-US" sz="2400" b="1" i="0" u="none" strike="noStrike" cap="none" normalizeH="0" baseline="0" dirty="0" smtClean="0">
                <a:ln>
                  <a:noFill/>
                </a:ln>
                <a:solidFill>
                  <a:schemeClr val="tx1"/>
                </a:solidFill>
                <a:effectLst/>
              </a:rPr>
              <a:t>, </a:t>
            </a:r>
            <a:r>
              <a:rPr kumimoji="0" lang="en-US" sz="2400" b="1" i="0" u="none" strike="noStrike" cap="none" normalizeH="0" baseline="0" dirty="0" smtClean="0">
                <a:ln>
                  <a:noFill/>
                </a:ln>
                <a:solidFill>
                  <a:schemeClr val="tx1"/>
                </a:solidFill>
                <a:effectLst/>
                <a:latin typeface="Arial Unicode MS" panose="020B0604020202020204" pitchFamily="34" charset="-128"/>
              </a:rPr>
              <a:t>&lt;</a:t>
            </a:r>
            <a:r>
              <a:rPr kumimoji="0" lang="en-US" sz="2400" b="1" i="0" u="none" strike="noStrike" cap="none" normalizeH="0" baseline="0" dirty="0" err="1" smtClean="0">
                <a:ln>
                  <a:noFill/>
                </a:ln>
                <a:solidFill>
                  <a:schemeClr val="tx1"/>
                </a:solidFill>
                <a:effectLst/>
                <a:latin typeface="Arial Unicode MS" panose="020B0604020202020204" pitchFamily="34" charset="-128"/>
              </a:rPr>
              <a:t>tr</a:t>
            </a:r>
            <a:r>
              <a:rPr kumimoji="0" lang="en-US" sz="2400" b="1" i="0" u="none" strike="noStrike" cap="none" normalizeH="0" baseline="0" dirty="0" smtClean="0">
                <a:ln>
                  <a:noFill/>
                </a:ln>
                <a:solidFill>
                  <a:schemeClr val="tx1"/>
                </a:solidFill>
                <a:effectLst/>
                <a:latin typeface="Arial Unicode MS" panose="020B0604020202020204" pitchFamily="34" charset="-128"/>
              </a:rPr>
              <a:t>&gt;</a:t>
            </a:r>
            <a:r>
              <a:rPr kumimoji="0" lang="en-US" sz="2400" b="1" i="0" u="none" strike="noStrike" cap="none" normalizeH="0" baseline="0" dirty="0" smtClean="0">
                <a:ln>
                  <a:noFill/>
                </a:ln>
                <a:solidFill>
                  <a:schemeClr val="tx1"/>
                </a:solidFill>
                <a:effectLst/>
              </a:rPr>
              <a:t>, </a:t>
            </a:r>
            <a:r>
              <a:rPr kumimoji="0" lang="en-US" sz="2400" b="1" i="0" u="none" strike="noStrike" cap="none" normalizeH="0" baseline="0" dirty="0" smtClean="0">
                <a:ln>
                  <a:noFill/>
                </a:ln>
                <a:solidFill>
                  <a:schemeClr val="tx1"/>
                </a:solidFill>
                <a:effectLst/>
                <a:latin typeface="Arial Unicode MS" panose="020B0604020202020204" pitchFamily="34" charset="-128"/>
              </a:rPr>
              <a:t>&lt;td&gt;</a:t>
            </a:r>
            <a:r>
              <a:rPr kumimoji="0" lang="en-US" sz="2400" b="1" i="0" u="none" strike="noStrike" cap="none" normalizeH="0" baseline="0" dirty="0" smtClean="0">
                <a:ln>
                  <a:noFill/>
                </a:ln>
                <a:solidFill>
                  <a:schemeClr val="tx1"/>
                </a:solidFill>
                <a:effectLst/>
              </a:rPr>
              <a:t>, </a:t>
            </a:r>
            <a:r>
              <a:rPr kumimoji="0" lang="en-US" sz="2400" b="1" i="0" u="none" strike="noStrike" cap="none" normalizeH="0" baseline="0" dirty="0" err="1" smtClean="0">
                <a:ln>
                  <a:noFill/>
                </a:ln>
                <a:solidFill>
                  <a:schemeClr val="tx1"/>
                </a:solidFill>
                <a:effectLst/>
                <a:latin typeface="Arial Unicode MS" panose="020B0604020202020204" pitchFamily="34" charset="-128"/>
              </a:rPr>
              <a:t>colspan</a:t>
            </a:r>
            <a:r>
              <a:rPr kumimoji="0" lang="en-US" sz="2400" b="1" i="0" u="none" strike="noStrike" cap="none" normalizeH="0" baseline="0" dirty="0" smtClean="0">
                <a:ln>
                  <a:noFill/>
                </a:ln>
                <a:solidFill>
                  <a:schemeClr val="tx1"/>
                </a:solidFill>
                <a:effectLst/>
              </a:rPr>
              <a:t>, and </a:t>
            </a:r>
            <a:r>
              <a:rPr kumimoji="0" lang="en-US" sz="2400" b="1" i="0" u="none" strike="noStrike" cap="none" normalizeH="0" baseline="0" dirty="0" err="1" smtClean="0">
                <a:ln>
                  <a:noFill/>
                </a:ln>
                <a:solidFill>
                  <a:schemeClr val="tx1"/>
                </a:solidFill>
                <a:effectLst/>
                <a:latin typeface="Arial Unicode MS" panose="020B0604020202020204" pitchFamily="34" charset="-128"/>
              </a:rPr>
              <a:t>rowspan</a:t>
            </a:r>
            <a:r>
              <a:rPr kumimoji="0" lang="en-US" sz="2400" b="0" i="0" u="none" strike="noStrike" cap="none" normalizeH="0" baseline="0" dirty="0" smtClean="0">
                <a:ln>
                  <a:noFill/>
                </a:ln>
                <a:solidFill>
                  <a:schemeClr val="tx1"/>
                </a:solidFill>
                <a:effectLst/>
              </a:rPr>
              <a:t>.</a:t>
            </a:r>
            <a:endParaRPr kumimoji="0" 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panose="020B0604020202020204" pitchFamily="34" charset="0"/>
              </a:rPr>
              <a:t>Instructions:</a:t>
            </a:r>
            <a:endParaRPr kumimoji="0" 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2400" b="0" i="0" u="none" strike="noStrike" cap="none" normalizeH="0" baseline="0" dirty="0" smtClean="0">
                <a:ln>
                  <a:noFill/>
                </a:ln>
                <a:solidFill>
                  <a:schemeClr val="tx1"/>
                </a:solidFill>
                <a:effectLst/>
                <a:latin typeface="Arial" panose="020B0604020202020204" pitchFamily="34" charset="0"/>
              </a:rPr>
              <a:t>Create a table showing </a:t>
            </a:r>
            <a:r>
              <a:rPr kumimoji="0" lang="en-US" sz="2400" b="1" i="0" u="none" strike="noStrike" cap="none" normalizeH="0" baseline="0" dirty="0" smtClean="0">
                <a:ln>
                  <a:noFill/>
                </a:ln>
                <a:solidFill>
                  <a:schemeClr val="tx1"/>
                </a:solidFill>
                <a:effectLst/>
                <a:latin typeface="Arial" panose="020B0604020202020204" pitchFamily="34" charset="0"/>
              </a:rPr>
              <a:t>class timetable for 5 days</a:t>
            </a:r>
            <a:r>
              <a:rPr kumimoji="0" lang="en-US" sz="24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sz="2400" b="0" i="0" u="none" strike="noStrike" cap="none" normalizeH="0" baseline="0" dirty="0" smtClean="0">
                <a:ln>
                  <a:noFill/>
                </a:ln>
                <a:solidFill>
                  <a:schemeClr val="tx1"/>
                </a:solidFill>
                <a:effectLst/>
                <a:latin typeface="Arial" panose="020B0604020202020204" pitchFamily="34" charset="0"/>
              </a:rPr>
              <a:t>Add </a:t>
            </a:r>
            <a:r>
              <a:rPr kumimoji="0" lang="en-US" sz="2400" b="1" i="0" u="none" strike="noStrike" cap="none" normalizeH="0" baseline="0" dirty="0" smtClean="0">
                <a:ln>
                  <a:noFill/>
                </a:ln>
                <a:solidFill>
                  <a:schemeClr val="tx1"/>
                </a:solidFill>
                <a:effectLst/>
                <a:latin typeface="Arial" panose="020B0604020202020204" pitchFamily="34" charset="0"/>
              </a:rPr>
              <a:t>6 rows and 6 columns</a:t>
            </a:r>
            <a:r>
              <a:rPr kumimoji="0" lang="en-US" sz="24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sz="2400" b="0" i="0" u="none" strike="noStrike" cap="none" normalizeH="0" baseline="0" dirty="0" smtClean="0">
                <a:ln>
                  <a:noFill/>
                </a:ln>
                <a:solidFill>
                  <a:schemeClr val="tx1"/>
                </a:solidFill>
                <a:effectLst/>
                <a:latin typeface="Arial" panose="020B0604020202020204" pitchFamily="34" charset="0"/>
              </a:rPr>
              <a:t>Use: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err="1" smtClean="0">
                <a:ln>
                  <a:noFill/>
                </a:ln>
                <a:solidFill>
                  <a:schemeClr val="tx1"/>
                </a:solidFill>
                <a:effectLst/>
                <a:latin typeface="Arial Unicode MS" panose="020B0604020202020204" pitchFamily="34" charset="-128"/>
              </a:rPr>
              <a:t>colspan</a:t>
            </a:r>
            <a:r>
              <a:rPr kumimoji="0" lang="en-US" b="0" i="0" u="none" strike="noStrike" cap="none" normalizeH="0" baseline="0" dirty="0" smtClean="0">
                <a:ln>
                  <a:noFill/>
                </a:ln>
                <a:solidFill>
                  <a:schemeClr val="tx1"/>
                </a:solidFill>
                <a:effectLst/>
              </a:rPr>
              <a:t> for </a:t>
            </a:r>
            <a:r>
              <a:rPr kumimoji="0" lang="en-US" b="1" i="0" u="none" strike="noStrike" cap="none" normalizeH="0" baseline="0" dirty="0" smtClean="0">
                <a:ln>
                  <a:noFill/>
                </a:ln>
                <a:solidFill>
                  <a:schemeClr val="tx1"/>
                </a:solidFill>
                <a:effectLst/>
                <a:latin typeface="Arial" panose="020B0604020202020204" pitchFamily="34" charset="0"/>
              </a:rPr>
              <a:t>Lunch Break</a:t>
            </a:r>
            <a:endParaRPr kumimoji="0" lang="en-US"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err="1" smtClean="0">
                <a:ln>
                  <a:noFill/>
                </a:ln>
                <a:solidFill>
                  <a:schemeClr val="tx1"/>
                </a:solidFill>
                <a:effectLst/>
                <a:latin typeface="Arial Unicode MS" panose="020B0604020202020204" pitchFamily="34" charset="-128"/>
              </a:rPr>
              <a:t>rowspan</a:t>
            </a:r>
            <a:r>
              <a:rPr kumimoji="0" lang="en-US" b="0" i="0" u="none" strike="noStrike" cap="none" normalizeH="0" baseline="0" dirty="0" smtClean="0">
                <a:ln>
                  <a:noFill/>
                </a:ln>
                <a:solidFill>
                  <a:schemeClr val="tx1"/>
                </a:solidFill>
                <a:effectLst/>
              </a:rPr>
              <a:t> for </a:t>
            </a:r>
            <a:r>
              <a:rPr kumimoji="0" lang="en-US" b="1" i="0" u="none" strike="noStrike" cap="none" normalizeH="0" baseline="0" dirty="0" smtClean="0">
                <a:ln>
                  <a:noFill/>
                </a:ln>
                <a:solidFill>
                  <a:schemeClr val="tx1"/>
                </a:solidFill>
                <a:effectLst/>
                <a:latin typeface="Arial" panose="020B0604020202020204" pitchFamily="34" charset="0"/>
              </a:rPr>
              <a:t>lab sessions</a:t>
            </a:r>
            <a:endParaRPr kumimoji="0" lang="en-US"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sz="2400" b="0" i="0" u="none" strike="noStrike" cap="none" normalizeH="0" baseline="0" dirty="0" smtClean="0">
                <a:ln>
                  <a:noFill/>
                </a:ln>
                <a:solidFill>
                  <a:schemeClr val="tx1"/>
                </a:solidFill>
                <a:effectLst/>
                <a:latin typeface="Arial" panose="020B0604020202020204" pitchFamily="34" charset="0"/>
              </a:rPr>
              <a:t>Add </a:t>
            </a:r>
            <a:r>
              <a:rPr kumimoji="0" lang="en-US" sz="2400" b="1" i="0" u="none" strike="noStrike" cap="none" normalizeH="0" baseline="0" dirty="0" smtClean="0">
                <a:ln>
                  <a:noFill/>
                </a:ln>
                <a:solidFill>
                  <a:schemeClr val="tx1"/>
                </a:solidFill>
                <a:effectLst/>
                <a:latin typeface="Arial" panose="020B0604020202020204" pitchFamily="34" charset="0"/>
              </a:rPr>
              <a:t>border to the table</a:t>
            </a:r>
            <a:r>
              <a:rPr kumimoji="0" lang="en-US" sz="24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312150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HTML</a:t>
            </a:r>
            <a:br>
              <a:rPr lang="en-GB" dirty="0"/>
            </a:br>
            <a:endParaRPr lang="en-GB" dirty="0"/>
          </a:p>
        </p:txBody>
      </p:sp>
      <p:sp>
        <p:nvSpPr>
          <p:cNvPr id="3" name="Content Placeholder 2"/>
          <p:cNvSpPr>
            <a:spLocks noGrp="1"/>
          </p:cNvSpPr>
          <p:nvPr>
            <p:ph idx="1"/>
          </p:nvPr>
        </p:nvSpPr>
        <p:spPr/>
        <p:txBody>
          <a:bodyPr/>
          <a:lstStyle/>
          <a:p>
            <a:r>
              <a:rPr lang="en-GB" dirty="0"/>
              <a:t>HTML is the standard </a:t>
            </a:r>
            <a:r>
              <a:rPr lang="en-GB" dirty="0" err="1"/>
              <a:t>markup</a:t>
            </a:r>
            <a:r>
              <a:rPr lang="en-GB" dirty="0"/>
              <a:t> language for Web pages.</a:t>
            </a:r>
          </a:p>
          <a:p>
            <a:endParaRPr lang="en-GB" dirty="0"/>
          </a:p>
          <a:p>
            <a:r>
              <a:rPr lang="en-GB" dirty="0"/>
              <a:t>With HTML you can create your own Website.</a:t>
            </a:r>
          </a:p>
          <a:p>
            <a:endParaRPr lang="en-GB" dirty="0"/>
          </a:p>
          <a:p>
            <a:r>
              <a:rPr lang="en-GB" dirty="0"/>
              <a:t>HTML is easy to learn - You will enjoy it!</a:t>
            </a:r>
          </a:p>
        </p:txBody>
      </p:sp>
    </p:spTree>
    <p:extLst>
      <p:ext uri="{BB962C8B-B14F-4D97-AF65-F5344CB8AC3E}">
        <p14:creationId xmlns:p14="http://schemas.microsoft.com/office/powerpoint/2010/main" val="1186055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10000"/>
          </a:bodyPr>
          <a:lstStyle/>
          <a:p>
            <a:pPr fontAlgn="base"/>
            <a:r>
              <a:rPr lang="en-GB" dirty="0"/>
              <a:t>HTML (</a:t>
            </a:r>
            <a:r>
              <a:rPr lang="en-GB" dirty="0" err="1"/>
              <a:t>HyperText</a:t>
            </a:r>
            <a:r>
              <a:rPr lang="en-GB" dirty="0"/>
              <a:t> </a:t>
            </a:r>
            <a:r>
              <a:rPr lang="en-GB" dirty="0" err="1"/>
              <a:t>Markup</a:t>
            </a:r>
            <a:r>
              <a:rPr lang="en-GB" dirty="0"/>
              <a:t> Language) is the core language used to structure and display content on the web, defining elements like text, images, links, and page layout so browsers can render websites properly.</a:t>
            </a:r>
          </a:p>
          <a:p>
            <a:pPr fontAlgn="base"/>
            <a:r>
              <a:rPr lang="en-GB" dirty="0"/>
              <a:t>Provides the basic structure for all web pages using opening and closing tags like &lt;p&gt;, &lt;h1&gt;, and &lt;div&gt;.</a:t>
            </a:r>
          </a:p>
          <a:p>
            <a:pPr fontAlgn="base"/>
            <a:r>
              <a:rPr lang="en-GB" dirty="0"/>
              <a:t>Supports text, images, links, lists, tables, forms, and multimedia elements such as audio and video.</a:t>
            </a:r>
          </a:p>
          <a:p>
            <a:pPr fontAlgn="base"/>
            <a:r>
              <a:rPr lang="en-GB" dirty="0"/>
              <a:t>Works with </a:t>
            </a:r>
            <a:r>
              <a:rPr lang="en-GB" u="sng" dirty="0">
                <a:hlinkClick r:id="rId2"/>
              </a:rPr>
              <a:t>CSS</a:t>
            </a:r>
            <a:r>
              <a:rPr lang="en-GB" dirty="0"/>
              <a:t> for styling and </a:t>
            </a:r>
            <a:r>
              <a:rPr lang="en-GB" u="sng" dirty="0">
                <a:hlinkClick r:id="rId3"/>
              </a:rPr>
              <a:t>JavaScript</a:t>
            </a:r>
            <a:r>
              <a:rPr lang="en-GB" dirty="0"/>
              <a:t> for interactivity.</a:t>
            </a:r>
          </a:p>
          <a:p>
            <a:pPr fontAlgn="base"/>
            <a:r>
              <a:rPr lang="en-GB" dirty="0"/>
              <a:t>Uses attributes like </a:t>
            </a:r>
            <a:r>
              <a:rPr lang="en-GB" dirty="0" err="1"/>
              <a:t>src</a:t>
            </a:r>
            <a:r>
              <a:rPr lang="en-GB" dirty="0"/>
              <a:t>, </a:t>
            </a:r>
            <a:r>
              <a:rPr lang="en-GB" dirty="0" err="1"/>
              <a:t>href</a:t>
            </a:r>
            <a:r>
              <a:rPr lang="en-GB" dirty="0"/>
              <a:t>, and alt to add extra information and control element </a:t>
            </a:r>
            <a:r>
              <a:rPr lang="en-GB" dirty="0" err="1"/>
              <a:t>behavior</a:t>
            </a:r>
            <a:r>
              <a:rPr lang="en-GB" dirty="0"/>
              <a:t>.</a:t>
            </a:r>
          </a:p>
        </p:txBody>
      </p:sp>
    </p:spTree>
    <p:extLst>
      <p:ext uri="{BB962C8B-B14F-4D97-AF65-F5344CB8AC3E}">
        <p14:creationId xmlns:p14="http://schemas.microsoft.com/office/powerpoint/2010/main" val="8845055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HTML STRUCTURE</a:t>
            </a:r>
            <a:endParaRPr lang="en-GB" dirty="0"/>
          </a:p>
        </p:txBody>
      </p:sp>
      <p:pic>
        <p:nvPicPr>
          <p:cNvPr id="4" name="Content Placeholder 3"/>
          <p:cNvPicPr>
            <a:picLocks noGrp="1" noChangeAspect="1"/>
          </p:cNvPicPr>
          <p:nvPr>
            <p:ph idx="1"/>
          </p:nvPr>
        </p:nvPicPr>
        <p:blipFill>
          <a:blip r:embed="rId2"/>
          <a:stretch>
            <a:fillRect/>
          </a:stretch>
        </p:blipFill>
        <p:spPr>
          <a:xfrm>
            <a:off x="2286000" y="2096294"/>
            <a:ext cx="7620000" cy="3810000"/>
          </a:xfrm>
          <a:prstGeom prst="rect">
            <a:avLst/>
          </a:prstGeom>
        </p:spPr>
      </p:pic>
    </p:spTree>
    <p:extLst>
      <p:ext uri="{BB962C8B-B14F-4D97-AF65-F5344CB8AC3E}">
        <p14:creationId xmlns:p14="http://schemas.microsoft.com/office/powerpoint/2010/main" val="8155150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493121" y="426460"/>
            <a:ext cx="9205758" cy="600508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HTML CODING CONVENTIONS</a:t>
            </a:r>
            <a:endParaRPr lang="en-GB" dirty="0"/>
          </a:p>
        </p:txBody>
      </p:sp>
      <p:sp>
        <p:nvSpPr>
          <p:cNvPr id="3" name="Content Placeholder 2"/>
          <p:cNvSpPr>
            <a:spLocks noGrp="1"/>
          </p:cNvSpPr>
          <p:nvPr>
            <p:ph idx="1"/>
          </p:nvPr>
        </p:nvSpPr>
        <p:spPr/>
        <p:txBody>
          <a:bodyPr>
            <a:normAutofit fontScale="70000" lnSpcReduction="20000"/>
          </a:bodyPr>
          <a:lstStyle/>
          <a:p>
            <a:pPr fontAlgn="base"/>
            <a:r>
              <a:rPr lang="en-GB" dirty="0"/>
              <a:t>HTML is used to create the structure of a webpage.</a:t>
            </a:r>
          </a:p>
          <a:p>
            <a:pPr fontAlgn="base"/>
            <a:r>
              <a:rPr lang="en-GB" dirty="0"/>
              <a:t>Every HTML file starts with &lt;!DOCTYPE html&gt; to tell the browser it’s an HTML5 document.</a:t>
            </a:r>
          </a:p>
          <a:p>
            <a:pPr fontAlgn="base"/>
            <a:r>
              <a:rPr lang="en-GB" dirty="0"/>
              <a:t>The &lt;html&gt; tag contains all other elements of the page.</a:t>
            </a:r>
          </a:p>
          <a:p>
            <a:pPr fontAlgn="base"/>
            <a:r>
              <a:rPr lang="en-GB" dirty="0"/>
              <a:t>The &lt;head&gt; section stores information like the page title and metadata.</a:t>
            </a:r>
          </a:p>
          <a:p>
            <a:pPr fontAlgn="base"/>
            <a:r>
              <a:rPr lang="en-GB" dirty="0"/>
              <a:t>The &lt;body&gt; section contains all the visible content such as text, images, and links.</a:t>
            </a:r>
          </a:p>
          <a:p>
            <a:pPr fontAlgn="base"/>
            <a:r>
              <a:rPr lang="en-GB" dirty="0"/>
              <a:t>After writing the code, save the file with a .html extension so browsers can recognize it.</a:t>
            </a:r>
          </a:p>
          <a:p>
            <a:pPr fontAlgn="base"/>
            <a:r>
              <a:rPr lang="en-GB" dirty="0"/>
              <a:t>Open the file in any browser like Chrome or Firefox to see it displayed.</a:t>
            </a:r>
          </a:p>
          <a:p>
            <a:pPr fontAlgn="base"/>
            <a:r>
              <a:rPr lang="en-GB" dirty="0"/>
              <a:t>The browser reads and interprets the HTML code, converting it into a visual webpage.</a:t>
            </a:r>
          </a:p>
          <a:p>
            <a:pPr fontAlgn="base"/>
            <a:r>
              <a:rPr lang="en-GB" dirty="0"/>
              <a:t>Each HTML tag is processed so elements like headings, paragraphs, and images appear correctly.</a:t>
            </a:r>
          </a:p>
          <a:p>
            <a:endParaRPr lang="en-GB" dirty="0"/>
          </a:p>
        </p:txBody>
      </p:sp>
    </p:spTree>
    <p:extLst>
      <p:ext uri="{BB962C8B-B14F-4D97-AF65-F5344CB8AC3E}">
        <p14:creationId xmlns:p14="http://schemas.microsoft.com/office/powerpoint/2010/main" val="1819236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793115" y="675005"/>
            <a:ext cx="10605770" cy="5507990"/>
          </a:xfrm>
          <a:prstGeom prst="rect">
            <a:avLst/>
          </a:prstGeom>
          <a:noFill/>
        </p:spPr>
        <p:txBody>
          <a:bodyPr wrap="square" rtlCol="0" anchor="t">
            <a:spAutoFit/>
          </a:bodyPr>
          <a:lstStyle/>
          <a:p>
            <a:pPr marL="0" marR="0" lvl="0" indent="0" algn="l" defTabSz="914400" rtl="0" eaLnBrk="0" fontAlgn="base" latinLnBrk="0" hangingPunct="0">
              <a:lnSpc>
                <a:spcPct val="100000"/>
              </a:lnSpc>
              <a:spcBef>
                <a:spcPct val="0"/>
              </a:spcBef>
              <a:spcAft>
                <a:spcPct val="0"/>
              </a:spcAft>
              <a:buClrTx/>
              <a:buSzTx/>
              <a:buFontTx/>
              <a:buNone/>
            </a:pPr>
            <a:r>
              <a:rPr lang="en-US" altLang="en-US" sz="3200" dirty="0">
                <a:ln>
                  <a:noFill/>
                </a:ln>
                <a:solidFill>
                  <a:srgbClr val="000000"/>
                </a:solidFill>
                <a:effectLst/>
                <a:latin typeface="Times New Roman" panose="02020603050405020304" pitchFamily="18" charset="0"/>
                <a:cs typeface="Times New Roman" panose="02020603050405020304" pitchFamily="18" charset="0"/>
                <a:sym typeface="+mn-ea"/>
              </a:rPr>
              <a:t>&lt;</a:t>
            </a:r>
            <a:r>
              <a:rPr lang="en-US" altLang="en-US" sz="3200" b="1" dirty="0">
                <a:ln>
                  <a:noFill/>
                </a:ln>
                <a:solidFill>
                  <a:srgbClr val="006699"/>
                </a:solidFill>
                <a:effectLst/>
                <a:latin typeface="Times New Roman" panose="02020603050405020304" pitchFamily="18" charset="0"/>
                <a:cs typeface="Times New Roman" panose="02020603050405020304" pitchFamily="18" charset="0"/>
                <a:sym typeface="+mn-ea"/>
              </a:rPr>
              <a:t>html</a:t>
            </a:r>
            <a:r>
              <a:rPr lang="en-US" altLang="en-US" sz="3200" dirty="0">
                <a:ln>
                  <a:noFill/>
                </a:ln>
                <a:solidFill>
                  <a:srgbClr val="000000"/>
                </a:solidFill>
                <a:effectLst/>
                <a:latin typeface="Times New Roman" panose="02020603050405020304" pitchFamily="18" charset="0"/>
                <a:cs typeface="Times New Roman" panose="02020603050405020304" pitchFamily="18" charset="0"/>
                <a:sym typeface="+mn-ea"/>
              </a:rPr>
              <a:t>&gt;</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en-US" sz="3200" dirty="0">
                <a:ln>
                  <a:noFill/>
                </a:ln>
                <a:solidFill>
                  <a:srgbClr val="273239"/>
                </a:solidFill>
                <a:effectLst/>
                <a:latin typeface="Times New Roman" panose="02020603050405020304" pitchFamily="18" charset="0"/>
                <a:cs typeface="Times New Roman" panose="02020603050405020304" pitchFamily="18" charset="0"/>
                <a:sym typeface="+mn-ea"/>
              </a:rPr>
              <a:t> </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en-US" sz="3200" dirty="0">
                <a:ln>
                  <a:noFill/>
                </a:ln>
                <a:solidFill>
                  <a:srgbClr val="000000"/>
                </a:solidFill>
                <a:effectLst/>
                <a:latin typeface="Times New Roman" panose="02020603050405020304" pitchFamily="18" charset="0"/>
                <a:cs typeface="Times New Roman" panose="02020603050405020304" pitchFamily="18" charset="0"/>
                <a:sym typeface="+mn-ea"/>
              </a:rPr>
              <a:t>&lt;</a:t>
            </a:r>
            <a:r>
              <a:rPr lang="en-US" altLang="en-US" sz="3200" b="1" dirty="0">
                <a:ln>
                  <a:noFill/>
                </a:ln>
                <a:solidFill>
                  <a:srgbClr val="006699"/>
                </a:solidFill>
                <a:effectLst/>
                <a:latin typeface="Times New Roman" panose="02020603050405020304" pitchFamily="18" charset="0"/>
                <a:cs typeface="Times New Roman" panose="02020603050405020304" pitchFamily="18" charset="0"/>
                <a:sym typeface="+mn-ea"/>
              </a:rPr>
              <a:t>head</a:t>
            </a:r>
            <a:r>
              <a:rPr lang="en-US" altLang="en-US" sz="3200" dirty="0">
                <a:ln>
                  <a:noFill/>
                </a:ln>
                <a:solidFill>
                  <a:srgbClr val="000000"/>
                </a:solidFill>
                <a:effectLst/>
                <a:latin typeface="Times New Roman" panose="02020603050405020304" pitchFamily="18" charset="0"/>
                <a:cs typeface="Times New Roman" panose="02020603050405020304" pitchFamily="18" charset="0"/>
                <a:sym typeface="+mn-ea"/>
              </a:rPr>
              <a:t>&gt;</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en-US" sz="3200" dirty="0">
                <a:ln>
                  <a:noFill/>
                </a:ln>
                <a:solidFill>
                  <a:srgbClr val="273239"/>
                </a:solidFill>
                <a:effectLst/>
                <a:latin typeface="Times New Roman" panose="02020603050405020304" pitchFamily="18" charset="0"/>
                <a:cs typeface="Times New Roman" panose="02020603050405020304" pitchFamily="18" charset="0"/>
                <a:sym typeface="+mn-ea"/>
              </a:rPr>
              <a:t>    </a:t>
            </a:r>
            <a:r>
              <a:rPr lang="en-US" altLang="en-US" sz="3200" dirty="0">
                <a:ln>
                  <a:noFill/>
                </a:ln>
                <a:solidFill>
                  <a:srgbClr val="000000"/>
                </a:solidFill>
                <a:effectLst/>
                <a:latin typeface="Times New Roman" panose="02020603050405020304" pitchFamily="18" charset="0"/>
                <a:cs typeface="Times New Roman" panose="02020603050405020304" pitchFamily="18" charset="0"/>
                <a:sym typeface="+mn-ea"/>
              </a:rPr>
              <a:t>&lt;</a:t>
            </a:r>
            <a:r>
              <a:rPr lang="en-US" altLang="en-US" sz="3200" b="1" dirty="0">
                <a:ln>
                  <a:noFill/>
                </a:ln>
                <a:solidFill>
                  <a:srgbClr val="006699"/>
                </a:solidFill>
                <a:effectLst/>
                <a:latin typeface="Times New Roman" panose="02020603050405020304" pitchFamily="18" charset="0"/>
                <a:cs typeface="Times New Roman" panose="02020603050405020304" pitchFamily="18" charset="0"/>
                <a:sym typeface="+mn-ea"/>
              </a:rPr>
              <a:t>title</a:t>
            </a:r>
            <a:r>
              <a:rPr lang="en-US" altLang="en-US" sz="3200" dirty="0">
                <a:ln>
                  <a:noFill/>
                </a:ln>
                <a:solidFill>
                  <a:srgbClr val="000000"/>
                </a:solidFill>
                <a:effectLst/>
                <a:latin typeface="Times New Roman" panose="02020603050405020304" pitchFamily="18" charset="0"/>
                <a:cs typeface="Times New Roman" panose="02020603050405020304" pitchFamily="18" charset="0"/>
                <a:sym typeface="+mn-ea"/>
              </a:rPr>
              <a:t>&gt;First Page&lt;/</a:t>
            </a:r>
            <a:r>
              <a:rPr lang="en-US" altLang="en-US" sz="3200" b="1" dirty="0">
                <a:ln>
                  <a:noFill/>
                </a:ln>
                <a:solidFill>
                  <a:srgbClr val="006699"/>
                </a:solidFill>
                <a:effectLst/>
                <a:latin typeface="Times New Roman" panose="02020603050405020304" pitchFamily="18" charset="0"/>
                <a:cs typeface="Times New Roman" panose="02020603050405020304" pitchFamily="18" charset="0"/>
                <a:sym typeface="+mn-ea"/>
              </a:rPr>
              <a:t>title</a:t>
            </a:r>
            <a:r>
              <a:rPr lang="en-US" altLang="en-US" sz="3200" dirty="0">
                <a:ln>
                  <a:noFill/>
                </a:ln>
                <a:solidFill>
                  <a:srgbClr val="000000"/>
                </a:solidFill>
                <a:effectLst/>
                <a:latin typeface="Times New Roman" panose="02020603050405020304" pitchFamily="18" charset="0"/>
                <a:cs typeface="Times New Roman" panose="02020603050405020304" pitchFamily="18" charset="0"/>
                <a:sym typeface="+mn-ea"/>
              </a:rPr>
              <a:t>&gt;</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IN" altLang="en-US" sz="3200" dirty="0">
                <a:ln>
                  <a:noFill/>
                </a:ln>
                <a:solidFill>
                  <a:srgbClr val="000000"/>
                </a:solidFill>
                <a:effectLst/>
                <a:latin typeface="Times New Roman" panose="02020603050405020304" pitchFamily="18" charset="0"/>
                <a:cs typeface="Times New Roman" panose="02020603050405020304" pitchFamily="18" charset="0"/>
                <a:sym typeface="+mn-ea"/>
              </a:rPr>
              <a:t>&lt;</a:t>
            </a:r>
            <a:r>
              <a:rPr lang="en-US" altLang="en-US" sz="3200" dirty="0">
                <a:ln>
                  <a:noFill/>
                </a:ln>
                <a:solidFill>
                  <a:srgbClr val="000000"/>
                </a:solidFill>
                <a:effectLst/>
                <a:latin typeface="Times New Roman" panose="02020603050405020304" pitchFamily="18" charset="0"/>
                <a:cs typeface="Times New Roman" panose="02020603050405020304" pitchFamily="18" charset="0"/>
                <a:sym typeface="+mn-ea"/>
              </a:rPr>
              <a:t>/</a:t>
            </a:r>
            <a:r>
              <a:rPr lang="en-US" altLang="en-US" sz="3200" b="1" dirty="0">
                <a:ln>
                  <a:noFill/>
                </a:ln>
                <a:solidFill>
                  <a:srgbClr val="006699"/>
                </a:solidFill>
                <a:effectLst/>
                <a:latin typeface="Times New Roman" panose="02020603050405020304" pitchFamily="18" charset="0"/>
                <a:cs typeface="Times New Roman" panose="02020603050405020304" pitchFamily="18" charset="0"/>
                <a:sym typeface="+mn-ea"/>
              </a:rPr>
              <a:t>head</a:t>
            </a:r>
            <a:r>
              <a:rPr lang="en-US" altLang="en-US" sz="3200" dirty="0">
                <a:ln>
                  <a:noFill/>
                </a:ln>
                <a:solidFill>
                  <a:srgbClr val="000000"/>
                </a:solidFill>
                <a:effectLst/>
                <a:latin typeface="Times New Roman" panose="02020603050405020304" pitchFamily="18" charset="0"/>
                <a:cs typeface="Times New Roman" panose="02020603050405020304" pitchFamily="18" charset="0"/>
                <a:sym typeface="+mn-ea"/>
              </a:rPr>
              <a:t>&gt;</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en-US" sz="3200" dirty="0">
                <a:ln>
                  <a:noFill/>
                </a:ln>
                <a:solidFill>
                  <a:srgbClr val="273239"/>
                </a:solidFill>
                <a:effectLst/>
                <a:latin typeface="Times New Roman" panose="02020603050405020304" pitchFamily="18" charset="0"/>
                <a:cs typeface="Times New Roman" panose="02020603050405020304" pitchFamily="18" charset="0"/>
                <a:sym typeface="+mn-ea"/>
              </a:rPr>
              <a:t> </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en-US" sz="3200" dirty="0">
                <a:ln>
                  <a:noFill/>
                </a:ln>
                <a:solidFill>
                  <a:srgbClr val="000000"/>
                </a:solidFill>
                <a:effectLst/>
                <a:latin typeface="Times New Roman" panose="02020603050405020304" pitchFamily="18" charset="0"/>
                <a:cs typeface="Times New Roman" panose="02020603050405020304" pitchFamily="18" charset="0"/>
                <a:sym typeface="+mn-ea"/>
              </a:rPr>
              <a:t>&lt;</a:t>
            </a:r>
            <a:r>
              <a:rPr lang="en-US" altLang="en-US" sz="3200" b="1" dirty="0">
                <a:ln>
                  <a:noFill/>
                </a:ln>
                <a:solidFill>
                  <a:srgbClr val="006699"/>
                </a:solidFill>
                <a:effectLst/>
                <a:latin typeface="Times New Roman" panose="02020603050405020304" pitchFamily="18" charset="0"/>
                <a:cs typeface="Times New Roman" panose="02020603050405020304" pitchFamily="18" charset="0"/>
                <a:sym typeface="+mn-ea"/>
              </a:rPr>
              <a:t>body</a:t>
            </a:r>
            <a:r>
              <a:rPr lang="en-US" altLang="en-US" sz="3200" dirty="0">
                <a:ln>
                  <a:noFill/>
                </a:ln>
                <a:solidFill>
                  <a:srgbClr val="000000"/>
                </a:solidFill>
                <a:effectLst/>
                <a:latin typeface="Times New Roman" panose="02020603050405020304" pitchFamily="18" charset="0"/>
                <a:cs typeface="Times New Roman" panose="02020603050405020304" pitchFamily="18" charset="0"/>
                <a:sym typeface="+mn-ea"/>
              </a:rPr>
              <a:t>&gt;</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en-US" sz="3200" dirty="0">
                <a:ln>
                  <a:noFill/>
                </a:ln>
                <a:solidFill>
                  <a:srgbClr val="273239"/>
                </a:solidFill>
                <a:effectLst/>
                <a:latin typeface="Times New Roman" panose="02020603050405020304" pitchFamily="18" charset="0"/>
                <a:cs typeface="Times New Roman" panose="02020603050405020304" pitchFamily="18" charset="0"/>
                <a:sym typeface="+mn-ea"/>
              </a:rPr>
              <a:t>               </a:t>
            </a:r>
            <a:r>
              <a:rPr lang="en-US" altLang="en-US" sz="3200" dirty="0">
                <a:ln>
                  <a:noFill/>
                </a:ln>
                <a:solidFill>
                  <a:srgbClr val="000000"/>
                </a:solidFill>
                <a:effectLst/>
                <a:latin typeface="Times New Roman" panose="02020603050405020304" pitchFamily="18" charset="0"/>
                <a:cs typeface="Times New Roman" panose="02020603050405020304" pitchFamily="18" charset="0"/>
                <a:sym typeface="+mn-ea"/>
              </a:rPr>
              <a:t>&lt;</a:t>
            </a:r>
            <a:r>
              <a:rPr lang="en-US" altLang="en-US" sz="3200" b="1" dirty="0">
                <a:ln>
                  <a:noFill/>
                </a:ln>
                <a:solidFill>
                  <a:srgbClr val="006699"/>
                </a:solidFill>
                <a:effectLst/>
                <a:latin typeface="Times New Roman" panose="02020603050405020304" pitchFamily="18" charset="0"/>
                <a:cs typeface="Times New Roman" panose="02020603050405020304" pitchFamily="18" charset="0"/>
                <a:sym typeface="+mn-ea"/>
              </a:rPr>
              <a:t>p</a:t>
            </a:r>
            <a:r>
              <a:rPr lang="en-US" altLang="en-US" sz="3200" dirty="0">
                <a:ln>
                  <a:noFill/>
                </a:ln>
                <a:solidFill>
                  <a:srgbClr val="000000"/>
                </a:solidFill>
                <a:effectLst/>
                <a:latin typeface="Times New Roman" panose="02020603050405020304" pitchFamily="18" charset="0"/>
                <a:cs typeface="Times New Roman" panose="02020603050405020304" pitchFamily="18" charset="0"/>
                <a:sym typeface="+mn-ea"/>
              </a:rPr>
              <a:t>&gt;</a:t>
            </a:r>
            <a:r>
              <a:rPr lang="en-IN" altLang="en-US" sz="3200" dirty="0">
                <a:ln>
                  <a:noFill/>
                </a:ln>
                <a:solidFill>
                  <a:srgbClr val="000000"/>
                </a:solidFill>
                <a:effectLst/>
                <a:latin typeface="Times New Roman" panose="02020603050405020304" pitchFamily="18" charset="0"/>
                <a:cs typeface="Times New Roman" panose="02020603050405020304" pitchFamily="18" charset="0"/>
                <a:sym typeface="+mn-ea"/>
              </a:rPr>
              <a:t>Type something Here!!!</a:t>
            </a:r>
            <a:r>
              <a:rPr lang="en-US" altLang="en-US" sz="3200" dirty="0">
                <a:ln>
                  <a:noFill/>
                </a:ln>
                <a:solidFill>
                  <a:srgbClr val="000000"/>
                </a:solidFill>
                <a:effectLst/>
                <a:latin typeface="Times New Roman" panose="02020603050405020304" pitchFamily="18" charset="0"/>
                <a:cs typeface="Times New Roman" panose="02020603050405020304" pitchFamily="18" charset="0"/>
                <a:sym typeface="+mn-ea"/>
              </a:rPr>
              <a:t>&lt;/</a:t>
            </a:r>
            <a:r>
              <a:rPr lang="en-US" altLang="en-US" sz="3200" b="1" dirty="0">
                <a:ln>
                  <a:noFill/>
                </a:ln>
                <a:solidFill>
                  <a:srgbClr val="006699"/>
                </a:solidFill>
                <a:effectLst/>
                <a:latin typeface="Times New Roman" panose="02020603050405020304" pitchFamily="18" charset="0"/>
                <a:cs typeface="Times New Roman" panose="02020603050405020304" pitchFamily="18" charset="0"/>
                <a:sym typeface="+mn-ea"/>
              </a:rPr>
              <a:t>p</a:t>
            </a:r>
            <a:r>
              <a:rPr lang="en-US" altLang="en-US" sz="3200" dirty="0">
                <a:ln>
                  <a:noFill/>
                </a:ln>
                <a:solidFill>
                  <a:srgbClr val="000000"/>
                </a:solidFill>
                <a:effectLst/>
                <a:latin typeface="Times New Roman" panose="02020603050405020304" pitchFamily="18" charset="0"/>
                <a:cs typeface="Times New Roman" panose="02020603050405020304" pitchFamily="18" charset="0"/>
                <a:sym typeface="+mn-ea"/>
              </a:rPr>
              <a:t>&gt;</a:t>
            </a:r>
            <a:br>
              <a:rPr lang="en-US" altLang="en-US" sz="3200" dirty="0">
                <a:ln>
                  <a:noFill/>
                </a:ln>
                <a:solidFill>
                  <a:srgbClr val="000000"/>
                </a:solidFill>
                <a:effectLst/>
                <a:latin typeface="Times New Roman" panose="02020603050405020304" pitchFamily="18" charset="0"/>
                <a:cs typeface="Times New Roman" panose="02020603050405020304" pitchFamily="18" charset="0"/>
                <a:sym typeface="+mn-ea"/>
              </a:rPr>
            </a:br>
            <a:r>
              <a:rPr lang="en-US" altLang="en-US" sz="3200" dirty="0">
                <a:ln>
                  <a:noFill/>
                </a:ln>
                <a:solidFill>
                  <a:srgbClr val="000000"/>
                </a:solidFill>
                <a:effectLst/>
                <a:latin typeface="Times New Roman" panose="02020603050405020304" pitchFamily="18" charset="0"/>
                <a:cs typeface="Times New Roman" panose="02020603050405020304" pitchFamily="18" charset="0"/>
                <a:sym typeface="+mn-ea"/>
              </a:rPr>
              <a:t>&lt;/</a:t>
            </a:r>
            <a:r>
              <a:rPr lang="en-US" altLang="en-US" sz="3200" b="1" dirty="0">
                <a:ln>
                  <a:noFill/>
                </a:ln>
                <a:solidFill>
                  <a:srgbClr val="006699"/>
                </a:solidFill>
                <a:effectLst/>
                <a:latin typeface="Times New Roman" panose="02020603050405020304" pitchFamily="18" charset="0"/>
                <a:cs typeface="Times New Roman" panose="02020603050405020304" pitchFamily="18" charset="0"/>
                <a:sym typeface="+mn-ea"/>
              </a:rPr>
              <a:t>body</a:t>
            </a:r>
            <a:r>
              <a:rPr lang="en-US" altLang="en-US" sz="3200" dirty="0">
                <a:ln>
                  <a:noFill/>
                </a:ln>
                <a:solidFill>
                  <a:srgbClr val="000000"/>
                </a:solidFill>
                <a:effectLst/>
                <a:latin typeface="Times New Roman" panose="02020603050405020304" pitchFamily="18" charset="0"/>
                <a:cs typeface="Times New Roman" panose="02020603050405020304" pitchFamily="18" charset="0"/>
                <a:sym typeface="+mn-ea"/>
              </a:rPr>
              <a:t>&gt;</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en-US" sz="3200" dirty="0">
                <a:ln>
                  <a:noFill/>
                </a:ln>
                <a:solidFill>
                  <a:srgbClr val="273239"/>
                </a:solidFill>
                <a:effectLst/>
                <a:latin typeface="Times New Roman" panose="02020603050405020304" pitchFamily="18" charset="0"/>
                <a:cs typeface="Times New Roman" panose="02020603050405020304" pitchFamily="18" charset="0"/>
                <a:sym typeface="+mn-ea"/>
              </a:rPr>
              <a:t> </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en-US" sz="3200" dirty="0">
                <a:ln>
                  <a:noFill/>
                </a:ln>
                <a:solidFill>
                  <a:srgbClr val="000000"/>
                </a:solidFill>
                <a:effectLst/>
                <a:latin typeface="Times New Roman" panose="02020603050405020304" pitchFamily="18" charset="0"/>
                <a:cs typeface="Times New Roman" panose="02020603050405020304" pitchFamily="18" charset="0"/>
                <a:sym typeface="+mn-ea"/>
              </a:rPr>
              <a:t>&lt;/</a:t>
            </a:r>
            <a:r>
              <a:rPr lang="en-US" altLang="en-US" sz="3200" b="1" dirty="0">
                <a:ln>
                  <a:noFill/>
                </a:ln>
                <a:solidFill>
                  <a:srgbClr val="006699"/>
                </a:solidFill>
                <a:effectLst/>
                <a:latin typeface="Times New Roman" panose="02020603050405020304" pitchFamily="18" charset="0"/>
                <a:cs typeface="Times New Roman" panose="02020603050405020304" pitchFamily="18" charset="0"/>
                <a:sym typeface="+mn-ea"/>
              </a:rPr>
              <a:t>html</a:t>
            </a:r>
            <a:r>
              <a:rPr lang="en-US" altLang="en-US" sz="3200" dirty="0">
                <a:ln>
                  <a:noFill/>
                </a:ln>
                <a:solidFill>
                  <a:srgbClr val="000000"/>
                </a:solidFill>
                <a:effectLst/>
                <a:latin typeface="Times New Roman" panose="02020603050405020304" pitchFamily="18" charset="0"/>
                <a:cs typeface="Times New Roman" panose="02020603050405020304" pitchFamily="18" charset="0"/>
                <a:sym typeface="+mn-ea"/>
              </a:rPr>
              <a:t>&gt;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HTML Coding Conventions</a:t>
            </a:r>
            <a:br>
              <a:rPr lang="en-GB" b="1" dirty="0"/>
            </a:br>
            <a:endParaRPr lang="en-GB" dirty="0"/>
          </a:p>
        </p:txBody>
      </p:sp>
      <p:sp>
        <p:nvSpPr>
          <p:cNvPr id="3" name="Content Placeholder 2"/>
          <p:cNvSpPr>
            <a:spLocks noGrp="1"/>
          </p:cNvSpPr>
          <p:nvPr>
            <p:ph idx="1"/>
          </p:nvPr>
        </p:nvSpPr>
        <p:spPr/>
        <p:txBody>
          <a:bodyPr/>
          <a:lstStyle/>
          <a:p>
            <a:r>
              <a:rPr lang="en-GB" dirty="0"/>
              <a:t>Web developers are often uncertain about the coding technique and syntax to use in HTML as the HTML version changed from HTML to XHTML and finally HTML5. Although, HTML5 is far more flexible but sloppy in terms of code validation, the code itself is easier to understand. Since it supports bad coding, it is always a smart move to write HTML codes close to XHTML so that you do not need to rewrite the entire code in case new browsers or the newer versions of the existing ones stopped supporting bad coding standards.</a:t>
            </a:r>
          </a:p>
        </p:txBody>
      </p:sp>
    </p:spTree>
    <p:extLst>
      <p:ext uri="{BB962C8B-B14F-4D97-AF65-F5344CB8AC3E}">
        <p14:creationId xmlns:p14="http://schemas.microsoft.com/office/powerpoint/2010/main" val="13159438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7500" lnSpcReduction="20000"/>
          </a:bodyPr>
          <a:lstStyle/>
          <a:p>
            <a:r>
              <a:rPr lang="en-GB" dirty="0"/>
              <a:t>Always keep your code clean and well-formed with proper indentation.</a:t>
            </a:r>
          </a:p>
          <a:p>
            <a:r>
              <a:rPr lang="en-GB" dirty="0"/>
              <a:t>Always declare the document type as the first line in your document.</a:t>
            </a:r>
          </a:p>
          <a:p>
            <a:r>
              <a:rPr lang="en-GB" dirty="0"/>
              <a:t>Use lowercase for element names</a:t>
            </a:r>
          </a:p>
          <a:p>
            <a:r>
              <a:rPr lang="en-GB" dirty="0"/>
              <a:t>Close all HTML elements even the empty tags like </a:t>
            </a:r>
            <a:r>
              <a:rPr lang="en-GB" b="1" dirty="0"/>
              <a:t>&lt;</a:t>
            </a:r>
            <a:r>
              <a:rPr lang="en-GB" b="1" dirty="0" err="1"/>
              <a:t>hr</a:t>
            </a:r>
            <a:r>
              <a:rPr lang="en-GB" b="1" dirty="0"/>
              <a:t> /&gt;, &lt;</a:t>
            </a:r>
            <a:r>
              <a:rPr lang="en-GB" b="1" dirty="0" err="1"/>
              <a:t>br</a:t>
            </a:r>
            <a:r>
              <a:rPr lang="en-GB" b="1" dirty="0"/>
              <a:t> /&gt;, &lt;</a:t>
            </a:r>
            <a:r>
              <a:rPr lang="en-GB" b="1" dirty="0" err="1"/>
              <a:t>img</a:t>
            </a:r>
            <a:r>
              <a:rPr lang="en-GB" b="1" dirty="0"/>
              <a:t> /&gt;</a:t>
            </a:r>
            <a:endParaRPr lang="en-GB" dirty="0"/>
          </a:p>
          <a:p>
            <a:r>
              <a:rPr lang="en-GB" dirty="0"/>
              <a:t>Use lowercase for attribute names</a:t>
            </a:r>
          </a:p>
          <a:p>
            <a:r>
              <a:rPr lang="en-GB" dirty="0"/>
              <a:t>Always enclose attribute values with quotes. </a:t>
            </a:r>
            <a:r>
              <a:rPr lang="en-GB" b="1" dirty="0"/>
              <a:t>(" ")</a:t>
            </a:r>
            <a:endParaRPr lang="en-GB" dirty="0"/>
          </a:p>
          <a:p>
            <a:r>
              <a:rPr lang="en-GB" dirty="0"/>
              <a:t>Always add alt attribute to images.</a:t>
            </a:r>
          </a:p>
          <a:p>
            <a:r>
              <a:rPr lang="en-GB" dirty="0"/>
              <a:t>Avoid long code lines</a:t>
            </a:r>
          </a:p>
          <a:p>
            <a:r>
              <a:rPr lang="en-GB" dirty="0"/>
              <a:t>Do not add blank lines without a reason.</a:t>
            </a:r>
          </a:p>
          <a:p>
            <a:r>
              <a:rPr lang="en-GB" dirty="0"/>
              <a:t>Make the </a:t>
            </a:r>
            <a:r>
              <a:rPr lang="en-GB" b="1" dirty="0"/>
              <a:t>&lt;title&gt;</a:t>
            </a:r>
            <a:r>
              <a:rPr lang="en-GB" dirty="0"/>
              <a:t> </a:t>
            </a:r>
            <a:r>
              <a:rPr lang="en-GB" dirty="0" err="1"/>
              <a:t>elemet</a:t>
            </a:r>
            <a:r>
              <a:rPr lang="en-GB" dirty="0"/>
              <a:t> as meaningful as possible</a:t>
            </a:r>
          </a:p>
          <a:p>
            <a:r>
              <a:rPr lang="en-GB" dirty="0"/>
              <a:t>Always define the language and the character encoding </a:t>
            </a:r>
            <a:r>
              <a:rPr lang="en-GB" b="1" dirty="0"/>
              <a:t>&lt;meta&gt;</a:t>
            </a:r>
            <a:r>
              <a:rPr lang="en-GB" dirty="0"/>
              <a:t> in the document</a:t>
            </a:r>
          </a:p>
          <a:p>
            <a:r>
              <a:rPr lang="en-GB" dirty="0"/>
              <a:t>Use lowercase for filenames</a:t>
            </a:r>
          </a:p>
          <a:p>
            <a:endParaRPr lang="en-GB" dirty="0"/>
          </a:p>
        </p:txBody>
      </p:sp>
    </p:spTree>
    <p:extLst>
      <p:ext uri="{BB962C8B-B14F-4D97-AF65-F5344CB8AC3E}">
        <p14:creationId xmlns:p14="http://schemas.microsoft.com/office/powerpoint/2010/main" val="22139106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&lt;html&gt;</a:t>
            </a:r>
          </a:p>
          <a:p>
            <a:r>
              <a:rPr lang="en-GB" dirty="0"/>
              <a:t>&lt;head&gt;</a:t>
            </a:r>
          </a:p>
          <a:p>
            <a:r>
              <a:rPr lang="en-GB" dirty="0"/>
              <a:t>  &lt;title&gt;This is bad HTML&lt;/title&gt;</a:t>
            </a:r>
          </a:p>
          <a:p>
            <a:endParaRPr lang="en-GB" dirty="0"/>
          </a:p>
          <a:p>
            <a:r>
              <a:rPr lang="en-GB" dirty="0"/>
              <a:t>&lt;body&gt;</a:t>
            </a:r>
          </a:p>
          <a:p>
            <a:r>
              <a:rPr lang="en-GB" dirty="0"/>
              <a:t>  &lt;h1&gt;Bad HTML</a:t>
            </a:r>
          </a:p>
          <a:p>
            <a:r>
              <a:rPr lang="en-GB" dirty="0"/>
              <a:t>  &lt;p&gt;This is a paragraph</a:t>
            </a:r>
          </a:p>
          <a:p>
            <a:r>
              <a:rPr lang="en-GB" dirty="0"/>
              <a:t>&lt;/body&gt;</a:t>
            </a:r>
          </a:p>
        </p:txBody>
      </p:sp>
    </p:spTree>
    <p:extLst>
      <p:ext uri="{BB962C8B-B14F-4D97-AF65-F5344CB8AC3E}">
        <p14:creationId xmlns:p14="http://schemas.microsoft.com/office/powerpoint/2010/main" val="333660106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Interaction of HTML, CSS, and JavaScript</a:t>
            </a:r>
            <a:br>
              <a:rPr lang="en-GB" b="1" dirty="0"/>
            </a:br>
            <a:endParaRPr lang="en-GB" dirty="0"/>
          </a:p>
        </p:txBody>
      </p:sp>
      <p:sp>
        <p:nvSpPr>
          <p:cNvPr id="3" name="Content Placeholder 2"/>
          <p:cNvSpPr>
            <a:spLocks noGrp="1"/>
          </p:cNvSpPr>
          <p:nvPr>
            <p:ph idx="1"/>
          </p:nvPr>
        </p:nvSpPr>
        <p:spPr/>
        <p:txBody>
          <a:bodyPr/>
          <a:lstStyle/>
          <a:p>
            <a:pPr fontAlgn="base"/>
            <a:r>
              <a:rPr lang="en-GB" dirty="0"/>
              <a:t>HTML structures the webpage and defines content elements.</a:t>
            </a:r>
          </a:p>
          <a:p>
            <a:pPr fontAlgn="base"/>
            <a:r>
              <a:rPr lang="en-GB" dirty="0"/>
              <a:t>CSS enhances visual appearance like </a:t>
            </a:r>
            <a:r>
              <a:rPr lang="en-GB" dirty="0" err="1"/>
              <a:t>colors</a:t>
            </a:r>
            <a:r>
              <a:rPr lang="en-GB" dirty="0"/>
              <a:t>, fonts, and layout.</a:t>
            </a:r>
          </a:p>
          <a:p>
            <a:pPr fontAlgn="base"/>
            <a:r>
              <a:rPr lang="en-GB" dirty="0"/>
              <a:t>JavaScript adds interactivity and dynamic features.</a:t>
            </a:r>
          </a:p>
          <a:p>
            <a:pPr fontAlgn="base"/>
            <a:r>
              <a:rPr lang="en-GB" dirty="0"/>
              <a:t>Together, they make web pages functional, attractive, and </a:t>
            </a:r>
            <a:r>
              <a:rPr lang="en-GB" dirty="0" smtClean="0"/>
              <a:t>user-friendly</a:t>
            </a:r>
            <a:endParaRPr lang="en-GB" dirty="0"/>
          </a:p>
          <a:p>
            <a:endParaRPr lang="en-GB" dirty="0"/>
          </a:p>
        </p:txBody>
      </p:sp>
      <p:pic>
        <p:nvPicPr>
          <p:cNvPr id="4" name="Picture 3"/>
          <p:cNvPicPr>
            <a:picLocks noChangeAspect="1"/>
          </p:cNvPicPr>
          <p:nvPr/>
        </p:nvPicPr>
        <p:blipFill>
          <a:blip r:embed="rId3"/>
          <a:stretch>
            <a:fillRect/>
          </a:stretch>
        </p:blipFill>
        <p:spPr>
          <a:xfrm>
            <a:off x="3779822" y="4222860"/>
            <a:ext cx="3671180" cy="1840179"/>
          </a:xfrm>
          <a:prstGeom prst="rect">
            <a:avLst/>
          </a:prstGeom>
        </p:spPr>
      </p:pic>
    </p:spTree>
    <p:extLst>
      <p:ext uri="{BB962C8B-B14F-4D97-AF65-F5344CB8AC3E}">
        <p14:creationId xmlns:p14="http://schemas.microsoft.com/office/powerpoint/2010/main" val="19952583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HTML Elements and HTML Tags</a:t>
            </a:r>
            <a:br>
              <a:rPr lang="en-GB" b="1" dirty="0"/>
            </a:br>
            <a:endParaRPr lang="en-GB" dirty="0"/>
          </a:p>
        </p:txBody>
      </p:sp>
      <p:sp>
        <p:nvSpPr>
          <p:cNvPr id="3" name="Text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335383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 An HTML element is the complete structure, including the opening tag, content (if any), and the closing tag</a:t>
            </a:r>
          </a:p>
        </p:txBody>
      </p:sp>
      <p:pic>
        <p:nvPicPr>
          <p:cNvPr id="4" name="Picture 3"/>
          <p:cNvPicPr>
            <a:picLocks noChangeAspect="1"/>
          </p:cNvPicPr>
          <p:nvPr/>
        </p:nvPicPr>
        <p:blipFill>
          <a:blip r:embed="rId2"/>
          <a:stretch>
            <a:fillRect/>
          </a:stretch>
        </p:blipFill>
        <p:spPr>
          <a:xfrm>
            <a:off x="2295525" y="3186113"/>
            <a:ext cx="5981700" cy="2990850"/>
          </a:xfrm>
          <a:prstGeom prst="rect">
            <a:avLst/>
          </a:prstGeom>
        </p:spPr>
      </p:pic>
    </p:spTree>
    <p:extLst>
      <p:ext uri="{BB962C8B-B14F-4D97-AF65-F5344CB8AC3E}">
        <p14:creationId xmlns:p14="http://schemas.microsoft.com/office/powerpoint/2010/main" val="406210109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HTML Attributes</a:t>
            </a:r>
            <a:br>
              <a:rPr lang="en-GB" b="1" dirty="0"/>
            </a:br>
            <a:endParaRPr lang="en-GB" dirty="0"/>
          </a:p>
        </p:txBody>
      </p:sp>
      <p:sp>
        <p:nvSpPr>
          <p:cNvPr id="3" name="Content Placeholder 2"/>
          <p:cNvSpPr>
            <a:spLocks noGrp="1"/>
          </p:cNvSpPr>
          <p:nvPr>
            <p:ph idx="1"/>
          </p:nvPr>
        </p:nvSpPr>
        <p:spPr/>
        <p:txBody>
          <a:bodyPr>
            <a:normAutofit lnSpcReduction="10000"/>
          </a:bodyPr>
          <a:lstStyle/>
          <a:p>
            <a:pPr fontAlgn="base"/>
            <a:r>
              <a:rPr lang="en-GB" u="sng" dirty="0" smtClean="0"/>
              <a:t>Attributes</a:t>
            </a:r>
            <a:r>
              <a:rPr lang="en-GB" u="sng" dirty="0"/>
              <a:t> </a:t>
            </a:r>
            <a:r>
              <a:rPr lang="en-GB" dirty="0" smtClean="0"/>
              <a:t>provide </a:t>
            </a:r>
            <a:r>
              <a:rPr lang="en-GB" dirty="0"/>
              <a:t>additional information about an element. They are placed inside the opening tag and are written as name="value". Common attributes include class, id, </a:t>
            </a:r>
            <a:r>
              <a:rPr lang="en-GB" u="sng" dirty="0" err="1">
                <a:hlinkClick r:id="rId2"/>
              </a:rPr>
              <a:t>href</a:t>
            </a:r>
            <a:r>
              <a:rPr lang="en-GB" u="sng" dirty="0">
                <a:hlinkClick r:id="rId2"/>
              </a:rPr>
              <a:t>,</a:t>
            </a:r>
            <a:r>
              <a:rPr lang="en-GB" dirty="0"/>
              <a:t> and</a:t>
            </a:r>
            <a:r>
              <a:rPr lang="en-GB" u="sng" dirty="0">
                <a:hlinkClick r:id="rId3"/>
              </a:rPr>
              <a:t> </a:t>
            </a:r>
            <a:r>
              <a:rPr lang="en-GB" u="sng" dirty="0" err="1">
                <a:hlinkClick r:id="rId3"/>
              </a:rPr>
              <a:t>src</a:t>
            </a:r>
            <a:r>
              <a:rPr lang="en-GB" dirty="0"/>
              <a:t>.</a:t>
            </a:r>
          </a:p>
          <a:p>
            <a:pPr fontAlgn="base"/>
            <a:r>
              <a:rPr lang="en-GB" dirty="0"/>
              <a:t>Attributes are written inside the opening tag of an element.</a:t>
            </a:r>
          </a:p>
          <a:p>
            <a:pPr fontAlgn="base"/>
            <a:r>
              <a:rPr lang="en-GB" dirty="0"/>
              <a:t>They are written as name="value" pairs.</a:t>
            </a:r>
          </a:p>
          <a:p>
            <a:pPr fontAlgn="base"/>
            <a:r>
              <a:rPr lang="en-GB" dirty="0"/>
              <a:t>Most HTML elements can have one or more attributes.</a:t>
            </a:r>
          </a:p>
          <a:p>
            <a:pPr fontAlgn="base"/>
            <a:r>
              <a:rPr lang="en-GB" dirty="0"/>
              <a:t>Attributes help in customizing how elements behave or display in a browser.</a:t>
            </a:r>
          </a:p>
          <a:p>
            <a:pPr fontAlgn="base"/>
            <a:r>
              <a:rPr lang="en-GB" dirty="0"/>
              <a:t>Attribute values are usually enclosed in double quotes (").</a:t>
            </a:r>
          </a:p>
          <a:p>
            <a:endParaRPr lang="en-GB" dirty="0"/>
          </a:p>
        </p:txBody>
      </p:sp>
    </p:spTree>
    <p:extLst>
      <p:ext uri="{BB962C8B-B14F-4D97-AF65-F5344CB8AC3E}">
        <p14:creationId xmlns:p14="http://schemas.microsoft.com/office/powerpoint/2010/main" val="18539700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HTML Attributes</a:t>
            </a:r>
            <a:br>
              <a:rPr lang="en-GB" b="1" dirty="0"/>
            </a:br>
            <a:endParaRPr lang="en-GB" dirty="0"/>
          </a:p>
        </p:txBody>
      </p:sp>
      <p:sp>
        <p:nvSpPr>
          <p:cNvPr id="3" name="Content Placeholder 2"/>
          <p:cNvSpPr>
            <a:spLocks noGrp="1"/>
          </p:cNvSpPr>
          <p:nvPr>
            <p:ph idx="1"/>
          </p:nvPr>
        </p:nvSpPr>
        <p:spPr/>
        <p:txBody>
          <a:bodyPr>
            <a:normAutofit/>
          </a:bodyPr>
          <a:lstStyle/>
          <a:p>
            <a:pPr fontAlgn="base"/>
            <a:r>
              <a:rPr lang="en-GB" sz="2000" dirty="0" smtClean="0"/>
              <a:t>HTML Attributes are special words used within the opening tag of an HTML element. They provide additional information about HTML elements. HTML attributes are used to configure and adjust the element's behaviour, appearance, or functionality in a variety of ways.</a:t>
            </a:r>
          </a:p>
          <a:p>
            <a:pPr fontAlgn="base"/>
            <a:r>
              <a:rPr lang="en-GB" sz="2000" dirty="0" smtClean="0"/>
              <a:t>Each attribute has a name and a value, formatted as name="value".</a:t>
            </a:r>
          </a:p>
          <a:p>
            <a:pPr fontAlgn="base"/>
            <a:r>
              <a:rPr lang="en-GB" sz="2000" dirty="0" smtClean="0"/>
              <a:t>Attributes tell the browser how to render the </a:t>
            </a:r>
            <a:r>
              <a:rPr lang="en-GB" sz="2400" dirty="0" smtClean="0"/>
              <a:t>element or how it should behave during user interactions.</a:t>
            </a:r>
          </a:p>
          <a:p>
            <a:pPr fontAlgn="base"/>
            <a:r>
              <a:rPr lang="en-GB" i="1" dirty="0" smtClean="0"/>
              <a:t>&lt;</a:t>
            </a:r>
            <a:r>
              <a:rPr lang="en-GB" i="1" dirty="0" err="1"/>
              <a:t>tagname</a:t>
            </a:r>
            <a:r>
              <a:rPr lang="en-GB" i="1" dirty="0"/>
              <a:t> </a:t>
            </a:r>
            <a:r>
              <a:rPr lang="en-GB" i="1" dirty="0" err="1"/>
              <a:t>attribute_name</a:t>
            </a:r>
            <a:r>
              <a:rPr lang="en-GB" i="1" dirty="0"/>
              <a:t> = "</a:t>
            </a:r>
            <a:r>
              <a:rPr lang="en-GB" i="1" dirty="0" err="1"/>
              <a:t>attribute_value</a:t>
            </a:r>
            <a:r>
              <a:rPr lang="en-GB" i="1" dirty="0"/>
              <a:t>"&gt; content... &lt;/</a:t>
            </a:r>
            <a:r>
              <a:rPr lang="en-GB" i="1" dirty="0" err="1"/>
              <a:t>tagname</a:t>
            </a:r>
            <a:r>
              <a:rPr lang="en-GB" i="1" dirty="0"/>
              <a:t>&gt;</a:t>
            </a:r>
            <a:endParaRPr lang="en-GB" dirty="0"/>
          </a:p>
        </p:txBody>
      </p:sp>
    </p:spTree>
    <p:extLst>
      <p:ext uri="{BB962C8B-B14F-4D97-AF65-F5344CB8AC3E}">
        <p14:creationId xmlns:p14="http://schemas.microsoft.com/office/powerpoint/2010/main" val="10940747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Components of Attribute</a:t>
            </a:r>
            <a:br>
              <a:rPr lang="en-GB" b="1" dirty="0"/>
            </a:br>
            <a:endParaRPr lang="en-GB" dirty="0"/>
          </a:p>
        </p:txBody>
      </p:sp>
      <p:sp>
        <p:nvSpPr>
          <p:cNvPr id="3" name="Content Placeholder 2"/>
          <p:cNvSpPr>
            <a:spLocks noGrp="1"/>
          </p:cNvSpPr>
          <p:nvPr>
            <p:ph idx="1"/>
          </p:nvPr>
        </p:nvSpPr>
        <p:spPr/>
        <p:txBody>
          <a:bodyPr/>
          <a:lstStyle/>
          <a:p>
            <a:r>
              <a:rPr lang="en-GB" dirty="0"/>
              <a:t>1. </a:t>
            </a:r>
            <a:r>
              <a:rPr lang="en-GB" dirty="0" err="1"/>
              <a:t>attribute_name</a:t>
            </a:r>
            <a:r>
              <a:rPr lang="en-GB" dirty="0"/>
              <a:t>: This is the name of the attribute, which specifies what kind of additional information or property you are defining for the element. Common attribute names include </a:t>
            </a:r>
            <a:r>
              <a:rPr lang="en-GB" dirty="0" err="1"/>
              <a:t>href</a:t>
            </a:r>
            <a:r>
              <a:rPr lang="en-GB" dirty="0"/>
              <a:t>, </a:t>
            </a:r>
            <a:r>
              <a:rPr lang="en-GB" dirty="0" err="1"/>
              <a:t>src</a:t>
            </a:r>
            <a:r>
              <a:rPr lang="en-GB" dirty="0"/>
              <a:t>, class, id, etc.</a:t>
            </a:r>
          </a:p>
          <a:p>
            <a:endParaRPr lang="en-GB" dirty="0"/>
          </a:p>
          <a:p>
            <a:r>
              <a:rPr lang="en-GB" dirty="0"/>
              <a:t>2. </a:t>
            </a:r>
            <a:r>
              <a:rPr lang="en-GB" dirty="0" err="1"/>
              <a:t>attribute_value</a:t>
            </a:r>
            <a:r>
              <a:rPr lang="en-GB" dirty="0"/>
              <a:t>: The value is assigned to the attribute to define the specific setting or </a:t>
            </a:r>
            <a:r>
              <a:rPr lang="en-GB" dirty="0" err="1"/>
              <a:t>behavior</a:t>
            </a:r>
            <a:r>
              <a:rPr lang="en-GB" dirty="0"/>
              <a:t>. It is always placed in quotes.</a:t>
            </a:r>
          </a:p>
        </p:txBody>
      </p:sp>
    </p:spTree>
    <p:extLst>
      <p:ext uri="{BB962C8B-B14F-4D97-AF65-F5344CB8AC3E}">
        <p14:creationId xmlns:p14="http://schemas.microsoft.com/office/powerpoint/2010/main" val="307819992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r>
              <a:rPr lang="en-GB" dirty="0"/>
              <a:t>Event Attributes - These define the actions to be taken on specific browser events.</a:t>
            </a:r>
          </a:p>
          <a:p>
            <a:r>
              <a:rPr lang="en-GB" dirty="0"/>
              <a:t>Input Attributes - Specific to input elements within &lt;form&gt; tags.</a:t>
            </a:r>
          </a:p>
          <a:p>
            <a:r>
              <a:rPr lang="en-GB" dirty="0"/>
              <a:t>Image Attributes - Specific to the &lt;</a:t>
            </a:r>
            <a:r>
              <a:rPr lang="en-GB" dirty="0" err="1"/>
              <a:t>img</a:t>
            </a:r>
            <a:r>
              <a:rPr lang="en-GB" dirty="0"/>
              <a:t>&gt; element for handling images.</a:t>
            </a:r>
          </a:p>
          <a:p>
            <a:r>
              <a:rPr lang="en-GB" dirty="0"/>
              <a:t>Link Attributes - Specific to linking elements like &lt;a&gt; and &lt;link&gt;.</a:t>
            </a:r>
          </a:p>
          <a:p>
            <a:r>
              <a:rPr lang="en-GB" dirty="0"/>
              <a:t>Table Attributes - Used with table elements like &lt;table&gt; , &lt;</a:t>
            </a:r>
            <a:r>
              <a:rPr lang="en-GB" dirty="0" err="1"/>
              <a:t>th</a:t>
            </a:r>
            <a:r>
              <a:rPr lang="en-GB" dirty="0"/>
              <a:t>&gt; , &lt;</a:t>
            </a:r>
            <a:r>
              <a:rPr lang="en-GB" dirty="0" err="1"/>
              <a:t>tr</a:t>
            </a:r>
            <a:r>
              <a:rPr lang="en-GB" dirty="0"/>
              <a:t>&gt; , and &lt;td&gt;.</a:t>
            </a:r>
          </a:p>
          <a:p>
            <a:r>
              <a:rPr lang="en-GB" dirty="0"/>
              <a:t>Style Attributes - Define styles directly on an element</a:t>
            </a:r>
            <a:r>
              <a:rPr lang="en-GB" dirty="0" smtClean="0"/>
              <a:t>.</a:t>
            </a:r>
            <a:endParaRPr lang="en-GB" dirty="0"/>
          </a:p>
        </p:txBody>
      </p:sp>
    </p:spTree>
    <p:extLst>
      <p:ext uri="{BB962C8B-B14F-4D97-AF65-F5344CB8AC3E}">
        <p14:creationId xmlns:p14="http://schemas.microsoft.com/office/powerpoint/2010/main" val="36648435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normAutofit fontScale="47500" lnSpcReduction="20000"/>
          </a:bodyPr>
          <a:lstStyle/>
          <a:p>
            <a:r>
              <a:rPr lang="en-GB" dirty="0"/>
              <a:t>&lt;!DOCTYPE html&gt;</a:t>
            </a:r>
          </a:p>
          <a:p>
            <a:r>
              <a:rPr lang="en-GB" dirty="0"/>
              <a:t>&lt;html&gt;</a:t>
            </a:r>
          </a:p>
          <a:p>
            <a:endParaRPr lang="en-GB" dirty="0"/>
          </a:p>
          <a:p>
            <a:r>
              <a:rPr lang="en-GB" dirty="0"/>
              <a:t>&lt;head&gt;</a:t>
            </a:r>
          </a:p>
          <a:p>
            <a:r>
              <a:rPr lang="en-GB" dirty="0"/>
              <a:t>    &lt;title&gt;HTML </a:t>
            </a:r>
            <a:r>
              <a:rPr lang="en-GB" dirty="0" err="1"/>
              <a:t>img</a:t>
            </a:r>
            <a:r>
              <a:rPr lang="en-GB" dirty="0"/>
              <a:t> </a:t>
            </a:r>
            <a:r>
              <a:rPr lang="en-GB" dirty="0" err="1"/>
              <a:t>src</a:t>
            </a:r>
            <a:r>
              <a:rPr lang="en-GB" dirty="0"/>
              <a:t> Attribute&lt;/title&gt;</a:t>
            </a:r>
          </a:p>
          <a:p>
            <a:r>
              <a:rPr lang="en-GB" dirty="0"/>
              <a:t>&lt;/head&gt;</a:t>
            </a:r>
          </a:p>
          <a:p>
            <a:endParaRPr lang="en-GB" dirty="0"/>
          </a:p>
          <a:p>
            <a:r>
              <a:rPr lang="en-GB" dirty="0"/>
              <a:t>&lt;body&gt;</a:t>
            </a:r>
          </a:p>
          <a:p>
            <a:r>
              <a:rPr lang="en-GB" dirty="0"/>
              <a:t>   </a:t>
            </a:r>
          </a:p>
          <a:p>
            <a:r>
              <a:rPr lang="en-GB" dirty="0"/>
              <a:t>    &lt;</a:t>
            </a:r>
            <a:r>
              <a:rPr lang="en-GB" dirty="0" err="1"/>
              <a:t>img</a:t>
            </a:r>
            <a:r>
              <a:rPr lang="en-GB" dirty="0"/>
              <a:t> </a:t>
            </a:r>
            <a:r>
              <a:rPr lang="en-GB" dirty="0" err="1"/>
              <a:t>src</a:t>
            </a:r>
            <a:r>
              <a:rPr lang="en-GB" dirty="0"/>
              <a:t>=</a:t>
            </a:r>
          </a:p>
          <a:p>
            <a:r>
              <a:rPr lang="en-GB" dirty="0"/>
              <a:t>"https://media.geeksforgeeks.org/</a:t>
            </a:r>
            <a:r>
              <a:rPr lang="en-GB" dirty="0" err="1"/>
              <a:t>wp</a:t>
            </a:r>
            <a:r>
              <a:rPr lang="en-GB" dirty="0"/>
              <a:t>-content/</a:t>
            </a:r>
            <a:r>
              <a:rPr lang="en-GB" dirty="0" err="1"/>
              <a:t>cdn</a:t>
            </a:r>
            <a:r>
              <a:rPr lang="en-GB" dirty="0"/>
              <a:t>-uploads/Geek_logi_-low_res.png" </a:t>
            </a:r>
          </a:p>
          <a:p>
            <a:r>
              <a:rPr lang="en-GB" dirty="0"/>
              <a:t> style="width:350px; </a:t>
            </a:r>
            <a:r>
              <a:rPr lang="en-GB" dirty="0" err="1"/>
              <a:t>height:auto</a:t>
            </a:r>
            <a:r>
              <a:rPr lang="en-GB" dirty="0"/>
              <a:t>;"&gt;</a:t>
            </a:r>
          </a:p>
          <a:p>
            <a:endParaRPr lang="en-GB" dirty="0"/>
          </a:p>
          <a:p>
            <a:r>
              <a:rPr lang="en-GB" dirty="0"/>
              <a:t>&lt;/body&gt;</a:t>
            </a:r>
          </a:p>
          <a:p>
            <a:endParaRPr lang="en-GB" dirty="0"/>
          </a:p>
          <a:p>
            <a:r>
              <a:rPr lang="en-GB" dirty="0"/>
              <a:t>&lt;/html&gt;</a:t>
            </a:r>
          </a:p>
        </p:txBody>
      </p:sp>
    </p:spTree>
    <p:extLst>
      <p:ext uri="{BB962C8B-B14F-4D97-AF65-F5344CB8AC3E}">
        <p14:creationId xmlns:p14="http://schemas.microsoft.com/office/powerpoint/2010/main" val="265112655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Tag :  &lt;</a:t>
            </a:r>
            <a:r>
              <a:rPr lang="en-GB" dirty="0" err="1"/>
              <a:t>img</a:t>
            </a:r>
            <a:r>
              <a:rPr lang="en-GB" dirty="0"/>
              <a:t>&gt; </a:t>
            </a:r>
          </a:p>
          <a:p>
            <a:r>
              <a:rPr lang="en-GB" dirty="0"/>
              <a:t>Attribute :  </a:t>
            </a:r>
            <a:r>
              <a:rPr lang="en-GB" dirty="0" err="1"/>
              <a:t>src</a:t>
            </a:r>
            <a:r>
              <a:rPr lang="en-GB" dirty="0"/>
              <a:t> </a:t>
            </a:r>
          </a:p>
          <a:p>
            <a:r>
              <a:rPr lang="en-GB" dirty="0"/>
              <a:t>Value of Attribute :  "https://media.geeksforgeeks.org/</a:t>
            </a:r>
            <a:r>
              <a:rPr lang="en-GB" dirty="0" err="1"/>
              <a:t>wp</a:t>
            </a:r>
            <a:r>
              <a:rPr lang="en-GB" dirty="0"/>
              <a:t>-content/</a:t>
            </a:r>
            <a:r>
              <a:rPr lang="en-GB" dirty="0" err="1"/>
              <a:t>cdn</a:t>
            </a:r>
            <a:r>
              <a:rPr lang="en-GB" dirty="0"/>
              <a:t>-uploads/Geek_logi_-low_res.png" </a:t>
            </a:r>
          </a:p>
          <a:p>
            <a:r>
              <a:rPr lang="en-GB" dirty="0"/>
              <a:t>Purpose : The  &lt;</a:t>
            </a:r>
            <a:r>
              <a:rPr lang="en-GB" dirty="0" err="1"/>
              <a:t>img</a:t>
            </a:r>
            <a:r>
              <a:rPr lang="en-GB" dirty="0"/>
              <a:t>&gt;  tag is used for embedding images in an HTML page. The  </a:t>
            </a:r>
            <a:r>
              <a:rPr lang="en-GB" dirty="0" err="1"/>
              <a:t>src</a:t>
            </a:r>
            <a:r>
              <a:rPr lang="en-GB" dirty="0"/>
              <a:t>  attribute within the  &lt;</a:t>
            </a:r>
            <a:r>
              <a:rPr lang="en-GB" dirty="0" err="1"/>
              <a:t>img</a:t>
            </a:r>
            <a:r>
              <a:rPr lang="en-GB" dirty="0"/>
              <a:t>&gt;  tag specifies the path to the image file you wish to display. This attribute is crucial as it directs the browser to the image’s location on the internet or a local directory.</a:t>
            </a:r>
          </a:p>
        </p:txBody>
      </p:sp>
    </p:spTree>
    <p:extLst>
      <p:ext uri="{BB962C8B-B14F-4D97-AF65-F5344CB8AC3E}">
        <p14:creationId xmlns:p14="http://schemas.microsoft.com/office/powerpoint/2010/main" val="336209050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1. HTML alt Attribute</a:t>
            </a:r>
            <a:br>
              <a:rPr lang="en-GB" b="1" dirty="0"/>
            </a:br>
            <a:endParaRPr lang="en-GB" dirty="0"/>
          </a:p>
        </p:txBody>
      </p:sp>
      <p:sp>
        <p:nvSpPr>
          <p:cNvPr id="3" name="Content Placeholder 2"/>
          <p:cNvSpPr>
            <a:spLocks noGrp="1"/>
          </p:cNvSpPr>
          <p:nvPr>
            <p:ph idx="1"/>
          </p:nvPr>
        </p:nvSpPr>
        <p:spPr/>
        <p:txBody>
          <a:bodyPr>
            <a:normAutofit fontScale="62500" lnSpcReduction="20000"/>
          </a:bodyPr>
          <a:lstStyle/>
          <a:p>
            <a:r>
              <a:rPr lang="en-GB" dirty="0" smtClean="0"/>
              <a:t>The</a:t>
            </a:r>
            <a:r>
              <a:rPr lang="en-GB" dirty="0"/>
              <a:t> </a:t>
            </a:r>
            <a:r>
              <a:rPr lang="en-GB" u="sng" dirty="0">
                <a:hlinkClick r:id="rId2"/>
              </a:rPr>
              <a:t>alt attribute</a:t>
            </a:r>
            <a:r>
              <a:rPr lang="en-GB" dirty="0"/>
              <a:t> in HTML provides alternative text for an image if the image cannot be displayed. It improves accessibility and provides context for screen readers</a:t>
            </a:r>
            <a:r>
              <a:rPr lang="en-GB" dirty="0" smtClean="0"/>
              <a:t>.</a:t>
            </a:r>
          </a:p>
          <a:p>
            <a:r>
              <a:rPr lang="en-GB" dirty="0"/>
              <a:t>&lt;!DOCTYPE html&gt;</a:t>
            </a:r>
          </a:p>
          <a:p>
            <a:r>
              <a:rPr lang="en-GB" dirty="0"/>
              <a:t>&lt;html</a:t>
            </a:r>
            <a:r>
              <a:rPr lang="en-GB" dirty="0" smtClean="0"/>
              <a:t>&gt;</a:t>
            </a:r>
            <a:endParaRPr lang="en-GB" dirty="0"/>
          </a:p>
          <a:p>
            <a:r>
              <a:rPr lang="en-GB" dirty="0"/>
              <a:t>&lt;head&gt;</a:t>
            </a:r>
          </a:p>
          <a:p>
            <a:r>
              <a:rPr lang="en-GB" dirty="0"/>
              <a:t>    &lt;title&gt;HTML </a:t>
            </a:r>
            <a:r>
              <a:rPr lang="en-GB" dirty="0" err="1"/>
              <a:t>img</a:t>
            </a:r>
            <a:r>
              <a:rPr lang="en-GB" dirty="0"/>
              <a:t> alt Attribute&lt;/title&gt;</a:t>
            </a:r>
          </a:p>
          <a:p>
            <a:r>
              <a:rPr lang="en-GB" dirty="0"/>
              <a:t>&lt;/head</a:t>
            </a:r>
            <a:r>
              <a:rPr lang="en-GB" dirty="0" smtClean="0"/>
              <a:t>&gt;</a:t>
            </a:r>
            <a:endParaRPr lang="en-GB" dirty="0"/>
          </a:p>
          <a:p>
            <a:r>
              <a:rPr lang="en-GB" dirty="0"/>
              <a:t>&lt;body</a:t>
            </a:r>
            <a:r>
              <a:rPr lang="en-GB" dirty="0" smtClean="0"/>
              <a:t>&gt;</a:t>
            </a:r>
            <a:endParaRPr lang="en-GB" dirty="0"/>
          </a:p>
          <a:p>
            <a:r>
              <a:rPr lang="en-GB" dirty="0"/>
              <a:t>    &lt;</a:t>
            </a:r>
            <a:r>
              <a:rPr lang="en-GB" dirty="0" err="1"/>
              <a:t>img</a:t>
            </a:r>
            <a:r>
              <a:rPr lang="en-GB" dirty="0"/>
              <a:t> </a:t>
            </a:r>
            <a:r>
              <a:rPr lang="en-GB" dirty="0" err="1"/>
              <a:t>src</a:t>
            </a:r>
            <a:r>
              <a:rPr lang="en-GB" dirty="0"/>
              <a:t>=</a:t>
            </a:r>
          </a:p>
          <a:p>
            <a:r>
              <a:rPr lang="en-GB" dirty="0"/>
              <a:t>"https://media.geeksforgeeks.org/</a:t>
            </a:r>
            <a:r>
              <a:rPr lang="en-GB" dirty="0" err="1"/>
              <a:t>wp</a:t>
            </a:r>
            <a:r>
              <a:rPr lang="en-GB" dirty="0"/>
              <a:t>-content/</a:t>
            </a:r>
            <a:r>
              <a:rPr lang="en-GB" dirty="0" err="1"/>
              <a:t>cdn</a:t>
            </a:r>
            <a:r>
              <a:rPr lang="en-GB" dirty="0"/>
              <a:t>-uploads/Geek_logi_-low_res.png"</a:t>
            </a:r>
          </a:p>
          <a:p>
            <a:r>
              <a:rPr lang="en-GB" dirty="0"/>
              <a:t> style="width:350px; </a:t>
            </a:r>
            <a:r>
              <a:rPr lang="en-GB" dirty="0" err="1"/>
              <a:t>height:auto</a:t>
            </a:r>
            <a:r>
              <a:rPr lang="en-GB" dirty="0"/>
              <a:t>;" </a:t>
            </a:r>
          </a:p>
          <a:p>
            <a:r>
              <a:rPr lang="en-GB" dirty="0"/>
              <a:t>         alt="The Logo"&gt;&lt;</a:t>
            </a:r>
            <a:r>
              <a:rPr lang="en-GB" dirty="0" err="1"/>
              <a:t>br</a:t>
            </a:r>
            <a:r>
              <a:rPr lang="en-GB" dirty="0"/>
              <a:t>&gt;</a:t>
            </a:r>
          </a:p>
          <a:p>
            <a:r>
              <a:rPr lang="en-GB" dirty="0"/>
              <a:t>&lt;/body</a:t>
            </a:r>
            <a:r>
              <a:rPr lang="en-GB" dirty="0" smtClean="0"/>
              <a:t>&gt;</a:t>
            </a:r>
            <a:endParaRPr lang="en-GB" dirty="0"/>
          </a:p>
          <a:p>
            <a:r>
              <a:rPr lang="en-GB" dirty="0"/>
              <a:t>&lt;/html&gt;</a:t>
            </a:r>
          </a:p>
        </p:txBody>
      </p:sp>
    </p:spTree>
    <p:extLst>
      <p:ext uri="{BB962C8B-B14F-4D97-AF65-F5344CB8AC3E}">
        <p14:creationId xmlns:p14="http://schemas.microsoft.com/office/powerpoint/2010/main" val="33955255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GB" b="1" dirty="0"/>
              <a:t>2. HTML width and height Attribute</a:t>
            </a:r>
            <a:br>
              <a:rPr lang="en-GB" b="1" dirty="0"/>
            </a:br>
            <a:r>
              <a:rPr lang="en-GB" dirty="0"/>
              <a:t/>
            </a:r>
            <a:br>
              <a:rPr lang="en-GB" dirty="0"/>
            </a:br>
            <a:endParaRPr lang="en-GB" dirty="0"/>
          </a:p>
        </p:txBody>
      </p:sp>
      <p:sp>
        <p:nvSpPr>
          <p:cNvPr id="3" name="Content Placeholder 2"/>
          <p:cNvSpPr>
            <a:spLocks noGrp="1"/>
          </p:cNvSpPr>
          <p:nvPr>
            <p:ph idx="1"/>
          </p:nvPr>
        </p:nvSpPr>
        <p:spPr>
          <a:xfrm>
            <a:off x="600075" y="1190625"/>
            <a:ext cx="10753725" cy="4986338"/>
          </a:xfrm>
        </p:spPr>
        <p:txBody>
          <a:bodyPr>
            <a:normAutofit fontScale="77500" lnSpcReduction="20000"/>
          </a:bodyPr>
          <a:lstStyle/>
          <a:p>
            <a:r>
              <a:rPr lang="en-GB" dirty="0"/>
              <a:t>The width and </a:t>
            </a:r>
            <a:r>
              <a:rPr lang="en-GB" u="sng" dirty="0">
                <a:hlinkClick r:id="rId2"/>
              </a:rPr>
              <a:t>height Attribute</a:t>
            </a:r>
            <a:r>
              <a:rPr lang="en-GB" dirty="0"/>
              <a:t> is used to adjust the width and height of an image(in pixels). &lt;!DOCTYPE html&gt;</a:t>
            </a:r>
          </a:p>
          <a:p>
            <a:r>
              <a:rPr lang="en-GB" dirty="0"/>
              <a:t>&lt;html </a:t>
            </a:r>
            <a:r>
              <a:rPr lang="en-GB" dirty="0" err="1"/>
              <a:t>lang</a:t>
            </a:r>
            <a:r>
              <a:rPr lang="en-GB" dirty="0"/>
              <a:t>="en</a:t>
            </a:r>
            <a:r>
              <a:rPr lang="en-GB" dirty="0" smtClean="0"/>
              <a:t>"&gt;</a:t>
            </a:r>
            <a:endParaRPr lang="en-GB" dirty="0"/>
          </a:p>
          <a:p>
            <a:r>
              <a:rPr lang="en-GB" dirty="0"/>
              <a:t>&lt;head&gt;</a:t>
            </a:r>
          </a:p>
          <a:p>
            <a:r>
              <a:rPr lang="en-GB" dirty="0"/>
              <a:t>    &lt;title&gt;Width and Height&lt;/title&gt;</a:t>
            </a:r>
          </a:p>
          <a:p>
            <a:r>
              <a:rPr lang="en-GB" dirty="0"/>
              <a:t>&lt;/head</a:t>
            </a:r>
            <a:r>
              <a:rPr lang="en-GB" dirty="0" smtClean="0"/>
              <a:t>&gt;</a:t>
            </a:r>
            <a:endParaRPr lang="en-GB" dirty="0"/>
          </a:p>
          <a:p>
            <a:r>
              <a:rPr lang="en-GB" dirty="0"/>
              <a:t>&lt;body&gt;</a:t>
            </a:r>
          </a:p>
          <a:p>
            <a:r>
              <a:rPr lang="en-GB" dirty="0"/>
              <a:t>    &lt;</a:t>
            </a:r>
            <a:r>
              <a:rPr lang="en-GB" dirty="0" err="1"/>
              <a:t>img</a:t>
            </a:r>
            <a:r>
              <a:rPr lang="en-GB" dirty="0"/>
              <a:t> </a:t>
            </a:r>
            <a:r>
              <a:rPr lang="en-GB" dirty="0" err="1"/>
              <a:t>src</a:t>
            </a:r>
            <a:r>
              <a:rPr lang="en-GB" dirty="0"/>
              <a:t>=</a:t>
            </a:r>
          </a:p>
          <a:p>
            <a:r>
              <a:rPr lang="en-GB" dirty="0"/>
              <a:t>"https://media.geeksforgeeks.org/</a:t>
            </a:r>
            <a:r>
              <a:rPr lang="en-GB" dirty="0" err="1"/>
              <a:t>wp</a:t>
            </a:r>
            <a:r>
              <a:rPr lang="en-GB" dirty="0"/>
              <a:t>-content/</a:t>
            </a:r>
            <a:r>
              <a:rPr lang="en-GB" dirty="0" err="1"/>
              <a:t>cdn</a:t>
            </a:r>
            <a:r>
              <a:rPr lang="en-GB" dirty="0"/>
              <a:t>-uploads/Geek_logi_-low_res.png"</a:t>
            </a:r>
          </a:p>
          <a:p>
            <a:r>
              <a:rPr lang="en-GB" dirty="0"/>
              <a:t>         width="300px"</a:t>
            </a:r>
          </a:p>
          <a:p>
            <a:r>
              <a:rPr lang="en-GB" dirty="0"/>
              <a:t>         height="100px"&gt;</a:t>
            </a:r>
          </a:p>
          <a:p>
            <a:r>
              <a:rPr lang="en-GB" dirty="0"/>
              <a:t>&lt;/body</a:t>
            </a:r>
            <a:r>
              <a:rPr lang="en-GB" dirty="0" smtClean="0"/>
              <a:t>&gt;</a:t>
            </a:r>
            <a:endParaRPr lang="en-GB" dirty="0"/>
          </a:p>
          <a:p>
            <a:r>
              <a:rPr lang="en-GB" dirty="0"/>
              <a:t>&lt;/html&gt;</a:t>
            </a:r>
          </a:p>
        </p:txBody>
      </p:sp>
    </p:spTree>
    <p:extLst>
      <p:ext uri="{BB962C8B-B14F-4D97-AF65-F5344CB8AC3E}">
        <p14:creationId xmlns:p14="http://schemas.microsoft.com/office/powerpoint/2010/main" val="10465065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3. HTML id Attribute</a:t>
            </a:r>
            <a:br>
              <a:rPr lang="en-GB" b="1" dirty="0"/>
            </a:br>
            <a:endParaRPr lang="en-GB" dirty="0"/>
          </a:p>
        </p:txBody>
      </p:sp>
      <p:sp>
        <p:nvSpPr>
          <p:cNvPr id="3" name="Content Placeholder 2"/>
          <p:cNvSpPr>
            <a:spLocks noGrp="1"/>
          </p:cNvSpPr>
          <p:nvPr>
            <p:ph idx="1"/>
          </p:nvPr>
        </p:nvSpPr>
        <p:spPr>
          <a:xfrm>
            <a:off x="295275" y="1162050"/>
            <a:ext cx="11058525" cy="5014913"/>
          </a:xfrm>
        </p:spPr>
        <p:txBody>
          <a:bodyPr>
            <a:normAutofit fontScale="70000" lnSpcReduction="20000"/>
          </a:bodyPr>
          <a:lstStyle/>
          <a:p>
            <a:r>
              <a:rPr lang="en-GB" dirty="0"/>
              <a:t>The </a:t>
            </a:r>
            <a:r>
              <a:rPr lang="en-GB" u="sng" dirty="0">
                <a:hlinkClick r:id="rId2"/>
              </a:rPr>
              <a:t>id attribute</a:t>
            </a:r>
            <a:r>
              <a:rPr lang="en-GB" dirty="0"/>
              <a:t> in HTML assigns a unique identifier to an element, allowing it to be targeted by CSS and JavaScript for styling and manipulation purposes.</a:t>
            </a:r>
            <a:endParaRPr lang="en-GB" dirty="0" smtClean="0"/>
          </a:p>
          <a:p>
            <a:r>
              <a:rPr lang="en-GB" dirty="0" smtClean="0"/>
              <a:t>&lt;!</a:t>
            </a:r>
            <a:r>
              <a:rPr lang="en-GB" dirty="0"/>
              <a:t>DOCTYPE html&gt;</a:t>
            </a:r>
          </a:p>
          <a:p>
            <a:r>
              <a:rPr lang="en-GB" dirty="0"/>
              <a:t>&lt;html</a:t>
            </a:r>
            <a:r>
              <a:rPr lang="en-GB" dirty="0" smtClean="0"/>
              <a:t>&gt;</a:t>
            </a:r>
            <a:endParaRPr lang="en-GB" dirty="0"/>
          </a:p>
          <a:p>
            <a:r>
              <a:rPr lang="en-GB" dirty="0"/>
              <a:t>&lt;head&gt;</a:t>
            </a:r>
          </a:p>
          <a:p>
            <a:r>
              <a:rPr lang="en-GB" dirty="0"/>
              <a:t>    &lt;style&gt;</a:t>
            </a:r>
          </a:p>
          <a:p>
            <a:r>
              <a:rPr lang="en-GB" dirty="0"/>
              <a:t>        #geeks {</a:t>
            </a:r>
          </a:p>
          <a:p>
            <a:r>
              <a:rPr lang="en-GB" dirty="0"/>
              <a:t>            </a:t>
            </a:r>
            <a:r>
              <a:rPr lang="en-GB" dirty="0" err="1"/>
              <a:t>color</a:t>
            </a:r>
            <a:r>
              <a:rPr lang="en-GB" dirty="0"/>
              <a:t>: green;</a:t>
            </a:r>
          </a:p>
          <a:p>
            <a:r>
              <a:rPr lang="en-GB" dirty="0"/>
              <a:t>        }</a:t>
            </a:r>
          </a:p>
          <a:p>
            <a:r>
              <a:rPr lang="en-GB" dirty="0"/>
              <a:t>    &lt;/style&gt;</a:t>
            </a:r>
          </a:p>
          <a:p>
            <a:r>
              <a:rPr lang="en-GB" dirty="0"/>
              <a:t>&lt;/head</a:t>
            </a:r>
            <a:r>
              <a:rPr lang="en-GB" dirty="0" smtClean="0"/>
              <a:t>&gt;</a:t>
            </a:r>
            <a:endParaRPr lang="en-GB" dirty="0"/>
          </a:p>
          <a:p>
            <a:r>
              <a:rPr lang="en-GB" dirty="0"/>
              <a:t>&lt;body&gt;</a:t>
            </a:r>
          </a:p>
          <a:p>
            <a:r>
              <a:rPr lang="en-GB" dirty="0"/>
              <a:t>    &lt;h1 id="geeks"&gt;Welcome to </a:t>
            </a:r>
            <a:r>
              <a:rPr lang="en-GB" dirty="0" err="1"/>
              <a:t>GeeksforGeeks</a:t>
            </a:r>
            <a:r>
              <a:rPr lang="en-GB" dirty="0"/>
              <a:t>&lt;/h1&gt;</a:t>
            </a:r>
          </a:p>
          <a:p>
            <a:r>
              <a:rPr lang="en-GB" dirty="0"/>
              <a:t>&lt;/body</a:t>
            </a:r>
            <a:r>
              <a:rPr lang="en-GB" dirty="0" smtClean="0"/>
              <a:t>&gt;</a:t>
            </a:r>
            <a:endParaRPr lang="en-GB" dirty="0"/>
          </a:p>
          <a:p>
            <a:r>
              <a:rPr lang="en-GB" dirty="0"/>
              <a:t>&lt;/html&gt;</a:t>
            </a:r>
          </a:p>
        </p:txBody>
      </p:sp>
    </p:spTree>
    <p:extLst>
      <p:ext uri="{BB962C8B-B14F-4D97-AF65-F5344CB8AC3E}">
        <p14:creationId xmlns:p14="http://schemas.microsoft.com/office/powerpoint/2010/main" val="19352525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4. HTML title Attribute</a:t>
            </a:r>
            <a:br>
              <a:rPr lang="en-GB" b="1" dirty="0"/>
            </a:br>
            <a:endParaRPr lang="en-GB" dirty="0"/>
          </a:p>
        </p:txBody>
      </p:sp>
      <p:sp>
        <p:nvSpPr>
          <p:cNvPr id="3" name="Content Placeholder 2"/>
          <p:cNvSpPr>
            <a:spLocks noGrp="1"/>
          </p:cNvSpPr>
          <p:nvPr>
            <p:ph idx="1"/>
          </p:nvPr>
        </p:nvSpPr>
        <p:spPr/>
        <p:txBody>
          <a:bodyPr>
            <a:normAutofit fontScale="47500" lnSpcReduction="20000"/>
          </a:bodyPr>
          <a:lstStyle/>
          <a:p>
            <a:r>
              <a:rPr lang="en-GB" dirty="0"/>
              <a:t>The</a:t>
            </a:r>
            <a:r>
              <a:rPr lang="en-GB" u="sng" dirty="0">
                <a:hlinkClick r:id="rId2"/>
              </a:rPr>
              <a:t> title attribute</a:t>
            </a:r>
            <a:r>
              <a:rPr lang="en-GB" dirty="0"/>
              <a:t> is used to explain an element by hovering the mouse over it. The </a:t>
            </a:r>
            <a:r>
              <a:rPr lang="en-GB" dirty="0" err="1"/>
              <a:t>behavior</a:t>
            </a:r>
            <a:r>
              <a:rPr lang="en-GB" dirty="0"/>
              <a:t> differs with various elements but generally, the value is displayed while loading or hovering the mouse pointer over it</a:t>
            </a:r>
            <a:r>
              <a:rPr lang="en-GB" dirty="0" smtClean="0"/>
              <a:t>.</a:t>
            </a:r>
          </a:p>
          <a:p>
            <a:r>
              <a:rPr lang="en-GB" dirty="0"/>
              <a:t>&lt;!DOCTYPE html&gt;</a:t>
            </a:r>
          </a:p>
          <a:p>
            <a:r>
              <a:rPr lang="en-GB" dirty="0"/>
              <a:t>&lt;html&gt;</a:t>
            </a:r>
          </a:p>
          <a:p>
            <a:endParaRPr lang="en-GB" dirty="0"/>
          </a:p>
          <a:p>
            <a:r>
              <a:rPr lang="en-GB" dirty="0"/>
              <a:t>&lt;head&gt;</a:t>
            </a:r>
          </a:p>
          <a:p>
            <a:r>
              <a:rPr lang="en-GB" dirty="0"/>
              <a:t>    &lt;title&gt;HTML title Attribute&lt;/title&gt;</a:t>
            </a:r>
          </a:p>
          <a:p>
            <a:r>
              <a:rPr lang="en-GB" dirty="0"/>
              <a:t>&lt;/head&gt;</a:t>
            </a:r>
          </a:p>
          <a:p>
            <a:endParaRPr lang="en-GB" dirty="0"/>
          </a:p>
          <a:p>
            <a:r>
              <a:rPr lang="en-GB" dirty="0"/>
              <a:t>&lt;body&gt;</a:t>
            </a:r>
          </a:p>
          <a:p>
            <a:r>
              <a:rPr lang="en-GB" dirty="0"/>
              <a:t>    &lt;h3 title="Hello </a:t>
            </a:r>
            <a:r>
              <a:rPr lang="en-GB" dirty="0" err="1"/>
              <a:t>GeeksforGeeks</a:t>
            </a:r>
            <a:r>
              <a:rPr lang="en-GB" dirty="0"/>
              <a:t>"&gt;</a:t>
            </a:r>
          </a:p>
          <a:p>
            <a:r>
              <a:rPr lang="en-GB" dirty="0"/>
              <a:t>        Hover to see the effect</a:t>
            </a:r>
          </a:p>
          <a:p>
            <a:r>
              <a:rPr lang="en-GB" dirty="0"/>
              <a:t>    &lt;/h3&gt;</a:t>
            </a:r>
          </a:p>
          <a:p>
            <a:r>
              <a:rPr lang="en-GB" dirty="0"/>
              <a:t>&lt;/body&gt;</a:t>
            </a:r>
          </a:p>
          <a:p>
            <a:endParaRPr lang="en-GB" dirty="0"/>
          </a:p>
          <a:p>
            <a:r>
              <a:rPr lang="en-GB" dirty="0"/>
              <a:t>&lt;/html&gt;</a:t>
            </a:r>
          </a:p>
        </p:txBody>
      </p:sp>
    </p:spTree>
    <p:extLst>
      <p:ext uri="{BB962C8B-B14F-4D97-AF65-F5344CB8AC3E}">
        <p14:creationId xmlns:p14="http://schemas.microsoft.com/office/powerpoint/2010/main" val="35900928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5. HTML </a:t>
            </a:r>
            <a:r>
              <a:rPr lang="en-GB" b="1" dirty="0" err="1"/>
              <a:t>href</a:t>
            </a:r>
            <a:r>
              <a:rPr lang="en-GB" b="1" dirty="0"/>
              <a:t> Attribute</a:t>
            </a:r>
            <a:br>
              <a:rPr lang="en-GB" b="1" dirty="0"/>
            </a:br>
            <a:endParaRPr lang="en-GB" dirty="0"/>
          </a:p>
        </p:txBody>
      </p:sp>
      <p:sp>
        <p:nvSpPr>
          <p:cNvPr id="3" name="Content Placeholder 2"/>
          <p:cNvSpPr>
            <a:spLocks noGrp="1"/>
          </p:cNvSpPr>
          <p:nvPr>
            <p:ph idx="1"/>
          </p:nvPr>
        </p:nvSpPr>
        <p:spPr/>
        <p:txBody>
          <a:bodyPr>
            <a:normAutofit fontScale="32500" lnSpcReduction="20000"/>
          </a:bodyPr>
          <a:lstStyle/>
          <a:p>
            <a:r>
              <a:rPr lang="en-GB" dirty="0"/>
              <a:t>The </a:t>
            </a:r>
            <a:r>
              <a:rPr lang="en-GB" u="sng" dirty="0" err="1">
                <a:hlinkClick r:id="rId2"/>
              </a:rPr>
              <a:t>href</a:t>
            </a:r>
            <a:r>
              <a:rPr lang="en-GB" u="sng" dirty="0">
                <a:hlinkClick r:id="rId2"/>
              </a:rPr>
              <a:t> attribute</a:t>
            </a:r>
            <a:r>
              <a:rPr lang="en-GB" dirty="0"/>
              <a:t> in HTML, used with the &lt;a&gt; tag, specifies a link destination. Clicking the linked text navigates to this address. Adding `target="_blank"` opens it in a new tab</a:t>
            </a:r>
            <a:r>
              <a:rPr lang="en-GB" dirty="0" smtClean="0"/>
              <a:t>.</a:t>
            </a:r>
          </a:p>
          <a:p>
            <a:r>
              <a:rPr lang="en-GB" dirty="0"/>
              <a:t>&lt;!DOCTYPE html&gt;</a:t>
            </a:r>
          </a:p>
          <a:p>
            <a:r>
              <a:rPr lang="en-GB" dirty="0"/>
              <a:t>&lt;html&gt;</a:t>
            </a:r>
          </a:p>
          <a:p>
            <a:endParaRPr lang="en-GB" dirty="0"/>
          </a:p>
          <a:p>
            <a:r>
              <a:rPr lang="en-GB" dirty="0"/>
              <a:t>&lt;head&gt;</a:t>
            </a:r>
          </a:p>
          <a:p>
            <a:r>
              <a:rPr lang="en-GB" dirty="0"/>
              <a:t>    &lt;title&gt;link Attribute&lt;/title&gt;</a:t>
            </a:r>
          </a:p>
          <a:p>
            <a:r>
              <a:rPr lang="en-GB" dirty="0"/>
              <a:t>&lt;/head&gt;</a:t>
            </a:r>
          </a:p>
          <a:p>
            <a:endParaRPr lang="en-GB" dirty="0"/>
          </a:p>
          <a:p>
            <a:r>
              <a:rPr lang="en-GB" dirty="0"/>
              <a:t>&lt;body&gt;</a:t>
            </a:r>
          </a:p>
          <a:p>
            <a:r>
              <a:rPr lang="en-GB" dirty="0"/>
              <a:t>    &lt;a </a:t>
            </a:r>
            <a:r>
              <a:rPr lang="en-GB" dirty="0" err="1"/>
              <a:t>href</a:t>
            </a:r>
            <a:r>
              <a:rPr lang="en-GB" dirty="0"/>
              <a:t>="https://www.geeksforgeeks.org/"&gt;</a:t>
            </a:r>
          </a:p>
          <a:p>
            <a:r>
              <a:rPr lang="en-GB" dirty="0"/>
              <a:t>        Click to open in the same tab</a:t>
            </a:r>
          </a:p>
          <a:p>
            <a:r>
              <a:rPr lang="en-GB" dirty="0"/>
              <a:t>    &lt;/a&gt;&lt;</a:t>
            </a:r>
            <a:r>
              <a:rPr lang="en-GB" dirty="0" err="1"/>
              <a:t>br</a:t>
            </a:r>
            <a:r>
              <a:rPr lang="en-GB" dirty="0"/>
              <a:t>&gt;</a:t>
            </a:r>
          </a:p>
          <a:p>
            <a:r>
              <a:rPr lang="en-GB" dirty="0"/>
              <a:t>    &lt;a </a:t>
            </a:r>
            <a:r>
              <a:rPr lang="en-GB" dirty="0" err="1"/>
              <a:t>href</a:t>
            </a:r>
            <a:r>
              <a:rPr lang="en-GB" dirty="0"/>
              <a:t>="https://www.geeksforgeeks.org/" </a:t>
            </a:r>
          </a:p>
          <a:p>
            <a:r>
              <a:rPr lang="en-GB" dirty="0"/>
              <a:t>       target="_blank"&gt;</a:t>
            </a:r>
          </a:p>
          <a:p>
            <a:r>
              <a:rPr lang="en-GB" dirty="0"/>
              <a:t>        Click to open in a different tab</a:t>
            </a:r>
          </a:p>
          <a:p>
            <a:r>
              <a:rPr lang="en-GB" dirty="0"/>
              <a:t>    &lt;/a&gt;</a:t>
            </a:r>
          </a:p>
          <a:p>
            <a:r>
              <a:rPr lang="en-GB" dirty="0"/>
              <a:t>&lt;/body&gt;</a:t>
            </a:r>
          </a:p>
          <a:p>
            <a:endParaRPr lang="en-GB" dirty="0"/>
          </a:p>
          <a:p>
            <a:r>
              <a:rPr lang="en-GB" dirty="0"/>
              <a:t>&lt;/html&gt;</a:t>
            </a:r>
          </a:p>
        </p:txBody>
      </p:sp>
    </p:spTree>
    <p:extLst>
      <p:ext uri="{BB962C8B-B14F-4D97-AF65-F5344CB8AC3E}">
        <p14:creationId xmlns:p14="http://schemas.microsoft.com/office/powerpoint/2010/main" val="192004239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6. HTML style Attribute</a:t>
            </a:r>
            <a:br>
              <a:rPr lang="en-GB" b="1" dirty="0"/>
            </a:br>
            <a:endParaRPr lang="en-GB" dirty="0"/>
          </a:p>
        </p:txBody>
      </p:sp>
      <p:sp>
        <p:nvSpPr>
          <p:cNvPr id="3" name="Content Placeholder 2"/>
          <p:cNvSpPr>
            <a:spLocks noGrp="1"/>
          </p:cNvSpPr>
          <p:nvPr>
            <p:ph idx="1"/>
          </p:nvPr>
        </p:nvSpPr>
        <p:spPr>
          <a:xfrm>
            <a:off x="514350" y="933450"/>
            <a:ext cx="10839450" cy="5243513"/>
          </a:xfrm>
        </p:spPr>
        <p:txBody>
          <a:bodyPr>
            <a:normAutofit fontScale="40000" lnSpcReduction="20000"/>
          </a:bodyPr>
          <a:lstStyle/>
          <a:p>
            <a:r>
              <a:rPr lang="en-GB" dirty="0"/>
              <a:t>The </a:t>
            </a:r>
            <a:r>
              <a:rPr lang="en-GB" u="sng" dirty="0">
                <a:hlinkClick r:id="rId2"/>
              </a:rPr>
              <a:t>style attribute</a:t>
            </a:r>
            <a:r>
              <a:rPr lang="en-GB" dirty="0"/>
              <a:t> is used to provide various CSS effects to the HTML elements such as increasing font-size, changing font-family, </a:t>
            </a:r>
            <a:r>
              <a:rPr lang="en-GB" dirty="0" err="1"/>
              <a:t>coloring</a:t>
            </a:r>
            <a:r>
              <a:rPr lang="en-GB" dirty="0"/>
              <a:t>, etc</a:t>
            </a:r>
            <a:r>
              <a:rPr lang="en-GB" dirty="0" smtClean="0"/>
              <a:t>.</a:t>
            </a:r>
          </a:p>
          <a:p>
            <a:r>
              <a:rPr lang="en-GB" dirty="0"/>
              <a:t>&lt;!DOCTYPE html&gt;</a:t>
            </a:r>
          </a:p>
          <a:p>
            <a:r>
              <a:rPr lang="en-GB" dirty="0"/>
              <a:t>&lt;html</a:t>
            </a:r>
            <a:r>
              <a:rPr lang="en-GB" dirty="0" smtClean="0"/>
              <a:t>&gt;</a:t>
            </a:r>
            <a:endParaRPr lang="en-GB" dirty="0"/>
          </a:p>
          <a:p>
            <a:r>
              <a:rPr lang="en-GB" dirty="0"/>
              <a:t>&lt;</a:t>
            </a:r>
            <a:r>
              <a:rPr lang="en-GB" dirty="0" smtClean="0"/>
              <a:t>head&gt;</a:t>
            </a:r>
            <a:endParaRPr lang="en-GB" dirty="0"/>
          </a:p>
          <a:p>
            <a:r>
              <a:rPr lang="en-GB" dirty="0"/>
              <a:t>    &lt;title&gt;style Attribute&lt;/title&gt;</a:t>
            </a:r>
          </a:p>
          <a:p>
            <a:r>
              <a:rPr lang="en-GB" dirty="0"/>
              <a:t>&lt;/head</a:t>
            </a:r>
            <a:r>
              <a:rPr lang="en-GB" dirty="0" smtClean="0"/>
              <a:t>&gt;</a:t>
            </a:r>
            <a:endParaRPr lang="en-GB" dirty="0"/>
          </a:p>
          <a:p>
            <a:r>
              <a:rPr lang="en-GB" dirty="0"/>
              <a:t>&lt;body&gt;</a:t>
            </a:r>
          </a:p>
          <a:p>
            <a:r>
              <a:rPr lang="en-GB" dirty="0"/>
              <a:t>    &lt;h2 style="</a:t>
            </a:r>
            <a:r>
              <a:rPr lang="en-GB" dirty="0" err="1"/>
              <a:t>font-family:Chaparral</a:t>
            </a:r>
            <a:r>
              <a:rPr lang="en-GB" dirty="0"/>
              <a:t> Pro Light;"&gt;</a:t>
            </a:r>
          </a:p>
          <a:p>
            <a:r>
              <a:rPr lang="en-GB" dirty="0"/>
              <a:t>          Hello </a:t>
            </a:r>
            <a:r>
              <a:rPr lang="en-GB" dirty="0" err="1"/>
              <a:t>GeeksforGeeks</a:t>
            </a:r>
            <a:r>
              <a:rPr lang="en-GB" dirty="0"/>
              <a:t>.</a:t>
            </a:r>
          </a:p>
          <a:p>
            <a:r>
              <a:rPr lang="en-GB" dirty="0"/>
              <a:t>      &lt;/h2&gt;</a:t>
            </a:r>
          </a:p>
          <a:p>
            <a:r>
              <a:rPr lang="en-GB" dirty="0"/>
              <a:t>    &lt;h3 style="font-size:20px;"&gt;</a:t>
            </a:r>
          </a:p>
          <a:p>
            <a:r>
              <a:rPr lang="en-GB" dirty="0"/>
              <a:t>          Hello </a:t>
            </a:r>
            <a:r>
              <a:rPr lang="en-GB" dirty="0" err="1"/>
              <a:t>GeeksforGeeks</a:t>
            </a:r>
            <a:r>
              <a:rPr lang="en-GB" dirty="0"/>
              <a:t>.</a:t>
            </a:r>
          </a:p>
          <a:p>
            <a:r>
              <a:rPr lang="en-GB" dirty="0"/>
              <a:t>      &lt;/h3&gt;</a:t>
            </a:r>
          </a:p>
          <a:p>
            <a:r>
              <a:rPr lang="en-GB" dirty="0"/>
              <a:t>    &lt;h2 style="</a:t>
            </a:r>
            <a:r>
              <a:rPr lang="en-GB" dirty="0" err="1"/>
              <a:t>color</a:t>
            </a:r>
            <a:r>
              <a:rPr lang="en-GB" dirty="0"/>
              <a:t>:#8CCEF9;"&gt;</a:t>
            </a:r>
          </a:p>
          <a:p>
            <a:r>
              <a:rPr lang="en-GB" dirty="0"/>
              <a:t>          Hello </a:t>
            </a:r>
            <a:r>
              <a:rPr lang="en-GB" dirty="0" err="1"/>
              <a:t>GeeksforGeeks</a:t>
            </a:r>
            <a:r>
              <a:rPr lang="en-GB" dirty="0"/>
              <a:t>.</a:t>
            </a:r>
          </a:p>
          <a:p>
            <a:r>
              <a:rPr lang="en-GB" dirty="0"/>
              <a:t>      &lt;/h2&gt;</a:t>
            </a:r>
          </a:p>
          <a:p>
            <a:r>
              <a:rPr lang="en-GB" dirty="0"/>
              <a:t>    &lt;h2 style="</a:t>
            </a:r>
            <a:r>
              <a:rPr lang="en-GB" dirty="0" err="1"/>
              <a:t>text-align:center</a:t>
            </a:r>
            <a:r>
              <a:rPr lang="en-GB" dirty="0"/>
              <a:t>;"&gt;</a:t>
            </a:r>
          </a:p>
          <a:p>
            <a:r>
              <a:rPr lang="en-GB" dirty="0"/>
              <a:t>          Hello </a:t>
            </a:r>
            <a:r>
              <a:rPr lang="en-GB" dirty="0" err="1"/>
              <a:t>GeeksforGeeks</a:t>
            </a:r>
            <a:r>
              <a:rPr lang="en-GB" dirty="0"/>
              <a:t>.</a:t>
            </a:r>
          </a:p>
          <a:p>
            <a:r>
              <a:rPr lang="en-GB" dirty="0"/>
              <a:t>      &lt;/h2&gt;</a:t>
            </a:r>
          </a:p>
          <a:p>
            <a:r>
              <a:rPr lang="en-GB" dirty="0"/>
              <a:t>&lt;/body</a:t>
            </a:r>
            <a:r>
              <a:rPr lang="en-GB" dirty="0" smtClean="0"/>
              <a:t>&gt;</a:t>
            </a:r>
            <a:endParaRPr lang="en-GB" dirty="0"/>
          </a:p>
          <a:p>
            <a:r>
              <a:rPr lang="en-GB" dirty="0"/>
              <a:t>&lt;/html&gt;</a:t>
            </a:r>
          </a:p>
        </p:txBody>
      </p:sp>
    </p:spTree>
    <p:extLst>
      <p:ext uri="{BB962C8B-B14F-4D97-AF65-F5344CB8AC3E}">
        <p14:creationId xmlns:p14="http://schemas.microsoft.com/office/powerpoint/2010/main" val="77000533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TAG</a:t>
            </a:r>
            <a:endParaRPr lang="en-GB" dirty="0"/>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87116029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HTML p Tag</a:t>
            </a:r>
          </a:p>
        </p:txBody>
      </p:sp>
      <p:sp>
        <p:nvSpPr>
          <p:cNvPr id="3" name="Content Placeholder 2"/>
          <p:cNvSpPr>
            <a:spLocks noGrp="1"/>
          </p:cNvSpPr>
          <p:nvPr>
            <p:ph idx="1"/>
          </p:nvPr>
        </p:nvSpPr>
        <p:spPr/>
        <p:txBody>
          <a:bodyPr/>
          <a:lstStyle/>
          <a:p>
            <a:pPr fontAlgn="base"/>
            <a:r>
              <a:rPr lang="en-GB" dirty="0"/>
              <a:t>The &lt;p&gt; tag in HTML is used to define a paragraph of text. It automatically adds space before and after the content, making the text easier to read and well-structured.</a:t>
            </a:r>
          </a:p>
          <a:p>
            <a:pPr fontAlgn="base"/>
            <a:r>
              <a:rPr lang="en-GB" dirty="0"/>
              <a:t>The &lt;p&gt; tag is a block-level element used for displaying text in separate paragraphs.</a:t>
            </a:r>
          </a:p>
          <a:p>
            <a:pPr fontAlgn="base"/>
            <a:r>
              <a:rPr lang="en-GB" dirty="0"/>
              <a:t>Browsers automatically add line breaks and spacing before and after each &lt;p&gt; tag.</a:t>
            </a:r>
          </a:p>
          <a:p>
            <a:endParaRPr lang="en-GB" dirty="0"/>
          </a:p>
        </p:txBody>
      </p:sp>
    </p:spTree>
    <p:extLst>
      <p:ext uri="{BB962C8B-B14F-4D97-AF65-F5344CB8AC3E}">
        <p14:creationId xmlns:p14="http://schemas.microsoft.com/office/powerpoint/2010/main" val="350507785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&lt;html&gt;</a:t>
            </a:r>
          </a:p>
          <a:p>
            <a:endParaRPr lang="en-GB" dirty="0"/>
          </a:p>
          <a:p>
            <a:r>
              <a:rPr lang="en-GB" dirty="0"/>
              <a:t>&lt;body&gt;</a:t>
            </a:r>
          </a:p>
          <a:p>
            <a:r>
              <a:rPr lang="en-GB" dirty="0"/>
              <a:t>    &lt;p&gt;Welcome to </a:t>
            </a:r>
            <a:r>
              <a:rPr lang="en-GB" dirty="0" err="1"/>
              <a:t>GeeksforGeeks</a:t>
            </a:r>
            <a:r>
              <a:rPr lang="en-GB" dirty="0"/>
              <a:t>&lt;/p&gt;</a:t>
            </a:r>
          </a:p>
          <a:p>
            <a:r>
              <a:rPr lang="en-GB" dirty="0"/>
              <a:t>&lt;/body&gt;</a:t>
            </a:r>
          </a:p>
          <a:p>
            <a:endParaRPr lang="en-GB" dirty="0"/>
          </a:p>
          <a:p>
            <a:r>
              <a:rPr lang="en-GB" dirty="0"/>
              <a:t>&lt;/html&gt;</a:t>
            </a:r>
          </a:p>
        </p:txBody>
      </p:sp>
    </p:spTree>
    <p:extLst>
      <p:ext uri="{BB962C8B-B14F-4D97-AF65-F5344CB8AC3E}">
        <p14:creationId xmlns:p14="http://schemas.microsoft.com/office/powerpoint/2010/main" val="181234158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Styling Paragraphs</a:t>
            </a:r>
            <a:br>
              <a:rPr lang="en-GB" b="1" dirty="0"/>
            </a:br>
            <a:endParaRPr lang="en-GB" dirty="0"/>
          </a:p>
        </p:txBody>
      </p:sp>
      <p:sp>
        <p:nvSpPr>
          <p:cNvPr id="3" name="Content Placeholder 2"/>
          <p:cNvSpPr>
            <a:spLocks noGrp="1"/>
          </p:cNvSpPr>
          <p:nvPr>
            <p:ph idx="1"/>
          </p:nvPr>
        </p:nvSpPr>
        <p:spPr>
          <a:xfrm>
            <a:off x="552450" y="1304925"/>
            <a:ext cx="10801350" cy="4872038"/>
          </a:xfrm>
        </p:spPr>
        <p:txBody>
          <a:bodyPr>
            <a:normAutofit fontScale="47500" lnSpcReduction="20000"/>
          </a:bodyPr>
          <a:lstStyle/>
          <a:p>
            <a:r>
              <a:rPr lang="en-GB" dirty="0"/>
              <a:t>&lt;!DOCTYPE html&gt;</a:t>
            </a:r>
          </a:p>
          <a:p>
            <a:r>
              <a:rPr lang="en-GB" dirty="0"/>
              <a:t>&lt;html </a:t>
            </a:r>
            <a:r>
              <a:rPr lang="en-GB" dirty="0" err="1"/>
              <a:t>lang</a:t>
            </a:r>
            <a:r>
              <a:rPr lang="en-GB" dirty="0"/>
              <a:t>="en"&gt;</a:t>
            </a:r>
          </a:p>
          <a:p>
            <a:endParaRPr lang="en-GB" dirty="0"/>
          </a:p>
          <a:p>
            <a:r>
              <a:rPr lang="en-GB" dirty="0"/>
              <a:t>&lt;head&gt;</a:t>
            </a:r>
          </a:p>
          <a:p>
            <a:r>
              <a:rPr lang="en-GB" dirty="0"/>
              <a:t>    &lt;style&gt;</a:t>
            </a:r>
          </a:p>
          <a:p>
            <a:r>
              <a:rPr lang="en-GB" dirty="0"/>
              <a:t>        p {</a:t>
            </a:r>
          </a:p>
          <a:p>
            <a:r>
              <a:rPr lang="en-GB" dirty="0"/>
              <a:t>            </a:t>
            </a:r>
            <a:r>
              <a:rPr lang="en-GB" dirty="0" err="1"/>
              <a:t>color</a:t>
            </a:r>
            <a:r>
              <a:rPr lang="en-GB" dirty="0"/>
              <a:t>: green;</a:t>
            </a:r>
          </a:p>
          <a:p>
            <a:r>
              <a:rPr lang="en-GB" dirty="0"/>
              <a:t>            font-size: 30px;</a:t>
            </a:r>
          </a:p>
          <a:p>
            <a:r>
              <a:rPr lang="en-GB" dirty="0"/>
              <a:t>            font-weight: 700;</a:t>
            </a:r>
          </a:p>
          <a:p>
            <a:r>
              <a:rPr lang="en-GB" dirty="0"/>
              <a:t>        }</a:t>
            </a:r>
          </a:p>
          <a:p>
            <a:r>
              <a:rPr lang="en-GB" dirty="0"/>
              <a:t>    &lt;/style&gt;</a:t>
            </a:r>
          </a:p>
          <a:p>
            <a:r>
              <a:rPr lang="en-GB" dirty="0"/>
              <a:t>&lt;/head&gt;</a:t>
            </a:r>
          </a:p>
          <a:p>
            <a:endParaRPr lang="en-GB" dirty="0"/>
          </a:p>
          <a:p>
            <a:r>
              <a:rPr lang="en-GB" dirty="0"/>
              <a:t>&lt;body&gt;</a:t>
            </a:r>
          </a:p>
          <a:p>
            <a:r>
              <a:rPr lang="en-GB" dirty="0"/>
              <a:t>    &lt;p&gt;This is paragraph element&lt;/p&gt;</a:t>
            </a:r>
          </a:p>
          <a:p>
            <a:r>
              <a:rPr lang="en-GB" dirty="0"/>
              <a:t>&lt;/body&gt;</a:t>
            </a:r>
          </a:p>
          <a:p>
            <a:endParaRPr lang="en-GB" dirty="0"/>
          </a:p>
          <a:p>
            <a:r>
              <a:rPr lang="en-GB" dirty="0"/>
              <a:t>&lt;/html&gt;</a:t>
            </a:r>
          </a:p>
        </p:txBody>
      </p:sp>
    </p:spTree>
    <p:extLst>
      <p:ext uri="{BB962C8B-B14F-4D97-AF65-F5344CB8AC3E}">
        <p14:creationId xmlns:p14="http://schemas.microsoft.com/office/powerpoint/2010/main" val="276518486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Aligning Paragraph</a:t>
            </a:r>
            <a:br>
              <a:rPr lang="en-GB" b="1" dirty="0"/>
            </a:br>
            <a:endParaRPr lang="en-GB" dirty="0"/>
          </a:p>
        </p:txBody>
      </p:sp>
      <p:sp>
        <p:nvSpPr>
          <p:cNvPr id="3" name="Content Placeholder 2"/>
          <p:cNvSpPr>
            <a:spLocks noGrp="1"/>
          </p:cNvSpPr>
          <p:nvPr>
            <p:ph idx="1"/>
          </p:nvPr>
        </p:nvSpPr>
        <p:spPr/>
        <p:txBody>
          <a:bodyPr>
            <a:normAutofit fontScale="77500" lnSpcReduction="20000"/>
          </a:bodyPr>
          <a:lstStyle/>
          <a:p>
            <a:r>
              <a:rPr lang="en-GB" dirty="0"/>
              <a:t>The HTML &lt;p&gt; can be aligned with the CSS property </a:t>
            </a:r>
            <a:r>
              <a:rPr lang="en-GB" u="sng" dirty="0">
                <a:hlinkClick r:id="rId2"/>
              </a:rPr>
              <a:t>text- align</a:t>
            </a:r>
            <a:r>
              <a:rPr lang="en-GB" dirty="0"/>
              <a:t>.	 </a:t>
            </a:r>
            <a:endParaRPr lang="en-GB" dirty="0" smtClean="0"/>
          </a:p>
          <a:p>
            <a:r>
              <a:rPr lang="en-GB" dirty="0" smtClean="0"/>
              <a:t>&lt;!</a:t>
            </a:r>
            <a:r>
              <a:rPr lang="en-GB" dirty="0"/>
              <a:t>DOCTYPE html&gt;</a:t>
            </a:r>
          </a:p>
          <a:p>
            <a:r>
              <a:rPr lang="en-GB" dirty="0"/>
              <a:t>&lt;html&gt;</a:t>
            </a:r>
          </a:p>
          <a:p>
            <a:endParaRPr lang="en-GB" dirty="0"/>
          </a:p>
          <a:p>
            <a:r>
              <a:rPr lang="en-GB" dirty="0"/>
              <a:t>&lt;head&gt;</a:t>
            </a:r>
          </a:p>
          <a:p>
            <a:r>
              <a:rPr lang="en-GB" dirty="0"/>
              <a:t>&lt;/head&gt;</a:t>
            </a:r>
          </a:p>
          <a:p>
            <a:endParaRPr lang="en-GB" dirty="0"/>
          </a:p>
          <a:p>
            <a:r>
              <a:rPr lang="en-GB" dirty="0"/>
              <a:t>&lt;body&gt;</a:t>
            </a:r>
          </a:p>
          <a:p>
            <a:r>
              <a:rPr lang="en-GB" dirty="0"/>
              <a:t>    &lt;p style="text-align: </a:t>
            </a:r>
            <a:r>
              <a:rPr lang="en-GB" dirty="0" err="1"/>
              <a:t>center</a:t>
            </a:r>
            <a:r>
              <a:rPr lang="en-GB" dirty="0"/>
              <a:t>;"&gt;This is paragraph element&lt;/p&gt;</a:t>
            </a:r>
          </a:p>
          <a:p>
            <a:r>
              <a:rPr lang="en-GB" dirty="0"/>
              <a:t>&lt;/body&gt;</a:t>
            </a:r>
          </a:p>
          <a:p>
            <a:endParaRPr lang="en-GB" dirty="0"/>
          </a:p>
          <a:p>
            <a:r>
              <a:rPr lang="en-GB" dirty="0"/>
              <a:t>&lt;/html&gt;</a:t>
            </a:r>
          </a:p>
        </p:txBody>
      </p:sp>
    </p:spTree>
    <p:extLst>
      <p:ext uri="{BB962C8B-B14F-4D97-AF65-F5344CB8AC3E}">
        <p14:creationId xmlns:p14="http://schemas.microsoft.com/office/powerpoint/2010/main" val="263438330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2.HTML </a:t>
            </a:r>
            <a:r>
              <a:rPr lang="en-GB" b="1" dirty="0"/>
              <a:t>a Tag</a:t>
            </a:r>
            <a:br>
              <a:rPr lang="en-GB" b="1" dirty="0"/>
            </a:br>
            <a:endParaRPr lang="en-GB" dirty="0"/>
          </a:p>
        </p:txBody>
      </p:sp>
      <p:sp>
        <p:nvSpPr>
          <p:cNvPr id="3" name="Content Placeholder 2"/>
          <p:cNvSpPr>
            <a:spLocks noGrp="1"/>
          </p:cNvSpPr>
          <p:nvPr>
            <p:ph idx="1"/>
          </p:nvPr>
        </p:nvSpPr>
        <p:spPr/>
        <p:txBody>
          <a:bodyPr/>
          <a:lstStyle/>
          <a:p>
            <a:pPr fontAlgn="base"/>
            <a:r>
              <a:rPr lang="en-GB" dirty="0"/>
              <a:t>The &lt;a&gt; tag defines a hyperlink that connects one page or resource to another. Its key attribute, </a:t>
            </a:r>
            <a:r>
              <a:rPr lang="en-GB" dirty="0" err="1"/>
              <a:t>href</a:t>
            </a:r>
            <a:r>
              <a:rPr lang="en-GB" dirty="0"/>
              <a:t>, specifies the destination URL where users are directed upon clicking.</a:t>
            </a:r>
          </a:p>
          <a:p>
            <a:pPr fontAlgn="base"/>
            <a:r>
              <a:rPr lang="en-GB" dirty="0"/>
              <a:t>Can link to web pages, email addresses, phone numbers, or sections within the same page.</a:t>
            </a:r>
          </a:p>
          <a:p>
            <a:pPr fontAlgn="base"/>
            <a:r>
              <a:rPr lang="en-GB" dirty="0"/>
              <a:t>Supports attributes like target, </a:t>
            </a:r>
            <a:r>
              <a:rPr lang="en-GB" dirty="0" err="1"/>
              <a:t>rel</a:t>
            </a:r>
            <a:r>
              <a:rPr lang="en-GB" dirty="0"/>
              <a:t>, and download for enhanced functionality.</a:t>
            </a:r>
          </a:p>
        </p:txBody>
      </p:sp>
    </p:spTree>
    <p:extLst>
      <p:ext uri="{BB962C8B-B14F-4D97-AF65-F5344CB8AC3E}">
        <p14:creationId xmlns:p14="http://schemas.microsoft.com/office/powerpoint/2010/main" val="198830795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lnSpcReduction="10000"/>
          </a:bodyPr>
          <a:lstStyle/>
          <a:p>
            <a:r>
              <a:rPr lang="en-GB" dirty="0"/>
              <a:t>&lt;!DOCTYPE html&gt;</a:t>
            </a:r>
          </a:p>
          <a:p>
            <a:r>
              <a:rPr lang="en-GB" dirty="0"/>
              <a:t>&lt;html&gt;</a:t>
            </a:r>
          </a:p>
          <a:p>
            <a:r>
              <a:rPr lang="en-GB" dirty="0"/>
              <a:t>&lt;body&gt;</a:t>
            </a:r>
          </a:p>
          <a:p>
            <a:r>
              <a:rPr lang="en-GB" dirty="0"/>
              <a:t>&lt;a </a:t>
            </a:r>
            <a:r>
              <a:rPr lang="en-GB" dirty="0" err="1"/>
              <a:t>href</a:t>
            </a:r>
            <a:r>
              <a:rPr lang="en-GB" dirty="0"/>
              <a:t>="https://www.geeksforgeeks.org/html/html-tutorial/" target="_blank"&gt;</a:t>
            </a:r>
          </a:p>
          <a:p>
            <a:r>
              <a:rPr lang="en-GB" dirty="0"/>
              <a:t>   HTML Tutorial</a:t>
            </a:r>
          </a:p>
          <a:p>
            <a:r>
              <a:rPr lang="en-GB" dirty="0"/>
              <a:t>        &lt;/a&gt;</a:t>
            </a:r>
          </a:p>
          <a:p>
            <a:r>
              <a:rPr lang="en-GB" dirty="0"/>
              <a:t>&lt;/body&gt;</a:t>
            </a:r>
          </a:p>
          <a:p>
            <a:r>
              <a:rPr lang="en-GB" dirty="0"/>
              <a:t>&lt;/html&gt;</a:t>
            </a:r>
          </a:p>
        </p:txBody>
      </p:sp>
    </p:spTree>
    <p:extLst>
      <p:ext uri="{BB962C8B-B14F-4D97-AF65-F5344CB8AC3E}">
        <p14:creationId xmlns:p14="http://schemas.microsoft.com/office/powerpoint/2010/main" val="267770875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&lt;a </a:t>
            </a:r>
            <a:r>
              <a:rPr lang="en-GB" dirty="0" err="1"/>
              <a:t>href</a:t>
            </a:r>
            <a:r>
              <a:rPr lang="en-GB" dirty="0"/>
              <a:t> = "link"&gt; Link Name &lt;/a&gt; </a:t>
            </a:r>
            <a:endParaRPr lang="en-GB" dirty="0" smtClean="0"/>
          </a:p>
          <a:p>
            <a:pPr fontAlgn="base"/>
            <a:r>
              <a:rPr lang="en-GB" dirty="0"/>
              <a:t>By default, links appear as follows in all browsers:</a:t>
            </a:r>
          </a:p>
          <a:p>
            <a:pPr fontAlgn="base"/>
            <a:r>
              <a:rPr lang="en-GB" b="1" dirty="0"/>
              <a:t>Unvisited links:</a:t>
            </a:r>
            <a:r>
              <a:rPr lang="en-GB" dirty="0"/>
              <a:t> underlined and blue.</a:t>
            </a:r>
          </a:p>
          <a:p>
            <a:pPr fontAlgn="base"/>
            <a:r>
              <a:rPr lang="en-GB" b="1" dirty="0"/>
              <a:t>Visited links:</a:t>
            </a:r>
            <a:r>
              <a:rPr lang="en-GB" dirty="0"/>
              <a:t> underlined and purple.</a:t>
            </a:r>
          </a:p>
          <a:p>
            <a:pPr fontAlgn="base"/>
            <a:r>
              <a:rPr lang="en-GB" b="1" dirty="0"/>
              <a:t>Active links:</a:t>
            </a:r>
            <a:r>
              <a:rPr lang="en-GB" dirty="0"/>
              <a:t> underlined and red.</a:t>
            </a:r>
          </a:p>
          <a:p>
            <a:endParaRPr lang="en-GB" dirty="0"/>
          </a:p>
        </p:txBody>
      </p:sp>
    </p:spTree>
    <p:extLst>
      <p:ext uri="{BB962C8B-B14F-4D97-AF65-F5344CB8AC3E}">
        <p14:creationId xmlns:p14="http://schemas.microsoft.com/office/powerpoint/2010/main" val="323417419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3.HTML </a:t>
            </a:r>
            <a:r>
              <a:rPr lang="en-GB" b="1" dirty="0" err="1"/>
              <a:t>br</a:t>
            </a:r>
            <a:r>
              <a:rPr lang="en-GB" b="1" dirty="0"/>
              <a:t> Tag</a:t>
            </a:r>
            <a:br>
              <a:rPr lang="en-GB" b="1" dirty="0"/>
            </a:br>
            <a:endParaRPr lang="en-GB" dirty="0"/>
          </a:p>
        </p:txBody>
      </p:sp>
      <p:sp>
        <p:nvSpPr>
          <p:cNvPr id="3" name="Content Placeholder 2"/>
          <p:cNvSpPr>
            <a:spLocks noGrp="1"/>
          </p:cNvSpPr>
          <p:nvPr>
            <p:ph idx="1"/>
          </p:nvPr>
        </p:nvSpPr>
        <p:spPr/>
        <p:txBody>
          <a:bodyPr>
            <a:normAutofit fontScale="92500" lnSpcReduction="10000"/>
          </a:bodyPr>
          <a:lstStyle/>
          <a:p>
            <a:pPr fontAlgn="base"/>
            <a:r>
              <a:rPr lang="en-GB" dirty="0"/>
              <a:t>The</a:t>
            </a:r>
            <a:r>
              <a:rPr lang="en-GB" b="1" dirty="0"/>
              <a:t> &lt;</a:t>
            </a:r>
            <a:r>
              <a:rPr lang="en-GB" b="1" dirty="0" err="1"/>
              <a:t>br</a:t>
            </a:r>
            <a:r>
              <a:rPr lang="en-GB" b="1" dirty="0"/>
              <a:t>&gt; tag in HTML</a:t>
            </a:r>
            <a:r>
              <a:rPr lang="en-GB" dirty="0"/>
              <a:t> is used to create a line break in the text, causing the content that follows it to appear on a new line.</a:t>
            </a:r>
          </a:p>
          <a:p>
            <a:r>
              <a:rPr lang="en-GB" dirty="0" smtClean="0"/>
              <a:t>&lt;!</a:t>
            </a:r>
            <a:r>
              <a:rPr lang="en-GB" dirty="0"/>
              <a:t>DOCTYPE html&gt;</a:t>
            </a:r>
          </a:p>
          <a:p>
            <a:r>
              <a:rPr lang="en-GB" dirty="0"/>
              <a:t>&lt;html&gt;</a:t>
            </a:r>
          </a:p>
          <a:p>
            <a:endParaRPr lang="en-GB" dirty="0"/>
          </a:p>
          <a:p>
            <a:r>
              <a:rPr lang="en-GB" dirty="0"/>
              <a:t>&lt;body&gt;</a:t>
            </a:r>
          </a:p>
          <a:p>
            <a:r>
              <a:rPr lang="en-GB" dirty="0"/>
              <a:t>    &lt;p&gt;Dear Reader, &lt;</a:t>
            </a:r>
            <a:r>
              <a:rPr lang="en-GB" dirty="0" err="1"/>
              <a:t>br</a:t>
            </a:r>
            <a:r>
              <a:rPr lang="en-GB" dirty="0"/>
              <a:t>&gt;This is printed after a line break.&lt;/p&gt;</a:t>
            </a:r>
          </a:p>
          <a:p>
            <a:r>
              <a:rPr lang="en-GB" dirty="0"/>
              <a:t>&lt;/body&gt;</a:t>
            </a:r>
          </a:p>
          <a:p>
            <a:endParaRPr lang="en-GB" dirty="0"/>
          </a:p>
          <a:p>
            <a:r>
              <a:rPr lang="en-GB" dirty="0"/>
              <a:t>&lt;/html&gt;</a:t>
            </a:r>
          </a:p>
        </p:txBody>
      </p:sp>
    </p:spTree>
    <p:extLst>
      <p:ext uri="{BB962C8B-B14F-4D97-AF65-F5344CB8AC3E}">
        <p14:creationId xmlns:p14="http://schemas.microsoft.com/office/powerpoint/2010/main" val="187270738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2374" y="1825625"/>
            <a:ext cx="11081426" cy="4351338"/>
          </a:xfrm>
        </p:spPr>
        <p:txBody>
          <a:bodyPr/>
          <a:lstStyle/>
          <a:p>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img</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src</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=“nameofimage.jpg” alt=“error” height=“500” width=“600”&gt;</a:t>
            </a:r>
          </a:p>
          <a:p>
            <a:endParaRPr lang="en-IN"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7472" y="1825625"/>
            <a:ext cx="10906328" cy="4351338"/>
          </a:xfrm>
        </p:spPr>
        <p:txBody>
          <a:bodyPr/>
          <a:lstStyle/>
          <a:p>
            <a:r>
              <a:rPr lang="en-IN" b="0" i="0" dirty="0">
                <a:solidFill>
                  <a:srgbClr val="333333"/>
                </a:solidFill>
                <a:effectLst/>
                <a:latin typeface="Courier"/>
              </a:rPr>
              <a:t>&lt;a </a:t>
            </a:r>
            <a:r>
              <a:rPr lang="en-IN" b="0" i="0" dirty="0" err="1">
                <a:solidFill>
                  <a:srgbClr val="333333"/>
                </a:solidFill>
                <a:effectLst/>
                <a:latin typeface="Courier"/>
              </a:rPr>
              <a:t>href</a:t>
            </a:r>
            <a:r>
              <a:rPr lang="en-IN" b="0" i="0" dirty="0">
                <a:solidFill>
                  <a:srgbClr val="333333"/>
                </a:solidFill>
                <a:effectLst/>
                <a:latin typeface="Courier"/>
              </a:rPr>
              <a:t>=“https://www.google.com"&gt;CodeBrainer&lt;/a&gt;</a:t>
            </a:r>
          </a:p>
          <a:p>
            <a:endParaRPr lang="en-IN"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0588"/>
            <a:ext cx="10515600" cy="5906375"/>
          </a:xfrm>
        </p:spPr>
        <p:txBody>
          <a:bodyPr>
            <a:normAutofit lnSpcReduction="10000"/>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&lt;!DOCTYPE html&gt;</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8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html</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8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head</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8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title</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&gt;First Page&lt;/</a:t>
            </a:r>
            <a:r>
              <a:rPr kumimoji="0" lang="en-US" altLang="en-US" sz="28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title</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8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head</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8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body</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8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h1</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r>
              <a:rPr kumimoji="0" lang="en-US" altLang="en-US" sz="2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GeeksforGeeks</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8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h1</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8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p</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 Computer Science Portal for Geeks&lt;/</a:t>
            </a:r>
            <a:r>
              <a:rPr kumimoji="0" lang="en-US" altLang="en-US" sz="28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p</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b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b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img</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src</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=“nameofimage.jpg” alt=“error” height=“” width=“”&gt;</a:t>
            </a:r>
          </a:p>
          <a:p>
            <a:pPr marL="0" marR="0" lvl="0" indent="0" algn="l" defTabSz="914400" rtl="0" eaLnBrk="0" fontAlgn="base" latinLnBrk="0" hangingPunct="0">
              <a:lnSpc>
                <a:spcPct val="100000"/>
              </a:lnSpc>
              <a:spcBef>
                <a:spcPct val="0"/>
              </a:spcBef>
              <a:spcAft>
                <a:spcPct val="0"/>
              </a:spcAft>
              <a:buClrTx/>
              <a:buSzTx/>
              <a:buFontTx/>
              <a:buNone/>
            </a:pPr>
            <a:r>
              <a:rPr lang="en-US" altLang="en-US" dirty="0">
                <a:solidFill>
                  <a:srgbClr val="000000"/>
                </a:solidFill>
                <a:latin typeface="Times New Roman" panose="02020603050405020304" pitchFamily="18" charset="0"/>
                <a:cs typeface="Times New Roman" panose="02020603050405020304" pitchFamily="18" charset="0"/>
              </a:rPr>
              <a:t>&lt;a </a:t>
            </a:r>
            <a:r>
              <a:rPr lang="en-US" altLang="en-US" dirty="0" err="1">
                <a:solidFill>
                  <a:srgbClr val="000000"/>
                </a:solidFill>
                <a:latin typeface="Times New Roman" panose="02020603050405020304" pitchFamily="18" charset="0"/>
                <a:cs typeface="Times New Roman" panose="02020603050405020304" pitchFamily="18" charset="0"/>
              </a:rPr>
              <a:t>href</a:t>
            </a:r>
            <a:r>
              <a:rPr lang="en-US" altLang="en-US" dirty="0">
                <a:solidFill>
                  <a:srgbClr val="000000"/>
                </a:solidFill>
                <a:latin typeface="Times New Roman" panose="02020603050405020304" pitchFamily="18" charset="0"/>
                <a:cs typeface="Times New Roman" panose="02020603050405020304" pitchFamily="18" charset="0"/>
              </a:rPr>
              <a:t>=“website name”&gt; FB &lt;/a&gt;</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8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body</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html</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3600" b="0" i="0" u="none" strike="noStrike" cap="none" normalizeH="0" baseline="0" dirty="0">
              <a:ln>
                <a:noFill/>
              </a:ln>
              <a:solidFill>
                <a:schemeClr val="tx1"/>
              </a:solidFill>
              <a:effectLst/>
              <a:latin typeface="Arial" panose="020B0604020202020204" pitchFamily="34" charset="0"/>
            </a:endParaRPr>
          </a:p>
          <a:p>
            <a:endParaRPr lang="en-IN"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HTML Block Elements and Text Elements</a:t>
            </a:r>
          </a:p>
        </p:txBody>
      </p:sp>
      <p:sp>
        <p:nvSpPr>
          <p:cNvPr id="3" name="Content Placeholder 2"/>
          <p:cNvSpPr>
            <a:spLocks noGrp="1"/>
          </p:cNvSpPr>
          <p:nvPr>
            <p:ph idx="1"/>
          </p:nvPr>
        </p:nvSpPr>
        <p:spPr/>
        <p:txBody>
          <a:bodyPr/>
          <a:lstStyle/>
          <a:p>
            <a:r>
              <a:rPr lang="en-GB" b="1" dirty="0"/>
              <a:t>1. HTML Elements</a:t>
            </a:r>
          </a:p>
          <a:p>
            <a:r>
              <a:rPr lang="en-GB" dirty="0"/>
              <a:t>An </a:t>
            </a:r>
            <a:r>
              <a:rPr lang="en-GB" b="1" dirty="0"/>
              <a:t>HTML element</a:t>
            </a:r>
            <a:r>
              <a:rPr lang="en-GB" dirty="0"/>
              <a:t> is a building block of a web page. It is written using </a:t>
            </a:r>
            <a:r>
              <a:rPr lang="en-GB" b="1" dirty="0"/>
              <a:t>tags</a:t>
            </a:r>
            <a:r>
              <a:rPr lang="en-GB" dirty="0"/>
              <a:t>.</a:t>
            </a:r>
          </a:p>
          <a:p>
            <a:r>
              <a:rPr lang="en-GB" dirty="0"/>
              <a:t>HTML elements are mainly divided into </a:t>
            </a:r>
            <a:r>
              <a:rPr lang="en-GB" b="1" dirty="0"/>
              <a:t>two types</a:t>
            </a:r>
            <a:r>
              <a:rPr lang="en-GB" dirty="0"/>
              <a:t>:</a:t>
            </a:r>
          </a:p>
          <a:p>
            <a:r>
              <a:rPr lang="en-GB" b="1" dirty="0"/>
              <a:t>Block Elements</a:t>
            </a:r>
            <a:endParaRPr lang="en-GB" dirty="0"/>
          </a:p>
          <a:p>
            <a:r>
              <a:rPr lang="en-GB" b="1" dirty="0"/>
              <a:t>Text (Inline) Elements</a:t>
            </a:r>
            <a:endParaRPr lang="en-GB" dirty="0"/>
          </a:p>
          <a:p>
            <a:endParaRPr lang="en-GB" dirty="0"/>
          </a:p>
        </p:txBody>
      </p:sp>
    </p:spTree>
    <p:extLst>
      <p:ext uri="{BB962C8B-B14F-4D97-AF65-F5344CB8AC3E}">
        <p14:creationId xmlns:p14="http://schemas.microsoft.com/office/powerpoint/2010/main" val="228072554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r>
              <a:rPr lang="en-GB" dirty="0"/>
              <a:t>Block Elements</a:t>
            </a:r>
          </a:p>
        </p:txBody>
      </p:sp>
      <p:sp>
        <p:nvSpPr>
          <p:cNvPr id="3" name="Content Placeholder 2"/>
          <p:cNvSpPr>
            <a:spLocks noGrp="1"/>
          </p:cNvSpPr>
          <p:nvPr>
            <p:ph idx="1"/>
          </p:nvPr>
        </p:nvSpPr>
        <p:spPr>
          <a:xfrm>
            <a:off x="666750" y="1485900"/>
            <a:ext cx="10687050" cy="4691063"/>
          </a:xfrm>
        </p:spPr>
        <p:txBody>
          <a:bodyPr/>
          <a:lstStyle/>
          <a:p>
            <a:r>
              <a:rPr lang="en-GB" dirty="0"/>
              <a:t>A </a:t>
            </a:r>
            <a:r>
              <a:rPr lang="en-GB" b="1" dirty="0"/>
              <a:t>block element</a:t>
            </a:r>
            <a:r>
              <a:rPr lang="en-GB" dirty="0"/>
              <a:t> is an HTML element that </a:t>
            </a:r>
            <a:r>
              <a:rPr lang="en-GB" b="1" dirty="0"/>
              <a:t>starts on a new line and takes the full width of the page</a:t>
            </a:r>
            <a:r>
              <a:rPr lang="en-GB" dirty="0"/>
              <a:t>.</a:t>
            </a:r>
          </a:p>
          <a:p>
            <a:r>
              <a:rPr lang="en-GB" dirty="0"/>
              <a:t>Block elements create </a:t>
            </a:r>
            <a:r>
              <a:rPr lang="en-GB" b="1" dirty="0"/>
              <a:t>separate sections or blocks</a:t>
            </a:r>
            <a:r>
              <a:rPr lang="en-GB" dirty="0"/>
              <a:t> on the web page.</a:t>
            </a:r>
          </a:p>
          <a:p>
            <a:r>
              <a:rPr lang="en-GB" b="1" dirty="0"/>
              <a:t>Characteristics</a:t>
            </a:r>
          </a:p>
          <a:p>
            <a:r>
              <a:rPr lang="en-GB" dirty="0"/>
              <a:t>✔ Always starts on a </a:t>
            </a:r>
            <a:r>
              <a:rPr lang="en-GB" b="1" dirty="0"/>
              <a:t>new line</a:t>
            </a:r>
            <a:r>
              <a:rPr lang="en-GB" dirty="0"/>
              <a:t/>
            </a:r>
            <a:br>
              <a:rPr lang="en-GB" dirty="0"/>
            </a:br>
            <a:r>
              <a:rPr lang="en-GB" dirty="0"/>
              <a:t>✔ Takes </a:t>
            </a:r>
            <a:r>
              <a:rPr lang="en-GB" b="1" dirty="0"/>
              <a:t>full width of the page</a:t>
            </a:r>
            <a:r>
              <a:rPr lang="en-GB" dirty="0"/>
              <a:t/>
            </a:r>
            <a:br>
              <a:rPr lang="en-GB" dirty="0"/>
            </a:br>
            <a:r>
              <a:rPr lang="en-GB" dirty="0"/>
              <a:t>✔ Can contain </a:t>
            </a:r>
            <a:r>
              <a:rPr lang="en-GB" b="1" dirty="0"/>
              <a:t>other HTML elements</a:t>
            </a:r>
            <a:endParaRPr lang="en-GB" dirty="0"/>
          </a:p>
          <a:p>
            <a:endParaRPr lang="en-GB" dirty="0"/>
          </a:p>
        </p:txBody>
      </p:sp>
    </p:spTree>
    <p:extLst>
      <p:ext uri="{BB962C8B-B14F-4D97-AF65-F5344CB8AC3E}">
        <p14:creationId xmlns:p14="http://schemas.microsoft.com/office/powerpoint/2010/main" val="84550552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smtClean="0">
                <a:latin typeface="Arial" panose="020B0604020202020204" pitchFamily="34" charset="0"/>
              </a:rPr>
              <a:t>Examples </a:t>
            </a:r>
            <a:r>
              <a:rPr lang="en-US" b="1" dirty="0">
                <a:latin typeface="Arial" panose="020B0604020202020204" pitchFamily="34" charset="0"/>
              </a:rPr>
              <a:t>of Block Elements</a:t>
            </a:r>
            <a:br>
              <a:rPr lang="en-US" b="1" dirty="0">
                <a:latin typeface="Arial" panose="020B0604020202020204" pitchFamily="34" charset="0"/>
              </a:rPr>
            </a:br>
            <a:endParaRPr lang="en-GB" dirty="0"/>
          </a:p>
        </p:txBody>
      </p:sp>
      <p:graphicFrame>
        <p:nvGraphicFramePr>
          <p:cNvPr id="4" name="Content Placeholder 3"/>
          <p:cNvGraphicFramePr>
            <a:graphicFrameLocks noGrp="1"/>
          </p:cNvGraphicFramePr>
          <p:nvPr>
            <p:ph idx="1"/>
          </p:nvPr>
        </p:nvGraphicFramePr>
        <p:xfrm>
          <a:off x="838200" y="2538254"/>
          <a:ext cx="10515600" cy="2926080"/>
        </p:xfrm>
        <a:graphic>
          <a:graphicData uri="http://schemas.openxmlformats.org/drawingml/2006/table">
            <a:tbl>
              <a:tblPr/>
              <a:tblGrid>
                <a:gridCol w="5257800"/>
                <a:gridCol w="5257800"/>
              </a:tblGrid>
              <a:tr h="0">
                <a:tc>
                  <a:txBody>
                    <a:bodyPr/>
                    <a:lstStyle/>
                    <a:p>
                      <a:r>
                        <a:rPr lang="en-GB"/>
                        <a:t>Element</a:t>
                      </a:r>
                    </a:p>
                  </a:txBody>
                  <a:tcPr anchor="ctr">
                    <a:lnL>
                      <a:noFill/>
                    </a:lnL>
                    <a:lnR>
                      <a:noFill/>
                    </a:lnR>
                    <a:lnT>
                      <a:noFill/>
                    </a:lnT>
                    <a:lnB>
                      <a:noFill/>
                    </a:lnB>
                  </a:tcPr>
                </a:tc>
                <a:tc>
                  <a:txBody>
                    <a:bodyPr/>
                    <a:lstStyle/>
                    <a:p>
                      <a:r>
                        <a:rPr lang="en-GB"/>
                        <a:t>Description</a:t>
                      </a:r>
                    </a:p>
                  </a:txBody>
                  <a:tcPr anchor="ctr">
                    <a:lnL>
                      <a:noFill/>
                    </a:lnL>
                    <a:lnR>
                      <a:noFill/>
                    </a:lnR>
                    <a:lnT>
                      <a:noFill/>
                    </a:lnT>
                    <a:lnB>
                      <a:noFill/>
                    </a:lnB>
                  </a:tcPr>
                </a:tc>
              </a:tr>
              <a:tr h="0">
                <a:tc>
                  <a:txBody>
                    <a:bodyPr/>
                    <a:lstStyle/>
                    <a:p>
                      <a:r>
                        <a:rPr lang="en-GB"/>
                        <a:t>&lt;h1&gt; to &lt;h6&gt;</a:t>
                      </a:r>
                    </a:p>
                  </a:txBody>
                  <a:tcPr anchor="ctr">
                    <a:lnL>
                      <a:noFill/>
                    </a:lnL>
                    <a:lnR>
                      <a:noFill/>
                    </a:lnR>
                    <a:lnT>
                      <a:noFill/>
                    </a:lnT>
                    <a:lnB>
                      <a:noFill/>
                    </a:lnB>
                  </a:tcPr>
                </a:tc>
                <a:tc>
                  <a:txBody>
                    <a:bodyPr/>
                    <a:lstStyle/>
                    <a:p>
                      <a:r>
                        <a:rPr lang="en-GB"/>
                        <a:t>Headings</a:t>
                      </a:r>
                    </a:p>
                  </a:txBody>
                  <a:tcPr anchor="ctr">
                    <a:lnL>
                      <a:noFill/>
                    </a:lnL>
                    <a:lnR>
                      <a:noFill/>
                    </a:lnR>
                    <a:lnT>
                      <a:noFill/>
                    </a:lnT>
                    <a:lnB>
                      <a:noFill/>
                    </a:lnB>
                  </a:tcPr>
                </a:tc>
              </a:tr>
              <a:tr h="0">
                <a:tc>
                  <a:txBody>
                    <a:bodyPr/>
                    <a:lstStyle/>
                    <a:p>
                      <a:r>
                        <a:rPr lang="en-GB"/>
                        <a:t>&lt;p&gt;</a:t>
                      </a:r>
                    </a:p>
                  </a:txBody>
                  <a:tcPr anchor="ctr">
                    <a:lnL>
                      <a:noFill/>
                    </a:lnL>
                    <a:lnR>
                      <a:noFill/>
                    </a:lnR>
                    <a:lnT>
                      <a:noFill/>
                    </a:lnT>
                    <a:lnB>
                      <a:noFill/>
                    </a:lnB>
                  </a:tcPr>
                </a:tc>
                <a:tc>
                  <a:txBody>
                    <a:bodyPr/>
                    <a:lstStyle/>
                    <a:p>
                      <a:r>
                        <a:rPr lang="en-GB"/>
                        <a:t>Paragraph</a:t>
                      </a:r>
                    </a:p>
                  </a:txBody>
                  <a:tcPr anchor="ctr">
                    <a:lnL>
                      <a:noFill/>
                    </a:lnL>
                    <a:lnR>
                      <a:noFill/>
                    </a:lnR>
                    <a:lnT>
                      <a:noFill/>
                    </a:lnT>
                    <a:lnB>
                      <a:noFill/>
                    </a:lnB>
                  </a:tcPr>
                </a:tc>
              </a:tr>
              <a:tr h="0">
                <a:tc>
                  <a:txBody>
                    <a:bodyPr/>
                    <a:lstStyle/>
                    <a:p>
                      <a:r>
                        <a:rPr lang="en-GB"/>
                        <a:t>&lt;div&gt;</a:t>
                      </a:r>
                    </a:p>
                  </a:txBody>
                  <a:tcPr anchor="ctr">
                    <a:lnL>
                      <a:noFill/>
                    </a:lnL>
                    <a:lnR>
                      <a:noFill/>
                    </a:lnR>
                    <a:lnT>
                      <a:noFill/>
                    </a:lnT>
                    <a:lnB>
                      <a:noFill/>
                    </a:lnB>
                  </a:tcPr>
                </a:tc>
                <a:tc>
                  <a:txBody>
                    <a:bodyPr/>
                    <a:lstStyle/>
                    <a:p>
                      <a:r>
                        <a:rPr lang="en-GB"/>
                        <a:t>Division or section</a:t>
                      </a:r>
                    </a:p>
                  </a:txBody>
                  <a:tcPr anchor="ctr">
                    <a:lnL>
                      <a:noFill/>
                    </a:lnL>
                    <a:lnR>
                      <a:noFill/>
                    </a:lnR>
                    <a:lnT>
                      <a:noFill/>
                    </a:lnT>
                    <a:lnB>
                      <a:noFill/>
                    </a:lnB>
                  </a:tcPr>
                </a:tc>
              </a:tr>
              <a:tr h="0">
                <a:tc>
                  <a:txBody>
                    <a:bodyPr/>
                    <a:lstStyle/>
                    <a:p>
                      <a:r>
                        <a:rPr lang="en-GB"/>
                        <a:t>&lt;ul&gt;</a:t>
                      </a:r>
                    </a:p>
                  </a:txBody>
                  <a:tcPr anchor="ctr">
                    <a:lnL>
                      <a:noFill/>
                    </a:lnL>
                    <a:lnR>
                      <a:noFill/>
                    </a:lnR>
                    <a:lnT>
                      <a:noFill/>
                    </a:lnT>
                    <a:lnB>
                      <a:noFill/>
                    </a:lnB>
                  </a:tcPr>
                </a:tc>
                <a:tc>
                  <a:txBody>
                    <a:bodyPr/>
                    <a:lstStyle/>
                    <a:p>
                      <a:r>
                        <a:rPr lang="en-GB"/>
                        <a:t>Unordered list</a:t>
                      </a:r>
                    </a:p>
                  </a:txBody>
                  <a:tcPr anchor="ctr">
                    <a:lnL>
                      <a:noFill/>
                    </a:lnL>
                    <a:lnR>
                      <a:noFill/>
                    </a:lnR>
                    <a:lnT>
                      <a:noFill/>
                    </a:lnT>
                    <a:lnB>
                      <a:noFill/>
                    </a:lnB>
                  </a:tcPr>
                </a:tc>
              </a:tr>
              <a:tr h="0">
                <a:tc>
                  <a:txBody>
                    <a:bodyPr/>
                    <a:lstStyle/>
                    <a:p>
                      <a:r>
                        <a:rPr lang="en-GB"/>
                        <a:t>&lt;ol&gt;</a:t>
                      </a:r>
                    </a:p>
                  </a:txBody>
                  <a:tcPr anchor="ctr">
                    <a:lnL>
                      <a:noFill/>
                    </a:lnL>
                    <a:lnR>
                      <a:noFill/>
                    </a:lnR>
                    <a:lnT>
                      <a:noFill/>
                    </a:lnT>
                    <a:lnB>
                      <a:noFill/>
                    </a:lnB>
                  </a:tcPr>
                </a:tc>
                <a:tc>
                  <a:txBody>
                    <a:bodyPr/>
                    <a:lstStyle/>
                    <a:p>
                      <a:r>
                        <a:rPr lang="en-GB"/>
                        <a:t>Ordered list</a:t>
                      </a:r>
                    </a:p>
                  </a:txBody>
                  <a:tcPr anchor="ctr">
                    <a:lnL>
                      <a:noFill/>
                    </a:lnL>
                    <a:lnR>
                      <a:noFill/>
                    </a:lnR>
                    <a:lnT>
                      <a:noFill/>
                    </a:lnT>
                    <a:lnB>
                      <a:noFill/>
                    </a:lnB>
                  </a:tcPr>
                </a:tc>
              </a:tr>
              <a:tr h="0">
                <a:tc>
                  <a:txBody>
                    <a:bodyPr/>
                    <a:lstStyle/>
                    <a:p>
                      <a:r>
                        <a:rPr lang="en-GB"/>
                        <a:t>&lt;li&gt;</a:t>
                      </a:r>
                    </a:p>
                  </a:txBody>
                  <a:tcPr anchor="ctr">
                    <a:lnL>
                      <a:noFill/>
                    </a:lnL>
                    <a:lnR>
                      <a:noFill/>
                    </a:lnR>
                    <a:lnT>
                      <a:noFill/>
                    </a:lnT>
                    <a:lnB>
                      <a:noFill/>
                    </a:lnB>
                  </a:tcPr>
                </a:tc>
                <a:tc>
                  <a:txBody>
                    <a:bodyPr/>
                    <a:lstStyle/>
                    <a:p>
                      <a:r>
                        <a:rPr lang="en-GB"/>
                        <a:t>List item</a:t>
                      </a:r>
                    </a:p>
                  </a:txBody>
                  <a:tcPr anchor="ctr">
                    <a:lnL>
                      <a:noFill/>
                    </a:lnL>
                    <a:lnR>
                      <a:noFill/>
                    </a:lnR>
                    <a:lnT>
                      <a:noFill/>
                    </a:lnT>
                    <a:lnB>
                      <a:noFill/>
                    </a:lnB>
                  </a:tcPr>
                </a:tc>
              </a:tr>
              <a:tr h="0">
                <a:tc>
                  <a:txBody>
                    <a:bodyPr/>
                    <a:lstStyle/>
                    <a:p>
                      <a:r>
                        <a:rPr lang="en-GB"/>
                        <a:t>&lt;table&gt;</a:t>
                      </a:r>
                    </a:p>
                  </a:txBody>
                  <a:tcPr anchor="ctr">
                    <a:lnL>
                      <a:noFill/>
                    </a:lnL>
                    <a:lnR>
                      <a:noFill/>
                    </a:lnR>
                    <a:lnT>
                      <a:noFill/>
                    </a:lnT>
                    <a:lnB>
                      <a:noFill/>
                    </a:lnB>
                  </a:tcPr>
                </a:tc>
                <a:tc>
                  <a:txBody>
                    <a:bodyPr/>
                    <a:lstStyle/>
                    <a:p>
                      <a:r>
                        <a:rPr lang="en-GB" dirty="0"/>
                        <a:t>Table</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318937352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7500" lnSpcReduction="20000"/>
          </a:bodyPr>
          <a:lstStyle/>
          <a:p>
            <a:r>
              <a:rPr lang="en-GB" dirty="0"/>
              <a:t>&lt;!DOCTYPE html&gt;</a:t>
            </a:r>
          </a:p>
          <a:p>
            <a:r>
              <a:rPr lang="en-GB" dirty="0"/>
              <a:t>&lt;html&gt;</a:t>
            </a:r>
          </a:p>
          <a:p>
            <a:r>
              <a:rPr lang="en-GB" dirty="0"/>
              <a:t>&lt;body&gt;</a:t>
            </a:r>
          </a:p>
          <a:p>
            <a:endParaRPr lang="en-GB" dirty="0"/>
          </a:p>
          <a:p>
            <a:r>
              <a:rPr lang="en-GB" dirty="0"/>
              <a:t>&lt;h1&gt;Welcome to HTML&lt;/h1&gt;</a:t>
            </a:r>
          </a:p>
          <a:p>
            <a:endParaRPr lang="en-GB" dirty="0"/>
          </a:p>
          <a:p>
            <a:r>
              <a:rPr lang="en-GB" dirty="0"/>
              <a:t>&lt;p&gt;This is a paragraph.&lt;/p&gt;</a:t>
            </a:r>
          </a:p>
          <a:p>
            <a:endParaRPr lang="en-GB" dirty="0"/>
          </a:p>
          <a:p>
            <a:r>
              <a:rPr lang="en-GB" dirty="0"/>
              <a:t>&lt;div&gt;This is a division block.&lt;/div&gt;</a:t>
            </a:r>
          </a:p>
          <a:p>
            <a:endParaRPr lang="en-GB" dirty="0"/>
          </a:p>
          <a:p>
            <a:r>
              <a:rPr lang="en-GB" dirty="0"/>
              <a:t>&lt;/body&gt;</a:t>
            </a:r>
          </a:p>
          <a:p>
            <a:r>
              <a:rPr lang="en-GB" dirty="0"/>
              <a:t>&lt;/html&gt;</a:t>
            </a:r>
          </a:p>
        </p:txBody>
      </p:sp>
    </p:spTree>
    <p:extLst>
      <p:ext uri="{BB962C8B-B14F-4D97-AF65-F5344CB8AC3E}">
        <p14:creationId xmlns:p14="http://schemas.microsoft.com/office/powerpoint/2010/main" val="308651093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 Text Elements (Inline Elements)</a:t>
            </a:r>
          </a:p>
        </p:txBody>
      </p:sp>
      <p:sp>
        <p:nvSpPr>
          <p:cNvPr id="3" name="Content Placeholder 2"/>
          <p:cNvSpPr>
            <a:spLocks noGrp="1"/>
          </p:cNvSpPr>
          <p:nvPr>
            <p:ph idx="1"/>
          </p:nvPr>
        </p:nvSpPr>
        <p:spPr/>
        <p:txBody>
          <a:bodyPr/>
          <a:lstStyle/>
          <a:p>
            <a:r>
              <a:rPr lang="en-GB" dirty="0"/>
              <a:t>A text element (inline element) is an element that does not start on a new line</a:t>
            </a:r>
            <a:r>
              <a:rPr lang="en-GB" dirty="0" smtClean="0"/>
              <a:t>.</a:t>
            </a:r>
          </a:p>
          <a:p>
            <a:r>
              <a:rPr lang="en-GB" dirty="0" smtClean="0"/>
              <a:t>It </a:t>
            </a:r>
            <a:r>
              <a:rPr lang="en-GB" dirty="0"/>
              <a:t>only takes the width required for the content</a:t>
            </a:r>
            <a:r>
              <a:rPr lang="en-GB" dirty="0" smtClean="0"/>
              <a:t>.</a:t>
            </a:r>
          </a:p>
          <a:p>
            <a:r>
              <a:rPr lang="en-GB" dirty="0" smtClean="0"/>
              <a:t>These </a:t>
            </a:r>
            <a:r>
              <a:rPr lang="en-GB" dirty="0"/>
              <a:t>elements are usually used inside block elements</a:t>
            </a:r>
            <a:r>
              <a:rPr lang="en-GB" dirty="0" smtClean="0"/>
              <a:t>.</a:t>
            </a:r>
          </a:p>
          <a:p>
            <a:r>
              <a:rPr lang="en-GB" dirty="0" smtClean="0"/>
              <a:t>Characteristics</a:t>
            </a:r>
          </a:p>
          <a:p>
            <a:r>
              <a:rPr lang="en-GB" dirty="0" smtClean="0"/>
              <a:t>✔ </a:t>
            </a:r>
            <a:r>
              <a:rPr lang="en-GB" dirty="0"/>
              <a:t>Does not start on a new </a:t>
            </a:r>
            <a:r>
              <a:rPr lang="en-GB" dirty="0" smtClean="0"/>
              <a:t>line</a:t>
            </a:r>
          </a:p>
          <a:p>
            <a:r>
              <a:rPr lang="en-GB" dirty="0" smtClean="0"/>
              <a:t>✔ </a:t>
            </a:r>
            <a:r>
              <a:rPr lang="en-GB" dirty="0"/>
              <a:t>Takes only required </a:t>
            </a:r>
            <a:r>
              <a:rPr lang="en-GB" dirty="0" smtClean="0"/>
              <a:t>space</a:t>
            </a:r>
          </a:p>
          <a:p>
            <a:pPr lvl="1"/>
            <a:r>
              <a:rPr lang="en-GB" dirty="0" smtClean="0"/>
              <a:t>✔ </a:t>
            </a:r>
            <a:r>
              <a:rPr lang="en-GB" dirty="0"/>
              <a:t>Used to format text</a:t>
            </a:r>
          </a:p>
        </p:txBody>
      </p:sp>
    </p:spTree>
    <p:extLst>
      <p:ext uri="{BB962C8B-B14F-4D97-AF65-F5344CB8AC3E}">
        <p14:creationId xmlns:p14="http://schemas.microsoft.com/office/powerpoint/2010/main" val="189804062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smtClean="0"/>
              <a:t>E</a:t>
            </a:r>
            <a:r>
              <a:rPr lang="en-US" b="1" dirty="0" err="1">
                <a:latin typeface="Arial" panose="020B0604020202020204" pitchFamily="34" charset="0"/>
              </a:rPr>
              <a:t>xamples</a:t>
            </a:r>
            <a:r>
              <a:rPr lang="en-US" b="1" dirty="0">
                <a:latin typeface="Arial" panose="020B0604020202020204" pitchFamily="34" charset="0"/>
              </a:rPr>
              <a:t> of Text (Inline) Elements</a:t>
            </a:r>
            <a:br>
              <a:rPr lang="en-US" b="1" dirty="0">
                <a:latin typeface="Arial" panose="020B0604020202020204" pitchFamily="34" charset="0"/>
              </a:rPr>
            </a:br>
            <a:endParaRPr lang="en-GB" dirty="0"/>
          </a:p>
        </p:txBody>
      </p:sp>
      <p:graphicFrame>
        <p:nvGraphicFramePr>
          <p:cNvPr id="4" name="Content Placeholder 3"/>
          <p:cNvGraphicFramePr>
            <a:graphicFrameLocks noGrp="1"/>
          </p:cNvGraphicFramePr>
          <p:nvPr>
            <p:ph idx="1"/>
          </p:nvPr>
        </p:nvGraphicFramePr>
        <p:xfrm>
          <a:off x="838200" y="2355374"/>
          <a:ext cx="10515600" cy="3291840"/>
        </p:xfrm>
        <a:graphic>
          <a:graphicData uri="http://schemas.openxmlformats.org/drawingml/2006/table">
            <a:tbl>
              <a:tblPr/>
              <a:tblGrid>
                <a:gridCol w="5257800"/>
                <a:gridCol w="5257800"/>
              </a:tblGrid>
              <a:tr h="0">
                <a:tc>
                  <a:txBody>
                    <a:bodyPr/>
                    <a:lstStyle/>
                    <a:p>
                      <a:r>
                        <a:rPr lang="en-GB"/>
                        <a:t>Element</a:t>
                      </a:r>
                    </a:p>
                  </a:txBody>
                  <a:tcPr anchor="ctr">
                    <a:lnL>
                      <a:noFill/>
                    </a:lnL>
                    <a:lnR>
                      <a:noFill/>
                    </a:lnR>
                    <a:lnT>
                      <a:noFill/>
                    </a:lnT>
                    <a:lnB>
                      <a:noFill/>
                    </a:lnB>
                  </a:tcPr>
                </a:tc>
                <a:tc>
                  <a:txBody>
                    <a:bodyPr/>
                    <a:lstStyle/>
                    <a:p>
                      <a:r>
                        <a:rPr lang="en-GB"/>
                        <a:t>Description</a:t>
                      </a:r>
                    </a:p>
                  </a:txBody>
                  <a:tcPr anchor="ctr">
                    <a:lnL>
                      <a:noFill/>
                    </a:lnL>
                    <a:lnR>
                      <a:noFill/>
                    </a:lnR>
                    <a:lnT>
                      <a:noFill/>
                    </a:lnT>
                    <a:lnB>
                      <a:noFill/>
                    </a:lnB>
                  </a:tcPr>
                </a:tc>
              </a:tr>
              <a:tr h="0">
                <a:tc>
                  <a:txBody>
                    <a:bodyPr/>
                    <a:lstStyle/>
                    <a:p>
                      <a:r>
                        <a:rPr lang="en-GB"/>
                        <a:t>&lt;b&gt;</a:t>
                      </a:r>
                    </a:p>
                  </a:txBody>
                  <a:tcPr anchor="ctr">
                    <a:lnL>
                      <a:noFill/>
                    </a:lnL>
                    <a:lnR>
                      <a:noFill/>
                    </a:lnR>
                    <a:lnT>
                      <a:noFill/>
                    </a:lnT>
                    <a:lnB>
                      <a:noFill/>
                    </a:lnB>
                  </a:tcPr>
                </a:tc>
                <a:tc>
                  <a:txBody>
                    <a:bodyPr/>
                    <a:lstStyle/>
                    <a:p>
                      <a:r>
                        <a:rPr lang="en-GB"/>
                        <a:t>Bold text</a:t>
                      </a:r>
                    </a:p>
                  </a:txBody>
                  <a:tcPr anchor="ctr">
                    <a:lnL>
                      <a:noFill/>
                    </a:lnL>
                    <a:lnR>
                      <a:noFill/>
                    </a:lnR>
                    <a:lnT>
                      <a:noFill/>
                    </a:lnT>
                    <a:lnB>
                      <a:noFill/>
                    </a:lnB>
                  </a:tcPr>
                </a:tc>
              </a:tr>
              <a:tr h="0">
                <a:tc>
                  <a:txBody>
                    <a:bodyPr/>
                    <a:lstStyle/>
                    <a:p>
                      <a:r>
                        <a:rPr lang="en-GB"/>
                        <a:t>&lt;i&gt;</a:t>
                      </a:r>
                    </a:p>
                  </a:txBody>
                  <a:tcPr anchor="ctr">
                    <a:lnL>
                      <a:noFill/>
                    </a:lnL>
                    <a:lnR>
                      <a:noFill/>
                    </a:lnR>
                    <a:lnT>
                      <a:noFill/>
                    </a:lnT>
                    <a:lnB>
                      <a:noFill/>
                    </a:lnB>
                  </a:tcPr>
                </a:tc>
                <a:tc>
                  <a:txBody>
                    <a:bodyPr/>
                    <a:lstStyle/>
                    <a:p>
                      <a:r>
                        <a:rPr lang="en-GB"/>
                        <a:t>Italic text</a:t>
                      </a:r>
                    </a:p>
                  </a:txBody>
                  <a:tcPr anchor="ctr">
                    <a:lnL>
                      <a:noFill/>
                    </a:lnL>
                    <a:lnR>
                      <a:noFill/>
                    </a:lnR>
                    <a:lnT>
                      <a:noFill/>
                    </a:lnT>
                    <a:lnB>
                      <a:noFill/>
                    </a:lnB>
                  </a:tcPr>
                </a:tc>
              </a:tr>
              <a:tr h="0">
                <a:tc>
                  <a:txBody>
                    <a:bodyPr/>
                    <a:lstStyle/>
                    <a:p>
                      <a:r>
                        <a:rPr lang="en-GB"/>
                        <a:t>&lt;u&gt;</a:t>
                      </a:r>
                    </a:p>
                  </a:txBody>
                  <a:tcPr anchor="ctr">
                    <a:lnL>
                      <a:noFill/>
                    </a:lnL>
                    <a:lnR>
                      <a:noFill/>
                    </a:lnR>
                    <a:lnT>
                      <a:noFill/>
                    </a:lnT>
                    <a:lnB>
                      <a:noFill/>
                    </a:lnB>
                  </a:tcPr>
                </a:tc>
                <a:tc>
                  <a:txBody>
                    <a:bodyPr/>
                    <a:lstStyle/>
                    <a:p>
                      <a:r>
                        <a:rPr lang="en-GB"/>
                        <a:t>Underline text</a:t>
                      </a:r>
                    </a:p>
                  </a:txBody>
                  <a:tcPr anchor="ctr">
                    <a:lnL>
                      <a:noFill/>
                    </a:lnL>
                    <a:lnR>
                      <a:noFill/>
                    </a:lnR>
                    <a:lnT>
                      <a:noFill/>
                    </a:lnT>
                    <a:lnB>
                      <a:noFill/>
                    </a:lnB>
                  </a:tcPr>
                </a:tc>
              </a:tr>
              <a:tr h="0">
                <a:tc>
                  <a:txBody>
                    <a:bodyPr/>
                    <a:lstStyle/>
                    <a:p>
                      <a:r>
                        <a:rPr lang="en-GB"/>
                        <a:t>&lt;strong&gt;</a:t>
                      </a:r>
                    </a:p>
                  </a:txBody>
                  <a:tcPr anchor="ctr">
                    <a:lnL>
                      <a:noFill/>
                    </a:lnL>
                    <a:lnR>
                      <a:noFill/>
                    </a:lnR>
                    <a:lnT>
                      <a:noFill/>
                    </a:lnT>
                    <a:lnB>
                      <a:noFill/>
                    </a:lnB>
                  </a:tcPr>
                </a:tc>
                <a:tc>
                  <a:txBody>
                    <a:bodyPr/>
                    <a:lstStyle/>
                    <a:p>
                      <a:r>
                        <a:rPr lang="en-GB"/>
                        <a:t>Important text</a:t>
                      </a:r>
                    </a:p>
                  </a:txBody>
                  <a:tcPr anchor="ctr">
                    <a:lnL>
                      <a:noFill/>
                    </a:lnL>
                    <a:lnR>
                      <a:noFill/>
                    </a:lnR>
                    <a:lnT>
                      <a:noFill/>
                    </a:lnT>
                    <a:lnB>
                      <a:noFill/>
                    </a:lnB>
                  </a:tcPr>
                </a:tc>
              </a:tr>
              <a:tr h="0">
                <a:tc>
                  <a:txBody>
                    <a:bodyPr/>
                    <a:lstStyle/>
                    <a:p>
                      <a:r>
                        <a:rPr lang="en-GB"/>
                        <a:t>&lt;em&gt;</a:t>
                      </a:r>
                    </a:p>
                  </a:txBody>
                  <a:tcPr anchor="ctr">
                    <a:lnL>
                      <a:noFill/>
                    </a:lnL>
                    <a:lnR>
                      <a:noFill/>
                    </a:lnR>
                    <a:lnT>
                      <a:noFill/>
                    </a:lnT>
                    <a:lnB>
                      <a:noFill/>
                    </a:lnB>
                  </a:tcPr>
                </a:tc>
                <a:tc>
                  <a:txBody>
                    <a:bodyPr/>
                    <a:lstStyle/>
                    <a:p>
                      <a:r>
                        <a:rPr lang="en-GB"/>
                        <a:t>Emphasized text</a:t>
                      </a:r>
                    </a:p>
                  </a:txBody>
                  <a:tcPr anchor="ctr">
                    <a:lnL>
                      <a:noFill/>
                    </a:lnL>
                    <a:lnR>
                      <a:noFill/>
                    </a:lnR>
                    <a:lnT>
                      <a:noFill/>
                    </a:lnT>
                    <a:lnB>
                      <a:noFill/>
                    </a:lnB>
                  </a:tcPr>
                </a:tc>
              </a:tr>
              <a:tr h="0">
                <a:tc>
                  <a:txBody>
                    <a:bodyPr/>
                    <a:lstStyle/>
                    <a:p>
                      <a:r>
                        <a:rPr lang="en-GB"/>
                        <a:t>&lt;span&gt;</a:t>
                      </a:r>
                    </a:p>
                  </a:txBody>
                  <a:tcPr anchor="ctr">
                    <a:lnL>
                      <a:noFill/>
                    </a:lnL>
                    <a:lnR>
                      <a:noFill/>
                    </a:lnR>
                    <a:lnT>
                      <a:noFill/>
                    </a:lnT>
                    <a:lnB>
                      <a:noFill/>
                    </a:lnB>
                  </a:tcPr>
                </a:tc>
                <a:tc>
                  <a:txBody>
                    <a:bodyPr/>
                    <a:lstStyle/>
                    <a:p>
                      <a:r>
                        <a:rPr lang="en-GB"/>
                        <a:t>Inline container</a:t>
                      </a:r>
                    </a:p>
                  </a:txBody>
                  <a:tcPr anchor="ctr">
                    <a:lnL>
                      <a:noFill/>
                    </a:lnL>
                    <a:lnR>
                      <a:noFill/>
                    </a:lnR>
                    <a:lnT>
                      <a:noFill/>
                    </a:lnT>
                    <a:lnB>
                      <a:noFill/>
                    </a:lnB>
                  </a:tcPr>
                </a:tc>
              </a:tr>
              <a:tr h="0">
                <a:tc>
                  <a:txBody>
                    <a:bodyPr/>
                    <a:lstStyle/>
                    <a:p>
                      <a:r>
                        <a:rPr lang="en-GB"/>
                        <a:t>&lt;a&gt;</a:t>
                      </a:r>
                    </a:p>
                  </a:txBody>
                  <a:tcPr anchor="ctr">
                    <a:lnL>
                      <a:noFill/>
                    </a:lnL>
                    <a:lnR>
                      <a:noFill/>
                    </a:lnR>
                    <a:lnT>
                      <a:noFill/>
                    </a:lnT>
                    <a:lnB>
                      <a:noFill/>
                    </a:lnB>
                  </a:tcPr>
                </a:tc>
                <a:tc>
                  <a:txBody>
                    <a:bodyPr/>
                    <a:lstStyle/>
                    <a:p>
                      <a:r>
                        <a:rPr lang="en-GB"/>
                        <a:t>Hyperlink</a:t>
                      </a:r>
                    </a:p>
                  </a:txBody>
                  <a:tcPr anchor="ctr">
                    <a:lnL>
                      <a:noFill/>
                    </a:lnL>
                    <a:lnR>
                      <a:noFill/>
                    </a:lnR>
                    <a:lnT>
                      <a:noFill/>
                    </a:lnT>
                    <a:lnB>
                      <a:noFill/>
                    </a:lnB>
                  </a:tcPr>
                </a:tc>
              </a:tr>
              <a:tr h="0">
                <a:tc>
                  <a:txBody>
                    <a:bodyPr/>
                    <a:lstStyle/>
                    <a:p>
                      <a:r>
                        <a:rPr lang="en-GB"/>
                        <a:t>&lt;img&gt;</a:t>
                      </a:r>
                    </a:p>
                  </a:txBody>
                  <a:tcPr anchor="ctr">
                    <a:lnL>
                      <a:noFill/>
                    </a:lnL>
                    <a:lnR>
                      <a:noFill/>
                    </a:lnR>
                    <a:lnT>
                      <a:noFill/>
                    </a:lnT>
                    <a:lnB>
                      <a:noFill/>
                    </a:lnB>
                  </a:tcPr>
                </a:tc>
                <a:tc>
                  <a:txBody>
                    <a:bodyPr/>
                    <a:lstStyle/>
                    <a:p>
                      <a:r>
                        <a:rPr lang="en-GB" dirty="0"/>
                        <a:t>Image</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134038146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7500" lnSpcReduction="20000"/>
          </a:bodyPr>
          <a:lstStyle/>
          <a:p>
            <a:r>
              <a:rPr lang="en-GB" dirty="0"/>
              <a:t>&lt;!DOCTYPE html&gt;</a:t>
            </a:r>
          </a:p>
          <a:p>
            <a:r>
              <a:rPr lang="en-GB" dirty="0"/>
              <a:t>&lt;html&gt;</a:t>
            </a:r>
          </a:p>
          <a:p>
            <a:r>
              <a:rPr lang="en-GB" dirty="0"/>
              <a:t>&lt;body&gt;</a:t>
            </a:r>
          </a:p>
          <a:p>
            <a:endParaRPr lang="en-GB" dirty="0"/>
          </a:p>
          <a:p>
            <a:r>
              <a:rPr lang="en-GB" dirty="0"/>
              <a:t>&lt;p&gt;This is &lt;b&gt;bold&lt;/b&gt; text.&lt;/p&gt;</a:t>
            </a:r>
          </a:p>
          <a:p>
            <a:endParaRPr lang="en-GB" dirty="0"/>
          </a:p>
          <a:p>
            <a:r>
              <a:rPr lang="en-GB" dirty="0"/>
              <a:t>&lt;p&gt;This is &lt;</a:t>
            </a:r>
            <a:r>
              <a:rPr lang="en-GB" dirty="0" err="1"/>
              <a:t>i</a:t>
            </a:r>
            <a:r>
              <a:rPr lang="en-GB" dirty="0"/>
              <a:t>&gt;italic&lt;/</a:t>
            </a:r>
            <a:r>
              <a:rPr lang="en-GB" dirty="0" err="1"/>
              <a:t>i</a:t>
            </a:r>
            <a:r>
              <a:rPr lang="en-GB" dirty="0"/>
              <a:t>&gt; text.&lt;/p&gt;</a:t>
            </a:r>
          </a:p>
          <a:p>
            <a:endParaRPr lang="en-GB" dirty="0"/>
          </a:p>
          <a:p>
            <a:r>
              <a:rPr lang="en-GB" dirty="0"/>
              <a:t>&lt;p&gt;This is &lt;u&gt;underlined&lt;/u&gt; text.&lt;/p&gt;</a:t>
            </a:r>
          </a:p>
          <a:p>
            <a:endParaRPr lang="en-GB" dirty="0"/>
          </a:p>
          <a:p>
            <a:r>
              <a:rPr lang="en-GB" dirty="0"/>
              <a:t>&lt;/body&gt;</a:t>
            </a:r>
          </a:p>
          <a:p>
            <a:r>
              <a:rPr lang="en-GB" dirty="0"/>
              <a:t>&lt;/html&gt;</a:t>
            </a:r>
          </a:p>
        </p:txBody>
      </p:sp>
    </p:spTree>
    <p:extLst>
      <p:ext uri="{BB962C8B-B14F-4D97-AF65-F5344CB8AC3E}">
        <p14:creationId xmlns:p14="http://schemas.microsoft.com/office/powerpoint/2010/main" val="119478942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Difference Between Block and Inline Elements</a:t>
            </a:r>
          </a:p>
        </p:txBody>
      </p:sp>
      <p:graphicFrame>
        <p:nvGraphicFramePr>
          <p:cNvPr id="4" name="Content Placeholder 3"/>
          <p:cNvGraphicFramePr>
            <a:graphicFrameLocks noGrp="1"/>
          </p:cNvGraphicFramePr>
          <p:nvPr>
            <p:ph idx="1"/>
          </p:nvPr>
        </p:nvGraphicFramePr>
        <p:xfrm>
          <a:off x="838200" y="3086894"/>
          <a:ext cx="10515600" cy="1828800"/>
        </p:xfrm>
        <a:graphic>
          <a:graphicData uri="http://schemas.openxmlformats.org/drawingml/2006/table">
            <a:tbl>
              <a:tblPr/>
              <a:tblGrid>
                <a:gridCol w="3505200"/>
                <a:gridCol w="3505200"/>
                <a:gridCol w="3505200"/>
              </a:tblGrid>
              <a:tr h="0">
                <a:tc>
                  <a:txBody>
                    <a:bodyPr/>
                    <a:lstStyle/>
                    <a:p>
                      <a:r>
                        <a:rPr lang="en-GB"/>
                        <a:t>Feature</a:t>
                      </a:r>
                    </a:p>
                  </a:txBody>
                  <a:tcPr anchor="ctr">
                    <a:lnL>
                      <a:noFill/>
                    </a:lnL>
                    <a:lnR>
                      <a:noFill/>
                    </a:lnR>
                    <a:lnT>
                      <a:noFill/>
                    </a:lnT>
                    <a:lnB>
                      <a:noFill/>
                    </a:lnB>
                  </a:tcPr>
                </a:tc>
                <a:tc>
                  <a:txBody>
                    <a:bodyPr/>
                    <a:lstStyle/>
                    <a:p>
                      <a:r>
                        <a:rPr lang="en-GB"/>
                        <a:t>Block Element</a:t>
                      </a:r>
                    </a:p>
                  </a:txBody>
                  <a:tcPr anchor="ctr">
                    <a:lnL>
                      <a:noFill/>
                    </a:lnL>
                    <a:lnR>
                      <a:noFill/>
                    </a:lnR>
                    <a:lnT>
                      <a:noFill/>
                    </a:lnT>
                    <a:lnB>
                      <a:noFill/>
                    </a:lnB>
                  </a:tcPr>
                </a:tc>
                <a:tc>
                  <a:txBody>
                    <a:bodyPr/>
                    <a:lstStyle/>
                    <a:p>
                      <a:r>
                        <a:rPr lang="en-GB"/>
                        <a:t>Inline Element</a:t>
                      </a:r>
                    </a:p>
                  </a:txBody>
                  <a:tcPr anchor="ctr">
                    <a:lnL>
                      <a:noFill/>
                    </a:lnL>
                    <a:lnR>
                      <a:noFill/>
                    </a:lnR>
                    <a:lnT>
                      <a:noFill/>
                    </a:lnT>
                    <a:lnB>
                      <a:noFill/>
                    </a:lnB>
                  </a:tcPr>
                </a:tc>
              </a:tr>
              <a:tr h="0">
                <a:tc>
                  <a:txBody>
                    <a:bodyPr/>
                    <a:lstStyle/>
                    <a:p>
                      <a:r>
                        <a:rPr lang="en-GB"/>
                        <a:t>Line</a:t>
                      </a:r>
                    </a:p>
                  </a:txBody>
                  <a:tcPr anchor="ctr">
                    <a:lnL>
                      <a:noFill/>
                    </a:lnL>
                    <a:lnR>
                      <a:noFill/>
                    </a:lnR>
                    <a:lnT>
                      <a:noFill/>
                    </a:lnT>
                    <a:lnB>
                      <a:noFill/>
                    </a:lnB>
                  </a:tcPr>
                </a:tc>
                <a:tc>
                  <a:txBody>
                    <a:bodyPr/>
                    <a:lstStyle/>
                    <a:p>
                      <a:r>
                        <a:rPr lang="en-GB"/>
                        <a:t>Starts on new line</a:t>
                      </a:r>
                    </a:p>
                  </a:txBody>
                  <a:tcPr anchor="ctr">
                    <a:lnL>
                      <a:noFill/>
                    </a:lnL>
                    <a:lnR>
                      <a:noFill/>
                    </a:lnR>
                    <a:lnT>
                      <a:noFill/>
                    </a:lnT>
                    <a:lnB>
                      <a:noFill/>
                    </a:lnB>
                  </a:tcPr>
                </a:tc>
                <a:tc>
                  <a:txBody>
                    <a:bodyPr/>
                    <a:lstStyle/>
                    <a:p>
                      <a:r>
                        <a:rPr lang="en-GB"/>
                        <a:t>Same line</a:t>
                      </a:r>
                    </a:p>
                  </a:txBody>
                  <a:tcPr anchor="ctr">
                    <a:lnL>
                      <a:noFill/>
                    </a:lnL>
                    <a:lnR>
                      <a:noFill/>
                    </a:lnR>
                    <a:lnT>
                      <a:noFill/>
                    </a:lnT>
                    <a:lnB>
                      <a:noFill/>
                    </a:lnB>
                  </a:tcPr>
                </a:tc>
              </a:tr>
              <a:tr h="0">
                <a:tc>
                  <a:txBody>
                    <a:bodyPr/>
                    <a:lstStyle/>
                    <a:p>
                      <a:r>
                        <a:rPr lang="en-GB"/>
                        <a:t>Width</a:t>
                      </a:r>
                    </a:p>
                  </a:txBody>
                  <a:tcPr anchor="ctr">
                    <a:lnL>
                      <a:noFill/>
                    </a:lnL>
                    <a:lnR>
                      <a:noFill/>
                    </a:lnR>
                    <a:lnT>
                      <a:noFill/>
                    </a:lnT>
                    <a:lnB>
                      <a:noFill/>
                    </a:lnB>
                  </a:tcPr>
                </a:tc>
                <a:tc>
                  <a:txBody>
                    <a:bodyPr/>
                    <a:lstStyle/>
                    <a:p>
                      <a:r>
                        <a:rPr lang="en-GB"/>
                        <a:t>Full width</a:t>
                      </a:r>
                    </a:p>
                  </a:txBody>
                  <a:tcPr anchor="ctr">
                    <a:lnL>
                      <a:noFill/>
                    </a:lnL>
                    <a:lnR>
                      <a:noFill/>
                    </a:lnR>
                    <a:lnT>
                      <a:noFill/>
                    </a:lnT>
                    <a:lnB>
                      <a:noFill/>
                    </a:lnB>
                  </a:tcPr>
                </a:tc>
                <a:tc>
                  <a:txBody>
                    <a:bodyPr/>
                    <a:lstStyle/>
                    <a:p>
                      <a:r>
                        <a:rPr lang="en-GB"/>
                        <a:t>Only required width</a:t>
                      </a:r>
                    </a:p>
                  </a:txBody>
                  <a:tcPr anchor="ctr">
                    <a:lnL>
                      <a:noFill/>
                    </a:lnL>
                    <a:lnR>
                      <a:noFill/>
                    </a:lnR>
                    <a:lnT>
                      <a:noFill/>
                    </a:lnT>
                    <a:lnB>
                      <a:noFill/>
                    </a:lnB>
                  </a:tcPr>
                </a:tc>
              </a:tr>
              <a:tr h="0">
                <a:tc>
                  <a:txBody>
                    <a:bodyPr/>
                    <a:lstStyle/>
                    <a:p>
                      <a:r>
                        <a:rPr lang="en-GB"/>
                        <a:t>Usage</a:t>
                      </a:r>
                    </a:p>
                  </a:txBody>
                  <a:tcPr anchor="ctr">
                    <a:lnL>
                      <a:noFill/>
                    </a:lnL>
                    <a:lnR>
                      <a:noFill/>
                    </a:lnR>
                    <a:lnT>
                      <a:noFill/>
                    </a:lnT>
                    <a:lnB>
                      <a:noFill/>
                    </a:lnB>
                  </a:tcPr>
                </a:tc>
                <a:tc>
                  <a:txBody>
                    <a:bodyPr/>
                    <a:lstStyle/>
                    <a:p>
                      <a:r>
                        <a:rPr lang="en-GB"/>
                        <a:t>Structure of page</a:t>
                      </a:r>
                    </a:p>
                  </a:txBody>
                  <a:tcPr anchor="ctr">
                    <a:lnL>
                      <a:noFill/>
                    </a:lnL>
                    <a:lnR>
                      <a:noFill/>
                    </a:lnR>
                    <a:lnT>
                      <a:noFill/>
                    </a:lnT>
                    <a:lnB>
                      <a:noFill/>
                    </a:lnB>
                  </a:tcPr>
                </a:tc>
                <a:tc>
                  <a:txBody>
                    <a:bodyPr/>
                    <a:lstStyle/>
                    <a:p>
                      <a:r>
                        <a:rPr lang="en-GB"/>
                        <a:t>Text formatting</a:t>
                      </a:r>
                    </a:p>
                  </a:txBody>
                  <a:tcPr anchor="ctr">
                    <a:lnL>
                      <a:noFill/>
                    </a:lnL>
                    <a:lnR>
                      <a:noFill/>
                    </a:lnR>
                    <a:lnT>
                      <a:noFill/>
                    </a:lnT>
                    <a:lnB>
                      <a:noFill/>
                    </a:lnB>
                  </a:tcPr>
                </a:tc>
              </a:tr>
              <a:tr h="0">
                <a:tc>
                  <a:txBody>
                    <a:bodyPr/>
                    <a:lstStyle/>
                    <a:p>
                      <a:r>
                        <a:rPr lang="en-GB"/>
                        <a:t>Example</a:t>
                      </a:r>
                    </a:p>
                  </a:txBody>
                  <a:tcPr anchor="ctr">
                    <a:lnL>
                      <a:noFill/>
                    </a:lnL>
                    <a:lnR>
                      <a:noFill/>
                    </a:lnR>
                    <a:lnT>
                      <a:noFill/>
                    </a:lnT>
                    <a:lnB>
                      <a:noFill/>
                    </a:lnB>
                  </a:tcPr>
                </a:tc>
                <a:tc>
                  <a:txBody>
                    <a:bodyPr/>
                    <a:lstStyle/>
                    <a:p>
                      <a:r>
                        <a:rPr lang="en-GB"/>
                        <a:t>&lt;p&gt;, &lt;div&gt;</a:t>
                      </a:r>
                    </a:p>
                  </a:txBody>
                  <a:tcPr anchor="ctr">
                    <a:lnL>
                      <a:noFill/>
                    </a:lnL>
                    <a:lnR>
                      <a:noFill/>
                    </a:lnR>
                    <a:lnT>
                      <a:noFill/>
                    </a:lnT>
                    <a:lnB>
                      <a:noFill/>
                    </a:lnB>
                  </a:tcPr>
                </a:tc>
                <a:tc>
                  <a:txBody>
                    <a:bodyPr/>
                    <a:lstStyle/>
                    <a:p>
                      <a:r>
                        <a:rPr lang="en-GB" dirty="0"/>
                        <a:t>&lt;b&gt;, &lt;</a:t>
                      </a:r>
                      <a:r>
                        <a:rPr lang="en-GB" dirty="0" err="1"/>
                        <a:t>i</a:t>
                      </a:r>
                      <a:r>
                        <a:rPr lang="en-GB" dirty="0"/>
                        <a:t>&gt;</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281568108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ACTIVITY</a:t>
            </a:r>
            <a:endParaRPr lang="en-GB" dirty="0"/>
          </a:p>
        </p:txBody>
      </p:sp>
      <p:sp>
        <p:nvSpPr>
          <p:cNvPr id="3" name="Content Placeholder 2"/>
          <p:cNvSpPr>
            <a:spLocks noGrp="1"/>
          </p:cNvSpPr>
          <p:nvPr>
            <p:ph idx="1"/>
          </p:nvPr>
        </p:nvSpPr>
        <p:spPr/>
        <p:txBody>
          <a:bodyPr/>
          <a:lstStyle/>
          <a:p>
            <a:r>
              <a:rPr lang="en-GB" dirty="0" smtClean="0"/>
              <a:t>write </a:t>
            </a:r>
            <a:r>
              <a:rPr lang="en-GB" dirty="0"/>
              <a:t>an HTML program that includes:</a:t>
            </a:r>
          </a:p>
          <a:p>
            <a:r>
              <a:rPr lang="en-GB" dirty="0"/>
              <a:t>One </a:t>
            </a:r>
            <a:r>
              <a:rPr lang="en-GB" b="1" dirty="0"/>
              <a:t>heading</a:t>
            </a:r>
            <a:endParaRPr lang="en-GB" dirty="0"/>
          </a:p>
          <a:p>
            <a:r>
              <a:rPr lang="en-GB" dirty="0"/>
              <a:t>One </a:t>
            </a:r>
            <a:r>
              <a:rPr lang="en-GB" b="1" dirty="0"/>
              <a:t>paragraph</a:t>
            </a:r>
            <a:endParaRPr lang="en-GB" dirty="0"/>
          </a:p>
          <a:p>
            <a:r>
              <a:rPr lang="en-GB" dirty="0"/>
              <a:t>Use </a:t>
            </a:r>
            <a:r>
              <a:rPr lang="en-GB" b="1" dirty="0"/>
              <a:t>bold, italic and underline text</a:t>
            </a:r>
            <a:endParaRPr lang="en-GB" dirty="0"/>
          </a:p>
          <a:p>
            <a:r>
              <a:rPr lang="en-GB" dirty="0"/>
              <a:t>Use a </a:t>
            </a:r>
            <a:r>
              <a:rPr lang="en-GB" b="1" dirty="0"/>
              <a:t>div block</a:t>
            </a:r>
            <a:endParaRPr lang="en-GB" dirty="0"/>
          </a:p>
          <a:p>
            <a:endParaRPr lang="en-GB" dirty="0"/>
          </a:p>
        </p:txBody>
      </p:sp>
    </p:spTree>
    <p:extLst>
      <p:ext uri="{BB962C8B-B14F-4D97-AF65-F5344CB8AC3E}">
        <p14:creationId xmlns:p14="http://schemas.microsoft.com/office/powerpoint/2010/main" val="187276598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HTML Character Reference</a:t>
            </a:r>
          </a:p>
        </p:txBody>
      </p:sp>
      <p:sp>
        <p:nvSpPr>
          <p:cNvPr id="3" name="Content Placeholder 2"/>
          <p:cNvSpPr>
            <a:spLocks noGrp="1"/>
          </p:cNvSpPr>
          <p:nvPr>
            <p:ph idx="1"/>
          </p:nvPr>
        </p:nvSpPr>
        <p:spPr/>
        <p:txBody>
          <a:bodyPr/>
          <a:lstStyle/>
          <a:p>
            <a:r>
              <a:rPr lang="en-GB" dirty="0"/>
              <a:t>A Character Reference in HTML is used to display special characters or reserved symbols in a web page</a:t>
            </a:r>
            <a:r>
              <a:rPr lang="en-GB" dirty="0" smtClean="0"/>
              <a:t>.</a:t>
            </a:r>
          </a:p>
          <a:p>
            <a:r>
              <a:rPr lang="en-GB" dirty="0" smtClean="0"/>
              <a:t>Some </a:t>
            </a:r>
            <a:r>
              <a:rPr lang="en-GB" dirty="0"/>
              <a:t>characters like &lt;, &gt;, and &amp; are reserved in </a:t>
            </a:r>
            <a:r>
              <a:rPr lang="en-GB" dirty="0" err="1"/>
              <a:t>HTML.If</a:t>
            </a:r>
            <a:r>
              <a:rPr lang="en-GB" dirty="0"/>
              <a:t> we write them directly, the browser may treat them as HTML tags or commands</a:t>
            </a:r>
            <a:r>
              <a:rPr lang="en-GB" dirty="0" smtClean="0"/>
              <a:t>.</a:t>
            </a:r>
          </a:p>
          <a:p>
            <a:r>
              <a:rPr lang="en-GB" dirty="0" smtClean="0"/>
              <a:t>To </a:t>
            </a:r>
            <a:r>
              <a:rPr lang="en-GB" dirty="0"/>
              <a:t>display them correctly, character references (HTML entities) are used.</a:t>
            </a:r>
          </a:p>
        </p:txBody>
      </p:sp>
    </p:spTree>
    <p:extLst>
      <p:ext uri="{BB962C8B-B14F-4D97-AF65-F5344CB8AC3E}">
        <p14:creationId xmlns:p14="http://schemas.microsoft.com/office/powerpoint/2010/main" val="266216330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Syntax of Character Reference</a:t>
            </a:r>
          </a:p>
        </p:txBody>
      </p:sp>
      <p:sp>
        <p:nvSpPr>
          <p:cNvPr id="3" name="Content Placeholder 2"/>
          <p:cNvSpPr>
            <a:spLocks noGrp="1"/>
          </p:cNvSpPr>
          <p:nvPr>
            <p:ph idx="1"/>
          </p:nvPr>
        </p:nvSpPr>
        <p:spPr/>
        <p:txBody>
          <a:bodyPr>
            <a:normAutofit/>
          </a:bodyPr>
          <a:lstStyle/>
          <a:p>
            <a:r>
              <a:rPr lang="en-GB" dirty="0"/>
              <a:t>There are two types of character references</a:t>
            </a:r>
            <a:r>
              <a:rPr lang="en-GB" dirty="0" smtClean="0"/>
              <a:t>.</a:t>
            </a:r>
          </a:p>
          <a:p>
            <a:pPr marL="0" indent="0">
              <a:buNone/>
            </a:pPr>
            <a:r>
              <a:rPr lang="en-GB" dirty="0" smtClean="0"/>
              <a:t>1</a:t>
            </a:r>
            <a:r>
              <a:rPr lang="en-GB" dirty="0"/>
              <a:t>. Using Entity </a:t>
            </a:r>
            <a:r>
              <a:rPr lang="en-GB" dirty="0" smtClean="0"/>
              <a:t>Name</a:t>
            </a:r>
          </a:p>
          <a:p>
            <a:pPr marL="0" indent="0">
              <a:buNone/>
            </a:pPr>
            <a:r>
              <a:rPr lang="en-GB" dirty="0" smtClean="0"/>
              <a:t>&amp;</a:t>
            </a:r>
            <a:r>
              <a:rPr lang="en-GB" dirty="0" err="1"/>
              <a:t>entity_name</a:t>
            </a:r>
            <a:r>
              <a:rPr lang="en-GB" dirty="0" smtClean="0"/>
              <a:t>;</a:t>
            </a:r>
          </a:p>
          <a:p>
            <a:pPr marL="0" indent="0">
              <a:buNone/>
            </a:pPr>
            <a:r>
              <a:rPr lang="en-GB" dirty="0" smtClean="0"/>
              <a:t>Example</a:t>
            </a:r>
            <a:r>
              <a:rPr lang="en-GB" dirty="0"/>
              <a:t>:&amp;</a:t>
            </a:r>
            <a:r>
              <a:rPr lang="en-GB" dirty="0" err="1"/>
              <a:t>lt</a:t>
            </a:r>
            <a:r>
              <a:rPr lang="en-GB" dirty="0" smtClean="0"/>
              <a:t>;</a:t>
            </a:r>
          </a:p>
          <a:p>
            <a:r>
              <a:rPr lang="en-GB" dirty="0" smtClean="0"/>
              <a:t>2</a:t>
            </a:r>
            <a:r>
              <a:rPr lang="en-GB" dirty="0"/>
              <a:t>. Using Entity </a:t>
            </a:r>
            <a:r>
              <a:rPr lang="en-GB" dirty="0" smtClean="0"/>
              <a:t>Number</a:t>
            </a:r>
          </a:p>
          <a:p>
            <a:pPr marL="0" indent="0">
              <a:buNone/>
            </a:pPr>
            <a:r>
              <a:rPr lang="en-GB" dirty="0" smtClean="0"/>
              <a:t>&amp;#</a:t>
            </a:r>
            <a:r>
              <a:rPr lang="en-GB" dirty="0" err="1"/>
              <a:t>entity_number</a:t>
            </a:r>
            <a:r>
              <a:rPr lang="en-GB" dirty="0" smtClean="0"/>
              <a:t>;</a:t>
            </a:r>
          </a:p>
          <a:p>
            <a:pPr marL="0" indent="0">
              <a:buNone/>
            </a:pPr>
            <a:r>
              <a:rPr lang="en-GB" dirty="0" smtClean="0"/>
              <a:t>Example: &amp;#</a:t>
            </a:r>
            <a:r>
              <a:rPr lang="en-GB" dirty="0" smtClean="0"/>
              <a:t>60;</a:t>
            </a:r>
          </a:p>
          <a:p>
            <a:pPr marL="0" indent="0">
              <a:buNone/>
            </a:pPr>
            <a:r>
              <a:rPr lang="en-GB" dirty="0" smtClean="0"/>
              <a:t>Both </a:t>
            </a:r>
            <a:r>
              <a:rPr lang="en-GB" dirty="0"/>
              <a:t>will display the same symbol.</a:t>
            </a:r>
          </a:p>
        </p:txBody>
      </p:sp>
    </p:spTree>
    <p:extLst>
      <p:ext uri="{BB962C8B-B14F-4D97-AF65-F5344CB8AC3E}">
        <p14:creationId xmlns:p14="http://schemas.microsoft.com/office/powerpoint/2010/main" val="97538789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graphicFrame>
        <p:nvGraphicFramePr>
          <p:cNvPr id="4" name="Content Placeholder 3"/>
          <p:cNvGraphicFramePr>
            <a:graphicFrameLocks noGrp="1"/>
          </p:cNvGraphicFramePr>
          <p:nvPr>
            <p:ph idx="1"/>
          </p:nvPr>
        </p:nvGraphicFramePr>
        <p:xfrm>
          <a:off x="838200" y="2904014"/>
          <a:ext cx="10515600" cy="2194560"/>
        </p:xfrm>
        <a:graphic>
          <a:graphicData uri="http://schemas.openxmlformats.org/drawingml/2006/table">
            <a:tbl>
              <a:tblPr/>
              <a:tblGrid>
                <a:gridCol w="3505200"/>
                <a:gridCol w="3505200"/>
                <a:gridCol w="3505200"/>
              </a:tblGrid>
              <a:tr h="0">
                <a:tc>
                  <a:txBody>
                    <a:bodyPr/>
                    <a:lstStyle/>
                    <a:p>
                      <a:r>
                        <a:rPr lang="en-GB"/>
                        <a:t>Character</a:t>
                      </a:r>
                    </a:p>
                  </a:txBody>
                  <a:tcPr anchor="ctr">
                    <a:lnL>
                      <a:noFill/>
                    </a:lnL>
                    <a:lnR>
                      <a:noFill/>
                    </a:lnR>
                    <a:lnT>
                      <a:noFill/>
                    </a:lnT>
                    <a:lnB>
                      <a:noFill/>
                    </a:lnB>
                  </a:tcPr>
                </a:tc>
                <a:tc>
                  <a:txBody>
                    <a:bodyPr/>
                    <a:lstStyle/>
                    <a:p>
                      <a:r>
                        <a:rPr lang="en-GB"/>
                        <a:t>Entity Name</a:t>
                      </a:r>
                    </a:p>
                  </a:txBody>
                  <a:tcPr anchor="ctr">
                    <a:lnL>
                      <a:noFill/>
                    </a:lnL>
                    <a:lnR>
                      <a:noFill/>
                    </a:lnR>
                    <a:lnT>
                      <a:noFill/>
                    </a:lnT>
                    <a:lnB>
                      <a:noFill/>
                    </a:lnB>
                  </a:tcPr>
                </a:tc>
                <a:tc>
                  <a:txBody>
                    <a:bodyPr/>
                    <a:lstStyle/>
                    <a:p>
                      <a:r>
                        <a:rPr lang="en-GB"/>
                        <a:t>Entity Number</a:t>
                      </a:r>
                    </a:p>
                  </a:txBody>
                  <a:tcPr anchor="ctr">
                    <a:lnL>
                      <a:noFill/>
                    </a:lnL>
                    <a:lnR>
                      <a:noFill/>
                    </a:lnR>
                    <a:lnT>
                      <a:noFill/>
                    </a:lnT>
                    <a:lnB>
                      <a:noFill/>
                    </a:lnB>
                  </a:tcPr>
                </a:tc>
              </a:tr>
              <a:tr h="0">
                <a:tc>
                  <a:txBody>
                    <a:bodyPr/>
                    <a:lstStyle/>
                    <a:p>
                      <a:r>
                        <a:rPr lang="en-GB"/>
                        <a:t>&lt;</a:t>
                      </a:r>
                    </a:p>
                  </a:txBody>
                  <a:tcPr anchor="ctr">
                    <a:lnL>
                      <a:noFill/>
                    </a:lnL>
                    <a:lnR>
                      <a:noFill/>
                    </a:lnR>
                    <a:lnT>
                      <a:noFill/>
                    </a:lnT>
                    <a:lnB>
                      <a:noFill/>
                    </a:lnB>
                  </a:tcPr>
                </a:tc>
                <a:tc>
                  <a:txBody>
                    <a:bodyPr/>
                    <a:lstStyle/>
                    <a:p>
                      <a:r>
                        <a:rPr lang="en-GB"/>
                        <a:t>&amp;lt;</a:t>
                      </a:r>
                    </a:p>
                  </a:txBody>
                  <a:tcPr anchor="ctr">
                    <a:lnL>
                      <a:noFill/>
                    </a:lnL>
                    <a:lnR>
                      <a:noFill/>
                    </a:lnR>
                    <a:lnT>
                      <a:noFill/>
                    </a:lnT>
                    <a:lnB>
                      <a:noFill/>
                    </a:lnB>
                  </a:tcPr>
                </a:tc>
                <a:tc>
                  <a:txBody>
                    <a:bodyPr/>
                    <a:lstStyle/>
                    <a:p>
                      <a:r>
                        <a:rPr lang="en-GB"/>
                        <a:t>&amp;#60;</a:t>
                      </a:r>
                    </a:p>
                  </a:txBody>
                  <a:tcPr anchor="ctr">
                    <a:lnL>
                      <a:noFill/>
                    </a:lnL>
                    <a:lnR>
                      <a:noFill/>
                    </a:lnR>
                    <a:lnT>
                      <a:noFill/>
                    </a:lnT>
                    <a:lnB>
                      <a:noFill/>
                    </a:lnB>
                  </a:tcPr>
                </a:tc>
              </a:tr>
              <a:tr h="0">
                <a:tc>
                  <a:txBody>
                    <a:bodyPr/>
                    <a:lstStyle/>
                    <a:p>
                      <a:r>
                        <a:rPr lang="en-GB"/>
                        <a:t>&gt;</a:t>
                      </a:r>
                    </a:p>
                  </a:txBody>
                  <a:tcPr anchor="ctr">
                    <a:lnL>
                      <a:noFill/>
                    </a:lnL>
                    <a:lnR>
                      <a:noFill/>
                    </a:lnR>
                    <a:lnT>
                      <a:noFill/>
                    </a:lnT>
                    <a:lnB>
                      <a:noFill/>
                    </a:lnB>
                  </a:tcPr>
                </a:tc>
                <a:tc>
                  <a:txBody>
                    <a:bodyPr/>
                    <a:lstStyle/>
                    <a:p>
                      <a:r>
                        <a:rPr lang="en-GB"/>
                        <a:t>&amp;gt;</a:t>
                      </a:r>
                    </a:p>
                  </a:txBody>
                  <a:tcPr anchor="ctr">
                    <a:lnL>
                      <a:noFill/>
                    </a:lnL>
                    <a:lnR>
                      <a:noFill/>
                    </a:lnR>
                    <a:lnT>
                      <a:noFill/>
                    </a:lnT>
                    <a:lnB>
                      <a:noFill/>
                    </a:lnB>
                  </a:tcPr>
                </a:tc>
                <a:tc>
                  <a:txBody>
                    <a:bodyPr/>
                    <a:lstStyle/>
                    <a:p>
                      <a:r>
                        <a:rPr lang="en-GB"/>
                        <a:t>&amp;#62;</a:t>
                      </a:r>
                    </a:p>
                  </a:txBody>
                  <a:tcPr anchor="ctr">
                    <a:lnL>
                      <a:noFill/>
                    </a:lnL>
                    <a:lnR>
                      <a:noFill/>
                    </a:lnR>
                    <a:lnT>
                      <a:noFill/>
                    </a:lnT>
                    <a:lnB>
                      <a:noFill/>
                    </a:lnB>
                  </a:tcPr>
                </a:tc>
              </a:tr>
              <a:tr h="0">
                <a:tc>
                  <a:txBody>
                    <a:bodyPr/>
                    <a:lstStyle/>
                    <a:p>
                      <a:r>
                        <a:rPr lang="en-GB"/>
                        <a:t>&amp;</a:t>
                      </a:r>
                    </a:p>
                  </a:txBody>
                  <a:tcPr anchor="ctr">
                    <a:lnL>
                      <a:noFill/>
                    </a:lnL>
                    <a:lnR>
                      <a:noFill/>
                    </a:lnR>
                    <a:lnT>
                      <a:noFill/>
                    </a:lnT>
                    <a:lnB>
                      <a:noFill/>
                    </a:lnB>
                  </a:tcPr>
                </a:tc>
                <a:tc>
                  <a:txBody>
                    <a:bodyPr/>
                    <a:lstStyle/>
                    <a:p>
                      <a:r>
                        <a:rPr lang="en-GB"/>
                        <a:t>&amp;amp;</a:t>
                      </a:r>
                    </a:p>
                  </a:txBody>
                  <a:tcPr anchor="ctr">
                    <a:lnL>
                      <a:noFill/>
                    </a:lnL>
                    <a:lnR>
                      <a:noFill/>
                    </a:lnR>
                    <a:lnT>
                      <a:noFill/>
                    </a:lnT>
                    <a:lnB>
                      <a:noFill/>
                    </a:lnB>
                  </a:tcPr>
                </a:tc>
                <a:tc>
                  <a:txBody>
                    <a:bodyPr/>
                    <a:lstStyle/>
                    <a:p>
                      <a:r>
                        <a:rPr lang="en-GB"/>
                        <a:t>&amp;#38;</a:t>
                      </a:r>
                    </a:p>
                  </a:txBody>
                  <a:tcPr anchor="ctr">
                    <a:lnL>
                      <a:noFill/>
                    </a:lnL>
                    <a:lnR>
                      <a:noFill/>
                    </a:lnR>
                    <a:lnT>
                      <a:noFill/>
                    </a:lnT>
                    <a:lnB>
                      <a:noFill/>
                    </a:lnB>
                  </a:tcPr>
                </a:tc>
              </a:tr>
              <a:tr h="0">
                <a:tc>
                  <a:txBody>
                    <a:bodyPr/>
                    <a:lstStyle/>
                    <a:p>
                      <a:r>
                        <a:rPr lang="en-GB"/>
                        <a:t>"</a:t>
                      </a:r>
                    </a:p>
                  </a:txBody>
                  <a:tcPr anchor="ctr">
                    <a:lnL>
                      <a:noFill/>
                    </a:lnL>
                    <a:lnR>
                      <a:noFill/>
                    </a:lnR>
                    <a:lnT>
                      <a:noFill/>
                    </a:lnT>
                    <a:lnB>
                      <a:noFill/>
                    </a:lnB>
                  </a:tcPr>
                </a:tc>
                <a:tc>
                  <a:txBody>
                    <a:bodyPr/>
                    <a:lstStyle/>
                    <a:p>
                      <a:r>
                        <a:rPr lang="en-GB"/>
                        <a:t>&amp;quot;</a:t>
                      </a:r>
                    </a:p>
                  </a:txBody>
                  <a:tcPr anchor="ctr">
                    <a:lnL>
                      <a:noFill/>
                    </a:lnL>
                    <a:lnR>
                      <a:noFill/>
                    </a:lnR>
                    <a:lnT>
                      <a:noFill/>
                    </a:lnT>
                    <a:lnB>
                      <a:noFill/>
                    </a:lnB>
                  </a:tcPr>
                </a:tc>
                <a:tc>
                  <a:txBody>
                    <a:bodyPr/>
                    <a:lstStyle/>
                    <a:p>
                      <a:r>
                        <a:rPr lang="en-GB"/>
                        <a:t>&amp;#34;</a:t>
                      </a:r>
                    </a:p>
                  </a:txBody>
                  <a:tcPr anchor="ctr">
                    <a:lnL>
                      <a:noFill/>
                    </a:lnL>
                    <a:lnR>
                      <a:noFill/>
                    </a:lnR>
                    <a:lnT>
                      <a:noFill/>
                    </a:lnT>
                    <a:lnB>
                      <a:noFill/>
                    </a:lnB>
                  </a:tcPr>
                </a:tc>
              </a:tr>
              <a:tr h="0">
                <a:tc>
                  <a:txBody>
                    <a:bodyPr/>
                    <a:lstStyle/>
                    <a:p>
                      <a:r>
                        <a:rPr lang="en-GB"/>
                        <a:t>'</a:t>
                      </a:r>
                    </a:p>
                  </a:txBody>
                  <a:tcPr anchor="ctr">
                    <a:lnL>
                      <a:noFill/>
                    </a:lnL>
                    <a:lnR>
                      <a:noFill/>
                    </a:lnR>
                    <a:lnT>
                      <a:noFill/>
                    </a:lnT>
                    <a:lnB>
                      <a:noFill/>
                    </a:lnB>
                  </a:tcPr>
                </a:tc>
                <a:tc>
                  <a:txBody>
                    <a:bodyPr/>
                    <a:lstStyle/>
                    <a:p>
                      <a:r>
                        <a:rPr lang="en-GB"/>
                        <a:t>&amp;apos;</a:t>
                      </a:r>
                    </a:p>
                  </a:txBody>
                  <a:tcPr anchor="ctr">
                    <a:lnL>
                      <a:noFill/>
                    </a:lnL>
                    <a:lnR>
                      <a:noFill/>
                    </a:lnR>
                    <a:lnT>
                      <a:noFill/>
                    </a:lnT>
                    <a:lnB>
                      <a:noFill/>
                    </a:lnB>
                  </a:tcPr>
                </a:tc>
                <a:tc>
                  <a:txBody>
                    <a:bodyPr/>
                    <a:lstStyle/>
                    <a:p>
                      <a:r>
                        <a:rPr lang="en-GB" dirty="0"/>
                        <a:t>&amp;#39;</a:t>
                      </a:r>
                    </a:p>
                  </a:txBody>
                  <a:tcPr anchor="ctr">
                    <a:lnL>
                      <a:noFill/>
                    </a:lnL>
                    <a:lnR>
                      <a:noFill/>
                    </a:lnR>
                    <a:lnT>
                      <a:noFill/>
                    </a:lnT>
                    <a:lnB>
                      <a:noFill/>
                    </a:lnB>
                  </a:tcPr>
                </a:tc>
              </a:tr>
            </a:tbl>
          </a:graphicData>
        </a:graphic>
      </p:graphicFrame>
      <p:sp>
        <p:nvSpPr>
          <p:cNvPr id="5" name="Rectangle 1"/>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panose="020B0604020202020204" pitchFamily="34" charset="0"/>
              </a:rPr>
              <a:t>3. Common Character References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524234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4. Non-Breaking Space</a:t>
            </a:r>
          </a:p>
        </p:txBody>
      </p:sp>
      <p:sp>
        <p:nvSpPr>
          <p:cNvPr id="3" name="Content Placeholder 2"/>
          <p:cNvSpPr>
            <a:spLocks noGrp="1"/>
          </p:cNvSpPr>
          <p:nvPr>
            <p:ph idx="1"/>
          </p:nvPr>
        </p:nvSpPr>
        <p:spPr/>
        <p:txBody>
          <a:bodyPr/>
          <a:lstStyle/>
          <a:p>
            <a:r>
              <a:rPr lang="en-GB" dirty="0"/>
              <a:t>A non-breaking space is used to create extra space between words</a:t>
            </a:r>
            <a:r>
              <a:rPr lang="en-GB" dirty="0" smtClean="0"/>
              <a:t>.</a:t>
            </a:r>
          </a:p>
          <a:p>
            <a:r>
              <a:rPr lang="en-GB" dirty="0" err="1" smtClean="0"/>
              <a:t>Characterreference</a:t>
            </a:r>
            <a:r>
              <a:rPr lang="en-GB" dirty="0" smtClean="0"/>
              <a:t>:</a:t>
            </a:r>
          </a:p>
          <a:p>
            <a:r>
              <a:rPr lang="en-GB" dirty="0" smtClean="0"/>
              <a:t>&amp;</a:t>
            </a:r>
            <a:r>
              <a:rPr lang="en-GB" dirty="0" err="1"/>
              <a:t>nbsp</a:t>
            </a:r>
            <a:r>
              <a:rPr lang="en-GB" dirty="0" smtClean="0"/>
              <a:t>;</a:t>
            </a:r>
          </a:p>
          <a:p>
            <a:r>
              <a:rPr lang="en-GB" dirty="0" smtClean="0"/>
              <a:t>Example:</a:t>
            </a:r>
          </a:p>
          <a:p>
            <a:r>
              <a:rPr lang="en-GB" dirty="0" smtClean="0"/>
              <a:t>&lt;</a:t>
            </a:r>
            <a:r>
              <a:rPr lang="en-GB" dirty="0"/>
              <a:t>p&gt;</a:t>
            </a:r>
            <a:r>
              <a:rPr lang="en-GB" dirty="0" err="1"/>
              <a:t>Hello&amp;nbsp</a:t>
            </a:r>
            <a:r>
              <a:rPr lang="en-GB" dirty="0"/>
              <a:t>;&amp;</a:t>
            </a:r>
            <a:r>
              <a:rPr lang="en-GB" dirty="0" err="1"/>
              <a:t>nbsp</a:t>
            </a:r>
            <a:r>
              <a:rPr lang="en-GB" dirty="0"/>
              <a:t>;&amp;</a:t>
            </a:r>
            <a:r>
              <a:rPr lang="en-GB" dirty="0" err="1"/>
              <a:t>nbsp;World</a:t>
            </a:r>
            <a:r>
              <a:rPr lang="en-GB" dirty="0"/>
              <a:t>&lt;/p</a:t>
            </a:r>
            <a:r>
              <a:rPr lang="en-GB" dirty="0" smtClean="0"/>
              <a:t>&gt;</a:t>
            </a:r>
          </a:p>
          <a:p>
            <a:endParaRPr lang="en-GB" dirty="0"/>
          </a:p>
          <a:p>
            <a:r>
              <a:rPr lang="en-GB" dirty="0" err="1" smtClean="0"/>
              <a:t>Output:Hello</a:t>
            </a:r>
            <a:r>
              <a:rPr lang="en-GB" dirty="0" smtClean="0"/>
              <a:t> </a:t>
            </a:r>
            <a:r>
              <a:rPr lang="en-GB" dirty="0"/>
              <a:t>World</a:t>
            </a:r>
          </a:p>
        </p:txBody>
      </p:sp>
    </p:spTree>
    <p:extLst>
      <p:ext uri="{BB962C8B-B14F-4D97-AF65-F5344CB8AC3E}">
        <p14:creationId xmlns:p14="http://schemas.microsoft.com/office/powerpoint/2010/main" val="304829464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711" y="457200"/>
            <a:ext cx="10515600" cy="1325563"/>
          </a:xfrm>
        </p:spPr>
        <p:txBody>
          <a:bodyPr/>
          <a:lstStyle/>
          <a:p>
            <a:r>
              <a:rPr lang="en-GB" dirty="0"/>
              <a:t>5. Currency Character References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72494821"/>
              </p:ext>
            </p:extLst>
          </p:nvPr>
        </p:nvGraphicFramePr>
        <p:xfrm>
          <a:off x="756314" y="1962319"/>
          <a:ext cx="10515600" cy="2194560"/>
        </p:xfrm>
        <a:graphic>
          <a:graphicData uri="http://schemas.openxmlformats.org/drawingml/2006/table">
            <a:tbl>
              <a:tblPr/>
              <a:tblGrid>
                <a:gridCol w="5257800"/>
                <a:gridCol w="5257800"/>
              </a:tblGrid>
              <a:tr h="0">
                <a:tc>
                  <a:txBody>
                    <a:bodyPr/>
                    <a:lstStyle/>
                    <a:p>
                      <a:r>
                        <a:rPr lang="en-GB" dirty="0"/>
                        <a:t>Symbol</a:t>
                      </a:r>
                    </a:p>
                  </a:txBody>
                  <a:tcPr anchor="ctr">
                    <a:lnL>
                      <a:noFill/>
                    </a:lnL>
                    <a:lnR>
                      <a:noFill/>
                    </a:lnR>
                    <a:lnT>
                      <a:noFill/>
                    </a:lnT>
                    <a:lnB>
                      <a:noFill/>
                    </a:lnB>
                  </a:tcPr>
                </a:tc>
                <a:tc>
                  <a:txBody>
                    <a:bodyPr/>
                    <a:lstStyle/>
                    <a:p>
                      <a:r>
                        <a:rPr lang="en-GB"/>
                        <a:t>HTML Code</a:t>
                      </a:r>
                    </a:p>
                  </a:txBody>
                  <a:tcPr anchor="ctr">
                    <a:lnL>
                      <a:noFill/>
                    </a:lnL>
                    <a:lnR>
                      <a:noFill/>
                    </a:lnR>
                    <a:lnT>
                      <a:noFill/>
                    </a:lnT>
                    <a:lnB>
                      <a:noFill/>
                    </a:lnB>
                  </a:tcPr>
                </a:tc>
              </a:tr>
              <a:tr h="0">
                <a:tc>
                  <a:txBody>
                    <a:bodyPr/>
                    <a:lstStyle/>
                    <a:p>
                      <a:r>
                        <a:rPr lang="en-GB"/>
                        <a:t>₹</a:t>
                      </a:r>
                    </a:p>
                  </a:txBody>
                  <a:tcPr anchor="ctr">
                    <a:lnL>
                      <a:noFill/>
                    </a:lnL>
                    <a:lnR>
                      <a:noFill/>
                    </a:lnR>
                    <a:lnT>
                      <a:noFill/>
                    </a:lnT>
                    <a:lnB>
                      <a:noFill/>
                    </a:lnB>
                  </a:tcPr>
                </a:tc>
                <a:tc>
                  <a:txBody>
                    <a:bodyPr/>
                    <a:lstStyle/>
                    <a:p>
                      <a:r>
                        <a:rPr lang="en-GB"/>
                        <a:t>&amp;#8377;</a:t>
                      </a:r>
                    </a:p>
                  </a:txBody>
                  <a:tcPr anchor="ctr">
                    <a:lnL>
                      <a:noFill/>
                    </a:lnL>
                    <a:lnR>
                      <a:noFill/>
                    </a:lnR>
                    <a:lnT>
                      <a:noFill/>
                    </a:lnT>
                    <a:lnB>
                      <a:noFill/>
                    </a:lnB>
                  </a:tcPr>
                </a:tc>
              </a:tr>
              <a:tr h="0">
                <a:tc>
                  <a:txBody>
                    <a:bodyPr/>
                    <a:lstStyle/>
                    <a:p>
                      <a:r>
                        <a:rPr lang="en-GB" dirty="0"/>
                        <a:t>$</a:t>
                      </a:r>
                    </a:p>
                  </a:txBody>
                  <a:tcPr anchor="ctr">
                    <a:lnL>
                      <a:noFill/>
                    </a:lnL>
                    <a:lnR>
                      <a:noFill/>
                    </a:lnR>
                    <a:lnT>
                      <a:noFill/>
                    </a:lnT>
                    <a:lnB>
                      <a:noFill/>
                    </a:lnB>
                  </a:tcPr>
                </a:tc>
                <a:tc>
                  <a:txBody>
                    <a:bodyPr/>
                    <a:lstStyle/>
                    <a:p>
                      <a:r>
                        <a:rPr lang="en-GB"/>
                        <a:t>&amp;dollar;</a:t>
                      </a:r>
                    </a:p>
                  </a:txBody>
                  <a:tcPr anchor="ctr">
                    <a:lnL>
                      <a:noFill/>
                    </a:lnL>
                    <a:lnR>
                      <a:noFill/>
                    </a:lnR>
                    <a:lnT>
                      <a:noFill/>
                    </a:lnT>
                    <a:lnB>
                      <a:noFill/>
                    </a:lnB>
                  </a:tcPr>
                </a:tc>
              </a:tr>
              <a:tr h="0">
                <a:tc>
                  <a:txBody>
                    <a:bodyPr/>
                    <a:lstStyle/>
                    <a:p>
                      <a:r>
                        <a:rPr lang="en-GB"/>
                        <a:t>€</a:t>
                      </a:r>
                    </a:p>
                  </a:txBody>
                  <a:tcPr anchor="ctr">
                    <a:lnL>
                      <a:noFill/>
                    </a:lnL>
                    <a:lnR>
                      <a:noFill/>
                    </a:lnR>
                    <a:lnT>
                      <a:noFill/>
                    </a:lnT>
                    <a:lnB>
                      <a:noFill/>
                    </a:lnB>
                  </a:tcPr>
                </a:tc>
                <a:tc>
                  <a:txBody>
                    <a:bodyPr/>
                    <a:lstStyle/>
                    <a:p>
                      <a:r>
                        <a:rPr lang="en-GB"/>
                        <a:t>&amp;euro;</a:t>
                      </a:r>
                    </a:p>
                  </a:txBody>
                  <a:tcPr anchor="ctr">
                    <a:lnL>
                      <a:noFill/>
                    </a:lnL>
                    <a:lnR>
                      <a:noFill/>
                    </a:lnR>
                    <a:lnT>
                      <a:noFill/>
                    </a:lnT>
                    <a:lnB>
                      <a:noFill/>
                    </a:lnB>
                  </a:tcPr>
                </a:tc>
              </a:tr>
              <a:tr h="0">
                <a:tc>
                  <a:txBody>
                    <a:bodyPr/>
                    <a:lstStyle/>
                    <a:p>
                      <a:r>
                        <a:rPr lang="en-GB"/>
                        <a:t>£</a:t>
                      </a:r>
                    </a:p>
                  </a:txBody>
                  <a:tcPr anchor="ctr">
                    <a:lnL>
                      <a:noFill/>
                    </a:lnL>
                    <a:lnR>
                      <a:noFill/>
                    </a:lnR>
                    <a:lnT>
                      <a:noFill/>
                    </a:lnT>
                    <a:lnB>
                      <a:noFill/>
                    </a:lnB>
                  </a:tcPr>
                </a:tc>
                <a:tc>
                  <a:txBody>
                    <a:bodyPr/>
                    <a:lstStyle/>
                    <a:p>
                      <a:r>
                        <a:rPr lang="en-GB"/>
                        <a:t>&amp;pound;</a:t>
                      </a:r>
                    </a:p>
                  </a:txBody>
                  <a:tcPr anchor="ctr">
                    <a:lnL>
                      <a:noFill/>
                    </a:lnL>
                    <a:lnR>
                      <a:noFill/>
                    </a:lnR>
                    <a:lnT>
                      <a:noFill/>
                    </a:lnT>
                    <a:lnB>
                      <a:noFill/>
                    </a:lnB>
                  </a:tcPr>
                </a:tc>
              </a:tr>
              <a:tr h="0">
                <a:tc>
                  <a:txBody>
                    <a:bodyPr/>
                    <a:lstStyle/>
                    <a:p>
                      <a:r>
                        <a:rPr lang="en-GB"/>
                        <a:t>¥</a:t>
                      </a:r>
                    </a:p>
                  </a:txBody>
                  <a:tcPr anchor="ctr">
                    <a:lnL>
                      <a:noFill/>
                    </a:lnL>
                    <a:lnR>
                      <a:noFill/>
                    </a:lnR>
                    <a:lnT>
                      <a:noFill/>
                    </a:lnT>
                    <a:lnB>
                      <a:noFill/>
                    </a:lnB>
                  </a:tcPr>
                </a:tc>
                <a:tc>
                  <a:txBody>
                    <a:bodyPr/>
                    <a:lstStyle/>
                    <a:p>
                      <a:r>
                        <a:rPr lang="en-GB" dirty="0"/>
                        <a:t>&amp;yen;</a:t>
                      </a:r>
                    </a:p>
                  </a:txBody>
                  <a:tcPr anchor="ctr">
                    <a:lnL>
                      <a:noFill/>
                    </a:lnL>
                    <a:lnR>
                      <a:noFill/>
                    </a:lnR>
                    <a:lnT>
                      <a:noFill/>
                    </a:lnT>
                    <a:lnB>
                      <a:noFill/>
                    </a:lnB>
                  </a:tcPr>
                </a:tc>
              </a:tr>
            </a:tbl>
          </a:graphicData>
        </a:graphic>
      </p:graphicFrame>
      <p:sp>
        <p:nvSpPr>
          <p:cNvPr id="5" name="Rectangle 1"/>
          <p:cNvSpPr>
            <a:spLocks noChangeArrowheads="1"/>
          </p:cNvSpPr>
          <p:nvPr/>
        </p:nvSpPr>
        <p:spPr bwMode="auto">
          <a:xfrm>
            <a:off x="469711" y="4643567"/>
            <a:ext cx="1227388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Arial Unicode MS" panose="020B0604020202020204" pitchFamily="34" charset="-128"/>
              </a:rPr>
              <a:t>&lt;p&gt;Price: &amp;#8377;1000&lt;/p&gt;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rPr>
              <a:t>Output:</a:t>
            </a:r>
            <a:endParaRPr kumimoji="0" lang="en-US" sz="3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Arial" panose="020B0604020202020204" pitchFamily="34" charset="0"/>
              </a:rPr>
              <a:t>Price: ₹1000</a:t>
            </a:r>
          </a:p>
        </p:txBody>
      </p:sp>
    </p:spTree>
    <p:extLst>
      <p:ext uri="{BB962C8B-B14F-4D97-AF65-F5344CB8AC3E}">
        <p14:creationId xmlns:p14="http://schemas.microsoft.com/office/powerpoint/2010/main" val="23457700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6. Mathematical Character References</a:t>
            </a:r>
          </a:p>
        </p:txBody>
      </p:sp>
      <p:graphicFrame>
        <p:nvGraphicFramePr>
          <p:cNvPr id="4" name="Content Placeholder 3"/>
          <p:cNvGraphicFramePr>
            <a:graphicFrameLocks noGrp="1"/>
          </p:cNvGraphicFramePr>
          <p:nvPr>
            <p:ph idx="1"/>
          </p:nvPr>
        </p:nvGraphicFramePr>
        <p:xfrm>
          <a:off x="838200" y="2904014"/>
          <a:ext cx="10515600" cy="2194560"/>
        </p:xfrm>
        <a:graphic>
          <a:graphicData uri="http://schemas.openxmlformats.org/drawingml/2006/table">
            <a:tbl>
              <a:tblPr/>
              <a:tblGrid>
                <a:gridCol w="5257800"/>
                <a:gridCol w="5257800"/>
              </a:tblGrid>
              <a:tr h="0">
                <a:tc>
                  <a:txBody>
                    <a:bodyPr/>
                    <a:lstStyle/>
                    <a:p>
                      <a:r>
                        <a:rPr lang="en-GB"/>
                        <a:t>Symbol</a:t>
                      </a:r>
                    </a:p>
                  </a:txBody>
                  <a:tcPr anchor="ctr">
                    <a:lnL>
                      <a:noFill/>
                    </a:lnL>
                    <a:lnR>
                      <a:noFill/>
                    </a:lnR>
                    <a:lnT>
                      <a:noFill/>
                    </a:lnT>
                    <a:lnB>
                      <a:noFill/>
                    </a:lnB>
                  </a:tcPr>
                </a:tc>
                <a:tc>
                  <a:txBody>
                    <a:bodyPr/>
                    <a:lstStyle/>
                    <a:p>
                      <a:r>
                        <a:rPr lang="en-GB"/>
                        <a:t>HTML Code</a:t>
                      </a:r>
                    </a:p>
                  </a:txBody>
                  <a:tcPr anchor="ctr">
                    <a:lnL>
                      <a:noFill/>
                    </a:lnL>
                    <a:lnR>
                      <a:noFill/>
                    </a:lnR>
                    <a:lnT>
                      <a:noFill/>
                    </a:lnT>
                    <a:lnB>
                      <a:noFill/>
                    </a:lnB>
                  </a:tcPr>
                </a:tc>
              </a:tr>
              <a:tr h="0">
                <a:tc>
                  <a:txBody>
                    <a:bodyPr/>
                    <a:lstStyle/>
                    <a:p>
                      <a:r>
                        <a:rPr lang="en-GB"/>
                        <a:t>×</a:t>
                      </a:r>
                    </a:p>
                  </a:txBody>
                  <a:tcPr anchor="ctr">
                    <a:lnL>
                      <a:noFill/>
                    </a:lnL>
                    <a:lnR>
                      <a:noFill/>
                    </a:lnR>
                    <a:lnT>
                      <a:noFill/>
                    </a:lnT>
                    <a:lnB>
                      <a:noFill/>
                    </a:lnB>
                  </a:tcPr>
                </a:tc>
                <a:tc>
                  <a:txBody>
                    <a:bodyPr/>
                    <a:lstStyle/>
                    <a:p>
                      <a:r>
                        <a:rPr lang="en-GB"/>
                        <a:t>&amp;times;</a:t>
                      </a:r>
                    </a:p>
                  </a:txBody>
                  <a:tcPr anchor="ctr">
                    <a:lnL>
                      <a:noFill/>
                    </a:lnL>
                    <a:lnR>
                      <a:noFill/>
                    </a:lnR>
                    <a:lnT>
                      <a:noFill/>
                    </a:lnT>
                    <a:lnB>
                      <a:noFill/>
                    </a:lnB>
                  </a:tcPr>
                </a:tc>
              </a:tr>
              <a:tr h="0">
                <a:tc>
                  <a:txBody>
                    <a:bodyPr/>
                    <a:lstStyle/>
                    <a:p>
                      <a:r>
                        <a:rPr lang="en-GB"/>
                        <a:t>÷</a:t>
                      </a:r>
                    </a:p>
                  </a:txBody>
                  <a:tcPr anchor="ctr">
                    <a:lnL>
                      <a:noFill/>
                    </a:lnL>
                    <a:lnR>
                      <a:noFill/>
                    </a:lnR>
                    <a:lnT>
                      <a:noFill/>
                    </a:lnT>
                    <a:lnB>
                      <a:noFill/>
                    </a:lnB>
                  </a:tcPr>
                </a:tc>
                <a:tc>
                  <a:txBody>
                    <a:bodyPr/>
                    <a:lstStyle/>
                    <a:p>
                      <a:r>
                        <a:rPr lang="en-GB"/>
                        <a:t>&amp;divide;</a:t>
                      </a:r>
                    </a:p>
                  </a:txBody>
                  <a:tcPr anchor="ctr">
                    <a:lnL>
                      <a:noFill/>
                    </a:lnL>
                    <a:lnR>
                      <a:noFill/>
                    </a:lnR>
                    <a:lnT>
                      <a:noFill/>
                    </a:lnT>
                    <a:lnB>
                      <a:noFill/>
                    </a:lnB>
                  </a:tcPr>
                </a:tc>
              </a:tr>
              <a:tr h="0">
                <a:tc>
                  <a:txBody>
                    <a:bodyPr/>
                    <a:lstStyle/>
                    <a:p>
                      <a:r>
                        <a:rPr lang="en-GB"/>
                        <a:t>±</a:t>
                      </a:r>
                    </a:p>
                  </a:txBody>
                  <a:tcPr anchor="ctr">
                    <a:lnL>
                      <a:noFill/>
                    </a:lnL>
                    <a:lnR>
                      <a:noFill/>
                    </a:lnR>
                    <a:lnT>
                      <a:noFill/>
                    </a:lnT>
                    <a:lnB>
                      <a:noFill/>
                    </a:lnB>
                  </a:tcPr>
                </a:tc>
                <a:tc>
                  <a:txBody>
                    <a:bodyPr/>
                    <a:lstStyle/>
                    <a:p>
                      <a:r>
                        <a:rPr lang="en-GB"/>
                        <a:t>&amp;plusmn;</a:t>
                      </a:r>
                    </a:p>
                  </a:txBody>
                  <a:tcPr anchor="ctr">
                    <a:lnL>
                      <a:noFill/>
                    </a:lnL>
                    <a:lnR>
                      <a:noFill/>
                    </a:lnR>
                    <a:lnT>
                      <a:noFill/>
                    </a:lnT>
                    <a:lnB>
                      <a:noFill/>
                    </a:lnB>
                  </a:tcPr>
                </a:tc>
              </a:tr>
              <a:tr h="0">
                <a:tc>
                  <a:txBody>
                    <a:bodyPr/>
                    <a:lstStyle/>
                    <a:p>
                      <a:r>
                        <a:rPr lang="en-GB"/>
                        <a:t>≤</a:t>
                      </a:r>
                    </a:p>
                  </a:txBody>
                  <a:tcPr anchor="ctr">
                    <a:lnL>
                      <a:noFill/>
                    </a:lnL>
                    <a:lnR>
                      <a:noFill/>
                    </a:lnR>
                    <a:lnT>
                      <a:noFill/>
                    </a:lnT>
                    <a:lnB>
                      <a:noFill/>
                    </a:lnB>
                  </a:tcPr>
                </a:tc>
                <a:tc>
                  <a:txBody>
                    <a:bodyPr/>
                    <a:lstStyle/>
                    <a:p>
                      <a:r>
                        <a:rPr lang="en-GB"/>
                        <a:t>&amp;le;</a:t>
                      </a:r>
                    </a:p>
                  </a:txBody>
                  <a:tcPr anchor="ctr">
                    <a:lnL>
                      <a:noFill/>
                    </a:lnL>
                    <a:lnR>
                      <a:noFill/>
                    </a:lnR>
                    <a:lnT>
                      <a:noFill/>
                    </a:lnT>
                    <a:lnB>
                      <a:noFill/>
                    </a:lnB>
                  </a:tcPr>
                </a:tc>
              </a:tr>
              <a:tr h="0">
                <a:tc>
                  <a:txBody>
                    <a:bodyPr/>
                    <a:lstStyle/>
                    <a:p>
                      <a:r>
                        <a:rPr lang="en-GB"/>
                        <a:t>≥</a:t>
                      </a:r>
                    </a:p>
                  </a:txBody>
                  <a:tcPr anchor="ctr">
                    <a:lnL>
                      <a:noFill/>
                    </a:lnL>
                    <a:lnR>
                      <a:noFill/>
                    </a:lnR>
                    <a:lnT>
                      <a:noFill/>
                    </a:lnT>
                    <a:lnB>
                      <a:noFill/>
                    </a:lnB>
                  </a:tcPr>
                </a:tc>
                <a:tc>
                  <a:txBody>
                    <a:bodyPr/>
                    <a:lstStyle/>
                    <a:p>
                      <a:r>
                        <a:rPr lang="en-GB" dirty="0"/>
                        <a:t>&amp;</a:t>
                      </a:r>
                      <a:r>
                        <a:rPr lang="en-GB" dirty="0" err="1"/>
                        <a:t>ge</a:t>
                      </a:r>
                      <a:r>
                        <a:rPr lang="en-GB" dirty="0"/>
                        <a:t>;</a:t>
                      </a:r>
                    </a:p>
                  </a:txBody>
                  <a:tcPr anchor="ctr">
                    <a:lnL>
                      <a:noFill/>
                    </a:lnL>
                    <a:lnR>
                      <a:noFill/>
                    </a:lnR>
                    <a:lnT>
                      <a:noFill/>
                    </a:lnT>
                    <a:lnB>
                      <a:noFill/>
                    </a:lnB>
                  </a:tcPr>
                </a:tc>
              </a:tr>
            </a:tbl>
          </a:graphicData>
        </a:graphic>
      </p:graphicFrame>
      <p:sp>
        <p:nvSpPr>
          <p:cNvPr id="5" name="Rectangle 1"/>
          <p:cNvSpPr>
            <a:spLocks noChangeArrowheads="1"/>
          </p:cNvSpPr>
          <p:nvPr/>
        </p:nvSpPr>
        <p:spPr bwMode="auto">
          <a:xfrm>
            <a:off x="838200" y="5418288"/>
            <a:ext cx="433163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Unicode MS" panose="020B0604020202020204" pitchFamily="34" charset="-128"/>
              </a:rPr>
              <a:t>&lt;p&gt;10 &amp;times; 5 = 50&lt;/p&gt;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rPr>
              <a:t>Output:</a:t>
            </a:r>
            <a:endParaRPr kumimoji="0" lang="en-US" sz="2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panose="020B0604020202020204" pitchFamily="34" charset="0"/>
              </a:rPr>
              <a:t>10 × 5 = 50</a:t>
            </a:r>
          </a:p>
        </p:txBody>
      </p:sp>
    </p:spTree>
    <p:extLst>
      <p:ext uri="{BB962C8B-B14F-4D97-AF65-F5344CB8AC3E}">
        <p14:creationId xmlns:p14="http://schemas.microsoft.com/office/powerpoint/2010/main" val="22735954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HTML Program</a:t>
            </a:r>
          </a:p>
        </p:txBody>
      </p:sp>
      <p:sp>
        <p:nvSpPr>
          <p:cNvPr id="3" name="Content Placeholder 2"/>
          <p:cNvSpPr>
            <a:spLocks noGrp="1"/>
          </p:cNvSpPr>
          <p:nvPr>
            <p:ph idx="1"/>
          </p:nvPr>
        </p:nvSpPr>
        <p:spPr/>
        <p:txBody>
          <a:bodyPr>
            <a:normAutofit fontScale="55000" lnSpcReduction="20000"/>
          </a:bodyPr>
          <a:lstStyle/>
          <a:p>
            <a:r>
              <a:rPr lang="en-GB" dirty="0"/>
              <a:t>&lt;!DOCTYPE html&gt;</a:t>
            </a:r>
          </a:p>
          <a:p>
            <a:r>
              <a:rPr lang="en-GB" dirty="0"/>
              <a:t>&lt;html&gt;</a:t>
            </a:r>
          </a:p>
          <a:p>
            <a:r>
              <a:rPr lang="en-GB" dirty="0"/>
              <a:t>&lt;body&gt;</a:t>
            </a:r>
          </a:p>
          <a:p>
            <a:endParaRPr lang="en-GB" dirty="0"/>
          </a:p>
          <a:p>
            <a:r>
              <a:rPr lang="en-GB" dirty="0"/>
              <a:t>&lt;h2&gt;Character Reference Example&lt;/h2&gt;</a:t>
            </a:r>
          </a:p>
          <a:p>
            <a:endParaRPr lang="en-GB" dirty="0"/>
          </a:p>
          <a:p>
            <a:r>
              <a:rPr lang="en-GB" dirty="0"/>
              <a:t>&lt;p&gt;5 &amp;</a:t>
            </a:r>
            <a:r>
              <a:rPr lang="en-GB" dirty="0" err="1"/>
              <a:t>lt</a:t>
            </a:r>
            <a:r>
              <a:rPr lang="en-GB" dirty="0"/>
              <a:t>; 10&lt;/p&gt;</a:t>
            </a:r>
          </a:p>
          <a:p>
            <a:r>
              <a:rPr lang="en-GB" dirty="0"/>
              <a:t>&lt;p&gt;10 &amp;</a:t>
            </a:r>
            <a:r>
              <a:rPr lang="en-GB" dirty="0" err="1"/>
              <a:t>gt</a:t>
            </a:r>
            <a:r>
              <a:rPr lang="en-GB" dirty="0"/>
              <a:t>; 5&lt;/p&gt;</a:t>
            </a:r>
          </a:p>
          <a:p>
            <a:r>
              <a:rPr lang="en-GB" dirty="0"/>
              <a:t>&lt;p&gt;Tom &amp;amp; Jerry&lt;/p&gt;</a:t>
            </a:r>
          </a:p>
          <a:p>
            <a:r>
              <a:rPr lang="en-GB" dirty="0"/>
              <a:t>&lt;p&gt;Price: &amp;#8377;500&lt;/p&gt;</a:t>
            </a:r>
          </a:p>
          <a:p>
            <a:r>
              <a:rPr lang="en-GB" dirty="0"/>
              <a:t>&lt;p&gt;10 &amp;times; 5 = 50&lt;/p&gt;</a:t>
            </a:r>
          </a:p>
          <a:p>
            <a:endParaRPr lang="en-GB" dirty="0"/>
          </a:p>
          <a:p>
            <a:r>
              <a:rPr lang="en-GB" dirty="0"/>
              <a:t>&lt;/body&gt;</a:t>
            </a:r>
          </a:p>
          <a:p>
            <a:r>
              <a:rPr lang="en-GB" dirty="0"/>
              <a:t>&lt;/html&gt;</a:t>
            </a:r>
          </a:p>
        </p:txBody>
      </p:sp>
    </p:spTree>
    <p:extLst>
      <p:ext uri="{BB962C8B-B14F-4D97-AF65-F5344CB8AC3E}">
        <p14:creationId xmlns:p14="http://schemas.microsoft.com/office/powerpoint/2010/main" val="33535241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Write an HTML program to display:</a:t>
            </a:r>
          </a:p>
        </p:txBody>
      </p:sp>
      <p:sp>
        <p:nvSpPr>
          <p:cNvPr id="4" name="Rectangle 1"/>
          <p:cNvSpPr>
            <a:spLocks noGrp="1" noChangeArrowheads="1"/>
          </p:cNvSpPr>
          <p:nvPr>
            <p:ph idx="1"/>
          </p:nvPr>
        </p:nvSpPr>
        <p:spPr bwMode="auto">
          <a:xfrm>
            <a:off x="1165746" y="2014899"/>
            <a:ext cx="2858475"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3200" b="0" i="0" u="none" strike="noStrike" cap="none" normalizeH="0" baseline="0" dirty="0" smtClean="0">
                <a:ln>
                  <a:noFill/>
                </a:ln>
                <a:solidFill>
                  <a:schemeClr val="tx1"/>
                </a:solidFill>
                <a:effectLst/>
                <a:latin typeface="Arial Unicode MS" panose="020B0604020202020204" pitchFamily="34" charset="-128"/>
              </a:rPr>
              <a:t>A &lt; B</a:t>
            </a:r>
            <a:endParaRPr kumimoji="0" lang="en-US" sz="3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3200" b="0" i="0" u="none" strike="noStrike" cap="none" normalizeH="0" baseline="0" dirty="0" smtClean="0">
                <a:ln>
                  <a:noFill/>
                </a:ln>
                <a:solidFill>
                  <a:schemeClr val="tx1"/>
                </a:solidFill>
                <a:effectLst/>
                <a:latin typeface="Arial Unicode MS" panose="020B0604020202020204" pitchFamily="34" charset="-128"/>
              </a:rPr>
              <a:t>Tom &amp; Jerry</a:t>
            </a:r>
            <a:endParaRPr kumimoji="0" lang="en-US" sz="3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3200" b="0" i="0" u="none" strike="noStrike" cap="none" normalizeH="0" baseline="0" dirty="0" smtClean="0">
                <a:ln>
                  <a:noFill/>
                </a:ln>
                <a:solidFill>
                  <a:schemeClr val="tx1"/>
                </a:solidFill>
                <a:effectLst/>
                <a:latin typeface="Arial Unicode MS" panose="020B0604020202020204" pitchFamily="34" charset="-128"/>
              </a:rPr>
              <a:t>10 × 20 = 200</a:t>
            </a:r>
            <a:endParaRPr kumimoji="0" lang="en-US" sz="3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3200" b="0" i="0" u="none" strike="noStrike" cap="none" normalizeH="0" baseline="0" dirty="0" smtClean="0">
                <a:ln>
                  <a:noFill/>
                </a:ln>
                <a:solidFill>
                  <a:schemeClr val="tx1"/>
                </a:solidFill>
                <a:effectLst/>
                <a:latin typeface="Arial Unicode MS" panose="020B0604020202020204" pitchFamily="34" charset="-128"/>
              </a:rPr>
              <a:t>Price = ₹500</a:t>
            </a:r>
            <a:endParaRPr kumimoji="0" lang="en-US" sz="32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294921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HTML Lists</a:t>
            </a:r>
          </a:p>
        </p:txBody>
      </p:sp>
      <p:sp>
        <p:nvSpPr>
          <p:cNvPr id="3" name="Content Placeholder 2"/>
          <p:cNvSpPr>
            <a:spLocks noGrp="1"/>
          </p:cNvSpPr>
          <p:nvPr>
            <p:ph idx="1"/>
          </p:nvPr>
        </p:nvSpPr>
        <p:spPr/>
        <p:txBody>
          <a:bodyPr/>
          <a:lstStyle/>
          <a:p>
            <a:pPr fontAlgn="base"/>
            <a:r>
              <a:rPr lang="en-GB" dirty="0"/>
              <a:t>An HTML list organizes content into ordered or unordered formats, making information clear and easy to read.</a:t>
            </a:r>
          </a:p>
          <a:p>
            <a:pPr fontAlgn="base"/>
            <a:r>
              <a:rPr lang="en-GB" dirty="0"/>
              <a:t>HTML lists organize content using tags like &lt;</a:t>
            </a:r>
            <a:r>
              <a:rPr lang="en-GB" dirty="0" err="1"/>
              <a:t>ul</a:t>
            </a:r>
            <a:r>
              <a:rPr lang="en-GB" dirty="0"/>
              <a:t>&gt;, &lt;</a:t>
            </a:r>
            <a:r>
              <a:rPr lang="en-GB" dirty="0" err="1"/>
              <a:t>ol</a:t>
            </a:r>
            <a:r>
              <a:rPr lang="en-GB" dirty="0"/>
              <a:t>&gt; &amp; &lt;li&gt;.</a:t>
            </a:r>
          </a:p>
          <a:p>
            <a:pPr fontAlgn="base"/>
            <a:r>
              <a:rPr lang="en-GB" dirty="0"/>
              <a:t>They improve readability by presenting data in a structured format.</a:t>
            </a:r>
          </a:p>
          <a:p>
            <a:endParaRPr lang="en-GB" dirty="0"/>
          </a:p>
        </p:txBody>
      </p:sp>
    </p:spTree>
    <p:extLst>
      <p:ext uri="{BB962C8B-B14F-4D97-AF65-F5344CB8AC3E}">
        <p14:creationId xmlns:p14="http://schemas.microsoft.com/office/powerpoint/2010/main" val="7356795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graphicFrame>
        <p:nvGraphicFramePr>
          <p:cNvPr id="4" name="Content Placeholder 3"/>
          <p:cNvGraphicFramePr>
            <a:graphicFrameLocks noGrp="1"/>
          </p:cNvGraphicFramePr>
          <p:nvPr>
            <p:ph idx="1"/>
          </p:nvPr>
        </p:nvGraphicFramePr>
        <p:xfrm>
          <a:off x="3613184" y="2035334"/>
          <a:ext cx="4965632" cy="3931920"/>
        </p:xfrm>
        <a:graphic>
          <a:graphicData uri="http://schemas.openxmlformats.org/drawingml/2006/table">
            <a:tbl>
              <a:tblPr/>
              <a:tblGrid>
                <a:gridCol w="393632"/>
                <a:gridCol w="4572000"/>
              </a:tblGrid>
              <a:tr h="0">
                <a:tc>
                  <a:txBody>
                    <a:bodyPr/>
                    <a:lstStyle/>
                    <a:p>
                      <a:pPr algn="ctr" fontAlgn="base"/>
                      <a:r>
                        <a:rPr lang="en-GB" sz="1400" b="1">
                          <a:effectLst/>
                          <a:latin typeface="Nunito"/>
                        </a:rPr>
                        <a:t>Tag</a:t>
                      </a:r>
                    </a:p>
                  </a:txBody>
                  <a:tcPr marL="38100" marR="381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GB" sz="1400" b="1">
                          <a:effectLst/>
                          <a:latin typeface="Nunito"/>
                        </a:rPr>
                        <a:t>Description</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r>
              <a:tr h="0">
                <a:tc>
                  <a:txBody>
                    <a:bodyPr/>
                    <a:lstStyle/>
                    <a:p>
                      <a:pPr algn="ctr" fontAlgn="ctr"/>
                      <a:r>
                        <a:rPr lang="en-GB" sz="1250" b="0" u="sng">
                          <a:solidFill>
                            <a:srgbClr val="357960"/>
                          </a:solidFill>
                          <a:effectLst/>
                          <a:latin typeface="Nunito"/>
                          <a:hlinkClick r:id="rId2"/>
                        </a:rPr>
                        <a:t>&lt;ul&gt;</a:t>
                      </a:r>
                      <a:endParaRPr lang="en-GB" sz="1250" b="0">
                        <a:effectLst/>
                        <a:latin typeface="Nunito"/>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GB" sz="1250" b="0">
                          <a:effectLst/>
                          <a:latin typeface="Nunito"/>
                        </a:rPr>
                        <a:t>Defines an unordered list.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GB" sz="1250" b="0" u="sng">
                          <a:solidFill>
                            <a:srgbClr val="357960"/>
                          </a:solidFill>
                          <a:effectLst/>
                          <a:latin typeface="Nunito"/>
                          <a:hlinkClick r:id="rId3"/>
                        </a:rPr>
                        <a:t>&lt;ol&gt;</a:t>
                      </a:r>
                      <a:endParaRPr lang="en-GB" sz="1250" b="0">
                        <a:effectLst/>
                        <a:latin typeface="Nunito"/>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GB" sz="1250" b="0">
                          <a:effectLst/>
                          <a:latin typeface="Nunito"/>
                        </a:rPr>
                        <a:t>Defines an ordered list.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GB" sz="1250" b="0" u="sng">
                          <a:solidFill>
                            <a:srgbClr val="357960"/>
                          </a:solidFill>
                          <a:effectLst/>
                          <a:latin typeface="Nunito"/>
                          <a:hlinkClick r:id="rId4"/>
                        </a:rPr>
                        <a:t>&lt;li&gt;</a:t>
                      </a:r>
                      <a:endParaRPr lang="en-GB" sz="1250" b="0">
                        <a:effectLst/>
                        <a:latin typeface="Nunito"/>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GB" sz="1250" b="0">
                          <a:effectLst/>
                          <a:latin typeface="Nunito"/>
                        </a:rPr>
                        <a:t>Defines a list item.</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GB" sz="1250" b="0" u="sng">
                          <a:solidFill>
                            <a:srgbClr val="357960"/>
                          </a:solidFill>
                          <a:effectLst/>
                          <a:latin typeface="Nunito"/>
                          <a:hlinkClick r:id="rId5"/>
                        </a:rPr>
                        <a:t>&lt;dl&gt;</a:t>
                      </a:r>
                      <a:endParaRPr lang="en-GB" sz="1250" b="0">
                        <a:effectLst/>
                        <a:latin typeface="Nunito"/>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GB" sz="1250" b="0">
                          <a:effectLst/>
                          <a:latin typeface="Nunito"/>
                        </a:rPr>
                        <a:t>Defines a description list.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GB" sz="1250" b="0" u="sng">
                          <a:solidFill>
                            <a:srgbClr val="357960"/>
                          </a:solidFill>
                          <a:effectLst/>
                          <a:latin typeface="Nunito"/>
                          <a:hlinkClick r:id="rId6"/>
                        </a:rPr>
                        <a:t>&lt;dt&gt;</a:t>
                      </a:r>
                      <a:endParaRPr lang="en-GB" sz="1250" b="0">
                        <a:effectLst/>
                        <a:latin typeface="Nunito"/>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GB" sz="1250" b="0">
                          <a:effectLst/>
                          <a:latin typeface="Nunito"/>
                        </a:rPr>
                        <a:t>Defines a term in a description list.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GB" sz="1250" b="0" u="sng">
                          <a:solidFill>
                            <a:srgbClr val="357960"/>
                          </a:solidFill>
                          <a:effectLst/>
                          <a:latin typeface="Nunito"/>
                          <a:hlinkClick r:id="rId7"/>
                        </a:rPr>
                        <a:t>&lt;dd&gt;</a:t>
                      </a:r>
                      <a:endParaRPr lang="en-GB" sz="1250" b="0">
                        <a:effectLst/>
                        <a:latin typeface="Nunito"/>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GB" sz="1250" b="0" dirty="0">
                          <a:effectLst/>
                          <a:latin typeface="Nunito"/>
                        </a:rPr>
                        <a:t>Details the term in a description list.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14691712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Types of HTML Lists</a:t>
            </a:r>
          </a:p>
        </p:txBody>
      </p:sp>
      <p:sp>
        <p:nvSpPr>
          <p:cNvPr id="3" name="Content Placeholder 2"/>
          <p:cNvSpPr>
            <a:spLocks noGrp="1"/>
          </p:cNvSpPr>
          <p:nvPr>
            <p:ph idx="1"/>
          </p:nvPr>
        </p:nvSpPr>
        <p:spPr/>
        <p:txBody>
          <a:bodyPr/>
          <a:lstStyle/>
          <a:p>
            <a:pPr fontAlgn="base"/>
            <a:r>
              <a:rPr lang="en-GB" b="1" dirty="0"/>
              <a:t>1. Unordered List or Bulleted List</a:t>
            </a:r>
          </a:p>
          <a:p>
            <a:pPr fontAlgn="base"/>
            <a:r>
              <a:rPr lang="en-GB" dirty="0"/>
              <a:t>Unordered lists display items as bulleted points where the order of items does not matter, using the &lt;</a:t>
            </a:r>
            <a:r>
              <a:rPr lang="en-GB" dirty="0" err="1"/>
              <a:t>ul</a:t>
            </a:r>
            <a:r>
              <a:rPr lang="en-GB" dirty="0"/>
              <a:t>&gt; and &lt;li&gt; tags.</a:t>
            </a:r>
          </a:p>
          <a:p>
            <a:pPr fontAlgn="base"/>
            <a:r>
              <a:rPr lang="en-GB" dirty="0"/>
              <a:t>Unordered lists are ideal for scenarios where the sequence of the items is not important.</a:t>
            </a:r>
          </a:p>
          <a:p>
            <a:pPr fontAlgn="base"/>
            <a:r>
              <a:rPr lang="en-GB" dirty="0"/>
              <a:t>The</a:t>
            </a:r>
            <a:r>
              <a:rPr lang="en-GB" u="sng" dirty="0">
                <a:hlinkClick r:id="rId2"/>
              </a:rPr>
              <a:t> unordered list</a:t>
            </a:r>
            <a:r>
              <a:rPr lang="en-GB" dirty="0"/>
              <a:t> items are marked with bullets, also known as bulleted lists.</a:t>
            </a:r>
          </a:p>
          <a:p>
            <a:pPr fontAlgn="base"/>
            <a:r>
              <a:rPr lang="en-GB" dirty="0"/>
              <a:t>An unordered list starts with the &lt;</a:t>
            </a:r>
            <a:r>
              <a:rPr lang="en-GB" dirty="0" err="1"/>
              <a:t>ul</a:t>
            </a:r>
            <a:r>
              <a:rPr lang="en-GB" dirty="0"/>
              <a:t>&gt; tag, and each list item begins with the &lt;li&gt; tag.</a:t>
            </a:r>
          </a:p>
          <a:p>
            <a:endParaRPr lang="en-GB" dirty="0"/>
          </a:p>
        </p:txBody>
      </p:sp>
    </p:spTree>
    <p:extLst>
      <p:ext uri="{BB962C8B-B14F-4D97-AF65-F5344CB8AC3E}">
        <p14:creationId xmlns:p14="http://schemas.microsoft.com/office/powerpoint/2010/main" val="37799586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Syntax:</a:t>
            </a:r>
            <a:endParaRPr lang="en-GB" dirty="0"/>
          </a:p>
        </p:txBody>
      </p:sp>
      <p:sp>
        <p:nvSpPr>
          <p:cNvPr id="3" name="Content Placeholder 2"/>
          <p:cNvSpPr>
            <a:spLocks noGrp="1"/>
          </p:cNvSpPr>
          <p:nvPr>
            <p:ph idx="1"/>
          </p:nvPr>
        </p:nvSpPr>
        <p:spPr/>
        <p:txBody>
          <a:bodyPr/>
          <a:lstStyle/>
          <a:p>
            <a:r>
              <a:rPr lang="it-IT" dirty="0"/>
              <a:t>&lt;ul&gt;</a:t>
            </a:r>
          </a:p>
          <a:p>
            <a:r>
              <a:rPr lang="it-IT" dirty="0"/>
              <a:t>    &lt;li&gt;Item 1&lt;/li&gt;</a:t>
            </a:r>
          </a:p>
          <a:p>
            <a:r>
              <a:rPr lang="it-IT" dirty="0"/>
              <a:t>    &lt;li&gt;Item 2&lt;/li&gt;</a:t>
            </a:r>
          </a:p>
          <a:p>
            <a:r>
              <a:rPr lang="it-IT" dirty="0"/>
              <a:t>    &lt;li&gt;Item 3&lt;/li&gt;</a:t>
            </a:r>
          </a:p>
          <a:p>
            <a:r>
              <a:rPr lang="it-IT" dirty="0"/>
              <a:t>&lt;/ul&gt;</a:t>
            </a:r>
            <a:endParaRPr lang="en-GB" dirty="0"/>
          </a:p>
        </p:txBody>
      </p:sp>
    </p:spTree>
    <p:extLst>
      <p:ext uri="{BB962C8B-B14F-4D97-AF65-F5344CB8AC3E}">
        <p14:creationId xmlns:p14="http://schemas.microsoft.com/office/powerpoint/2010/main" val="17508994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55000" lnSpcReduction="20000"/>
          </a:bodyPr>
          <a:lstStyle/>
          <a:p>
            <a:pPr marL="0" indent="0">
              <a:buNone/>
            </a:pPr>
            <a:endParaRPr lang="en-GB" dirty="0"/>
          </a:p>
          <a:p>
            <a:r>
              <a:rPr lang="en-GB" dirty="0"/>
              <a:t>&lt;!DOCTYPE html&gt;</a:t>
            </a:r>
          </a:p>
          <a:p>
            <a:r>
              <a:rPr lang="en-GB" dirty="0"/>
              <a:t>&lt;html&gt;</a:t>
            </a:r>
          </a:p>
          <a:p>
            <a:r>
              <a:rPr lang="en-GB" dirty="0"/>
              <a:t>&lt;head&gt;Unordered List&lt;/head&gt;</a:t>
            </a:r>
          </a:p>
          <a:p>
            <a:r>
              <a:rPr lang="en-GB" dirty="0"/>
              <a:t>&lt;body&gt;</a:t>
            </a:r>
          </a:p>
          <a:p>
            <a:r>
              <a:rPr lang="en-GB" dirty="0"/>
              <a:t>    &lt;h2&gt;Grocery list&lt;/h2&gt;</a:t>
            </a:r>
          </a:p>
          <a:p>
            <a:r>
              <a:rPr lang="en-GB" dirty="0"/>
              <a:t>    &lt;</a:t>
            </a:r>
            <a:r>
              <a:rPr lang="en-GB" dirty="0" err="1"/>
              <a:t>ul</a:t>
            </a:r>
            <a:r>
              <a:rPr lang="en-GB" dirty="0"/>
              <a:t>&gt;</a:t>
            </a:r>
          </a:p>
          <a:p>
            <a:r>
              <a:rPr lang="en-GB" dirty="0"/>
              <a:t>        &lt;li&gt;Bread&lt;/li&gt;</a:t>
            </a:r>
          </a:p>
          <a:p>
            <a:r>
              <a:rPr lang="en-GB" dirty="0"/>
              <a:t>        &lt;li&gt;Eggs&lt;/li&gt;</a:t>
            </a:r>
          </a:p>
          <a:p>
            <a:r>
              <a:rPr lang="en-GB" dirty="0"/>
              <a:t>        &lt;li&gt;Milk&lt;/li&gt;</a:t>
            </a:r>
          </a:p>
          <a:p>
            <a:r>
              <a:rPr lang="en-GB" dirty="0"/>
              <a:t>        &lt;li&gt;Coffee&lt;/li&gt;</a:t>
            </a:r>
          </a:p>
          <a:p>
            <a:r>
              <a:rPr lang="en-GB" dirty="0"/>
              <a:t>    &lt;/</a:t>
            </a:r>
            <a:r>
              <a:rPr lang="en-GB" dirty="0" err="1"/>
              <a:t>ul</a:t>
            </a:r>
            <a:r>
              <a:rPr lang="en-GB" dirty="0"/>
              <a:t>&gt;</a:t>
            </a:r>
          </a:p>
          <a:p>
            <a:r>
              <a:rPr lang="en-GB" dirty="0"/>
              <a:t>&lt;/body&gt;</a:t>
            </a:r>
          </a:p>
          <a:p>
            <a:r>
              <a:rPr lang="en-GB" dirty="0"/>
              <a:t>&lt;/html&gt;</a:t>
            </a:r>
          </a:p>
        </p:txBody>
      </p:sp>
    </p:spTree>
    <p:extLst>
      <p:ext uri="{BB962C8B-B14F-4D97-AF65-F5344CB8AC3E}">
        <p14:creationId xmlns:p14="http://schemas.microsoft.com/office/powerpoint/2010/main" val="17737273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2. HTML Ordered List</a:t>
            </a:r>
          </a:p>
        </p:txBody>
      </p:sp>
      <p:sp>
        <p:nvSpPr>
          <p:cNvPr id="3" name="Content Placeholder 2"/>
          <p:cNvSpPr>
            <a:spLocks noGrp="1"/>
          </p:cNvSpPr>
          <p:nvPr>
            <p:ph idx="1"/>
          </p:nvPr>
        </p:nvSpPr>
        <p:spPr/>
        <p:txBody>
          <a:bodyPr>
            <a:normAutofit fontScale="92500"/>
          </a:bodyPr>
          <a:lstStyle/>
          <a:p>
            <a:pPr fontAlgn="base"/>
            <a:r>
              <a:rPr lang="en-GB" dirty="0"/>
              <a:t>Ordered lists are used when the items need to follow a specific sequence.</a:t>
            </a:r>
          </a:p>
          <a:p>
            <a:pPr fontAlgn="base"/>
            <a:r>
              <a:rPr lang="en-GB" dirty="0"/>
              <a:t>In an</a:t>
            </a:r>
            <a:r>
              <a:rPr lang="en-GB" u="sng" dirty="0">
                <a:hlinkClick r:id="rId2"/>
              </a:rPr>
              <a:t> ordered list</a:t>
            </a:r>
            <a:r>
              <a:rPr lang="en-GB" dirty="0"/>
              <a:t>, all list items are marked with numbers by default. An ordered list starts with the &lt;</a:t>
            </a:r>
            <a:r>
              <a:rPr lang="en-GB" dirty="0" err="1"/>
              <a:t>ol</a:t>
            </a:r>
            <a:r>
              <a:rPr lang="en-GB" dirty="0"/>
              <a:t>&gt; tag, and each list item begins with the &lt;li&gt; tag.</a:t>
            </a:r>
          </a:p>
          <a:p>
            <a:pPr fontAlgn="base"/>
            <a:r>
              <a:rPr lang="en-GB" b="1" dirty="0"/>
              <a:t>Attributes:</a:t>
            </a:r>
            <a:endParaRPr lang="en-GB" dirty="0"/>
          </a:p>
          <a:p>
            <a:pPr fontAlgn="base"/>
            <a:r>
              <a:rPr lang="en-GB" b="1" dirty="0" smtClean="0"/>
              <a:t>reversed</a:t>
            </a:r>
            <a:r>
              <a:rPr lang="en-GB" b="1" dirty="0"/>
              <a:t>:</a:t>
            </a:r>
            <a:r>
              <a:rPr lang="en-GB" dirty="0"/>
              <a:t> </a:t>
            </a:r>
            <a:r>
              <a:rPr lang="en-GB" u="sng" dirty="0">
                <a:hlinkClick r:id="rId3"/>
              </a:rPr>
              <a:t>reversed</a:t>
            </a:r>
            <a:r>
              <a:rPr lang="en-GB" dirty="0"/>
              <a:t> defines that the order will be descending.</a:t>
            </a:r>
          </a:p>
          <a:p>
            <a:pPr fontAlgn="base"/>
            <a:r>
              <a:rPr lang="en-GB" b="1" dirty="0"/>
              <a:t>start:</a:t>
            </a:r>
            <a:r>
              <a:rPr lang="en-GB" dirty="0"/>
              <a:t> It defines from which number or alphabet the order will </a:t>
            </a:r>
            <a:r>
              <a:rPr lang="en-GB" u="sng" dirty="0">
                <a:hlinkClick r:id="rId4"/>
              </a:rPr>
              <a:t>start</a:t>
            </a:r>
            <a:r>
              <a:rPr lang="en-GB" dirty="0"/>
              <a:t>.</a:t>
            </a:r>
          </a:p>
          <a:p>
            <a:pPr fontAlgn="base"/>
            <a:r>
              <a:rPr lang="en-GB" b="1" dirty="0"/>
              <a:t>type:</a:t>
            </a:r>
            <a:r>
              <a:rPr lang="en-GB" dirty="0"/>
              <a:t> It defines which </a:t>
            </a:r>
            <a:r>
              <a:rPr lang="en-GB" u="sng" dirty="0">
                <a:hlinkClick r:id="rId5"/>
              </a:rPr>
              <a:t>type</a:t>
            </a:r>
            <a:r>
              <a:rPr lang="en-GB" dirty="0"/>
              <a:t>(1, A, a, I, and </a:t>
            </a:r>
            <a:r>
              <a:rPr lang="en-GB" dirty="0" err="1"/>
              <a:t>i</a:t>
            </a:r>
            <a:r>
              <a:rPr lang="en-GB" dirty="0"/>
              <a:t>) of the order you want in your list of numeric, alphabetic, or roman numbers.</a:t>
            </a:r>
          </a:p>
        </p:txBody>
      </p:sp>
    </p:spTree>
    <p:extLst>
      <p:ext uri="{BB962C8B-B14F-4D97-AF65-F5344CB8AC3E}">
        <p14:creationId xmlns:p14="http://schemas.microsoft.com/office/powerpoint/2010/main" val="39750658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it-IT" dirty="0"/>
              <a:t>&lt;ol&gt;    </a:t>
            </a:r>
          </a:p>
          <a:p>
            <a:r>
              <a:rPr lang="it-IT" dirty="0"/>
              <a:t>  &lt;li&gt;Item1&lt;/li&gt;    </a:t>
            </a:r>
          </a:p>
          <a:p>
            <a:r>
              <a:rPr lang="it-IT" dirty="0"/>
              <a:t>  &lt;li&gt;Item2&lt;/li&gt;    </a:t>
            </a:r>
          </a:p>
          <a:p>
            <a:r>
              <a:rPr lang="it-IT" dirty="0"/>
              <a:t> &lt;li&gt;Item3&lt;/li&gt; </a:t>
            </a:r>
          </a:p>
          <a:p>
            <a:r>
              <a:rPr lang="it-IT" dirty="0"/>
              <a:t>&lt;/ol&gt;</a:t>
            </a:r>
            <a:endParaRPr lang="en-GB" dirty="0"/>
          </a:p>
        </p:txBody>
      </p:sp>
    </p:spTree>
    <p:extLst>
      <p:ext uri="{BB962C8B-B14F-4D97-AF65-F5344CB8AC3E}">
        <p14:creationId xmlns:p14="http://schemas.microsoft.com/office/powerpoint/2010/main" val="14192115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noChangeAspect="1"/>
          </p:cNvPicPr>
          <p:nvPr>
            <p:ph idx="1"/>
          </p:nvPr>
        </p:nvPicPr>
        <p:blipFill>
          <a:blip r:embed="rId2"/>
          <a:stretch>
            <a:fillRect/>
          </a:stretch>
        </p:blipFill>
        <p:spPr>
          <a:xfrm>
            <a:off x="4346174" y="1825625"/>
            <a:ext cx="3499652" cy="4351338"/>
          </a:xfrm>
          <a:prstGeom prst="rect">
            <a:avLst/>
          </a:prstGeom>
        </p:spPr>
      </p:pic>
    </p:spTree>
    <p:extLst>
      <p:ext uri="{BB962C8B-B14F-4D97-AF65-F5344CB8AC3E}">
        <p14:creationId xmlns:p14="http://schemas.microsoft.com/office/powerpoint/2010/main" val="11978568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3. HTML Description List</a:t>
            </a:r>
          </a:p>
        </p:txBody>
      </p:sp>
      <p:sp>
        <p:nvSpPr>
          <p:cNvPr id="3" name="Content Placeholder 2"/>
          <p:cNvSpPr>
            <a:spLocks noGrp="1"/>
          </p:cNvSpPr>
          <p:nvPr>
            <p:ph idx="1"/>
          </p:nvPr>
        </p:nvSpPr>
        <p:spPr/>
        <p:txBody>
          <a:bodyPr/>
          <a:lstStyle/>
          <a:p>
            <a:pPr fontAlgn="base"/>
            <a:r>
              <a:rPr lang="en-GB" dirty="0"/>
              <a:t>A </a:t>
            </a:r>
            <a:r>
              <a:rPr lang="en-GB" u="sng" dirty="0">
                <a:hlinkClick r:id="rId2"/>
              </a:rPr>
              <a:t>description list</a:t>
            </a:r>
            <a:r>
              <a:rPr lang="en-GB" dirty="0"/>
              <a:t> is a list of terms, with a description of each term. Description lists are less common but very useful for definitions, glossaries, or any other key-value pairs of items.</a:t>
            </a:r>
          </a:p>
          <a:p>
            <a:pPr fontAlgn="base"/>
            <a:r>
              <a:rPr lang="en-GB" dirty="0"/>
              <a:t>The &lt;dl&gt; tag defines the description list, the &lt;</a:t>
            </a:r>
            <a:r>
              <a:rPr lang="en-GB" dirty="0" err="1"/>
              <a:t>dt</a:t>
            </a:r>
            <a:r>
              <a:rPr lang="en-GB" dirty="0"/>
              <a:t>&gt; tag defines the term name, and the &lt;</a:t>
            </a:r>
            <a:r>
              <a:rPr lang="en-GB" dirty="0" err="1"/>
              <a:t>dd</a:t>
            </a:r>
            <a:r>
              <a:rPr lang="en-GB" dirty="0"/>
              <a:t>&gt; tag describes each term.</a:t>
            </a:r>
          </a:p>
          <a:p>
            <a:pPr fontAlgn="base"/>
            <a:r>
              <a:rPr lang="en-GB" dirty="0"/>
              <a:t>Here, &lt;</a:t>
            </a:r>
            <a:r>
              <a:rPr lang="en-GB" dirty="0" err="1"/>
              <a:t>dt</a:t>
            </a:r>
            <a:r>
              <a:rPr lang="en-GB" dirty="0"/>
              <a:t>&gt; (description term) is used for the term being defined, and &lt;</a:t>
            </a:r>
            <a:r>
              <a:rPr lang="en-GB" dirty="0" err="1"/>
              <a:t>dd</a:t>
            </a:r>
            <a:r>
              <a:rPr lang="en-GB" dirty="0"/>
              <a:t>&gt; (description details) is used for the description.</a:t>
            </a:r>
          </a:p>
        </p:txBody>
      </p:sp>
    </p:spTree>
    <p:extLst>
      <p:ext uri="{BB962C8B-B14F-4D97-AF65-F5344CB8AC3E}">
        <p14:creationId xmlns:p14="http://schemas.microsoft.com/office/powerpoint/2010/main" val="34275711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a:t>&lt;dl&gt;</a:t>
            </a:r>
          </a:p>
          <a:p>
            <a:r>
              <a:rPr lang="en-GB"/>
              <a:t>    &lt;dt&gt;Item 1&lt;/dt&gt;</a:t>
            </a:r>
          </a:p>
          <a:p>
            <a:r>
              <a:rPr lang="en-GB"/>
              <a:t>    &lt;dd&gt;Description of Item 1 &lt;/dd&gt;</a:t>
            </a:r>
          </a:p>
          <a:p>
            <a:r>
              <a:rPr lang="en-GB"/>
              <a:t>    &lt;dt&gt;Item 2&lt;/dt&gt;</a:t>
            </a:r>
          </a:p>
          <a:p>
            <a:r>
              <a:rPr lang="en-GB"/>
              <a:t>    &lt;dd&gt;Description of Item 2&lt;/dd&gt;</a:t>
            </a:r>
          </a:p>
          <a:p>
            <a:r>
              <a:rPr lang="en-GB"/>
              <a:t>&lt;/dl&gt;</a:t>
            </a:r>
          </a:p>
        </p:txBody>
      </p:sp>
    </p:spTree>
    <p:extLst>
      <p:ext uri="{BB962C8B-B14F-4D97-AF65-F5344CB8AC3E}">
        <p14:creationId xmlns:p14="http://schemas.microsoft.com/office/powerpoint/2010/main" val="8736377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62500" lnSpcReduction="20000"/>
          </a:bodyPr>
          <a:lstStyle/>
          <a:p>
            <a:r>
              <a:rPr lang="en-GB" dirty="0"/>
              <a:t>&lt;body&gt;</a:t>
            </a:r>
          </a:p>
          <a:p>
            <a:r>
              <a:rPr lang="en-GB" dirty="0"/>
              <a:t>    </a:t>
            </a:r>
          </a:p>
          <a:p>
            <a:r>
              <a:rPr lang="en-GB" dirty="0"/>
              <a:t>    &lt;h2&gt;A Description List&lt;/h2&gt;</a:t>
            </a:r>
          </a:p>
          <a:p>
            <a:r>
              <a:rPr lang="en-GB" dirty="0"/>
              <a:t>    </a:t>
            </a:r>
          </a:p>
          <a:p>
            <a:r>
              <a:rPr lang="en-GB" dirty="0"/>
              <a:t>    &lt;dl&gt; </a:t>
            </a:r>
          </a:p>
          <a:p>
            <a:r>
              <a:rPr lang="en-GB" dirty="0"/>
              <a:t>        &lt;</a:t>
            </a:r>
            <a:r>
              <a:rPr lang="en-GB" dirty="0" err="1"/>
              <a:t>dt</a:t>
            </a:r>
            <a:r>
              <a:rPr lang="en-GB" dirty="0"/>
              <a:t>&gt;Coffee&lt;/</a:t>
            </a:r>
            <a:r>
              <a:rPr lang="en-GB" dirty="0" err="1"/>
              <a:t>dt</a:t>
            </a:r>
            <a:r>
              <a:rPr lang="en-GB" dirty="0"/>
              <a:t>&gt;</a:t>
            </a:r>
          </a:p>
          <a:p>
            <a:r>
              <a:rPr lang="en-GB" dirty="0"/>
              <a:t>        &lt;</a:t>
            </a:r>
            <a:r>
              <a:rPr lang="en-GB" dirty="0" err="1"/>
              <a:t>dd</a:t>
            </a:r>
            <a:r>
              <a:rPr lang="en-GB" dirty="0"/>
              <a:t>&gt;- 500 </a:t>
            </a:r>
            <a:r>
              <a:rPr lang="en-GB" dirty="0" err="1"/>
              <a:t>gms</a:t>
            </a:r>
            <a:r>
              <a:rPr lang="en-GB" dirty="0"/>
              <a:t>&lt;/</a:t>
            </a:r>
            <a:r>
              <a:rPr lang="en-GB" dirty="0" err="1"/>
              <a:t>dd</a:t>
            </a:r>
            <a:r>
              <a:rPr lang="en-GB" dirty="0"/>
              <a:t>&gt;</a:t>
            </a:r>
          </a:p>
          <a:p>
            <a:r>
              <a:rPr lang="en-GB" dirty="0"/>
              <a:t>        &lt;</a:t>
            </a:r>
            <a:r>
              <a:rPr lang="en-GB" dirty="0" err="1"/>
              <a:t>dt</a:t>
            </a:r>
            <a:r>
              <a:rPr lang="en-GB" dirty="0"/>
              <a:t>&gt;Milk&lt;/</a:t>
            </a:r>
            <a:r>
              <a:rPr lang="en-GB" dirty="0" err="1"/>
              <a:t>dt</a:t>
            </a:r>
            <a:r>
              <a:rPr lang="en-GB" dirty="0"/>
              <a:t>&gt;</a:t>
            </a:r>
          </a:p>
          <a:p>
            <a:r>
              <a:rPr lang="en-GB" dirty="0"/>
              <a:t>        &lt;</a:t>
            </a:r>
            <a:r>
              <a:rPr lang="en-GB" dirty="0" err="1"/>
              <a:t>dd</a:t>
            </a:r>
            <a:r>
              <a:rPr lang="en-GB" dirty="0"/>
              <a:t>&gt;- 1 </a:t>
            </a:r>
            <a:r>
              <a:rPr lang="en-GB" dirty="0" err="1"/>
              <a:t>ltr</a:t>
            </a:r>
            <a:r>
              <a:rPr lang="en-GB" dirty="0"/>
              <a:t> Tetra Pack&lt;/</a:t>
            </a:r>
            <a:r>
              <a:rPr lang="en-GB" dirty="0" err="1"/>
              <a:t>dd</a:t>
            </a:r>
            <a:r>
              <a:rPr lang="en-GB" dirty="0"/>
              <a:t>&gt;</a:t>
            </a:r>
          </a:p>
          <a:p>
            <a:r>
              <a:rPr lang="en-GB" dirty="0"/>
              <a:t>    &lt;/dl&gt;</a:t>
            </a:r>
          </a:p>
          <a:p>
            <a:r>
              <a:rPr lang="en-GB" dirty="0"/>
              <a:t>    </a:t>
            </a:r>
          </a:p>
          <a:p>
            <a:r>
              <a:rPr lang="en-GB" dirty="0"/>
              <a:t>&lt;/body&gt;</a:t>
            </a:r>
          </a:p>
          <a:p>
            <a:r>
              <a:rPr lang="en-GB" dirty="0"/>
              <a:t>&lt;/html&gt;</a:t>
            </a:r>
          </a:p>
        </p:txBody>
      </p:sp>
    </p:spTree>
    <p:extLst>
      <p:ext uri="{BB962C8B-B14F-4D97-AF65-F5344CB8AC3E}">
        <p14:creationId xmlns:p14="http://schemas.microsoft.com/office/powerpoint/2010/main" val="30639623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A Description List</a:t>
            </a:r>
          </a:p>
          <a:p>
            <a:r>
              <a:rPr lang="en-GB" dirty="0"/>
              <a:t>Coffee</a:t>
            </a:r>
          </a:p>
          <a:p>
            <a:r>
              <a:rPr lang="en-GB" dirty="0"/>
              <a:t>- 500 </a:t>
            </a:r>
            <a:r>
              <a:rPr lang="en-GB" dirty="0" err="1"/>
              <a:t>gms</a:t>
            </a:r>
            <a:endParaRPr lang="en-GB" dirty="0"/>
          </a:p>
          <a:p>
            <a:r>
              <a:rPr lang="en-GB" dirty="0"/>
              <a:t>Milk</a:t>
            </a:r>
          </a:p>
          <a:p>
            <a:r>
              <a:rPr lang="en-GB" dirty="0"/>
              <a:t>- 1 </a:t>
            </a:r>
            <a:r>
              <a:rPr lang="en-GB" dirty="0" err="1"/>
              <a:t>ltr</a:t>
            </a:r>
            <a:r>
              <a:rPr lang="en-GB" dirty="0"/>
              <a:t> Tetra </a:t>
            </a:r>
            <a:r>
              <a:rPr lang="en-GB" dirty="0" smtClean="0"/>
              <a:t>Pack </a:t>
            </a:r>
            <a:endParaRPr lang="en-GB" dirty="0"/>
          </a:p>
        </p:txBody>
      </p:sp>
      <p:pic>
        <p:nvPicPr>
          <p:cNvPr id="4" name="Picture 3"/>
          <p:cNvPicPr>
            <a:picLocks noChangeAspect="1"/>
          </p:cNvPicPr>
          <p:nvPr/>
        </p:nvPicPr>
        <p:blipFill>
          <a:blip r:embed="rId2"/>
          <a:stretch>
            <a:fillRect/>
          </a:stretch>
        </p:blipFill>
        <p:spPr>
          <a:xfrm>
            <a:off x="4777420" y="4877666"/>
            <a:ext cx="2118544" cy="1005927"/>
          </a:xfrm>
          <a:prstGeom prst="rect">
            <a:avLst/>
          </a:prstGeom>
        </p:spPr>
      </p:pic>
    </p:spTree>
    <p:extLst>
      <p:ext uri="{BB962C8B-B14F-4D97-AF65-F5344CB8AC3E}">
        <p14:creationId xmlns:p14="http://schemas.microsoft.com/office/powerpoint/2010/main" val="40042371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4552" y="583679"/>
            <a:ext cx="10515600" cy="4351338"/>
          </a:xfrm>
        </p:spPr>
        <p:txBody>
          <a:bodyPr>
            <a:normAutofit fontScale="25000" lnSpcReduction="20000"/>
          </a:bodyPr>
          <a:lstStyle/>
          <a:p>
            <a:r>
              <a:rPr lang="en-GB" dirty="0"/>
              <a:t>&lt;body&gt;</a:t>
            </a:r>
          </a:p>
          <a:p>
            <a:r>
              <a:rPr lang="en-GB" dirty="0"/>
              <a:t>    &lt;h1 style="</a:t>
            </a:r>
            <a:r>
              <a:rPr lang="en-GB" dirty="0" err="1"/>
              <a:t>color</a:t>
            </a:r>
            <a:r>
              <a:rPr lang="en-GB" dirty="0"/>
              <a:t>: green"&gt;</a:t>
            </a:r>
            <a:r>
              <a:rPr lang="en-GB" dirty="0" err="1"/>
              <a:t>GeeksforGeeks</a:t>
            </a:r>
            <a:r>
              <a:rPr lang="en-GB" dirty="0"/>
              <a:t>&lt;/h1&gt;</a:t>
            </a:r>
          </a:p>
          <a:p>
            <a:r>
              <a:rPr lang="en-GB" dirty="0"/>
              <a:t>    &lt;h3&gt;HTML </a:t>
            </a:r>
            <a:r>
              <a:rPr lang="en-GB" dirty="0" err="1"/>
              <a:t>ol</a:t>
            </a:r>
            <a:r>
              <a:rPr lang="en-GB" dirty="0"/>
              <a:t> tag&lt;/h3&gt;</a:t>
            </a:r>
          </a:p>
          <a:p>
            <a:r>
              <a:rPr lang="en-GB" dirty="0"/>
              <a:t>    </a:t>
            </a:r>
          </a:p>
          <a:p>
            <a:r>
              <a:rPr lang="en-GB" dirty="0"/>
              <a:t>&lt;p&gt;reversed attribute&lt;/p</a:t>
            </a:r>
            <a:r>
              <a:rPr lang="en-GB" dirty="0" smtClean="0"/>
              <a:t>&gt;</a:t>
            </a:r>
            <a:endParaRPr lang="en-GB" dirty="0"/>
          </a:p>
          <a:p>
            <a:r>
              <a:rPr lang="en-GB" dirty="0"/>
              <a:t>    &lt;</a:t>
            </a:r>
            <a:r>
              <a:rPr lang="en-GB" dirty="0" err="1"/>
              <a:t>ol</a:t>
            </a:r>
            <a:r>
              <a:rPr lang="en-GB" dirty="0"/>
              <a:t> reversed&gt;</a:t>
            </a:r>
          </a:p>
          <a:p>
            <a:r>
              <a:rPr lang="en-GB" dirty="0"/>
              <a:t>        &lt;li&gt;HTML&lt;/li&gt;</a:t>
            </a:r>
          </a:p>
          <a:p>
            <a:r>
              <a:rPr lang="en-GB" dirty="0"/>
              <a:t>        &lt;li&gt;CSS&lt;/li&gt;</a:t>
            </a:r>
          </a:p>
          <a:p>
            <a:r>
              <a:rPr lang="en-GB" dirty="0"/>
              <a:t>        &lt;li&gt;JS&lt;/li&gt;</a:t>
            </a:r>
          </a:p>
          <a:p>
            <a:r>
              <a:rPr lang="en-GB" dirty="0"/>
              <a:t>    &lt;/</a:t>
            </a:r>
            <a:r>
              <a:rPr lang="en-GB" dirty="0" err="1"/>
              <a:t>ol</a:t>
            </a:r>
            <a:r>
              <a:rPr lang="en-GB" dirty="0"/>
              <a:t>&gt;</a:t>
            </a:r>
          </a:p>
          <a:p>
            <a:r>
              <a:rPr lang="en-GB" dirty="0"/>
              <a:t>    </a:t>
            </a:r>
          </a:p>
          <a:p>
            <a:r>
              <a:rPr lang="en-GB" dirty="0"/>
              <a:t>&lt;p&gt;start attribute&lt;/p&gt;</a:t>
            </a:r>
          </a:p>
          <a:p>
            <a:endParaRPr lang="en-GB" dirty="0"/>
          </a:p>
          <a:p>
            <a:r>
              <a:rPr lang="en-GB" dirty="0"/>
              <a:t>    &lt;</a:t>
            </a:r>
            <a:r>
              <a:rPr lang="en-GB" dirty="0" err="1"/>
              <a:t>ol</a:t>
            </a:r>
            <a:r>
              <a:rPr lang="en-GB" dirty="0"/>
              <a:t> start="5"&gt;</a:t>
            </a:r>
          </a:p>
          <a:p>
            <a:r>
              <a:rPr lang="en-GB" dirty="0"/>
              <a:t>        &lt;li&gt;HTML&lt;/li&gt;</a:t>
            </a:r>
          </a:p>
          <a:p>
            <a:r>
              <a:rPr lang="en-GB" dirty="0"/>
              <a:t>        &lt;li&gt;CSS&lt;/li&gt;</a:t>
            </a:r>
          </a:p>
          <a:p>
            <a:r>
              <a:rPr lang="en-GB" dirty="0"/>
              <a:t>        &lt;li&gt;JS&lt;/li&gt;</a:t>
            </a:r>
          </a:p>
          <a:p>
            <a:r>
              <a:rPr lang="en-GB" dirty="0"/>
              <a:t>    &lt;/</a:t>
            </a:r>
            <a:r>
              <a:rPr lang="en-GB" dirty="0" err="1"/>
              <a:t>ol</a:t>
            </a:r>
            <a:r>
              <a:rPr lang="en-GB" dirty="0"/>
              <a:t>&gt;</a:t>
            </a:r>
          </a:p>
          <a:p>
            <a:r>
              <a:rPr lang="en-GB" dirty="0"/>
              <a:t>    </a:t>
            </a:r>
          </a:p>
          <a:p>
            <a:r>
              <a:rPr lang="en-GB" dirty="0"/>
              <a:t>&lt;p&gt;type attribute&lt;/p&gt;</a:t>
            </a:r>
          </a:p>
          <a:p>
            <a:endParaRPr lang="en-GB" dirty="0"/>
          </a:p>
          <a:p>
            <a:r>
              <a:rPr lang="en-GB" dirty="0"/>
              <a:t>    &lt;</a:t>
            </a:r>
            <a:r>
              <a:rPr lang="en-GB" dirty="0" err="1"/>
              <a:t>ol</a:t>
            </a:r>
            <a:r>
              <a:rPr lang="en-GB" dirty="0"/>
              <a:t> type="</a:t>
            </a:r>
            <a:r>
              <a:rPr lang="en-GB" dirty="0" err="1"/>
              <a:t>i</a:t>
            </a:r>
            <a:r>
              <a:rPr lang="en-GB" dirty="0"/>
              <a:t>"&gt;</a:t>
            </a:r>
          </a:p>
          <a:p>
            <a:r>
              <a:rPr lang="en-GB" dirty="0"/>
              <a:t>        &lt;li&gt;HTML&lt;/li&gt;</a:t>
            </a:r>
          </a:p>
          <a:p>
            <a:r>
              <a:rPr lang="en-GB" dirty="0"/>
              <a:t>        &lt;li&gt;CSS&lt;/li&gt;</a:t>
            </a:r>
          </a:p>
          <a:p>
            <a:r>
              <a:rPr lang="en-GB" dirty="0"/>
              <a:t>        &lt;li&gt;JS&lt;/li&gt;</a:t>
            </a:r>
          </a:p>
          <a:p>
            <a:r>
              <a:rPr lang="en-GB" dirty="0"/>
              <a:t>    &lt;/</a:t>
            </a:r>
            <a:r>
              <a:rPr lang="en-GB" dirty="0" err="1"/>
              <a:t>ol</a:t>
            </a:r>
            <a:r>
              <a:rPr lang="en-GB" dirty="0"/>
              <a:t>&gt;</a:t>
            </a:r>
          </a:p>
          <a:p>
            <a:r>
              <a:rPr lang="en-GB" dirty="0"/>
              <a:t>&lt;/body&gt;</a:t>
            </a:r>
          </a:p>
          <a:p>
            <a:r>
              <a:rPr lang="en-GB" dirty="0"/>
              <a:t>&lt;/html&gt;</a:t>
            </a:r>
          </a:p>
        </p:txBody>
      </p:sp>
    </p:spTree>
    <p:extLst>
      <p:ext uri="{BB962C8B-B14F-4D97-AF65-F5344CB8AC3E}">
        <p14:creationId xmlns:p14="http://schemas.microsoft.com/office/powerpoint/2010/main" val="10595282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HTML Images</a:t>
            </a:r>
          </a:p>
        </p:txBody>
      </p:sp>
      <p:sp>
        <p:nvSpPr>
          <p:cNvPr id="3" name="Content Placeholder 2"/>
          <p:cNvSpPr>
            <a:spLocks noGrp="1"/>
          </p:cNvSpPr>
          <p:nvPr>
            <p:ph idx="1"/>
          </p:nvPr>
        </p:nvSpPr>
        <p:spPr/>
        <p:txBody>
          <a:bodyPr>
            <a:normAutofit lnSpcReduction="10000"/>
          </a:bodyPr>
          <a:lstStyle/>
          <a:p>
            <a:r>
              <a:rPr lang="en-GB" dirty="0"/>
              <a:t>Images make a website more attractive and </a:t>
            </a:r>
            <a:r>
              <a:rPr lang="en-GB" dirty="0" err="1"/>
              <a:t>informative.In</a:t>
            </a:r>
            <a:r>
              <a:rPr lang="en-GB" dirty="0"/>
              <a:t> HTML, </a:t>
            </a:r>
            <a:endParaRPr lang="en-GB" dirty="0" smtClean="0"/>
          </a:p>
          <a:p>
            <a:r>
              <a:rPr lang="en-GB" dirty="0" smtClean="0"/>
              <a:t>images </a:t>
            </a:r>
            <a:r>
              <a:rPr lang="en-GB" dirty="0"/>
              <a:t>are displayed using the &lt;</a:t>
            </a:r>
            <a:r>
              <a:rPr lang="en-GB" dirty="0" err="1"/>
              <a:t>img</a:t>
            </a:r>
            <a:r>
              <a:rPr lang="en-GB" dirty="0"/>
              <a:t>&gt; tag</a:t>
            </a:r>
            <a:r>
              <a:rPr lang="en-GB" dirty="0" smtClean="0"/>
              <a:t>.</a:t>
            </a:r>
          </a:p>
          <a:p>
            <a:pPr lvl="1"/>
            <a:r>
              <a:rPr lang="en-GB" dirty="0" smtClean="0"/>
              <a:t>The </a:t>
            </a:r>
            <a:r>
              <a:rPr lang="en-GB" dirty="0"/>
              <a:t>&lt;</a:t>
            </a:r>
            <a:r>
              <a:rPr lang="en-GB" dirty="0" err="1"/>
              <a:t>img</a:t>
            </a:r>
            <a:r>
              <a:rPr lang="en-GB" dirty="0"/>
              <a:t>&gt; tag is an empty tag, meaning it does not require a closing </a:t>
            </a:r>
            <a:r>
              <a:rPr lang="en-GB" dirty="0" smtClean="0"/>
              <a:t>tag.</a:t>
            </a:r>
          </a:p>
          <a:p>
            <a:pPr fontAlgn="base"/>
            <a:r>
              <a:rPr lang="en-GB" dirty="0"/>
              <a:t>There are two ways to insert the images into a webpage:</a:t>
            </a:r>
          </a:p>
          <a:p>
            <a:pPr fontAlgn="base"/>
            <a:r>
              <a:rPr lang="en-GB" dirty="0"/>
              <a:t>By providing a full path or address (URL) to access an internet file.</a:t>
            </a:r>
          </a:p>
          <a:p>
            <a:pPr fontAlgn="base"/>
            <a:r>
              <a:rPr lang="en-GB" dirty="0"/>
              <a:t>By providing the file path relative to the location of the current web page file.</a:t>
            </a:r>
          </a:p>
          <a:p>
            <a:pPr lvl="1"/>
            <a:endParaRPr lang="en-GB" dirty="0"/>
          </a:p>
        </p:txBody>
      </p:sp>
    </p:spTree>
    <p:extLst>
      <p:ext uri="{BB962C8B-B14F-4D97-AF65-F5344CB8AC3E}">
        <p14:creationId xmlns:p14="http://schemas.microsoft.com/office/powerpoint/2010/main" val="10711882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fontAlgn="base"/>
            <a:r>
              <a:rPr lang="en-GB" dirty="0"/>
              <a:t>&lt;</a:t>
            </a:r>
            <a:r>
              <a:rPr lang="en-GB" dirty="0" err="1"/>
              <a:t>img</a:t>
            </a:r>
            <a:r>
              <a:rPr lang="en-GB" dirty="0"/>
              <a:t>&gt; tag is used to embed an image in a webpage.</a:t>
            </a:r>
          </a:p>
          <a:p>
            <a:pPr fontAlgn="base"/>
            <a:r>
              <a:rPr lang="en-GB" dirty="0" err="1"/>
              <a:t>src</a:t>
            </a:r>
            <a:r>
              <a:rPr lang="en-GB" dirty="0"/>
              <a:t> specifies the image source URL.</a:t>
            </a:r>
          </a:p>
          <a:p>
            <a:pPr fontAlgn="base"/>
            <a:r>
              <a:rPr lang="en-GB" dirty="0"/>
              <a:t>alt provides descriptive text if the image cannot be displayed.</a:t>
            </a:r>
          </a:p>
        </p:txBody>
      </p:sp>
    </p:spTree>
    <p:extLst>
      <p:ext uri="{BB962C8B-B14F-4D97-AF65-F5344CB8AC3E}">
        <p14:creationId xmlns:p14="http://schemas.microsoft.com/office/powerpoint/2010/main" val="15725662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graphicFrame>
        <p:nvGraphicFramePr>
          <p:cNvPr id="4" name="Content Placeholder 3"/>
          <p:cNvGraphicFramePr>
            <a:graphicFrameLocks noGrp="1"/>
          </p:cNvGraphicFramePr>
          <p:nvPr>
            <p:ph idx="1"/>
          </p:nvPr>
        </p:nvGraphicFramePr>
        <p:xfrm>
          <a:off x="838200" y="2618264"/>
          <a:ext cx="10515600" cy="2766060"/>
        </p:xfrm>
        <a:graphic>
          <a:graphicData uri="http://schemas.openxmlformats.org/drawingml/2006/table">
            <a:tbl>
              <a:tblPr/>
              <a:tblGrid>
                <a:gridCol w="5257800"/>
                <a:gridCol w="5257800"/>
              </a:tblGrid>
              <a:tr h="0">
                <a:tc>
                  <a:txBody>
                    <a:bodyPr/>
                    <a:lstStyle/>
                    <a:p>
                      <a:pPr algn="ctr" fontAlgn="base"/>
                      <a:r>
                        <a:rPr lang="en-GB" sz="1400" b="1">
                          <a:effectLst/>
                          <a:latin typeface="Nunito"/>
                        </a:rPr>
                        <a:t>Attribute</a:t>
                      </a:r>
                    </a:p>
                  </a:txBody>
                  <a:tcPr marL="38100" marR="381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GB" sz="1400" b="1">
                          <a:effectLst/>
                          <a:latin typeface="Nunito"/>
                        </a:rPr>
                        <a:t>Description</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r>
              <a:tr h="0">
                <a:tc>
                  <a:txBody>
                    <a:bodyPr/>
                    <a:lstStyle/>
                    <a:p>
                      <a:pPr algn="ctr" fontAlgn="ctr"/>
                      <a:r>
                        <a:rPr lang="en-GB" sz="1250" b="0" u="sng">
                          <a:solidFill>
                            <a:srgbClr val="357960"/>
                          </a:solidFill>
                          <a:effectLst/>
                          <a:latin typeface="Nunito"/>
                          <a:hlinkClick r:id="rId2"/>
                        </a:rPr>
                        <a:t>src</a:t>
                      </a:r>
                      <a:endParaRPr lang="en-GB" sz="1250" b="0">
                        <a:effectLst/>
                        <a:latin typeface="Nunito"/>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GB" sz="1250" b="0">
                          <a:effectLst/>
                          <a:latin typeface="Nunito"/>
                        </a:rPr>
                        <a:t>Specifies the path to the image file.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GB" sz="1250" b="0" u="sng">
                          <a:solidFill>
                            <a:srgbClr val="357960"/>
                          </a:solidFill>
                          <a:effectLst/>
                          <a:latin typeface="Nunito"/>
                          <a:hlinkClick r:id="rId3"/>
                        </a:rPr>
                        <a:t>alt</a:t>
                      </a:r>
                      <a:endParaRPr lang="en-GB" sz="1250" b="0">
                        <a:effectLst/>
                        <a:latin typeface="Nunito"/>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GB" sz="1250" b="0">
                          <a:effectLst/>
                          <a:latin typeface="Nunito"/>
                        </a:rPr>
                        <a:t>Provides alternate text for the image, useful for accessibility and when the image cannot be displayed.</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GB" sz="1250" b="0" u="sng">
                          <a:solidFill>
                            <a:srgbClr val="357960"/>
                          </a:solidFill>
                          <a:effectLst/>
                          <a:latin typeface="Nunito"/>
                          <a:hlinkClick r:id="rId4"/>
                        </a:rPr>
                        <a:t>crossorigin</a:t>
                      </a:r>
                      <a:endParaRPr lang="en-GB" sz="1250" b="0">
                        <a:effectLst/>
                        <a:latin typeface="Nunito"/>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GB" sz="1250" b="0">
                          <a:effectLst/>
                          <a:latin typeface="Nunito"/>
                        </a:rPr>
                        <a:t>Allows importing images from third-party sites with cross-origin access, typically used with canvas.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GB" sz="1250" b="0" u="sng">
                          <a:solidFill>
                            <a:srgbClr val="357960"/>
                          </a:solidFill>
                          <a:effectLst/>
                          <a:latin typeface="Nunito"/>
                          <a:hlinkClick r:id="rId5"/>
                        </a:rPr>
                        <a:t>height</a:t>
                      </a:r>
                      <a:endParaRPr lang="en-GB" sz="1250" b="0">
                        <a:effectLst/>
                        <a:latin typeface="Nunito"/>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GB" sz="1250" b="0">
                          <a:effectLst/>
                          <a:latin typeface="Nunito"/>
                        </a:rPr>
                        <a:t>Specifies the height of the image.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GB" sz="1250" b="0" u="sng">
                          <a:solidFill>
                            <a:srgbClr val="357960"/>
                          </a:solidFill>
                          <a:effectLst/>
                          <a:latin typeface="Nunito"/>
                          <a:hlinkClick r:id="rId6"/>
                        </a:rPr>
                        <a:t>width</a:t>
                      </a:r>
                      <a:endParaRPr lang="en-GB" sz="1250" b="0">
                        <a:effectLst/>
                        <a:latin typeface="Nunito"/>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GB" sz="1250" b="0" dirty="0">
                          <a:effectLst/>
                          <a:latin typeface="Nunito"/>
                        </a:rPr>
                        <a:t>Specifies the width of the image.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29375227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HTML Image tag - alt Attribute</a:t>
            </a:r>
          </a:p>
        </p:txBody>
      </p:sp>
      <p:sp>
        <p:nvSpPr>
          <p:cNvPr id="3" name="Content Placeholder 2"/>
          <p:cNvSpPr>
            <a:spLocks noGrp="1"/>
          </p:cNvSpPr>
          <p:nvPr>
            <p:ph idx="1"/>
          </p:nvPr>
        </p:nvSpPr>
        <p:spPr/>
        <p:txBody>
          <a:bodyPr>
            <a:normAutofit fontScale="92500" lnSpcReduction="20000"/>
          </a:bodyPr>
          <a:lstStyle/>
          <a:p>
            <a:r>
              <a:rPr lang="en-GB" dirty="0"/>
              <a:t>The alt attribute in the &lt;</a:t>
            </a:r>
            <a:r>
              <a:rPr lang="en-GB" dirty="0" err="1"/>
              <a:t>img</a:t>
            </a:r>
            <a:r>
              <a:rPr lang="en-GB" dirty="0"/>
              <a:t>&gt; tag provides alternative text when an image cannot be displayed and improves accessibility</a:t>
            </a:r>
            <a:r>
              <a:rPr lang="en-GB" dirty="0" smtClean="0"/>
              <a:t>.</a:t>
            </a:r>
          </a:p>
          <a:p>
            <a:pPr fontAlgn="base"/>
            <a:r>
              <a:rPr lang="en-GB" dirty="0"/>
              <a:t>Displays text if the image fails to load.</a:t>
            </a:r>
          </a:p>
          <a:p>
            <a:pPr fontAlgn="base"/>
            <a:r>
              <a:rPr lang="en-GB" dirty="0"/>
              <a:t>Helps users with slow connections or broken image links.</a:t>
            </a:r>
          </a:p>
          <a:p>
            <a:pPr fontAlgn="base"/>
            <a:r>
              <a:rPr lang="en-GB" dirty="0"/>
              <a:t>Essential for screen readers and accessibility support.</a:t>
            </a:r>
          </a:p>
          <a:p>
            <a:r>
              <a:rPr lang="en-GB" dirty="0"/>
              <a:t>&lt;body&gt;</a:t>
            </a:r>
          </a:p>
          <a:p>
            <a:r>
              <a:rPr lang="en-GB" dirty="0"/>
              <a:t>    &lt;</a:t>
            </a:r>
            <a:r>
              <a:rPr lang="en-GB" dirty="0" err="1"/>
              <a:t>img</a:t>
            </a:r>
            <a:r>
              <a:rPr lang="en-GB" dirty="0"/>
              <a:t> </a:t>
            </a:r>
            <a:r>
              <a:rPr lang="en-GB" dirty="0" err="1"/>
              <a:t>src</a:t>
            </a:r>
            <a:r>
              <a:rPr lang="en-GB" dirty="0"/>
              <a:t>=</a:t>
            </a:r>
          </a:p>
          <a:p>
            <a:r>
              <a:rPr lang="en-GB" dirty="0"/>
              <a:t>"https://media.geeksforgeeks.org/</a:t>
            </a:r>
            <a:r>
              <a:rPr lang="en-GB" dirty="0" err="1"/>
              <a:t>wp</a:t>
            </a:r>
            <a:r>
              <a:rPr lang="en-GB" dirty="0"/>
              <a:t>-content/</a:t>
            </a:r>
            <a:r>
              <a:rPr lang="en-GB" dirty="0" err="1"/>
              <a:t>cdn</a:t>
            </a:r>
            <a:r>
              <a:rPr lang="en-GB" dirty="0"/>
              <a:t>-uploads/201907101022/download3.png"</a:t>
            </a:r>
          </a:p>
          <a:p>
            <a:r>
              <a:rPr lang="en-GB" dirty="0"/>
              <a:t>        alt="This is </a:t>
            </a:r>
            <a:r>
              <a:rPr lang="en-GB" dirty="0" err="1"/>
              <a:t>GeeksforGeeks</a:t>
            </a:r>
            <a:r>
              <a:rPr lang="en-GB" dirty="0"/>
              <a:t> logo" /&gt;</a:t>
            </a:r>
          </a:p>
          <a:p>
            <a:r>
              <a:rPr lang="en-GB" dirty="0"/>
              <a:t>&lt;/body&gt;</a:t>
            </a:r>
          </a:p>
        </p:txBody>
      </p:sp>
    </p:spTree>
    <p:extLst>
      <p:ext uri="{BB962C8B-B14F-4D97-AF65-F5344CB8AC3E}">
        <p14:creationId xmlns:p14="http://schemas.microsoft.com/office/powerpoint/2010/main" val="13652634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Set Image Size - Width and Height Attribute</a:t>
            </a:r>
          </a:p>
        </p:txBody>
      </p:sp>
      <p:sp>
        <p:nvSpPr>
          <p:cNvPr id="3" name="Content Placeholder 2"/>
          <p:cNvSpPr>
            <a:spLocks noGrp="1"/>
          </p:cNvSpPr>
          <p:nvPr>
            <p:ph idx="1"/>
          </p:nvPr>
        </p:nvSpPr>
        <p:spPr/>
        <p:txBody>
          <a:bodyPr>
            <a:normAutofit fontScale="92500" lnSpcReduction="20000"/>
          </a:bodyPr>
          <a:lstStyle/>
          <a:p>
            <a:pPr fontAlgn="base"/>
            <a:r>
              <a:rPr lang="en-GB" dirty="0"/>
              <a:t>The width and height attributes in the &lt;</a:t>
            </a:r>
            <a:r>
              <a:rPr lang="en-GB" dirty="0" err="1"/>
              <a:t>img</a:t>
            </a:r>
            <a:r>
              <a:rPr lang="en-GB" dirty="0"/>
              <a:t>&gt; tag define the size of an image, with values specified in pixels by default.</a:t>
            </a:r>
          </a:p>
          <a:p>
            <a:pPr fontAlgn="base"/>
            <a:r>
              <a:rPr lang="en-GB" dirty="0"/>
              <a:t>Control the displayed width and height of an image.</a:t>
            </a:r>
          </a:p>
          <a:p>
            <a:pPr fontAlgn="base"/>
            <a:r>
              <a:rPr lang="en-GB" dirty="0"/>
              <a:t>Values are specified in pixels.</a:t>
            </a:r>
          </a:p>
          <a:p>
            <a:pPr fontAlgn="base"/>
            <a:r>
              <a:rPr lang="en-GB" dirty="0"/>
              <a:t>Help maintain consistent layout and prevent page shifting</a:t>
            </a:r>
            <a:r>
              <a:rPr lang="en-GB" dirty="0" smtClean="0"/>
              <a:t>.</a:t>
            </a:r>
          </a:p>
          <a:p>
            <a:pPr fontAlgn="base"/>
            <a:r>
              <a:rPr lang="en-GB" dirty="0"/>
              <a:t>&lt;</a:t>
            </a:r>
            <a:r>
              <a:rPr lang="en-GB" dirty="0" err="1"/>
              <a:t>img</a:t>
            </a:r>
            <a:r>
              <a:rPr lang="en-GB" dirty="0"/>
              <a:t> </a:t>
            </a:r>
            <a:r>
              <a:rPr lang="en-GB" dirty="0" err="1"/>
              <a:t>src</a:t>
            </a:r>
            <a:r>
              <a:rPr lang="en-GB" dirty="0"/>
              <a:t>=</a:t>
            </a:r>
          </a:p>
          <a:p>
            <a:pPr fontAlgn="base"/>
            <a:r>
              <a:rPr lang="en-GB" dirty="0"/>
              <a:t>"https://media.geeksforgeeks.org/</a:t>
            </a:r>
            <a:r>
              <a:rPr lang="en-GB" dirty="0" err="1"/>
              <a:t>wp</a:t>
            </a:r>
            <a:r>
              <a:rPr lang="en-GB" dirty="0"/>
              <a:t>-content/</a:t>
            </a:r>
            <a:r>
              <a:rPr lang="en-GB" dirty="0" err="1"/>
              <a:t>cdn</a:t>
            </a:r>
            <a:r>
              <a:rPr lang="en-GB" dirty="0"/>
              <a:t>-uploads/20190710102234/download3.png"</a:t>
            </a:r>
          </a:p>
          <a:p>
            <a:pPr fontAlgn="base"/>
            <a:r>
              <a:rPr lang="en-GB" dirty="0"/>
              <a:t>        alt="</a:t>
            </a:r>
            <a:r>
              <a:rPr lang="en-GB" dirty="0" err="1"/>
              <a:t>GeeksforGeeks</a:t>
            </a:r>
            <a:r>
              <a:rPr lang="en-GB" dirty="0"/>
              <a:t> logo" </a:t>
            </a:r>
          </a:p>
          <a:p>
            <a:pPr fontAlgn="base"/>
            <a:r>
              <a:rPr lang="en-GB" dirty="0"/>
              <a:t>        width="300" </a:t>
            </a:r>
          </a:p>
          <a:p>
            <a:pPr fontAlgn="base"/>
            <a:r>
              <a:rPr lang="en-GB" dirty="0"/>
              <a:t>        height="300" /&gt;</a:t>
            </a:r>
            <a:endParaRPr lang="en-GB" dirty="0"/>
          </a:p>
        </p:txBody>
      </p:sp>
    </p:spTree>
    <p:extLst>
      <p:ext uri="{BB962C8B-B14F-4D97-AF65-F5344CB8AC3E}">
        <p14:creationId xmlns:p14="http://schemas.microsoft.com/office/powerpoint/2010/main" val="13442096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Setting Style of an Image</a:t>
            </a:r>
          </a:p>
        </p:txBody>
      </p:sp>
      <p:sp>
        <p:nvSpPr>
          <p:cNvPr id="3" name="Content Placeholder 2"/>
          <p:cNvSpPr>
            <a:spLocks noGrp="1"/>
          </p:cNvSpPr>
          <p:nvPr>
            <p:ph idx="1"/>
          </p:nvPr>
        </p:nvSpPr>
        <p:spPr/>
        <p:txBody>
          <a:bodyPr>
            <a:normAutofit fontScale="92500" lnSpcReduction="20000"/>
          </a:bodyPr>
          <a:lstStyle/>
          <a:p>
            <a:pPr fontAlgn="base"/>
            <a:r>
              <a:rPr lang="en-GB" dirty="0"/>
              <a:t>The border attribute is used to control the border appearance of an image.</a:t>
            </a:r>
          </a:p>
          <a:p>
            <a:pPr fontAlgn="base"/>
            <a:r>
              <a:rPr lang="en-GB" dirty="0"/>
              <a:t>Specifies the thickness of the image border.</a:t>
            </a:r>
          </a:p>
          <a:p>
            <a:pPr fontAlgn="base"/>
            <a:r>
              <a:rPr lang="en-GB" dirty="0"/>
              <a:t>Setting border="0" removes the border completely</a:t>
            </a:r>
            <a:r>
              <a:rPr lang="en-GB" dirty="0" smtClean="0"/>
              <a:t>.</a:t>
            </a:r>
          </a:p>
          <a:p>
            <a:pPr fontAlgn="base"/>
            <a:r>
              <a:rPr lang="en-GB" dirty="0"/>
              <a:t> &lt;</a:t>
            </a:r>
            <a:r>
              <a:rPr lang="en-GB" dirty="0" err="1"/>
              <a:t>img</a:t>
            </a:r>
            <a:r>
              <a:rPr lang="en-GB" dirty="0"/>
              <a:t> </a:t>
            </a:r>
            <a:r>
              <a:rPr lang="en-GB" dirty="0" err="1"/>
              <a:t>src</a:t>
            </a:r>
            <a:r>
              <a:rPr lang="en-GB" dirty="0"/>
              <a:t>=</a:t>
            </a:r>
          </a:p>
          <a:p>
            <a:pPr fontAlgn="base"/>
            <a:r>
              <a:rPr lang="en-GB" dirty="0"/>
              <a:t>"https://media.geeksforgeeks.org/</a:t>
            </a:r>
            <a:r>
              <a:rPr lang="en-GB" dirty="0" err="1"/>
              <a:t>wp</a:t>
            </a:r>
            <a:r>
              <a:rPr lang="en-GB" dirty="0"/>
              <a:t>-content/</a:t>
            </a:r>
            <a:r>
              <a:rPr lang="en-GB" dirty="0" err="1"/>
              <a:t>cdn</a:t>
            </a:r>
            <a:r>
              <a:rPr lang="en-GB" dirty="0"/>
              <a:t>-uploads/20190710102234/download3.png"</a:t>
            </a:r>
          </a:p>
          <a:p>
            <a:pPr fontAlgn="base"/>
            <a:r>
              <a:rPr lang="en-GB" dirty="0"/>
              <a:t>        alt="</a:t>
            </a:r>
            <a:r>
              <a:rPr lang="en-GB" dirty="0" err="1"/>
              <a:t>GeeksforGeeks</a:t>
            </a:r>
            <a:r>
              <a:rPr lang="en-GB" dirty="0"/>
              <a:t> logo" </a:t>
            </a:r>
          </a:p>
          <a:p>
            <a:pPr fontAlgn="base"/>
            <a:r>
              <a:rPr lang="en-GB" dirty="0"/>
              <a:t>        width="200" </a:t>
            </a:r>
          </a:p>
          <a:p>
            <a:pPr fontAlgn="base"/>
            <a:r>
              <a:rPr lang="en-GB" dirty="0"/>
              <a:t>        height="200" </a:t>
            </a:r>
          </a:p>
          <a:p>
            <a:pPr fontAlgn="base"/>
            <a:r>
              <a:rPr lang="en-GB" dirty="0"/>
              <a:t>        border="5" /&gt;</a:t>
            </a:r>
            <a:endParaRPr lang="en-GB" dirty="0"/>
          </a:p>
        </p:txBody>
      </p:sp>
    </p:spTree>
    <p:extLst>
      <p:ext uri="{BB962C8B-B14F-4D97-AF65-F5344CB8AC3E}">
        <p14:creationId xmlns:p14="http://schemas.microsoft.com/office/powerpoint/2010/main" val="8350071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Set Image Alignment</a:t>
            </a:r>
          </a:p>
        </p:txBody>
      </p:sp>
      <p:sp>
        <p:nvSpPr>
          <p:cNvPr id="3" name="Content Placeholder 2"/>
          <p:cNvSpPr>
            <a:spLocks noGrp="1"/>
          </p:cNvSpPr>
          <p:nvPr>
            <p:ph idx="1"/>
          </p:nvPr>
        </p:nvSpPr>
        <p:spPr/>
        <p:txBody>
          <a:bodyPr>
            <a:normAutofit fontScale="92500" lnSpcReduction="10000"/>
          </a:bodyPr>
          <a:lstStyle/>
          <a:p>
            <a:pPr fontAlgn="base"/>
            <a:r>
              <a:rPr lang="en-GB" dirty="0"/>
              <a:t>Image alignment in HTML controls how an image is positioned within a webpage layout.</a:t>
            </a:r>
          </a:p>
          <a:p>
            <a:pPr fontAlgn="base"/>
            <a:r>
              <a:rPr lang="en-GB" dirty="0"/>
              <a:t>Alignment is set using the align attribute in the &lt;</a:t>
            </a:r>
            <a:r>
              <a:rPr lang="en-GB" dirty="0" err="1"/>
              <a:t>img</a:t>
            </a:r>
            <a:r>
              <a:rPr lang="en-GB" dirty="0"/>
              <a:t>&gt; tag.</a:t>
            </a:r>
          </a:p>
          <a:p>
            <a:pPr fontAlgn="base"/>
            <a:r>
              <a:rPr lang="en-GB" dirty="0"/>
              <a:t>Common values include left, right, and </a:t>
            </a:r>
            <a:r>
              <a:rPr lang="en-GB" dirty="0" err="1"/>
              <a:t>center</a:t>
            </a:r>
            <a:r>
              <a:rPr lang="en-GB" dirty="0"/>
              <a:t>.</a:t>
            </a:r>
          </a:p>
          <a:p>
            <a:pPr fontAlgn="base"/>
            <a:r>
              <a:rPr lang="en-GB" dirty="0"/>
              <a:t>Helps improve page layout and visual presentation</a:t>
            </a:r>
            <a:r>
              <a:rPr lang="en-GB" dirty="0" smtClean="0"/>
              <a:t>.</a:t>
            </a:r>
          </a:p>
          <a:p>
            <a:pPr fontAlgn="base"/>
            <a:r>
              <a:rPr lang="en-GB" dirty="0"/>
              <a:t> &lt;</a:t>
            </a:r>
            <a:r>
              <a:rPr lang="en-GB" dirty="0" err="1"/>
              <a:t>img</a:t>
            </a:r>
            <a:r>
              <a:rPr lang="en-GB" dirty="0"/>
              <a:t> </a:t>
            </a:r>
          </a:p>
          <a:p>
            <a:pPr fontAlgn="base"/>
            <a:r>
              <a:rPr lang="en-GB" dirty="0" err="1"/>
              <a:t>src</a:t>
            </a:r>
            <a:r>
              <a:rPr lang="en-GB" dirty="0"/>
              <a:t>="https://media.geeksforgeeks.org/</a:t>
            </a:r>
            <a:r>
              <a:rPr lang="en-GB" dirty="0" err="1"/>
              <a:t>wp</a:t>
            </a:r>
            <a:r>
              <a:rPr lang="en-GB" dirty="0"/>
              <a:t>-content/</a:t>
            </a:r>
            <a:r>
              <a:rPr lang="en-GB" dirty="0" err="1"/>
              <a:t>cdn</a:t>
            </a:r>
            <a:r>
              <a:rPr lang="en-GB" dirty="0"/>
              <a:t>-uploads/20190710102234/download3.png"</a:t>
            </a:r>
          </a:p>
          <a:p>
            <a:pPr fontAlgn="base"/>
            <a:r>
              <a:rPr lang="en-GB" dirty="0"/>
              <a:t>        alt="</a:t>
            </a:r>
            <a:r>
              <a:rPr lang="en-GB" dirty="0" err="1"/>
              <a:t>GeeksforGeeks</a:t>
            </a:r>
            <a:r>
              <a:rPr lang="en-GB" dirty="0"/>
              <a:t> logo" </a:t>
            </a:r>
          </a:p>
          <a:p>
            <a:pPr fontAlgn="base"/>
            <a:r>
              <a:rPr lang="en-GB" dirty="0"/>
              <a:t>        align="right" /&gt;</a:t>
            </a:r>
            <a:endParaRPr lang="en-GB" dirty="0"/>
          </a:p>
        </p:txBody>
      </p:sp>
    </p:spTree>
    <p:extLst>
      <p:ext uri="{BB962C8B-B14F-4D97-AF65-F5344CB8AC3E}">
        <p14:creationId xmlns:p14="http://schemas.microsoft.com/office/powerpoint/2010/main" val="398506610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HTML &lt;section&gt; Tag</a:t>
            </a:r>
            <a:br>
              <a:rPr lang="en-GB" b="1" dirty="0"/>
            </a:br>
            <a:endParaRPr lang="en-GB" dirty="0"/>
          </a:p>
        </p:txBody>
      </p:sp>
      <p:sp>
        <p:nvSpPr>
          <p:cNvPr id="3" name="Content Placeholder 2"/>
          <p:cNvSpPr>
            <a:spLocks noGrp="1"/>
          </p:cNvSpPr>
          <p:nvPr>
            <p:ph idx="1"/>
          </p:nvPr>
        </p:nvSpPr>
        <p:spPr/>
        <p:txBody>
          <a:bodyPr/>
          <a:lstStyle/>
          <a:p>
            <a:r>
              <a:rPr lang="en-GB" dirty="0"/>
              <a:t>The section tag is used when requirements of two headers or footers or any other section of documents are needed. Section tag grouped the generic block of related contents. </a:t>
            </a:r>
            <a:endParaRPr lang="en-GB" dirty="0" smtClean="0"/>
          </a:p>
          <a:p>
            <a:r>
              <a:rPr lang="en-GB" dirty="0" smtClean="0"/>
              <a:t>The </a:t>
            </a:r>
            <a:r>
              <a:rPr lang="en-GB" dirty="0"/>
              <a:t>main advantage of the section tag is, it is a semantic element, that describes its meaning to both the browser and the developer.</a:t>
            </a:r>
            <a:endParaRPr lang="en-GB" dirty="0"/>
          </a:p>
        </p:txBody>
      </p:sp>
    </p:spTree>
    <p:extLst>
      <p:ext uri="{BB962C8B-B14F-4D97-AF65-F5344CB8AC3E}">
        <p14:creationId xmlns:p14="http://schemas.microsoft.com/office/powerpoint/2010/main" val="95216117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&lt;section&gt; Section Contents &lt;/section&gt;</a:t>
            </a:r>
          </a:p>
        </p:txBody>
      </p:sp>
    </p:spTree>
    <p:extLst>
      <p:ext uri="{BB962C8B-B14F-4D97-AF65-F5344CB8AC3E}">
        <p14:creationId xmlns:p14="http://schemas.microsoft.com/office/powerpoint/2010/main" val="17674121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62500" lnSpcReduction="20000"/>
          </a:bodyPr>
          <a:lstStyle/>
          <a:p>
            <a:r>
              <a:rPr lang="en-GB" dirty="0"/>
              <a:t>&lt;!DOCTYPE html&gt;</a:t>
            </a:r>
            <a:br>
              <a:rPr lang="en-GB" dirty="0"/>
            </a:br>
            <a:r>
              <a:rPr lang="en-GB" dirty="0"/>
              <a:t>&lt;html&gt;</a:t>
            </a:r>
            <a:br>
              <a:rPr lang="en-GB" dirty="0"/>
            </a:br>
            <a:r>
              <a:rPr lang="en-GB" dirty="0"/>
              <a:t>&lt;head&gt;</a:t>
            </a:r>
            <a:br>
              <a:rPr lang="en-GB" dirty="0"/>
            </a:br>
            <a:r>
              <a:rPr lang="en-GB" dirty="0"/>
              <a:t>&lt;title&gt;Web Page&lt;/title&gt;</a:t>
            </a:r>
            <a:br>
              <a:rPr lang="en-GB" dirty="0"/>
            </a:br>
            <a:r>
              <a:rPr lang="en-GB" dirty="0"/>
              <a:t>&lt;/head&gt;</a:t>
            </a:r>
            <a:br>
              <a:rPr lang="en-GB" dirty="0"/>
            </a:br>
            <a:r>
              <a:rPr lang="en-GB" dirty="0"/>
              <a:t/>
            </a:r>
            <a:br>
              <a:rPr lang="en-GB" dirty="0"/>
            </a:br>
            <a:r>
              <a:rPr lang="en-GB" dirty="0"/>
              <a:t>&lt;body&gt;</a:t>
            </a:r>
            <a:br>
              <a:rPr lang="en-GB" dirty="0"/>
            </a:br>
            <a:r>
              <a:rPr lang="en-GB" dirty="0"/>
              <a:t/>
            </a:r>
            <a:br>
              <a:rPr lang="en-GB" dirty="0"/>
            </a:br>
            <a:r>
              <a:rPr lang="en-GB" dirty="0"/>
              <a:t>&lt;section&gt;</a:t>
            </a:r>
            <a:br>
              <a:rPr lang="en-GB" dirty="0"/>
            </a:br>
            <a:r>
              <a:rPr lang="en-GB" dirty="0"/>
              <a:t>&lt;h2&gt;About College&lt;/h2&gt;</a:t>
            </a:r>
            <a:br>
              <a:rPr lang="en-GB" dirty="0"/>
            </a:br>
            <a:r>
              <a:rPr lang="en-GB" dirty="0"/>
              <a:t>&lt;p&gt;Our college offers various courses in science and technology.&lt;/p&gt;</a:t>
            </a:r>
            <a:br>
              <a:rPr lang="en-GB" dirty="0"/>
            </a:br>
            <a:r>
              <a:rPr lang="en-GB" dirty="0"/>
              <a:t>&lt;/section&gt;</a:t>
            </a:r>
            <a:br>
              <a:rPr lang="en-GB" dirty="0"/>
            </a:br>
            <a:r>
              <a:rPr lang="en-GB" dirty="0"/>
              <a:t/>
            </a:r>
            <a:br>
              <a:rPr lang="en-GB" dirty="0"/>
            </a:br>
            <a:r>
              <a:rPr lang="en-GB" dirty="0"/>
              <a:t>&lt;section&gt;</a:t>
            </a:r>
            <a:br>
              <a:rPr lang="en-GB" dirty="0"/>
            </a:br>
            <a:r>
              <a:rPr lang="en-GB" dirty="0"/>
              <a:t>&lt;h2&gt;Courses Offered&lt;/h2&gt;</a:t>
            </a:r>
            <a:br>
              <a:rPr lang="en-GB" dirty="0"/>
            </a:br>
            <a:r>
              <a:rPr lang="en-GB" dirty="0"/>
              <a:t>&lt;p&gt;BCA, BSc Computer Science, </a:t>
            </a:r>
            <a:r>
              <a:rPr lang="en-GB" dirty="0" err="1"/>
              <a:t>BCom</a:t>
            </a:r>
            <a:r>
              <a:rPr lang="en-GB" dirty="0"/>
              <a:t>.&lt;/p&gt;</a:t>
            </a:r>
            <a:br>
              <a:rPr lang="en-GB" dirty="0"/>
            </a:br>
            <a:r>
              <a:rPr lang="en-GB" dirty="0"/>
              <a:t>&lt;/section&gt;</a:t>
            </a:r>
            <a:br>
              <a:rPr lang="en-GB" dirty="0"/>
            </a:br>
            <a:r>
              <a:rPr lang="en-GB" dirty="0"/>
              <a:t/>
            </a:r>
            <a:br>
              <a:rPr lang="en-GB" dirty="0"/>
            </a:br>
            <a:r>
              <a:rPr lang="en-GB" dirty="0"/>
              <a:t>&lt;/body&gt;</a:t>
            </a:r>
            <a:br>
              <a:rPr lang="en-GB" dirty="0"/>
            </a:br>
            <a:r>
              <a:rPr lang="en-GB" dirty="0"/>
              <a:t>&lt;/html&gt;</a:t>
            </a:r>
          </a:p>
        </p:txBody>
      </p:sp>
      <p:pic>
        <p:nvPicPr>
          <p:cNvPr id="4" name="Picture 3"/>
          <p:cNvPicPr>
            <a:picLocks noChangeAspect="1"/>
          </p:cNvPicPr>
          <p:nvPr/>
        </p:nvPicPr>
        <p:blipFill>
          <a:blip r:embed="rId2"/>
          <a:stretch>
            <a:fillRect/>
          </a:stretch>
        </p:blipFill>
        <p:spPr>
          <a:xfrm>
            <a:off x="6591586" y="4450215"/>
            <a:ext cx="5204911" cy="2133785"/>
          </a:xfrm>
          <a:prstGeom prst="rect">
            <a:avLst/>
          </a:prstGeom>
        </p:spPr>
      </p:pic>
    </p:spTree>
    <p:extLst>
      <p:ext uri="{BB962C8B-B14F-4D97-AF65-F5344CB8AC3E}">
        <p14:creationId xmlns:p14="http://schemas.microsoft.com/office/powerpoint/2010/main" val="138244310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Nested Section tag:</a:t>
            </a:r>
            <a:br>
              <a:rPr lang="en-GB" b="1" dirty="0"/>
            </a:br>
            <a:endParaRPr lang="en-GB" dirty="0"/>
          </a:p>
        </p:txBody>
      </p:sp>
      <p:sp>
        <p:nvSpPr>
          <p:cNvPr id="3" name="Content Placeholder 2"/>
          <p:cNvSpPr>
            <a:spLocks noGrp="1"/>
          </p:cNvSpPr>
          <p:nvPr>
            <p:ph idx="1"/>
          </p:nvPr>
        </p:nvSpPr>
        <p:spPr/>
        <p:txBody>
          <a:bodyPr/>
          <a:lstStyle/>
          <a:p>
            <a:pPr fontAlgn="base"/>
            <a:r>
              <a:rPr lang="en-GB" dirty="0" smtClean="0"/>
              <a:t>The </a:t>
            </a:r>
            <a:r>
              <a:rPr lang="en-GB" dirty="0"/>
              <a:t>section tag can be nested. The font size of subsection is smaller than section tag if the text contains the same font property. The subsection tag is used for organizing complex documents. A rule of thumb is that section should logically appear in outline of the document. </a:t>
            </a:r>
          </a:p>
          <a:p>
            <a:endParaRPr lang="en-GB" dirty="0"/>
          </a:p>
        </p:txBody>
      </p:sp>
    </p:spTree>
    <p:extLst>
      <p:ext uri="{BB962C8B-B14F-4D97-AF65-F5344CB8AC3E}">
        <p14:creationId xmlns:p14="http://schemas.microsoft.com/office/powerpoint/2010/main" val="111485470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HTML article Tag</a:t>
            </a:r>
            <a:br>
              <a:rPr lang="en-GB" b="1" dirty="0"/>
            </a:br>
            <a:endParaRPr lang="en-GB" dirty="0"/>
          </a:p>
        </p:txBody>
      </p:sp>
      <p:sp>
        <p:nvSpPr>
          <p:cNvPr id="3" name="Content Placeholder 2"/>
          <p:cNvSpPr>
            <a:spLocks noGrp="1"/>
          </p:cNvSpPr>
          <p:nvPr>
            <p:ph idx="1"/>
          </p:nvPr>
        </p:nvSpPr>
        <p:spPr/>
        <p:txBody>
          <a:bodyPr/>
          <a:lstStyle/>
          <a:p>
            <a:endParaRPr lang="en-GB"/>
          </a:p>
        </p:txBody>
      </p:sp>
    </p:spTree>
    <p:extLst>
      <p:ext uri="{BB962C8B-B14F-4D97-AF65-F5344CB8AC3E}">
        <p14:creationId xmlns:p14="http://schemas.microsoft.com/office/powerpoint/2010/main" val="335867557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Lab Assignment 1</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Table</a:t>
            </a:r>
          </a:p>
        </p:txBody>
      </p:sp>
      <p:sp>
        <p:nvSpPr>
          <p:cNvPr id="3" name="Content Placeholder 2"/>
          <p:cNvSpPr>
            <a:spLocks noGrp="1"/>
          </p:cNvSpPr>
          <p:nvPr>
            <p:ph idx="1"/>
          </p:nvPr>
        </p:nvSpPr>
        <p:spPr/>
        <p:txBody>
          <a:bodyPr>
            <a:normAutofit lnSpcReduction="10000"/>
          </a:bodyPr>
          <a:lstStyle/>
          <a:p>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table</a:t>
            </a:r>
            <a:r>
              <a:rPr lang="en-IN" b="0" i="0" dirty="0">
                <a:solidFill>
                  <a:srgbClr val="0000CD"/>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tr</a:t>
            </a:r>
            <a:r>
              <a:rPr lang="en-IN" b="0" i="0" dirty="0">
                <a:solidFill>
                  <a:srgbClr val="0000CD"/>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td</a:t>
            </a:r>
            <a:r>
              <a:rPr lang="en-IN" b="0" i="0" dirty="0">
                <a:solidFill>
                  <a:srgbClr val="0000CD"/>
                </a:solidFill>
                <a:effectLst/>
                <a:latin typeface="Consolas" panose="020B0609020204030204" pitchFamily="49" charset="0"/>
              </a:rPr>
              <a:t>&gt;</a:t>
            </a:r>
            <a:r>
              <a:rPr lang="en-IN" b="0" i="0" dirty="0">
                <a:solidFill>
                  <a:srgbClr val="000000"/>
                </a:solidFill>
                <a:effectLst/>
                <a:latin typeface="Consolas" panose="020B0609020204030204" pitchFamily="49" charset="0"/>
              </a:rPr>
              <a:t>Emil</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/td</a:t>
            </a:r>
            <a:r>
              <a:rPr lang="en-IN" b="0" i="0" dirty="0">
                <a:solidFill>
                  <a:srgbClr val="0000CD"/>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td</a:t>
            </a:r>
            <a:r>
              <a:rPr lang="en-IN" b="0" i="0" dirty="0">
                <a:solidFill>
                  <a:srgbClr val="0000CD"/>
                </a:solidFill>
                <a:effectLst/>
                <a:latin typeface="Consolas" panose="020B0609020204030204" pitchFamily="49" charset="0"/>
              </a:rPr>
              <a:t>&gt;</a:t>
            </a:r>
            <a:r>
              <a:rPr lang="en-IN" b="0" i="0" dirty="0">
                <a:solidFill>
                  <a:srgbClr val="000000"/>
                </a:solidFill>
                <a:effectLst/>
                <a:latin typeface="Consolas" panose="020B0609020204030204" pitchFamily="49" charset="0"/>
              </a:rPr>
              <a:t>Tobias</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/td</a:t>
            </a:r>
            <a:r>
              <a:rPr lang="en-IN" b="0" i="0" dirty="0">
                <a:solidFill>
                  <a:srgbClr val="0000CD"/>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td</a:t>
            </a:r>
            <a:r>
              <a:rPr lang="en-IN" b="0" i="0" dirty="0">
                <a:solidFill>
                  <a:srgbClr val="0000CD"/>
                </a:solidFill>
                <a:effectLst/>
                <a:latin typeface="Consolas" panose="020B0609020204030204" pitchFamily="49" charset="0"/>
              </a:rPr>
              <a:t>&gt;</a:t>
            </a:r>
            <a:r>
              <a:rPr lang="en-IN" b="0" i="0" dirty="0">
                <a:solidFill>
                  <a:srgbClr val="000000"/>
                </a:solidFill>
                <a:effectLst/>
                <a:latin typeface="Consolas" panose="020B0609020204030204" pitchFamily="49" charset="0"/>
              </a:rPr>
              <a:t>Linus</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/td</a:t>
            </a:r>
            <a:r>
              <a:rPr lang="en-IN" b="0" i="0" dirty="0">
                <a:solidFill>
                  <a:srgbClr val="0000CD"/>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/tr</a:t>
            </a:r>
            <a:r>
              <a:rPr lang="en-IN" b="0" i="0" dirty="0">
                <a:solidFill>
                  <a:srgbClr val="0000CD"/>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tr</a:t>
            </a:r>
            <a:r>
              <a:rPr lang="en-IN" b="0" i="0" dirty="0">
                <a:solidFill>
                  <a:srgbClr val="0000CD"/>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td</a:t>
            </a:r>
            <a:r>
              <a:rPr lang="en-IN" b="0" i="0" dirty="0">
                <a:solidFill>
                  <a:srgbClr val="0000CD"/>
                </a:solidFill>
                <a:effectLst/>
                <a:latin typeface="Consolas" panose="020B0609020204030204" pitchFamily="49" charset="0"/>
              </a:rPr>
              <a:t>&gt;</a:t>
            </a:r>
            <a:r>
              <a:rPr lang="en-IN" b="0" i="0" dirty="0">
                <a:solidFill>
                  <a:srgbClr val="000000"/>
                </a:solidFill>
                <a:effectLst/>
                <a:latin typeface="Consolas" panose="020B0609020204030204" pitchFamily="49" charset="0"/>
              </a:rPr>
              <a:t>16</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/td</a:t>
            </a:r>
            <a:r>
              <a:rPr lang="en-IN" b="0" i="0" dirty="0">
                <a:solidFill>
                  <a:srgbClr val="0000CD"/>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td</a:t>
            </a:r>
            <a:r>
              <a:rPr lang="en-IN" b="0" i="0" dirty="0">
                <a:solidFill>
                  <a:srgbClr val="0000CD"/>
                </a:solidFill>
                <a:effectLst/>
                <a:latin typeface="Consolas" panose="020B0609020204030204" pitchFamily="49" charset="0"/>
              </a:rPr>
              <a:t>&gt;</a:t>
            </a:r>
            <a:r>
              <a:rPr lang="en-IN" b="0" i="0" dirty="0">
                <a:solidFill>
                  <a:srgbClr val="000000"/>
                </a:solidFill>
                <a:effectLst/>
                <a:latin typeface="Consolas" panose="020B0609020204030204" pitchFamily="49" charset="0"/>
              </a:rPr>
              <a:t>14</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/td</a:t>
            </a:r>
            <a:r>
              <a:rPr lang="en-IN" b="0" i="0" dirty="0">
                <a:solidFill>
                  <a:srgbClr val="0000CD"/>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td</a:t>
            </a:r>
            <a:r>
              <a:rPr lang="en-IN" b="0" i="0" dirty="0">
                <a:solidFill>
                  <a:srgbClr val="0000CD"/>
                </a:solidFill>
                <a:effectLst/>
                <a:latin typeface="Consolas" panose="020B0609020204030204" pitchFamily="49" charset="0"/>
              </a:rPr>
              <a:t>&gt;</a:t>
            </a:r>
            <a:r>
              <a:rPr lang="en-IN" b="0" i="0" dirty="0">
                <a:solidFill>
                  <a:srgbClr val="000000"/>
                </a:solidFill>
                <a:effectLst/>
                <a:latin typeface="Consolas" panose="020B0609020204030204" pitchFamily="49" charset="0"/>
              </a:rPr>
              <a:t>10</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/td</a:t>
            </a:r>
            <a:r>
              <a:rPr lang="en-IN" b="0" i="0" dirty="0">
                <a:solidFill>
                  <a:srgbClr val="0000CD"/>
                </a:solidFill>
                <a:effectLst/>
                <a:latin typeface="Consolas" panose="020B0609020204030204" pitchFamily="49" charset="0"/>
              </a:rPr>
              <a:t>&gt;</a:t>
            </a:r>
            <a:r>
              <a:rPr lang="en-IN" dirty="0"/>
              <a:t/>
            </a:r>
            <a:br>
              <a:rPr lang="en-IN" dirty="0"/>
            </a:br>
            <a:r>
              <a:rPr lang="en-IN" b="0" i="0" dirty="0">
                <a:solidFill>
                  <a:srgbClr val="000000"/>
                </a:solidFill>
                <a:effectLst/>
                <a:latin typeface="Consolas" panose="020B0609020204030204" pitchFamily="49" charset="0"/>
              </a:rPr>
              <a:t>  </a:t>
            </a: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/tr</a:t>
            </a:r>
            <a:r>
              <a:rPr lang="en-IN" b="0" i="0" dirty="0">
                <a:solidFill>
                  <a:srgbClr val="0000CD"/>
                </a:solidFill>
                <a:effectLst/>
                <a:latin typeface="Consolas" panose="020B0609020204030204" pitchFamily="49" charset="0"/>
              </a:rPr>
              <a:t>&gt;</a:t>
            </a:r>
            <a:r>
              <a:rPr lang="en-IN" dirty="0"/>
              <a:t/>
            </a:r>
            <a:br>
              <a:rPr lang="en-IN" dirty="0"/>
            </a:br>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/table</a:t>
            </a:r>
            <a:r>
              <a:rPr lang="en-IN" b="0" i="0" dirty="0">
                <a:solidFill>
                  <a:srgbClr val="0000CD"/>
                </a:solidFill>
                <a:effectLst/>
                <a:latin typeface="Consolas" panose="020B0609020204030204" pitchFamily="49" charset="0"/>
              </a:rPr>
              <a:t>&gt;</a:t>
            </a:r>
            <a:endParaRPr lang="en-IN"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Table Headers</a:t>
            </a:r>
          </a:p>
        </p:txBody>
      </p:sp>
      <p:sp>
        <p:nvSpPr>
          <p:cNvPr id="3" name="Content Placeholder 2"/>
          <p:cNvSpPr>
            <a:spLocks noGrp="1"/>
          </p:cNvSpPr>
          <p:nvPr>
            <p:ph idx="1"/>
          </p:nvPr>
        </p:nvSpPr>
        <p:spPr/>
        <p:txBody>
          <a:bodyPr>
            <a:normAutofit fontScale="77500" lnSpcReduction="20000"/>
          </a:bodyPr>
          <a:lstStyle/>
          <a:p>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table style="width:100%"</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tr </a:t>
            </a:r>
            <a:r>
              <a:rPr lang="en-IN" b="1" i="0" dirty="0">
                <a:solidFill>
                  <a:srgbClr val="FF0000"/>
                </a:solidFill>
                <a:effectLst/>
                <a:latin typeface="Consolas" panose="020B0609020204030204" pitchFamily="49" charset="0"/>
              </a:rPr>
              <a:t>style</a:t>
            </a:r>
            <a:r>
              <a:rPr lang="en-IN" b="1" i="0" dirty="0">
                <a:solidFill>
                  <a:srgbClr val="0000CD"/>
                </a:solidFill>
                <a:effectLst/>
                <a:latin typeface="Consolas" panose="020B0609020204030204" pitchFamily="49" charset="0"/>
              </a:rPr>
              <a:t>="height:200px"</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err="1">
                <a:solidFill>
                  <a:srgbClr val="A52A2A"/>
                </a:solidFill>
                <a:effectLst/>
                <a:latin typeface="Consolas" panose="020B0609020204030204" pitchFamily="49" charset="0"/>
              </a:rPr>
              <a:t>th</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Person 1</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t>
            </a:r>
            <a:r>
              <a:rPr lang="en-US" b="0" i="0" dirty="0" err="1">
                <a:solidFill>
                  <a:srgbClr val="A52A2A"/>
                </a:solidFill>
                <a:effectLst/>
                <a:latin typeface="Consolas" panose="020B0609020204030204" pitchFamily="49" charset="0"/>
              </a:rPr>
              <a:t>th</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err="1">
                <a:solidFill>
                  <a:srgbClr val="A52A2A"/>
                </a:solidFill>
                <a:effectLst/>
                <a:latin typeface="Consolas" panose="020B0609020204030204" pitchFamily="49" charset="0"/>
              </a:rPr>
              <a:t>th</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Person 2</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t>
            </a:r>
            <a:r>
              <a:rPr lang="en-US" b="0" i="0" dirty="0" err="1">
                <a:solidFill>
                  <a:srgbClr val="A52A2A"/>
                </a:solidFill>
                <a:effectLst/>
                <a:latin typeface="Consolas" panose="020B0609020204030204" pitchFamily="49" charset="0"/>
              </a:rPr>
              <a:t>th</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err="1">
                <a:solidFill>
                  <a:srgbClr val="A52A2A"/>
                </a:solidFill>
                <a:effectLst/>
                <a:latin typeface="Consolas" panose="020B0609020204030204" pitchFamily="49" charset="0"/>
              </a:rPr>
              <a:t>th</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Person 3</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t>
            </a:r>
            <a:r>
              <a:rPr lang="en-US" b="0" i="0" dirty="0" err="1">
                <a:solidFill>
                  <a:srgbClr val="A52A2A"/>
                </a:solidFill>
                <a:effectLst/>
                <a:latin typeface="Consolas" panose="020B0609020204030204" pitchFamily="49" charset="0"/>
              </a:rPr>
              <a:t>th</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/tr</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tr</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td</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Emil</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/td</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td</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Tobias</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/td</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td</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Linus</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/td</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/tr</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tr</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td</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16</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/td</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td</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14</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/td</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td</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10</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/td</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/tr</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/table</a:t>
            </a:r>
            <a:r>
              <a:rPr lang="en-US" b="0" i="0" dirty="0">
                <a:solidFill>
                  <a:srgbClr val="0000CD"/>
                </a:solidFill>
                <a:effectLst/>
                <a:latin typeface="Consolas" panose="020B0609020204030204" pitchFamily="49" charset="0"/>
              </a:rPr>
              <a:t>&gt;</a:t>
            </a:r>
            <a:endParaRPr lang="en-IN"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0371" y="401215"/>
            <a:ext cx="10515600" cy="4351338"/>
          </a:xfrm>
        </p:spPr>
        <p:txBody>
          <a:bodyPr>
            <a:noAutofit/>
          </a:bodyPr>
          <a:lstStyle/>
          <a:p>
            <a:pPr marL="0" indent="0">
              <a:buNone/>
            </a:pPr>
            <a:r>
              <a:rPr lang="en-US" sz="1600" dirty="0"/>
              <a:t>&lt;table style="width:100%"&gt;</a:t>
            </a:r>
          </a:p>
          <a:p>
            <a:pPr marL="0" indent="0">
              <a:buNone/>
            </a:pPr>
            <a:r>
              <a:rPr lang="en-US" sz="1600" dirty="0"/>
              <a:t>  &lt;tr&gt;</a:t>
            </a:r>
          </a:p>
          <a:p>
            <a:pPr marL="0" indent="0">
              <a:buNone/>
            </a:pPr>
            <a:r>
              <a:rPr lang="en-US" sz="1600" b="1" dirty="0"/>
              <a:t>    &lt;</a:t>
            </a:r>
            <a:r>
              <a:rPr lang="en-US" sz="1600" b="1" dirty="0" err="1"/>
              <a:t>th</a:t>
            </a:r>
            <a:r>
              <a:rPr lang="en-US" sz="1600" b="1" dirty="0"/>
              <a:t> </a:t>
            </a:r>
            <a:r>
              <a:rPr lang="en-US" sz="1600" b="1" dirty="0" err="1"/>
              <a:t>colspan</a:t>
            </a:r>
            <a:r>
              <a:rPr lang="en-US" sz="1600" b="1" dirty="0"/>
              <a:t>="2"&gt;Name&lt;/</a:t>
            </a:r>
            <a:r>
              <a:rPr lang="en-US" sz="1600" b="1" dirty="0" err="1"/>
              <a:t>th</a:t>
            </a:r>
            <a:r>
              <a:rPr lang="en-US" sz="1600" b="1" dirty="0"/>
              <a:t>&gt;</a:t>
            </a:r>
          </a:p>
          <a:p>
            <a:pPr marL="0" indent="0">
              <a:buNone/>
            </a:pPr>
            <a:r>
              <a:rPr lang="en-US" sz="1600" dirty="0"/>
              <a:t>    &lt;</a:t>
            </a:r>
            <a:r>
              <a:rPr lang="en-US" sz="1600" dirty="0" err="1"/>
              <a:t>th</a:t>
            </a:r>
            <a:r>
              <a:rPr lang="en-US" sz="1600" dirty="0"/>
              <a:t>&gt;Age&lt;/</a:t>
            </a:r>
            <a:r>
              <a:rPr lang="en-US" sz="1600" dirty="0" err="1"/>
              <a:t>th</a:t>
            </a:r>
            <a:r>
              <a:rPr lang="en-US" sz="1600" dirty="0"/>
              <a:t>&gt;</a:t>
            </a:r>
          </a:p>
          <a:p>
            <a:pPr marL="0" indent="0">
              <a:buNone/>
            </a:pPr>
            <a:r>
              <a:rPr lang="en-US" sz="1600" dirty="0"/>
              <a:t>  &lt;/tr&gt;</a:t>
            </a:r>
          </a:p>
          <a:p>
            <a:pPr marL="0" indent="0">
              <a:buNone/>
            </a:pPr>
            <a:r>
              <a:rPr lang="en-US" sz="1600" dirty="0"/>
              <a:t>  &lt;tr&gt;</a:t>
            </a:r>
          </a:p>
          <a:p>
            <a:pPr marL="0" indent="0">
              <a:buNone/>
            </a:pPr>
            <a:r>
              <a:rPr lang="en-US" sz="1600" dirty="0"/>
              <a:t>    &lt;td&gt;Jill&lt;/td&gt;</a:t>
            </a:r>
          </a:p>
          <a:p>
            <a:pPr marL="0" indent="0">
              <a:buNone/>
            </a:pPr>
            <a:r>
              <a:rPr lang="en-US" sz="1600" dirty="0"/>
              <a:t>    &lt;td&gt;Smith&lt;/td&gt;</a:t>
            </a:r>
          </a:p>
          <a:p>
            <a:pPr marL="0" indent="0">
              <a:buNone/>
            </a:pPr>
            <a:r>
              <a:rPr lang="en-US" sz="1600" dirty="0"/>
              <a:t>    &lt;td&gt;43&lt;/td&gt;</a:t>
            </a:r>
          </a:p>
          <a:p>
            <a:pPr marL="0" indent="0">
              <a:buNone/>
            </a:pPr>
            <a:r>
              <a:rPr lang="en-US" sz="1600" dirty="0"/>
              <a:t>  &lt;/tr&gt;</a:t>
            </a:r>
          </a:p>
          <a:p>
            <a:pPr marL="0" indent="0">
              <a:buNone/>
            </a:pPr>
            <a:r>
              <a:rPr lang="en-US" sz="1600" dirty="0"/>
              <a:t>  &lt;tr&gt;</a:t>
            </a:r>
          </a:p>
          <a:p>
            <a:pPr marL="0" indent="0">
              <a:buNone/>
            </a:pPr>
            <a:r>
              <a:rPr lang="en-US" sz="1600" dirty="0"/>
              <a:t>    &lt;td&gt;Eve&lt;/td&gt;</a:t>
            </a:r>
          </a:p>
          <a:p>
            <a:pPr marL="0" indent="0">
              <a:buNone/>
            </a:pPr>
            <a:r>
              <a:rPr lang="en-US" sz="1600" dirty="0"/>
              <a:t>    &lt;td&gt;Jackson&lt;/td&gt;</a:t>
            </a:r>
          </a:p>
          <a:p>
            <a:pPr marL="0" indent="0">
              <a:buNone/>
            </a:pPr>
            <a:r>
              <a:rPr lang="en-US" sz="1600" dirty="0"/>
              <a:t>    &lt;td&gt;57&lt;/td&gt;</a:t>
            </a:r>
          </a:p>
          <a:p>
            <a:pPr marL="0" indent="0">
              <a:buNone/>
            </a:pPr>
            <a:r>
              <a:rPr lang="en-US" sz="1600" dirty="0"/>
              <a:t>  &lt;/tr&gt;</a:t>
            </a:r>
          </a:p>
          <a:p>
            <a:pPr marL="0" indent="0">
              <a:buNone/>
            </a:pPr>
            <a:r>
              <a:rPr lang="en-US" sz="1600" dirty="0"/>
              <a:t>&lt;/table&gt;</a:t>
            </a:r>
            <a:endParaRPr lang="en-IN" sz="1600" dirty="0"/>
          </a:p>
        </p:txBody>
      </p:sp>
      <p:pic>
        <p:nvPicPr>
          <p:cNvPr id="5" name="Picture 4"/>
          <p:cNvPicPr>
            <a:picLocks noChangeAspect="1"/>
          </p:cNvPicPr>
          <p:nvPr/>
        </p:nvPicPr>
        <p:blipFill>
          <a:blip r:embed="rId2"/>
          <a:stretch>
            <a:fillRect/>
          </a:stretch>
        </p:blipFill>
        <p:spPr>
          <a:xfrm>
            <a:off x="4297095" y="2310078"/>
            <a:ext cx="6858594" cy="1737511"/>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Row Span</a:t>
            </a:r>
          </a:p>
        </p:txBody>
      </p:sp>
      <p:sp>
        <p:nvSpPr>
          <p:cNvPr id="3" name="Content Placeholder 2"/>
          <p:cNvSpPr>
            <a:spLocks noGrp="1"/>
          </p:cNvSpPr>
          <p:nvPr>
            <p:ph idx="1"/>
          </p:nvPr>
        </p:nvSpPr>
        <p:spPr/>
        <p:txBody>
          <a:bodyPr>
            <a:normAutofit fontScale="62500" lnSpcReduction="20000"/>
          </a:bodyPr>
          <a:lstStyle/>
          <a:p>
            <a:pPr marL="0" indent="0">
              <a:buNone/>
            </a:pPr>
            <a:r>
              <a:rPr lang="en-US" dirty="0"/>
              <a:t>&lt;table style="width:100%"&gt;</a:t>
            </a:r>
          </a:p>
          <a:p>
            <a:pPr marL="0" indent="0">
              <a:buNone/>
            </a:pPr>
            <a:r>
              <a:rPr lang="en-US" dirty="0"/>
              <a:t>  &lt;tr&gt;</a:t>
            </a:r>
          </a:p>
          <a:p>
            <a:pPr marL="0" indent="0">
              <a:buNone/>
            </a:pPr>
            <a:r>
              <a:rPr lang="en-US" dirty="0"/>
              <a:t>    &lt;</a:t>
            </a:r>
            <a:r>
              <a:rPr lang="en-US" dirty="0" err="1"/>
              <a:t>th</a:t>
            </a:r>
            <a:r>
              <a:rPr lang="en-US" dirty="0"/>
              <a:t>&gt;Name&lt;/</a:t>
            </a:r>
            <a:r>
              <a:rPr lang="en-US" dirty="0" err="1"/>
              <a:t>th</a:t>
            </a:r>
            <a:r>
              <a:rPr lang="en-US" dirty="0"/>
              <a:t>&gt;</a:t>
            </a:r>
          </a:p>
          <a:p>
            <a:pPr marL="0" indent="0">
              <a:buNone/>
            </a:pPr>
            <a:r>
              <a:rPr lang="en-US" dirty="0"/>
              <a:t>    &lt;td&gt;Jill&lt;/td&gt;</a:t>
            </a:r>
          </a:p>
          <a:p>
            <a:pPr marL="0" indent="0">
              <a:buNone/>
            </a:pPr>
            <a:r>
              <a:rPr lang="en-US" dirty="0"/>
              <a:t>  &lt;/tr&gt;</a:t>
            </a:r>
          </a:p>
          <a:p>
            <a:pPr marL="0" indent="0">
              <a:buNone/>
            </a:pPr>
            <a:r>
              <a:rPr lang="en-US" dirty="0"/>
              <a:t>  &lt;tr&gt;</a:t>
            </a:r>
          </a:p>
          <a:p>
            <a:pPr marL="0" indent="0">
              <a:buNone/>
            </a:pPr>
            <a:r>
              <a:rPr lang="en-US" dirty="0"/>
              <a:t>    &lt;</a:t>
            </a:r>
            <a:r>
              <a:rPr lang="en-US" dirty="0" err="1"/>
              <a:t>th</a:t>
            </a:r>
            <a:r>
              <a:rPr lang="en-US" dirty="0"/>
              <a:t> </a:t>
            </a:r>
            <a:r>
              <a:rPr lang="en-US" dirty="0" err="1"/>
              <a:t>rowspan</a:t>
            </a:r>
            <a:r>
              <a:rPr lang="en-US" dirty="0"/>
              <a:t>="2"&gt;Phone&lt;/</a:t>
            </a:r>
            <a:r>
              <a:rPr lang="en-US" dirty="0" err="1"/>
              <a:t>th</a:t>
            </a:r>
            <a:r>
              <a:rPr lang="en-US" dirty="0"/>
              <a:t>&gt;</a:t>
            </a:r>
          </a:p>
          <a:p>
            <a:pPr marL="0" indent="0">
              <a:buNone/>
            </a:pPr>
            <a:r>
              <a:rPr lang="en-US" dirty="0"/>
              <a:t>    &lt;td&gt;555-1234&lt;/td&gt;</a:t>
            </a:r>
          </a:p>
          <a:p>
            <a:pPr marL="0" indent="0">
              <a:buNone/>
            </a:pPr>
            <a:r>
              <a:rPr lang="en-US" dirty="0"/>
              <a:t>  &lt;/tr&gt;</a:t>
            </a:r>
          </a:p>
          <a:p>
            <a:pPr marL="0" indent="0">
              <a:buNone/>
            </a:pPr>
            <a:r>
              <a:rPr lang="en-US" dirty="0"/>
              <a:t>  &lt;tr&gt;</a:t>
            </a:r>
          </a:p>
          <a:p>
            <a:pPr marL="0" indent="0">
              <a:buNone/>
            </a:pPr>
            <a:r>
              <a:rPr lang="en-US" dirty="0"/>
              <a:t>    &lt;td&gt;555-8745&lt;/td&gt;</a:t>
            </a:r>
          </a:p>
          <a:p>
            <a:pPr marL="0" indent="0">
              <a:buNone/>
            </a:pPr>
            <a:r>
              <a:rPr lang="en-US" dirty="0"/>
              <a:t>  &lt;/tr&gt;</a:t>
            </a:r>
          </a:p>
          <a:p>
            <a:pPr marL="0" indent="0">
              <a:buNone/>
            </a:pPr>
            <a:r>
              <a:rPr lang="en-US" dirty="0"/>
              <a:t>&lt;/table&gt;</a:t>
            </a:r>
            <a:endParaRPr lang="en-IN" dirty="0"/>
          </a:p>
        </p:txBody>
      </p:sp>
      <p:pic>
        <p:nvPicPr>
          <p:cNvPr id="5" name="Picture 4"/>
          <p:cNvPicPr>
            <a:picLocks noChangeAspect="1"/>
          </p:cNvPicPr>
          <p:nvPr/>
        </p:nvPicPr>
        <p:blipFill>
          <a:blip r:embed="rId2"/>
          <a:stretch>
            <a:fillRect/>
          </a:stretch>
        </p:blipFill>
        <p:spPr>
          <a:xfrm>
            <a:off x="4501373" y="927505"/>
            <a:ext cx="6972904" cy="1661304"/>
          </a:xfrm>
          <a:prstGeom prst="rect">
            <a:avLst/>
          </a:prstGeom>
        </p:spPr>
      </p:pic>
      <p:graphicFrame>
        <p:nvGraphicFramePr>
          <p:cNvPr id="4" name="Table 3"/>
          <p:cNvGraphicFramePr>
            <a:graphicFrameLocks noGrp="1"/>
          </p:cNvGraphicFramePr>
          <p:nvPr/>
        </p:nvGraphicFramePr>
        <p:xfrm>
          <a:off x="4837933" y="3185972"/>
          <a:ext cx="5725160" cy="1261872"/>
        </p:xfrm>
        <a:graphic>
          <a:graphicData uri="http://schemas.openxmlformats.org/drawingml/2006/table">
            <a:tbl>
              <a:tblPr firstRow="1" firstCol="1" bandRow="1">
                <a:tableStyleId>{5940675A-B579-460E-94D1-54222C63F5DA}</a:tableStyleId>
              </a:tblPr>
              <a:tblGrid>
                <a:gridCol w="1431290">
                  <a:extLst>
                    <a:ext uri="{9D8B030D-6E8A-4147-A177-3AD203B41FA5}">
                      <a16:colId xmlns="" xmlns:a16="http://schemas.microsoft.com/office/drawing/2014/main" val="20000"/>
                    </a:ext>
                  </a:extLst>
                </a:gridCol>
                <a:gridCol w="1431290">
                  <a:extLst>
                    <a:ext uri="{9D8B030D-6E8A-4147-A177-3AD203B41FA5}">
                      <a16:colId xmlns="" xmlns:a16="http://schemas.microsoft.com/office/drawing/2014/main" val="20001"/>
                    </a:ext>
                  </a:extLst>
                </a:gridCol>
                <a:gridCol w="1431290">
                  <a:extLst>
                    <a:ext uri="{9D8B030D-6E8A-4147-A177-3AD203B41FA5}">
                      <a16:colId xmlns="" xmlns:a16="http://schemas.microsoft.com/office/drawing/2014/main" val="20002"/>
                    </a:ext>
                  </a:extLst>
                </a:gridCol>
                <a:gridCol w="1431290">
                  <a:extLst>
                    <a:ext uri="{9D8B030D-6E8A-4147-A177-3AD203B41FA5}">
                      <a16:colId xmlns="" xmlns:a16="http://schemas.microsoft.com/office/drawing/2014/main" val="20003"/>
                    </a:ext>
                  </a:extLst>
                </a:gridCol>
              </a:tblGrid>
              <a:tr h="0">
                <a:tc rowSpan="2">
                  <a:txBody>
                    <a:bodyPr/>
                    <a:lstStyle/>
                    <a:p>
                      <a:pPr>
                        <a:lnSpc>
                          <a:spcPct val="115000"/>
                        </a:lnSpc>
                        <a:spcAft>
                          <a:spcPts val="800"/>
                        </a:spcAft>
                      </a:pPr>
                      <a:r>
                        <a:rPr lang="en-IN" sz="2400" b="1" kern="100" dirty="0">
                          <a:effectLst/>
                        </a:rPr>
                        <a:t>a</a:t>
                      </a:r>
                      <a:endParaRPr lang="en-IN" sz="12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IN" sz="2400" b="1" kern="100" dirty="0">
                          <a:effectLst/>
                        </a:rPr>
                        <a:t>b</a:t>
                      </a:r>
                      <a:endParaRPr lang="en-IN" sz="12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a:lnSpc>
                          <a:spcPct val="115000"/>
                        </a:lnSpc>
                        <a:spcAft>
                          <a:spcPts val="800"/>
                        </a:spcAft>
                      </a:pPr>
                      <a:r>
                        <a:rPr lang="en-IN" sz="2400" b="1" kern="100" dirty="0">
                          <a:effectLst/>
                        </a:rPr>
                        <a:t>C</a:t>
                      </a:r>
                      <a:endParaRPr lang="en-IN" sz="12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 xmlns:a16="http://schemas.microsoft.com/office/drawing/2014/main" val="10000"/>
                  </a:ext>
                </a:extLst>
              </a:tr>
              <a:tr h="0">
                <a:tc vMerge="1">
                  <a:txBody>
                    <a:bodyPr/>
                    <a:lstStyle/>
                    <a:p>
                      <a:endParaRPr lang="en-US"/>
                    </a:p>
                  </a:txBody>
                  <a:tcPr/>
                </a:tc>
                <a:tc>
                  <a:txBody>
                    <a:bodyPr/>
                    <a:lstStyle/>
                    <a:p>
                      <a:pPr>
                        <a:lnSpc>
                          <a:spcPct val="115000"/>
                        </a:lnSpc>
                        <a:spcAft>
                          <a:spcPts val="800"/>
                        </a:spcAft>
                      </a:pPr>
                      <a:r>
                        <a:rPr lang="en-IN" sz="2400" kern="100">
                          <a:effectLst/>
                        </a:rPr>
                        <a:t>d</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IN" sz="2400" kern="100">
                          <a:effectLst/>
                        </a:rPr>
                        <a:t>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IN" sz="2400" kern="100">
                          <a:effectLst/>
                        </a:rPr>
                        <a:t>F</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0001"/>
                  </a:ext>
                </a:extLst>
              </a:tr>
              <a:tr h="0">
                <a:tc>
                  <a:txBody>
                    <a:bodyPr/>
                    <a:lstStyle/>
                    <a:p>
                      <a:pPr>
                        <a:lnSpc>
                          <a:spcPct val="115000"/>
                        </a:lnSpc>
                        <a:spcAft>
                          <a:spcPts val="800"/>
                        </a:spcAft>
                      </a:pPr>
                      <a:r>
                        <a:rPr lang="en-IN" sz="2400" kern="100">
                          <a:effectLst/>
                        </a:rPr>
                        <a:t>j</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IN" sz="2400" kern="100">
                          <a:effectLst/>
                        </a:rPr>
                        <a:t>i</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IN" sz="2400" kern="100">
                          <a:effectLst/>
                        </a:rPr>
                        <a:t>h</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IN" sz="2400" kern="100" dirty="0">
                          <a:effectLst/>
                        </a:rPr>
                        <a:t>g</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Linking Another Pages</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US" dirty="0"/>
              <a:t>&lt;!DOCTYPE html&gt;</a:t>
            </a:r>
          </a:p>
          <a:p>
            <a:pPr marL="0" indent="0">
              <a:buNone/>
            </a:pPr>
            <a:r>
              <a:rPr lang="en-US" dirty="0"/>
              <a:t>&lt;html&gt;</a:t>
            </a:r>
          </a:p>
          <a:p>
            <a:pPr marL="0" indent="0">
              <a:buNone/>
            </a:pPr>
            <a:r>
              <a:rPr lang="en-US" dirty="0"/>
              <a:t>&lt;head&gt;</a:t>
            </a:r>
          </a:p>
          <a:p>
            <a:pPr marL="0" indent="0">
              <a:buNone/>
            </a:pPr>
            <a:r>
              <a:rPr lang="en-US" dirty="0"/>
              <a:t>    &lt;title&gt;Links in HTML&lt;/title&gt;</a:t>
            </a:r>
          </a:p>
          <a:p>
            <a:pPr marL="0" indent="0">
              <a:buNone/>
            </a:pPr>
            <a:r>
              <a:rPr lang="en-US" dirty="0"/>
              <a:t>&lt;/head&gt;</a:t>
            </a:r>
          </a:p>
          <a:p>
            <a:pPr marL="0" indent="0">
              <a:buNone/>
            </a:pPr>
            <a:r>
              <a:rPr lang="en-US" dirty="0"/>
              <a:t>&lt;body&gt;</a:t>
            </a:r>
          </a:p>
          <a:p>
            <a:pPr marL="0" indent="0">
              <a:buNone/>
            </a:pPr>
            <a:r>
              <a:rPr lang="en-US" dirty="0"/>
              <a:t>    &lt;a </a:t>
            </a:r>
            <a:r>
              <a:rPr lang="en-US" dirty="0" err="1"/>
              <a:t>href</a:t>
            </a:r>
            <a:r>
              <a:rPr lang="en-US" dirty="0"/>
              <a:t>="https://www.google.com" &gt;Visit Google&lt;/a&gt;</a:t>
            </a:r>
          </a:p>
          <a:p>
            <a:pPr marL="0" indent="0">
              <a:buNone/>
            </a:pPr>
            <a:r>
              <a:rPr lang="en-US" dirty="0"/>
              <a:t>&lt;/body&gt;</a:t>
            </a:r>
          </a:p>
          <a:p>
            <a:pPr marL="0" indent="0">
              <a:buNone/>
            </a:pPr>
            <a:r>
              <a:rPr lang="en-US" dirty="0"/>
              <a:t>&lt;/html&gt;</a:t>
            </a:r>
          </a:p>
          <a:p>
            <a:pPr marL="0" indent="0">
              <a:buNone/>
            </a:pPr>
            <a:endParaRPr lang="en-IN"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9915"/>
          </a:xfrm>
        </p:spPr>
        <p:txBody>
          <a:bodyPr>
            <a:normAutofit fontScale="90000"/>
          </a:bodyPr>
          <a:lstStyle/>
          <a:p>
            <a:r>
              <a:rPr lang="en-US" dirty="0"/>
              <a:t>Inserting Image</a:t>
            </a:r>
            <a:endParaRPr lang="en-IN" dirty="0"/>
          </a:p>
        </p:txBody>
      </p:sp>
      <p:sp>
        <p:nvSpPr>
          <p:cNvPr id="3" name="Content Placeholder 2"/>
          <p:cNvSpPr>
            <a:spLocks noGrp="1"/>
          </p:cNvSpPr>
          <p:nvPr>
            <p:ph idx="1"/>
          </p:nvPr>
        </p:nvSpPr>
        <p:spPr>
          <a:xfrm>
            <a:off x="294640" y="1253331"/>
            <a:ext cx="11795760" cy="4351338"/>
          </a:xfrm>
        </p:spPr>
        <p:txBody>
          <a:bodyPr>
            <a:noAutofit/>
          </a:bodyPr>
          <a:lstStyle/>
          <a:p>
            <a:pPr marL="0" indent="0">
              <a:buNone/>
            </a:pPr>
            <a:r>
              <a:rPr lang="en-US" dirty="0"/>
              <a:t>&lt;!DOCTYPE html&gt;</a:t>
            </a:r>
          </a:p>
          <a:p>
            <a:pPr marL="0" indent="0">
              <a:buNone/>
            </a:pPr>
            <a:r>
              <a:rPr lang="en-US" dirty="0"/>
              <a:t>&lt;html&gt;</a:t>
            </a:r>
          </a:p>
          <a:p>
            <a:pPr marL="0" indent="0">
              <a:buNone/>
            </a:pPr>
            <a:r>
              <a:rPr lang="en-US" dirty="0"/>
              <a:t>&lt;head&gt;</a:t>
            </a:r>
          </a:p>
          <a:p>
            <a:pPr marL="0" indent="0">
              <a:buNone/>
            </a:pPr>
            <a:r>
              <a:rPr lang="en-US" dirty="0"/>
              <a:t>    &lt;title&gt;Image in HTML&lt;/title&gt;</a:t>
            </a:r>
          </a:p>
          <a:p>
            <a:pPr marL="0" indent="0">
              <a:buNone/>
            </a:pPr>
            <a:r>
              <a:rPr lang="en-US" dirty="0"/>
              <a:t>&lt;/head&gt;</a:t>
            </a:r>
          </a:p>
          <a:p>
            <a:pPr marL="0" indent="0">
              <a:buNone/>
            </a:pPr>
            <a:r>
              <a:rPr lang="en-US" dirty="0"/>
              <a:t>&lt;body&gt;</a:t>
            </a:r>
          </a:p>
          <a:p>
            <a:pPr marL="0" indent="0">
              <a:buNone/>
            </a:pPr>
            <a:r>
              <a:rPr lang="en-US" dirty="0"/>
              <a:t>    &lt;h2&gt;My Favorite Image&lt;/h2&gt;</a:t>
            </a:r>
          </a:p>
          <a:p>
            <a:pPr marL="0" indent="0">
              <a:buNone/>
            </a:pPr>
            <a:r>
              <a:rPr lang="en-US" dirty="0"/>
              <a:t>    &lt;</a:t>
            </a:r>
            <a:r>
              <a:rPr lang="en-US" dirty="0" err="1"/>
              <a:t>img</a:t>
            </a:r>
            <a:r>
              <a:rPr lang="en-US" dirty="0"/>
              <a:t> </a:t>
            </a:r>
            <a:r>
              <a:rPr lang="en-US" dirty="0" err="1"/>
              <a:t>src</a:t>
            </a:r>
            <a:r>
              <a:rPr lang="en-US" dirty="0"/>
              <a:t>="image.jpg" alt="Sample Image" width="300" height="200"&gt;</a:t>
            </a:r>
          </a:p>
          <a:p>
            <a:pPr marL="0" indent="0">
              <a:buNone/>
            </a:pPr>
            <a:r>
              <a:rPr lang="en-US" dirty="0"/>
              <a:t>&lt;/body&gt;</a:t>
            </a:r>
          </a:p>
          <a:p>
            <a:pPr marL="0" indent="0">
              <a:buNone/>
            </a:pPr>
            <a:r>
              <a:rPr lang="en-US" dirty="0"/>
              <a:t>&lt;/html&gt;</a:t>
            </a:r>
          </a:p>
          <a:p>
            <a:pPr marL="0" indent="0">
              <a:buNone/>
            </a:pPr>
            <a:endParaRPr lang="en-IN"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660974678"/>
              </p:ext>
            </p:extLst>
          </p:nvPr>
        </p:nvGraphicFramePr>
        <p:xfrm>
          <a:off x="838200" y="1805304"/>
          <a:ext cx="10515600" cy="3518538"/>
        </p:xfrm>
        <a:graphic>
          <a:graphicData uri="http://schemas.openxmlformats.org/drawingml/2006/table">
            <a:tbl>
              <a:tblPr firstRow="1" bandRow="1">
                <a:tableStyleId>{5940675A-B579-460E-94D1-54222C63F5DA}</a:tableStyleId>
              </a:tblPr>
              <a:tblGrid>
                <a:gridCol w="5257800">
                  <a:extLst>
                    <a:ext uri="{9D8B030D-6E8A-4147-A177-3AD203B41FA5}">
                      <a16:colId xmlns="" xmlns:a16="http://schemas.microsoft.com/office/drawing/2014/main" val="20000"/>
                    </a:ext>
                  </a:extLst>
                </a:gridCol>
                <a:gridCol w="5257800">
                  <a:extLst>
                    <a:ext uri="{9D8B030D-6E8A-4147-A177-3AD203B41FA5}">
                      <a16:colId xmlns="" xmlns:a16="http://schemas.microsoft.com/office/drawing/2014/main" val="20001"/>
                    </a:ext>
                  </a:extLst>
                </a:gridCol>
              </a:tblGrid>
              <a:tr h="586423">
                <a:tc gridSpan="2">
                  <a:txBody>
                    <a:bodyPr/>
                    <a:lstStyle/>
                    <a:p>
                      <a:pPr algn="ctr"/>
                      <a:r>
                        <a:rPr lang="en-IN" b="1" dirty="0"/>
                        <a:t>Resume</a:t>
                      </a:r>
                    </a:p>
                  </a:txBody>
                  <a:tcPr/>
                </a:tc>
                <a:tc hMerge="1">
                  <a:txBody>
                    <a:bodyPr/>
                    <a:lstStyle/>
                    <a:p>
                      <a:endParaRPr lang="en-US"/>
                    </a:p>
                  </a:txBody>
                  <a:tcPr/>
                </a:tc>
                <a:extLst>
                  <a:ext uri="{0D108BD9-81ED-4DB2-BD59-A6C34878D82A}">
                    <a16:rowId xmlns="" xmlns:a16="http://schemas.microsoft.com/office/drawing/2014/main" val="10000"/>
                  </a:ext>
                </a:extLst>
              </a:tr>
              <a:tr h="586423">
                <a:tc>
                  <a:txBody>
                    <a:bodyPr/>
                    <a:lstStyle/>
                    <a:p>
                      <a:r>
                        <a:rPr lang="en-IN" b="1" dirty="0"/>
                        <a:t>Name</a:t>
                      </a:r>
                    </a:p>
                  </a:txBody>
                  <a:tcPr/>
                </a:tc>
                <a:tc>
                  <a:txBody>
                    <a:bodyPr/>
                    <a:lstStyle/>
                    <a:p>
                      <a:r>
                        <a:rPr lang="en-IN" dirty="0"/>
                        <a:t>a</a:t>
                      </a:r>
                    </a:p>
                  </a:txBody>
                  <a:tcPr/>
                </a:tc>
                <a:extLst>
                  <a:ext uri="{0D108BD9-81ED-4DB2-BD59-A6C34878D82A}">
                    <a16:rowId xmlns="" xmlns:a16="http://schemas.microsoft.com/office/drawing/2014/main" val="10001"/>
                  </a:ext>
                </a:extLst>
              </a:tr>
              <a:tr h="586423">
                <a:tc>
                  <a:txBody>
                    <a:bodyPr/>
                    <a:lstStyle/>
                    <a:p>
                      <a:r>
                        <a:rPr lang="en-IN" b="1" dirty="0"/>
                        <a:t>Photograph</a:t>
                      </a:r>
                    </a:p>
                  </a:txBody>
                  <a:tcPr/>
                </a:tc>
                <a:tc>
                  <a:txBody>
                    <a:bodyPr/>
                    <a:lstStyle/>
                    <a:p>
                      <a:endParaRPr lang="en-IN" dirty="0"/>
                    </a:p>
                  </a:txBody>
                  <a:tcPr/>
                </a:tc>
                <a:extLst>
                  <a:ext uri="{0D108BD9-81ED-4DB2-BD59-A6C34878D82A}">
                    <a16:rowId xmlns="" xmlns:a16="http://schemas.microsoft.com/office/drawing/2014/main" val="10002"/>
                  </a:ext>
                </a:extLst>
              </a:tr>
              <a:tr h="586423">
                <a:tc>
                  <a:txBody>
                    <a:bodyPr/>
                    <a:lstStyle/>
                    <a:p>
                      <a:r>
                        <a:rPr lang="en-IN" b="1" dirty="0"/>
                        <a:t>Age</a:t>
                      </a:r>
                    </a:p>
                  </a:txBody>
                  <a:tcPr/>
                </a:tc>
                <a:tc>
                  <a:txBody>
                    <a:bodyPr/>
                    <a:lstStyle/>
                    <a:p>
                      <a:r>
                        <a:rPr lang="en-IN" dirty="0"/>
                        <a:t>1</a:t>
                      </a:r>
                    </a:p>
                  </a:txBody>
                  <a:tcPr/>
                </a:tc>
                <a:extLst>
                  <a:ext uri="{0D108BD9-81ED-4DB2-BD59-A6C34878D82A}">
                    <a16:rowId xmlns="" xmlns:a16="http://schemas.microsoft.com/office/drawing/2014/main" val="10003"/>
                  </a:ext>
                </a:extLst>
              </a:tr>
              <a:tr h="586423">
                <a:tc rowSpan="2">
                  <a:txBody>
                    <a:bodyPr/>
                    <a:lstStyle/>
                    <a:p>
                      <a:r>
                        <a:rPr lang="en-IN" b="1" dirty="0"/>
                        <a:t>Phone No</a:t>
                      </a:r>
                    </a:p>
                  </a:txBody>
                  <a:tcPr/>
                </a:tc>
                <a:tc>
                  <a:txBody>
                    <a:bodyPr/>
                    <a:lstStyle/>
                    <a:p>
                      <a:r>
                        <a:rPr lang="en-IN" dirty="0"/>
                        <a:t>223</a:t>
                      </a:r>
                    </a:p>
                  </a:txBody>
                  <a:tcPr/>
                </a:tc>
                <a:extLst>
                  <a:ext uri="{0D108BD9-81ED-4DB2-BD59-A6C34878D82A}">
                    <a16:rowId xmlns="" xmlns:a16="http://schemas.microsoft.com/office/drawing/2014/main" val="10004"/>
                  </a:ext>
                </a:extLst>
              </a:tr>
              <a:tr h="586423">
                <a:tc vMerge="1">
                  <a:txBody>
                    <a:bodyPr/>
                    <a:lstStyle/>
                    <a:p>
                      <a:endParaRPr lang="en-US"/>
                    </a:p>
                  </a:txBody>
                  <a:tcPr/>
                </a:tc>
                <a:tc>
                  <a:txBody>
                    <a:bodyPr/>
                    <a:lstStyle/>
                    <a:p>
                      <a:r>
                        <a:rPr lang="en-IN" dirty="0"/>
                        <a:t>333</a:t>
                      </a:r>
                    </a:p>
                  </a:txBody>
                  <a:tcPr/>
                </a:tc>
                <a:extLst>
                  <a:ext uri="{0D108BD9-81ED-4DB2-BD59-A6C34878D82A}">
                    <a16:rowId xmlns="" xmlns:a16="http://schemas.microsoft.com/office/drawing/2014/main" val="10005"/>
                  </a:ext>
                </a:extLst>
              </a:tr>
            </a:tbl>
          </a:graphicData>
        </a:graphic>
      </p:graphicFrame>
      <p:pic>
        <p:nvPicPr>
          <p:cNvPr id="6" name="Picture 5" descr="A close up of a rose&#10;&#10;AI-generated content may be incorrect."/>
          <p:cNvPicPr>
            <a:picLocks noChangeAspect="1"/>
          </p:cNvPicPr>
          <p:nvPr/>
        </p:nvPicPr>
        <p:blipFill>
          <a:blip r:embed="rId2"/>
          <a:stretch>
            <a:fillRect/>
          </a:stretch>
        </p:blipFill>
        <p:spPr>
          <a:xfrm>
            <a:off x="6248458" y="3044660"/>
            <a:ext cx="1084036" cy="519913"/>
          </a:xfrm>
          <a:prstGeom prst="rect">
            <a:avLst/>
          </a:prstGeom>
        </p:spPr>
      </p:pic>
      <p:sp>
        <p:nvSpPr>
          <p:cNvPr id="2" name="TextBox 1"/>
          <p:cNvSpPr txBox="1"/>
          <p:nvPr/>
        </p:nvSpPr>
        <p:spPr>
          <a:xfrm>
            <a:off x="2164080" y="457199"/>
            <a:ext cx="7122160"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Lab Assignment 2</a:t>
            </a: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314325" y="877836"/>
            <a:ext cx="11229975" cy="483718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HTML Formatting Elements</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rgbClr val="000000"/>
                </a:solidFill>
                <a:effectLst/>
                <a:latin typeface="Verdana" panose="020B0604030504040204" pitchFamily="34" charset="0"/>
              </a:rPr>
              <a:t>Formatting elements were designed to display special types of text: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rgbClr val="DC143C"/>
                </a:solidFill>
                <a:effectLst/>
                <a:latin typeface="Consolas" panose="020B0609020204030204" pitchFamily="49" charset="0"/>
              </a:rPr>
              <a:t>&lt;b&gt;</a:t>
            </a:r>
            <a:r>
              <a:rPr kumimoji="0" lang="en-US" altLang="en-US" sz="2400" b="0" i="0" u="none" strike="noStrike" cap="none" normalizeH="0" baseline="0" dirty="0">
                <a:ln>
                  <a:noFill/>
                </a:ln>
                <a:solidFill>
                  <a:srgbClr val="000000"/>
                </a:solidFill>
                <a:effectLst/>
                <a:latin typeface="Verdana" panose="020B0604030504040204" pitchFamily="34" charset="0"/>
              </a:rPr>
              <a:t> - Bold text</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rgbClr val="DC143C"/>
                </a:solidFill>
                <a:effectLst/>
                <a:latin typeface="Consolas" panose="020B0609020204030204" pitchFamily="49" charset="0"/>
              </a:rPr>
              <a:t>&lt;strong&gt;</a:t>
            </a:r>
            <a:r>
              <a:rPr kumimoji="0" lang="en-US" altLang="en-US" sz="2400" b="0" i="0" u="none" strike="noStrike" cap="none" normalizeH="0" baseline="0" dirty="0">
                <a:ln>
                  <a:noFill/>
                </a:ln>
                <a:solidFill>
                  <a:srgbClr val="000000"/>
                </a:solidFill>
                <a:effectLst/>
                <a:latin typeface="Verdana" panose="020B0604030504040204" pitchFamily="34" charset="0"/>
              </a:rPr>
              <a:t> - Important text</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rgbClr val="DC143C"/>
                </a:solidFill>
                <a:effectLst/>
                <a:latin typeface="Consolas" panose="020B0609020204030204" pitchFamily="49" charset="0"/>
              </a:rPr>
              <a:t>&lt;</a:t>
            </a:r>
            <a:r>
              <a:rPr kumimoji="0" lang="en-US" altLang="en-US" sz="2400" b="0" i="0" u="none" strike="noStrike" cap="none" normalizeH="0" baseline="0" dirty="0" err="1">
                <a:ln>
                  <a:noFill/>
                </a:ln>
                <a:solidFill>
                  <a:srgbClr val="DC143C"/>
                </a:solidFill>
                <a:effectLst/>
                <a:latin typeface="Consolas" panose="020B0609020204030204" pitchFamily="49" charset="0"/>
              </a:rPr>
              <a:t>i</a:t>
            </a:r>
            <a:r>
              <a:rPr kumimoji="0" lang="en-US" altLang="en-US" sz="2400" b="0" i="0" u="none" strike="noStrike" cap="none" normalizeH="0" baseline="0" dirty="0">
                <a:ln>
                  <a:noFill/>
                </a:ln>
                <a:solidFill>
                  <a:srgbClr val="DC143C"/>
                </a:solidFill>
                <a:effectLst/>
                <a:latin typeface="Consolas" panose="020B0609020204030204" pitchFamily="49" charset="0"/>
              </a:rPr>
              <a:t>&gt;</a:t>
            </a:r>
            <a:r>
              <a:rPr kumimoji="0" lang="en-US" altLang="en-US" sz="2400" b="0" i="0" u="none" strike="noStrike" cap="none" normalizeH="0" baseline="0" dirty="0">
                <a:ln>
                  <a:noFill/>
                </a:ln>
                <a:solidFill>
                  <a:srgbClr val="000000"/>
                </a:solidFill>
                <a:effectLst/>
                <a:latin typeface="Verdana" panose="020B0604030504040204" pitchFamily="34" charset="0"/>
              </a:rPr>
              <a:t> - Italic text</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rgbClr val="DC143C"/>
                </a:solidFill>
                <a:effectLst/>
                <a:latin typeface="Consolas" panose="020B0609020204030204" pitchFamily="49" charset="0"/>
              </a:rPr>
              <a:t>&lt;</a:t>
            </a:r>
            <a:r>
              <a:rPr kumimoji="0" lang="en-US" altLang="en-US" sz="2400" b="0" i="0" u="none" strike="noStrike" cap="none" normalizeH="0" baseline="0" dirty="0" err="1">
                <a:ln>
                  <a:noFill/>
                </a:ln>
                <a:solidFill>
                  <a:srgbClr val="DC143C"/>
                </a:solidFill>
                <a:effectLst/>
                <a:latin typeface="Consolas" panose="020B0609020204030204" pitchFamily="49" charset="0"/>
              </a:rPr>
              <a:t>em</a:t>
            </a:r>
            <a:r>
              <a:rPr kumimoji="0" lang="en-US" altLang="en-US" sz="2400" b="0" i="0" u="none" strike="noStrike" cap="none" normalizeH="0" baseline="0" dirty="0">
                <a:ln>
                  <a:noFill/>
                </a:ln>
                <a:solidFill>
                  <a:srgbClr val="DC143C"/>
                </a:solidFill>
                <a:effectLst/>
                <a:latin typeface="Consolas" panose="020B0609020204030204" pitchFamily="49" charset="0"/>
              </a:rPr>
              <a:t>&gt;</a:t>
            </a:r>
            <a:r>
              <a:rPr kumimoji="0" lang="en-US" altLang="en-US" sz="2400" b="0" i="0" u="none" strike="noStrike" cap="none" normalizeH="0" baseline="0" dirty="0">
                <a:ln>
                  <a:noFill/>
                </a:ln>
                <a:solidFill>
                  <a:srgbClr val="000000"/>
                </a:solidFill>
                <a:effectLst/>
                <a:latin typeface="Verdana" panose="020B0604030504040204" pitchFamily="34" charset="0"/>
              </a:rPr>
              <a:t> - Emphasized text</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rgbClr val="DC143C"/>
                </a:solidFill>
                <a:effectLst/>
                <a:latin typeface="Consolas" panose="020B0609020204030204" pitchFamily="49" charset="0"/>
              </a:rPr>
              <a:t>&lt;mark&gt;</a:t>
            </a:r>
            <a:r>
              <a:rPr kumimoji="0" lang="en-US" altLang="en-US" sz="2400" b="0" i="0" u="none" strike="noStrike" cap="none" normalizeH="0" baseline="0" dirty="0">
                <a:ln>
                  <a:noFill/>
                </a:ln>
                <a:solidFill>
                  <a:srgbClr val="000000"/>
                </a:solidFill>
                <a:effectLst/>
                <a:latin typeface="Verdana" panose="020B0604030504040204" pitchFamily="34" charset="0"/>
              </a:rPr>
              <a:t> - Marked text</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rgbClr val="DC143C"/>
                </a:solidFill>
                <a:effectLst/>
                <a:latin typeface="Consolas" panose="020B0609020204030204" pitchFamily="49" charset="0"/>
              </a:rPr>
              <a:t>&lt;small&gt;</a:t>
            </a:r>
            <a:r>
              <a:rPr kumimoji="0" lang="en-US" altLang="en-US" sz="2400" b="0" i="0" u="none" strike="noStrike" cap="none" normalizeH="0" baseline="0" dirty="0">
                <a:ln>
                  <a:noFill/>
                </a:ln>
                <a:solidFill>
                  <a:srgbClr val="000000"/>
                </a:solidFill>
                <a:effectLst/>
                <a:latin typeface="Verdana" panose="020B0604030504040204" pitchFamily="34" charset="0"/>
              </a:rPr>
              <a:t> - Smaller text</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rgbClr val="DC143C"/>
                </a:solidFill>
                <a:effectLst/>
                <a:latin typeface="Consolas" panose="020B0609020204030204" pitchFamily="49" charset="0"/>
              </a:rPr>
              <a:t>&lt;del&gt;</a:t>
            </a:r>
            <a:r>
              <a:rPr kumimoji="0" lang="en-US" altLang="en-US" sz="2400" b="0" i="0" u="none" strike="noStrike" cap="none" normalizeH="0" baseline="0" dirty="0">
                <a:ln>
                  <a:noFill/>
                </a:ln>
                <a:solidFill>
                  <a:srgbClr val="000000"/>
                </a:solidFill>
                <a:effectLst/>
                <a:latin typeface="Verdana" panose="020B0604030504040204" pitchFamily="34" charset="0"/>
              </a:rPr>
              <a:t> - Deleted text</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rgbClr val="DC143C"/>
                </a:solidFill>
                <a:effectLst/>
                <a:latin typeface="Consolas" panose="020B0609020204030204" pitchFamily="49" charset="0"/>
              </a:rPr>
              <a:t>&lt;ins&gt;</a:t>
            </a:r>
            <a:r>
              <a:rPr kumimoji="0" lang="en-US" altLang="en-US" sz="2400" b="0" i="0" u="none" strike="noStrike" cap="none" normalizeH="0" baseline="0" dirty="0">
                <a:ln>
                  <a:noFill/>
                </a:ln>
                <a:solidFill>
                  <a:srgbClr val="000000"/>
                </a:solidFill>
                <a:effectLst/>
                <a:latin typeface="Verdana" panose="020B0604030504040204" pitchFamily="34" charset="0"/>
              </a:rPr>
              <a:t> - Inserted text</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rgbClr val="DC143C"/>
                </a:solidFill>
                <a:effectLst/>
                <a:latin typeface="Consolas" panose="020B0609020204030204" pitchFamily="49" charset="0"/>
              </a:rPr>
              <a:t>&lt;sub&gt;</a:t>
            </a:r>
            <a:r>
              <a:rPr kumimoji="0" lang="en-US" altLang="en-US" sz="2400" b="0" i="0" u="none" strike="noStrike" cap="none" normalizeH="0" baseline="0" dirty="0">
                <a:ln>
                  <a:noFill/>
                </a:ln>
                <a:solidFill>
                  <a:srgbClr val="000000"/>
                </a:solidFill>
                <a:effectLst/>
                <a:latin typeface="Verdana" panose="020B0604030504040204" pitchFamily="34" charset="0"/>
              </a:rPr>
              <a:t> - Subscript text</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rgbClr val="DC143C"/>
                </a:solidFill>
                <a:effectLst/>
                <a:latin typeface="Consolas" panose="020B0609020204030204" pitchFamily="49" charset="0"/>
              </a:rPr>
              <a:t>&lt;sup&gt;</a:t>
            </a:r>
            <a:r>
              <a:rPr kumimoji="0" lang="en-US" altLang="en-US" sz="2400" b="0" i="0" u="none" strike="noStrike" cap="none" normalizeH="0" baseline="0" dirty="0">
                <a:ln>
                  <a:noFill/>
                </a:ln>
                <a:solidFill>
                  <a:srgbClr val="000000"/>
                </a:solidFill>
                <a:effectLst/>
                <a:latin typeface="Verdana" panose="020B0604030504040204" pitchFamily="34" charset="0"/>
              </a:rPr>
              <a:t> - Superscript text</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Formatting Elements</a:t>
            </a:r>
            <a:endParaRPr lang="en-IN" dirty="0"/>
          </a:p>
        </p:txBody>
      </p:sp>
      <p:sp>
        <p:nvSpPr>
          <p:cNvPr id="3" name="Content Placeholder 2"/>
          <p:cNvSpPr>
            <a:spLocks noGrp="1"/>
          </p:cNvSpPr>
          <p:nvPr>
            <p:ph idx="1"/>
          </p:nvPr>
        </p:nvSpPr>
        <p:spPr/>
        <p:txBody>
          <a:bodyPr>
            <a:normAutofit fontScale="77500" lnSpcReduction="20000"/>
          </a:bodyPr>
          <a:lstStyle/>
          <a:p>
            <a:pPr marL="0" indent="0">
              <a:buNone/>
            </a:pPr>
            <a:r>
              <a:rPr lang="en-IN" dirty="0"/>
              <a:t>&lt;!DOCTYPE html&gt;</a:t>
            </a:r>
          </a:p>
          <a:p>
            <a:pPr marL="0" indent="0">
              <a:buNone/>
            </a:pPr>
            <a:r>
              <a:rPr lang="en-IN" dirty="0"/>
              <a:t>&lt;html&gt;</a:t>
            </a:r>
          </a:p>
          <a:p>
            <a:pPr marL="0" indent="0">
              <a:buNone/>
            </a:pPr>
            <a:r>
              <a:rPr lang="en-IN" dirty="0"/>
              <a:t>&lt;head&gt;</a:t>
            </a:r>
          </a:p>
          <a:p>
            <a:pPr marL="0" indent="0">
              <a:buNone/>
            </a:pPr>
            <a:r>
              <a:rPr lang="en-IN" dirty="0"/>
              <a:t>    &lt;title&gt;Text Formatting&lt;/title&gt;</a:t>
            </a:r>
          </a:p>
          <a:p>
            <a:pPr marL="0" indent="0">
              <a:buNone/>
            </a:pPr>
            <a:r>
              <a:rPr lang="en-IN" dirty="0"/>
              <a:t>&lt;/head&gt;</a:t>
            </a:r>
          </a:p>
          <a:p>
            <a:pPr marL="0" indent="0">
              <a:buNone/>
            </a:pPr>
            <a:r>
              <a:rPr lang="en-IN" dirty="0"/>
              <a:t>&lt;body&gt;</a:t>
            </a:r>
          </a:p>
          <a:p>
            <a:pPr marL="0" indent="0">
              <a:buNone/>
            </a:pPr>
            <a:r>
              <a:rPr lang="en-IN" dirty="0"/>
              <a:t>    &lt;p&gt;&lt;b&gt;Bold Text&lt;/b&gt;&lt;/p&gt;</a:t>
            </a:r>
          </a:p>
          <a:p>
            <a:pPr marL="0" indent="0">
              <a:buNone/>
            </a:pPr>
            <a:r>
              <a:rPr lang="en-IN" dirty="0"/>
              <a:t>    &lt;p&gt;&lt;</a:t>
            </a:r>
            <a:r>
              <a:rPr lang="en-IN" dirty="0" err="1"/>
              <a:t>i</a:t>
            </a:r>
            <a:r>
              <a:rPr lang="en-IN" dirty="0"/>
              <a:t>&gt;Italic Text&lt;/</a:t>
            </a:r>
            <a:r>
              <a:rPr lang="en-IN" dirty="0" err="1"/>
              <a:t>i</a:t>
            </a:r>
            <a:r>
              <a:rPr lang="en-IN" dirty="0"/>
              <a:t>&gt;&lt;/p&gt;</a:t>
            </a:r>
          </a:p>
          <a:p>
            <a:pPr marL="0" indent="0">
              <a:buNone/>
            </a:pPr>
            <a:r>
              <a:rPr lang="en-IN" dirty="0"/>
              <a:t>    &lt;p&gt;&lt;u&gt;Underlined Text&lt;/u&gt;&lt;/p&gt;</a:t>
            </a:r>
          </a:p>
          <a:p>
            <a:pPr marL="0" indent="0">
              <a:buNone/>
            </a:pPr>
            <a:r>
              <a:rPr lang="en-IN" dirty="0"/>
              <a:t>    &lt;p&gt;X&lt;sup&gt;2&lt;/sup&gt; + Y&lt;sub&gt;2&lt;/sub&gt; = Z&lt;sup&gt;2&lt;/sup&gt;&lt;/p&gt;</a:t>
            </a:r>
          </a:p>
          <a:p>
            <a:pPr marL="0" indent="0">
              <a:buNone/>
            </a:pPr>
            <a:r>
              <a:rPr lang="en-IN" dirty="0"/>
              <a:t>&lt;/body&gt;</a:t>
            </a:r>
          </a:p>
          <a:p>
            <a:pPr marL="0" indent="0">
              <a:buNone/>
            </a:pPr>
            <a:r>
              <a:rPr lang="en-IN" dirty="0"/>
              <a:t>&lt;/html&gt;</a:t>
            </a:r>
          </a:p>
          <a:p>
            <a:pPr marL="0" indent="0">
              <a:buNone/>
            </a:pPr>
            <a:endParaRPr lang="en-IN" dirty="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2439" y="71820"/>
            <a:ext cx="8143241" cy="4338832"/>
          </a:xfrm>
        </p:spPr>
        <p:txBody>
          <a:bodyPr>
            <a:noAutofit/>
          </a:bodyPr>
          <a:lstStyle/>
          <a:p>
            <a:pPr marL="0" indent="0">
              <a:buNone/>
            </a:pPr>
            <a:r>
              <a:rPr lang="en-IN" sz="2400" dirty="0"/>
              <a:t>&lt;!DOCTYPE html&gt;</a:t>
            </a:r>
          </a:p>
          <a:p>
            <a:pPr marL="0" indent="0">
              <a:buNone/>
            </a:pPr>
            <a:r>
              <a:rPr lang="en-IN" sz="2400" dirty="0"/>
              <a:t>&lt;html&gt;</a:t>
            </a:r>
          </a:p>
          <a:p>
            <a:pPr marL="0" indent="0">
              <a:buNone/>
            </a:pPr>
            <a:r>
              <a:rPr lang="en-IN" sz="2400" dirty="0"/>
              <a:t>&lt;body&gt;</a:t>
            </a:r>
          </a:p>
          <a:p>
            <a:pPr marL="0" indent="0">
              <a:buNone/>
            </a:pPr>
            <a:r>
              <a:rPr lang="en-IN" sz="2400" dirty="0"/>
              <a:t>&lt;h1&gt;The audio element&lt;/h1&gt;</a:t>
            </a:r>
          </a:p>
          <a:p>
            <a:pPr marL="0" indent="0">
              <a:buNone/>
            </a:pPr>
            <a:r>
              <a:rPr lang="en-IN" sz="2400" dirty="0"/>
              <a:t>&lt;p&gt;Click on the play button to play a sound:&lt;/p&gt;</a:t>
            </a:r>
          </a:p>
          <a:p>
            <a:pPr marL="0" indent="0">
              <a:buNone/>
            </a:pPr>
            <a:r>
              <a:rPr lang="en-IN" sz="2400" dirty="0"/>
              <a:t>&lt;audio controls&gt;</a:t>
            </a:r>
          </a:p>
          <a:p>
            <a:pPr marL="0" indent="0">
              <a:buNone/>
            </a:pPr>
            <a:r>
              <a:rPr lang="en-IN" sz="2400" dirty="0"/>
              <a:t>  &lt;source </a:t>
            </a:r>
            <a:r>
              <a:rPr lang="en-IN" sz="2400" dirty="0" err="1"/>
              <a:t>src</a:t>
            </a:r>
            <a:r>
              <a:rPr lang="en-IN" sz="2400" dirty="0"/>
              <a:t>="horse.ogg" type="audio/</a:t>
            </a:r>
            <a:r>
              <a:rPr lang="en-IN" sz="2400" dirty="0" err="1"/>
              <a:t>ogg</a:t>
            </a:r>
            <a:r>
              <a:rPr lang="en-IN" sz="2400" dirty="0"/>
              <a:t>"&gt;</a:t>
            </a:r>
          </a:p>
          <a:p>
            <a:pPr marL="0" indent="0">
              <a:buNone/>
            </a:pPr>
            <a:r>
              <a:rPr lang="en-IN" sz="2400" dirty="0"/>
              <a:t>  &lt;source </a:t>
            </a:r>
            <a:r>
              <a:rPr lang="en-IN" sz="2400" dirty="0" err="1"/>
              <a:t>src</a:t>
            </a:r>
            <a:r>
              <a:rPr lang="en-IN" sz="2400" dirty="0"/>
              <a:t>="horse.mp3" type="audio/mpeg"&gt;</a:t>
            </a:r>
          </a:p>
          <a:p>
            <a:pPr marL="0" indent="0">
              <a:buNone/>
            </a:pPr>
            <a:r>
              <a:rPr lang="en-IN" sz="2400" dirty="0"/>
              <a:t>  Your browser does not support the audio element.</a:t>
            </a:r>
          </a:p>
          <a:p>
            <a:pPr marL="0" indent="0">
              <a:buNone/>
            </a:pPr>
            <a:r>
              <a:rPr lang="en-IN" sz="2400" dirty="0"/>
              <a:t>&lt;/audio&gt;</a:t>
            </a:r>
          </a:p>
          <a:p>
            <a:pPr marL="0" indent="0">
              <a:buNone/>
            </a:pPr>
            <a:r>
              <a:rPr lang="en-IN" sz="2400" dirty="0"/>
              <a:t>&lt;/body&gt;</a:t>
            </a:r>
          </a:p>
          <a:p>
            <a:pPr marL="0" indent="0">
              <a:buNone/>
            </a:pPr>
            <a:r>
              <a:rPr lang="en-IN" sz="2400" dirty="0"/>
              <a:t>&lt;/html&gt;</a:t>
            </a:r>
          </a:p>
          <a:p>
            <a:endParaRPr lang="en-IN" sz="2400" dirty="0"/>
          </a:p>
        </p:txBody>
      </p:sp>
      <p:pic>
        <p:nvPicPr>
          <p:cNvPr id="5" name="Picture 4"/>
          <p:cNvPicPr>
            <a:picLocks noChangeAspect="1"/>
          </p:cNvPicPr>
          <p:nvPr/>
        </p:nvPicPr>
        <p:blipFill>
          <a:blip r:embed="rId2"/>
          <a:stretch>
            <a:fillRect/>
          </a:stretch>
        </p:blipFill>
        <p:spPr>
          <a:xfrm>
            <a:off x="8040744" y="71820"/>
            <a:ext cx="4151255" cy="2498660"/>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Embedding Video</a:t>
            </a:r>
            <a:endParaRPr lang="en-IN" dirty="0"/>
          </a:p>
        </p:txBody>
      </p:sp>
      <p:sp>
        <p:nvSpPr>
          <p:cNvPr id="3" name="Content Placeholder 2"/>
          <p:cNvSpPr>
            <a:spLocks noGrp="1"/>
          </p:cNvSpPr>
          <p:nvPr>
            <p:ph idx="1"/>
          </p:nvPr>
        </p:nvSpPr>
        <p:spPr/>
        <p:txBody>
          <a:bodyPr>
            <a:normAutofit fontScale="62500" lnSpcReduction="20000"/>
          </a:bodyPr>
          <a:lstStyle/>
          <a:p>
            <a:pPr marL="0" indent="0">
              <a:buNone/>
            </a:pPr>
            <a:r>
              <a:rPr lang="en-IN" dirty="0"/>
              <a:t>&lt;!DOCTYPE html&gt;</a:t>
            </a:r>
          </a:p>
          <a:p>
            <a:pPr marL="0" indent="0">
              <a:buNone/>
            </a:pPr>
            <a:r>
              <a:rPr lang="en-IN" dirty="0"/>
              <a:t>&lt;html&gt;</a:t>
            </a:r>
          </a:p>
          <a:p>
            <a:pPr marL="0" indent="0">
              <a:buNone/>
            </a:pPr>
            <a:r>
              <a:rPr lang="en-IN" dirty="0"/>
              <a:t>&lt;head&gt;</a:t>
            </a:r>
          </a:p>
          <a:p>
            <a:pPr marL="0" indent="0">
              <a:buNone/>
            </a:pPr>
            <a:r>
              <a:rPr lang="en-IN" dirty="0"/>
              <a:t>    &lt;title&gt;Video in HTML&lt;/title&gt;</a:t>
            </a:r>
          </a:p>
          <a:p>
            <a:pPr marL="0" indent="0">
              <a:buNone/>
            </a:pPr>
            <a:r>
              <a:rPr lang="en-IN" dirty="0"/>
              <a:t>&lt;/head&gt;</a:t>
            </a:r>
          </a:p>
          <a:p>
            <a:pPr marL="0" indent="0">
              <a:buNone/>
            </a:pPr>
            <a:r>
              <a:rPr lang="en-IN" dirty="0"/>
              <a:t>&lt;body&gt;</a:t>
            </a:r>
          </a:p>
          <a:p>
            <a:pPr marL="0" indent="0">
              <a:buNone/>
            </a:pPr>
            <a:r>
              <a:rPr lang="en-IN" dirty="0"/>
              <a:t>    &lt;h2&gt;Watch this Video&lt;/h2&gt;</a:t>
            </a:r>
          </a:p>
          <a:p>
            <a:pPr marL="0" indent="0">
              <a:buNone/>
            </a:pPr>
            <a:r>
              <a:rPr lang="en-IN" dirty="0"/>
              <a:t>    &lt;video width="400" controls&gt;</a:t>
            </a:r>
          </a:p>
          <a:p>
            <a:pPr marL="0" indent="0">
              <a:buNone/>
            </a:pPr>
            <a:r>
              <a:rPr lang="en-IN" dirty="0"/>
              <a:t>        &lt;source </a:t>
            </a:r>
            <a:r>
              <a:rPr lang="en-IN" dirty="0" err="1"/>
              <a:t>src</a:t>
            </a:r>
            <a:r>
              <a:rPr lang="en-IN" dirty="0"/>
              <a:t>="video.mp4" type="video/mp4"&gt;</a:t>
            </a:r>
          </a:p>
          <a:p>
            <a:pPr marL="0" indent="0">
              <a:buNone/>
            </a:pPr>
            <a:r>
              <a:rPr lang="en-IN" dirty="0"/>
              <a:t>        Your browser does not support the video tag.</a:t>
            </a:r>
          </a:p>
          <a:p>
            <a:pPr marL="0" indent="0">
              <a:buNone/>
            </a:pPr>
            <a:r>
              <a:rPr lang="en-IN" dirty="0"/>
              <a:t>    &lt;/video&gt;</a:t>
            </a:r>
          </a:p>
          <a:p>
            <a:pPr marL="0" indent="0">
              <a:buNone/>
            </a:pPr>
            <a:r>
              <a:rPr lang="en-IN" dirty="0"/>
              <a:t>&lt;/body&gt;</a:t>
            </a:r>
          </a:p>
          <a:p>
            <a:pPr marL="0" indent="0">
              <a:buNone/>
            </a:pPr>
            <a:r>
              <a:rPr lang="en-IN" dirty="0"/>
              <a:t>&lt;/html&gt;</a:t>
            </a:r>
          </a:p>
          <a:p>
            <a:pPr marL="0" indent="0">
              <a:buNone/>
            </a:pPr>
            <a:endParaRPr lang="en-IN" dirty="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 ordered List</a:t>
            </a:r>
          </a:p>
        </p:txBody>
      </p:sp>
      <p:sp>
        <p:nvSpPr>
          <p:cNvPr id="3" name="Content Placeholder 2"/>
          <p:cNvSpPr>
            <a:spLocks noGrp="1"/>
          </p:cNvSpPr>
          <p:nvPr>
            <p:ph idx="1"/>
          </p:nvPr>
        </p:nvSpPr>
        <p:spPr/>
        <p:txBody>
          <a:bodyPr>
            <a:normAutofit fontScale="55000" lnSpcReduction="20000"/>
          </a:bodyPr>
          <a:lstStyle/>
          <a:p>
            <a:pPr marL="0" indent="0">
              <a:buNone/>
            </a:pPr>
            <a:r>
              <a:rPr lang="en-IN" dirty="0"/>
              <a:t>&lt;!DOCTYPE html&gt;</a:t>
            </a:r>
          </a:p>
          <a:p>
            <a:pPr marL="0" indent="0">
              <a:buNone/>
            </a:pPr>
            <a:r>
              <a:rPr lang="en-IN" dirty="0"/>
              <a:t>&lt;html&gt;</a:t>
            </a:r>
          </a:p>
          <a:p>
            <a:pPr marL="0" indent="0">
              <a:buNone/>
            </a:pPr>
            <a:r>
              <a:rPr lang="en-IN" dirty="0"/>
              <a:t>&lt;body&gt;</a:t>
            </a:r>
          </a:p>
          <a:p>
            <a:pPr marL="0" indent="0">
              <a:buNone/>
            </a:pPr>
            <a:endParaRPr lang="en-IN" dirty="0"/>
          </a:p>
          <a:p>
            <a:pPr marL="0" indent="0">
              <a:buNone/>
            </a:pPr>
            <a:r>
              <a:rPr lang="en-IN" dirty="0"/>
              <a:t>&lt;h2&gt;An unordered HTML list&lt;/h2&gt;</a:t>
            </a:r>
          </a:p>
          <a:p>
            <a:pPr marL="0" indent="0">
              <a:buNone/>
            </a:pPr>
            <a:endParaRPr lang="en-IN" dirty="0"/>
          </a:p>
          <a:p>
            <a:pPr marL="0" indent="0">
              <a:buNone/>
            </a:pPr>
            <a:r>
              <a:rPr lang="en-IN" dirty="0"/>
              <a:t>&lt;</a:t>
            </a:r>
            <a:r>
              <a:rPr lang="en-IN" dirty="0" err="1"/>
              <a:t>ul</a:t>
            </a:r>
            <a:r>
              <a:rPr lang="en-IN" dirty="0"/>
              <a:t>&gt;</a:t>
            </a:r>
          </a:p>
          <a:p>
            <a:pPr marL="0" indent="0">
              <a:buNone/>
            </a:pPr>
            <a:r>
              <a:rPr lang="en-IN" dirty="0"/>
              <a:t>  &lt;li&gt;Coffee&lt;/li&gt;</a:t>
            </a:r>
          </a:p>
          <a:p>
            <a:pPr marL="0" indent="0">
              <a:buNone/>
            </a:pPr>
            <a:r>
              <a:rPr lang="en-IN" dirty="0"/>
              <a:t>  &lt;li&gt;Tea&lt;/li&gt;</a:t>
            </a:r>
          </a:p>
          <a:p>
            <a:pPr marL="0" indent="0">
              <a:buNone/>
            </a:pPr>
            <a:r>
              <a:rPr lang="en-IN" dirty="0"/>
              <a:t>  &lt;li&gt;Milk&lt;/li&gt;</a:t>
            </a:r>
          </a:p>
          <a:p>
            <a:pPr marL="0" indent="0">
              <a:buNone/>
            </a:pPr>
            <a:r>
              <a:rPr lang="en-IN" dirty="0"/>
              <a:t>&lt;/</a:t>
            </a:r>
            <a:r>
              <a:rPr lang="en-IN" dirty="0" err="1"/>
              <a:t>ul</a:t>
            </a:r>
            <a:r>
              <a:rPr lang="en-IN" dirty="0"/>
              <a:t>&gt;  </a:t>
            </a:r>
          </a:p>
          <a:p>
            <a:pPr marL="0" indent="0">
              <a:buNone/>
            </a:pPr>
            <a:endParaRPr lang="en-IN" dirty="0"/>
          </a:p>
          <a:p>
            <a:pPr marL="0" indent="0">
              <a:buNone/>
            </a:pPr>
            <a:r>
              <a:rPr lang="en-IN" dirty="0"/>
              <a:t>&lt;/body&gt;</a:t>
            </a:r>
          </a:p>
          <a:p>
            <a:pPr marL="0" indent="0">
              <a:buNone/>
            </a:pPr>
            <a:r>
              <a:rPr lang="en-IN" dirty="0"/>
              <a:t>&lt;/html&gt;</a:t>
            </a:r>
          </a:p>
          <a:p>
            <a:endParaRPr lang="en-IN" dirty="0"/>
          </a:p>
          <a:p>
            <a:endParaRPr lang="en-IN" dirty="0"/>
          </a:p>
        </p:txBody>
      </p:sp>
      <p:pic>
        <p:nvPicPr>
          <p:cNvPr id="5" name="Picture 4"/>
          <p:cNvPicPr>
            <a:picLocks noChangeAspect="1"/>
          </p:cNvPicPr>
          <p:nvPr/>
        </p:nvPicPr>
        <p:blipFill>
          <a:blip r:embed="rId2"/>
          <a:stretch>
            <a:fillRect/>
          </a:stretch>
        </p:blipFill>
        <p:spPr>
          <a:xfrm>
            <a:off x="7302372" y="2228542"/>
            <a:ext cx="3558848" cy="1691787"/>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Ordered List</a:t>
            </a:r>
          </a:p>
        </p:txBody>
      </p:sp>
      <p:sp>
        <p:nvSpPr>
          <p:cNvPr id="3" name="Content Placeholder 2"/>
          <p:cNvSpPr>
            <a:spLocks noGrp="1"/>
          </p:cNvSpPr>
          <p:nvPr>
            <p:ph idx="1"/>
          </p:nvPr>
        </p:nvSpPr>
        <p:spPr/>
        <p:txBody>
          <a:bodyPr>
            <a:normAutofit fontScale="55000" lnSpcReduction="20000"/>
          </a:bodyPr>
          <a:lstStyle/>
          <a:p>
            <a:pPr marL="0" indent="0">
              <a:buNone/>
            </a:pPr>
            <a:r>
              <a:rPr lang="en-IN" dirty="0"/>
              <a:t>&lt;!DOCTYPE html&gt;</a:t>
            </a:r>
          </a:p>
          <a:p>
            <a:pPr marL="0" indent="0">
              <a:buNone/>
            </a:pPr>
            <a:r>
              <a:rPr lang="en-IN" dirty="0"/>
              <a:t>&lt;html&gt;</a:t>
            </a:r>
          </a:p>
          <a:p>
            <a:pPr marL="0" indent="0">
              <a:buNone/>
            </a:pPr>
            <a:r>
              <a:rPr lang="en-IN" dirty="0"/>
              <a:t>&lt;body&gt;</a:t>
            </a:r>
          </a:p>
          <a:p>
            <a:pPr marL="0" indent="0">
              <a:buNone/>
            </a:pPr>
            <a:endParaRPr lang="en-IN" dirty="0"/>
          </a:p>
          <a:p>
            <a:pPr marL="0" indent="0">
              <a:buNone/>
            </a:pPr>
            <a:r>
              <a:rPr lang="en-IN" dirty="0"/>
              <a:t>&lt;h2&gt;An ordered HTML list&lt;/h2&gt;</a:t>
            </a:r>
          </a:p>
          <a:p>
            <a:pPr marL="0" indent="0">
              <a:buNone/>
            </a:pPr>
            <a:endParaRPr lang="en-IN" dirty="0"/>
          </a:p>
          <a:p>
            <a:pPr marL="0" indent="0">
              <a:buNone/>
            </a:pPr>
            <a:r>
              <a:rPr lang="en-IN" dirty="0"/>
              <a:t>&lt;</a:t>
            </a:r>
            <a:r>
              <a:rPr lang="en-IN" dirty="0" err="1"/>
              <a:t>ol</a:t>
            </a:r>
            <a:r>
              <a:rPr lang="en-IN" dirty="0"/>
              <a:t>&gt;</a:t>
            </a:r>
          </a:p>
          <a:p>
            <a:pPr marL="0" indent="0">
              <a:buNone/>
            </a:pPr>
            <a:r>
              <a:rPr lang="en-IN" dirty="0"/>
              <a:t>  &lt;li&gt;Coffee&lt;/li&gt;</a:t>
            </a:r>
          </a:p>
          <a:p>
            <a:pPr marL="0" indent="0">
              <a:buNone/>
            </a:pPr>
            <a:r>
              <a:rPr lang="en-IN" dirty="0"/>
              <a:t>  &lt;li&gt;Tea&lt;/li&gt;</a:t>
            </a:r>
          </a:p>
          <a:p>
            <a:pPr marL="0" indent="0">
              <a:buNone/>
            </a:pPr>
            <a:r>
              <a:rPr lang="en-IN" dirty="0"/>
              <a:t>  &lt;li&gt;Milk&lt;/li&gt;</a:t>
            </a:r>
          </a:p>
          <a:p>
            <a:pPr marL="0" indent="0">
              <a:buNone/>
            </a:pPr>
            <a:r>
              <a:rPr lang="en-IN" dirty="0"/>
              <a:t>&lt;/</a:t>
            </a:r>
            <a:r>
              <a:rPr lang="en-IN" dirty="0" err="1"/>
              <a:t>ol</a:t>
            </a:r>
            <a:r>
              <a:rPr lang="en-IN" dirty="0"/>
              <a:t>&gt;  </a:t>
            </a:r>
          </a:p>
          <a:p>
            <a:pPr marL="0" indent="0">
              <a:buNone/>
            </a:pPr>
            <a:endParaRPr lang="en-IN" dirty="0"/>
          </a:p>
          <a:p>
            <a:pPr marL="0" indent="0">
              <a:buNone/>
            </a:pPr>
            <a:r>
              <a:rPr lang="en-IN" dirty="0"/>
              <a:t>&lt;/body&gt;</a:t>
            </a:r>
          </a:p>
          <a:p>
            <a:pPr marL="0" indent="0">
              <a:buNone/>
            </a:pPr>
            <a:r>
              <a:rPr lang="en-IN" dirty="0"/>
              <a:t>&lt;/html&gt;</a:t>
            </a:r>
          </a:p>
          <a:p>
            <a:endParaRPr lang="en-IN" dirty="0"/>
          </a:p>
          <a:p>
            <a:endParaRPr lang="en-IN" dirty="0"/>
          </a:p>
        </p:txBody>
      </p:sp>
      <p:pic>
        <p:nvPicPr>
          <p:cNvPr id="5" name="Picture 4"/>
          <p:cNvPicPr>
            <a:picLocks noChangeAspect="1"/>
          </p:cNvPicPr>
          <p:nvPr/>
        </p:nvPicPr>
        <p:blipFill>
          <a:blip r:embed="rId2"/>
          <a:stretch>
            <a:fillRect/>
          </a:stretch>
        </p:blipFill>
        <p:spPr>
          <a:xfrm>
            <a:off x="7749109" y="2338949"/>
            <a:ext cx="2758679" cy="1844200"/>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Detailed List</a:t>
            </a:r>
          </a:p>
        </p:txBody>
      </p:sp>
      <p:sp>
        <p:nvSpPr>
          <p:cNvPr id="4" name="Content Placeholder 2"/>
          <p:cNvSpPr>
            <a:spLocks noGrp="1"/>
          </p:cNvSpPr>
          <p:nvPr>
            <p:ph idx="1"/>
          </p:nvPr>
        </p:nvSpPr>
        <p:spPr>
          <a:xfrm>
            <a:off x="838200" y="1825625"/>
            <a:ext cx="10515600" cy="4351338"/>
          </a:xfrm>
        </p:spPr>
        <p:txBody>
          <a:bodyPr>
            <a:normAutofit fontScale="55000" lnSpcReduction="20000"/>
          </a:bodyPr>
          <a:lstStyle/>
          <a:p>
            <a:pPr marL="0" indent="0">
              <a:buNone/>
            </a:pPr>
            <a:r>
              <a:rPr lang="en-IN" dirty="0"/>
              <a:t>&lt;!DOCTYPE html&gt;</a:t>
            </a:r>
          </a:p>
          <a:p>
            <a:pPr marL="0" indent="0">
              <a:buNone/>
            </a:pPr>
            <a:r>
              <a:rPr lang="en-IN" dirty="0"/>
              <a:t>&lt;html&gt;</a:t>
            </a:r>
          </a:p>
          <a:p>
            <a:pPr marL="0" indent="0">
              <a:buNone/>
            </a:pPr>
            <a:r>
              <a:rPr lang="en-IN" dirty="0"/>
              <a:t>&lt;body&gt;</a:t>
            </a:r>
          </a:p>
          <a:p>
            <a:pPr marL="0" indent="0">
              <a:buNone/>
            </a:pPr>
            <a:endParaRPr lang="en-IN" dirty="0"/>
          </a:p>
          <a:p>
            <a:pPr marL="0" indent="0">
              <a:buNone/>
            </a:pPr>
            <a:r>
              <a:rPr lang="en-IN" dirty="0"/>
              <a:t>&lt;h2&gt;A Description List&lt;/h2&gt;</a:t>
            </a:r>
          </a:p>
          <a:p>
            <a:pPr marL="0" indent="0">
              <a:buNone/>
            </a:pPr>
            <a:endParaRPr lang="en-IN" dirty="0"/>
          </a:p>
          <a:p>
            <a:pPr marL="0" indent="0">
              <a:buNone/>
            </a:pPr>
            <a:r>
              <a:rPr lang="en-IN" dirty="0"/>
              <a:t>&lt;dl&gt;</a:t>
            </a:r>
          </a:p>
          <a:p>
            <a:pPr marL="0" indent="0">
              <a:buNone/>
            </a:pPr>
            <a:r>
              <a:rPr lang="en-IN" dirty="0"/>
              <a:t>  &lt;dt&gt;Coffee&lt;/dt&gt;</a:t>
            </a:r>
          </a:p>
          <a:p>
            <a:pPr marL="0" indent="0">
              <a:buNone/>
            </a:pPr>
            <a:r>
              <a:rPr lang="en-IN" dirty="0"/>
              <a:t>  &lt;dd&gt;- black hot drink&lt;/dd&gt;</a:t>
            </a:r>
          </a:p>
          <a:p>
            <a:pPr marL="0" indent="0">
              <a:buNone/>
            </a:pPr>
            <a:r>
              <a:rPr lang="en-IN" dirty="0"/>
              <a:t>  &lt;dt&gt;Milk&lt;/dt&gt;</a:t>
            </a:r>
          </a:p>
          <a:p>
            <a:pPr marL="0" indent="0">
              <a:buNone/>
            </a:pPr>
            <a:r>
              <a:rPr lang="en-IN" dirty="0"/>
              <a:t>  &lt;dd&gt;- white cold drink&lt;/dd&gt;</a:t>
            </a:r>
          </a:p>
          <a:p>
            <a:pPr marL="0" indent="0">
              <a:buNone/>
            </a:pPr>
            <a:r>
              <a:rPr lang="en-IN" dirty="0"/>
              <a:t>&lt;/dl&gt;</a:t>
            </a:r>
          </a:p>
          <a:p>
            <a:pPr marL="0" indent="0">
              <a:buNone/>
            </a:pPr>
            <a:endParaRPr lang="en-IN" dirty="0"/>
          </a:p>
          <a:p>
            <a:pPr marL="0" indent="0">
              <a:buNone/>
            </a:pPr>
            <a:r>
              <a:rPr lang="en-IN" dirty="0"/>
              <a:t>&lt;/body&gt;</a:t>
            </a:r>
          </a:p>
          <a:p>
            <a:pPr marL="0" indent="0">
              <a:buNone/>
            </a:pPr>
            <a:r>
              <a:rPr lang="en-IN" dirty="0"/>
              <a:t>&lt;/html&gt;</a:t>
            </a:r>
          </a:p>
        </p:txBody>
      </p:sp>
      <p:pic>
        <p:nvPicPr>
          <p:cNvPr id="6" name="Picture 5"/>
          <p:cNvPicPr>
            <a:picLocks noChangeAspect="1"/>
          </p:cNvPicPr>
          <p:nvPr/>
        </p:nvPicPr>
        <p:blipFill>
          <a:blip r:embed="rId2"/>
          <a:stretch>
            <a:fillRect/>
          </a:stretch>
        </p:blipFill>
        <p:spPr>
          <a:xfrm>
            <a:off x="7756824" y="1928308"/>
            <a:ext cx="2370025" cy="2217612"/>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AMITY UNIVERSITY   H1</a:t>
            </a:r>
            <a:br>
              <a:rPr lang="en-US" dirty="0"/>
            </a:br>
            <a:r>
              <a:rPr lang="en-US" sz="3100" dirty="0"/>
              <a:t>BENGALURU   H2</a:t>
            </a:r>
            <a:r>
              <a:rPr lang="en-US" dirty="0"/>
              <a:t/>
            </a:r>
            <a:br>
              <a:rPr lang="en-US" dirty="0"/>
            </a:br>
            <a:r>
              <a:rPr lang="en-US" sz="2000" dirty="0"/>
              <a:t>DEVANHALLI     H2</a:t>
            </a:r>
            <a:endParaRPr lang="en-IN" sz="2000" dirty="0"/>
          </a:p>
        </p:txBody>
      </p:sp>
      <p:sp>
        <p:nvSpPr>
          <p:cNvPr id="3" name="Content Placeholder 2"/>
          <p:cNvSpPr>
            <a:spLocks noGrp="1"/>
          </p:cNvSpPr>
          <p:nvPr>
            <p:ph idx="1"/>
          </p:nvPr>
        </p:nvSpPr>
        <p:spPr/>
        <p:txBody>
          <a:bodyPr/>
          <a:lstStyle/>
          <a:p>
            <a:r>
              <a:rPr lang="en-US" dirty="0"/>
              <a:t>REPORT BY   H4</a:t>
            </a:r>
          </a:p>
          <a:p>
            <a:r>
              <a:rPr lang="en-US" dirty="0"/>
              <a:t>DATE              H4</a:t>
            </a:r>
          </a:p>
          <a:p>
            <a:r>
              <a:rPr lang="en-US" dirty="0"/>
              <a:t>TIME              H5</a:t>
            </a:r>
          </a:p>
          <a:p>
            <a:r>
              <a:rPr lang="en-US" dirty="0"/>
              <a:t>VENUE          H5</a:t>
            </a:r>
          </a:p>
          <a:p>
            <a:r>
              <a:rPr lang="en-US" dirty="0"/>
              <a:t>LIST OF GUEST OL</a:t>
            </a:r>
          </a:p>
          <a:p>
            <a:r>
              <a:rPr lang="en-US" dirty="0"/>
              <a:t>KEY TAKE AWAYS UL</a:t>
            </a:r>
          </a:p>
          <a:p>
            <a:r>
              <a:rPr lang="en-US" dirty="0"/>
              <a:t> CONCLUSION  P</a:t>
            </a:r>
            <a:endParaRPr lang="en-IN" dirty="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Form</a:t>
            </a:r>
            <a:endParaRPr lang="en-IN" dirty="0"/>
          </a:p>
        </p:txBody>
      </p:sp>
      <p:sp>
        <p:nvSpPr>
          <p:cNvPr id="3" name="Content Placeholder 2"/>
          <p:cNvSpPr>
            <a:spLocks noGrp="1"/>
          </p:cNvSpPr>
          <p:nvPr>
            <p:ph idx="1"/>
          </p:nvPr>
        </p:nvSpPr>
        <p:spPr>
          <a:xfrm>
            <a:off x="838200" y="1280160"/>
            <a:ext cx="10515600" cy="4896803"/>
          </a:xfrm>
        </p:spPr>
        <p:txBody>
          <a:bodyPr>
            <a:normAutofit fontScale="62500" lnSpcReduction="20000"/>
          </a:bodyPr>
          <a:lstStyle/>
          <a:p>
            <a:pPr marL="0" indent="0">
              <a:buNone/>
            </a:pPr>
            <a:r>
              <a:rPr lang="en-IN" dirty="0"/>
              <a:t>&lt;!DOCTYPE html&gt;</a:t>
            </a:r>
          </a:p>
          <a:p>
            <a:pPr marL="0" indent="0">
              <a:buNone/>
            </a:pPr>
            <a:r>
              <a:rPr lang="en-IN" dirty="0"/>
              <a:t>&lt;html&gt;</a:t>
            </a:r>
          </a:p>
          <a:p>
            <a:pPr marL="0" indent="0">
              <a:buNone/>
            </a:pPr>
            <a:r>
              <a:rPr lang="en-IN" dirty="0"/>
              <a:t>&lt;head&gt;</a:t>
            </a:r>
          </a:p>
          <a:p>
            <a:pPr marL="0" indent="0">
              <a:buNone/>
            </a:pPr>
            <a:r>
              <a:rPr lang="en-IN" dirty="0"/>
              <a:t>    &lt;title&gt;HTML Form&lt;/title&gt;</a:t>
            </a:r>
          </a:p>
          <a:p>
            <a:pPr marL="0" indent="0">
              <a:buNone/>
            </a:pPr>
            <a:r>
              <a:rPr lang="en-IN" dirty="0"/>
              <a:t>&lt;/head&gt;</a:t>
            </a:r>
          </a:p>
          <a:p>
            <a:pPr marL="0" indent="0">
              <a:buNone/>
            </a:pPr>
            <a:r>
              <a:rPr lang="en-IN" dirty="0"/>
              <a:t>&lt;body&gt;</a:t>
            </a:r>
          </a:p>
          <a:p>
            <a:pPr marL="0" indent="0">
              <a:buNone/>
            </a:pPr>
            <a:r>
              <a:rPr lang="en-IN" dirty="0"/>
              <a:t>    &lt;form&gt;</a:t>
            </a:r>
          </a:p>
          <a:p>
            <a:pPr marL="0" indent="0">
              <a:buNone/>
            </a:pPr>
            <a:r>
              <a:rPr lang="en-IN" dirty="0"/>
              <a:t>        &lt;label&gt;Name:&lt;/label&gt;</a:t>
            </a:r>
          </a:p>
          <a:p>
            <a:pPr marL="0" indent="0">
              <a:buNone/>
            </a:pPr>
            <a:r>
              <a:rPr lang="en-IN" dirty="0"/>
              <a:t>        &lt;input </a:t>
            </a:r>
            <a:r>
              <a:rPr lang="en-IN" dirty="0">
                <a:solidFill>
                  <a:srgbClr val="FF0000"/>
                </a:solidFill>
              </a:rPr>
              <a:t>type="text" </a:t>
            </a:r>
            <a:r>
              <a:rPr lang="en-IN" dirty="0"/>
              <a:t>name="name"&gt;&lt;</a:t>
            </a:r>
            <a:r>
              <a:rPr lang="en-IN" dirty="0" err="1"/>
              <a:t>br</a:t>
            </a:r>
            <a:r>
              <a:rPr lang="en-IN" dirty="0"/>
              <a:t>&gt;&lt;</a:t>
            </a:r>
            <a:r>
              <a:rPr lang="en-IN" dirty="0" err="1"/>
              <a:t>br</a:t>
            </a:r>
            <a:r>
              <a:rPr lang="en-IN" dirty="0"/>
              <a:t>&gt;</a:t>
            </a:r>
          </a:p>
          <a:p>
            <a:pPr marL="0" indent="0">
              <a:buNone/>
            </a:pPr>
            <a:r>
              <a:rPr lang="en-IN" dirty="0"/>
              <a:t>        &lt;label&gt;Email:&lt;/label&gt;</a:t>
            </a:r>
          </a:p>
          <a:p>
            <a:pPr marL="0" indent="0">
              <a:buNone/>
            </a:pPr>
            <a:r>
              <a:rPr lang="en-IN" dirty="0"/>
              <a:t>        &lt;input </a:t>
            </a:r>
            <a:r>
              <a:rPr lang="en-IN" dirty="0">
                <a:solidFill>
                  <a:srgbClr val="FF0000"/>
                </a:solidFill>
              </a:rPr>
              <a:t>type="email" </a:t>
            </a:r>
            <a:r>
              <a:rPr lang="en-IN" dirty="0"/>
              <a:t>name="email"&gt;&lt;</a:t>
            </a:r>
            <a:r>
              <a:rPr lang="en-IN" dirty="0" err="1"/>
              <a:t>br</a:t>
            </a:r>
            <a:r>
              <a:rPr lang="en-IN" dirty="0"/>
              <a:t>&gt;&lt;</a:t>
            </a:r>
            <a:r>
              <a:rPr lang="en-IN" dirty="0" err="1"/>
              <a:t>br</a:t>
            </a:r>
            <a:r>
              <a:rPr lang="en-IN" dirty="0"/>
              <a:t>&gt;</a:t>
            </a:r>
          </a:p>
          <a:p>
            <a:pPr marL="0" indent="0">
              <a:buNone/>
            </a:pPr>
            <a:r>
              <a:rPr lang="en-IN" dirty="0"/>
              <a:t>        &lt;input </a:t>
            </a:r>
            <a:r>
              <a:rPr lang="en-IN" dirty="0">
                <a:solidFill>
                  <a:srgbClr val="FF0000"/>
                </a:solidFill>
              </a:rPr>
              <a:t>type="submit" </a:t>
            </a:r>
            <a:r>
              <a:rPr lang="en-IN" dirty="0"/>
              <a:t>value="Submit"&gt;</a:t>
            </a:r>
          </a:p>
          <a:p>
            <a:pPr marL="0" indent="0">
              <a:buNone/>
            </a:pPr>
            <a:r>
              <a:rPr lang="en-IN" dirty="0"/>
              <a:t>    &lt;/form&gt;</a:t>
            </a:r>
          </a:p>
          <a:p>
            <a:pPr marL="0" indent="0">
              <a:buNone/>
            </a:pPr>
            <a:r>
              <a:rPr lang="en-IN" dirty="0"/>
              <a:t>&lt;/body&gt;</a:t>
            </a:r>
          </a:p>
          <a:p>
            <a:pPr marL="0" indent="0">
              <a:buNone/>
            </a:pPr>
            <a:r>
              <a:rPr lang="en-IN" dirty="0"/>
              <a:t>&lt;/html&gt;</a:t>
            </a:r>
          </a:p>
          <a:p>
            <a:pPr marL="0" indent="0">
              <a:buNone/>
            </a:pPr>
            <a:endParaRPr lang="en-IN" dirty="0"/>
          </a:p>
        </p:txBody>
      </p:sp>
      <p:pic>
        <p:nvPicPr>
          <p:cNvPr id="5" name="Picture 4">
            <a:extLst>
              <a:ext uri="{FF2B5EF4-FFF2-40B4-BE49-F238E27FC236}">
                <a16:creationId xmlns="" xmlns:a16="http://schemas.microsoft.com/office/drawing/2014/main" id="{172B149D-49BC-254F-6529-E8C10BA5C396}"/>
              </a:ext>
            </a:extLst>
          </p:cNvPr>
          <p:cNvPicPr>
            <a:picLocks noChangeAspect="1"/>
          </p:cNvPicPr>
          <p:nvPr/>
        </p:nvPicPr>
        <p:blipFill>
          <a:blip r:embed="rId2"/>
          <a:srcRect r="66489" b="58298"/>
          <a:stretch>
            <a:fillRect/>
          </a:stretch>
        </p:blipFill>
        <p:spPr>
          <a:xfrm>
            <a:off x="8106383" y="0"/>
            <a:ext cx="4085617" cy="2859932"/>
          </a:xfrm>
          <a:prstGeom prst="rect">
            <a:avLst/>
          </a:prstGeom>
        </p:spPr>
      </p:pic>
      <p:pic>
        <p:nvPicPr>
          <p:cNvPr id="7" name="Picture 6">
            <a:extLst>
              <a:ext uri="{FF2B5EF4-FFF2-40B4-BE49-F238E27FC236}">
                <a16:creationId xmlns="" xmlns:a16="http://schemas.microsoft.com/office/drawing/2014/main" id="{973D8CC7-CDA4-94BE-1874-76D70B5A8C51}"/>
              </a:ext>
            </a:extLst>
          </p:cNvPr>
          <p:cNvPicPr>
            <a:picLocks noChangeAspect="1"/>
          </p:cNvPicPr>
          <p:nvPr/>
        </p:nvPicPr>
        <p:blipFill>
          <a:blip r:embed="rId3"/>
          <a:srcRect r="47181" b="52482"/>
          <a:stretch>
            <a:fillRect/>
          </a:stretch>
        </p:blipFill>
        <p:spPr>
          <a:xfrm>
            <a:off x="6152368" y="2859932"/>
            <a:ext cx="6039632" cy="3056309"/>
          </a:xfrm>
          <a:prstGeom prst="rect">
            <a:avLst/>
          </a:prstGeom>
        </p:spPr>
      </p:pic>
    </p:spTree>
    <p:extLst>
      <p:ext uri="{BB962C8B-B14F-4D97-AF65-F5344CB8AC3E}">
        <p14:creationId xmlns:p14="http://schemas.microsoft.com/office/powerpoint/2010/main" val="2236660818"/>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 xmlns:a16="http://schemas.microsoft.com/office/drawing/2014/main" id="{EF1819CA-36DD-A683-DB05-665D04273B4C}"/>
              </a:ext>
            </a:extLst>
          </p:cNvPr>
          <p:cNvSpPr txBox="1"/>
          <p:nvPr/>
        </p:nvSpPr>
        <p:spPr>
          <a:xfrm>
            <a:off x="450715" y="906110"/>
            <a:ext cx="11741285" cy="6001643"/>
          </a:xfrm>
          <a:prstGeom prst="rect">
            <a:avLst/>
          </a:prstGeom>
          <a:noFill/>
        </p:spPr>
        <p:txBody>
          <a:bodyPr wrap="square">
            <a:spAutoFit/>
          </a:bodyPr>
          <a:lstStyle/>
          <a:p>
            <a:r>
              <a:rPr lang="en-IN" sz="2400" dirty="0"/>
              <a:t> &lt;input </a:t>
            </a:r>
            <a:r>
              <a:rPr lang="en-IN" sz="2400" dirty="0">
                <a:solidFill>
                  <a:srgbClr val="FF0000"/>
                </a:solidFill>
              </a:rPr>
              <a:t>type="password" </a:t>
            </a:r>
            <a:r>
              <a:rPr lang="en-IN" sz="2400" dirty="0"/>
              <a:t>id="password" name="password" required&gt;&lt;</a:t>
            </a:r>
            <a:r>
              <a:rPr lang="en-IN" sz="2400" dirty="0" err="1"/>
              <a:t>br</a:t>
            </a:r>
            <a:r>
              <a:rPr lang="en-IN" sz="2400" dirty="0"/>
              <a:t>&gt;&lt;</a:t>
            </a:r>
            <a:r>
              <a:rPr lang="en-IN" sz="2400" dirty="0" err="1"/>
              <a:t>br</a:t>
            </a:r>
            <a:r>
              <a:rPr lang="en-IN" sz="2400" dirty="0"/>
              <a:t>&gt;</a:t>
            </a:r>
          </a:p>
          <a:p>
            <a:endParaRPr lang="en-IN" sz="2400" dirty="0"/>
          </a:p>
          <a:p>
            <a:r>
              <a:rPr lang="en-IN" sz="2400" dirty="0"/>
              <a:t>        &lt;label&gt;Gender:&lt;/label&gt;&lt;</a:t>
            </a:r>
            <a:r>
              <a:rPr lang="en-IN" sz="2400" dirty="0" err="1"/>
              <a:t>br</a:t>
            </a:r>
            <a:r>
              <a:rPr lang="en-IN" sz="2400" dirty="0"/>
              <a:t>&gt;</a:t>
            </a:r>
          </a:p>
          <a:p>
            <a:r>
              <a:rPr lang="en-IN" sz="2400" dirty="0"/>
              <a:t>        &lt;input </a:t>
            </a:r>
            <a:r>
              <a:rPr lang="en-IN" sz="2400" dirty="0">
                <a:solidFill>
                  <a:srgbClr val="FF0000"/>
                </a:solidFill>
              </a:rPr>
              <a:t>type="radio" </a:t>
            </a:r>
            <a:r>
              <a:rPr lang="en-IN" sz="2400" dirty="0"/>
              <a:t>id="male" </a:t>
            </a:r>
            <a:r>
              <a:rPr lang="en-IN" sz="2400" dirty="0">
                <a:highlight>
                  <a:srgbClr val="FFFF00"/>
                </a:highlight>
              </a:rPr>
              <a:t>name="gender" </a:t>
            </a:r>
            <a:r>
              <a:rPr lang="en-IN" sz="2400" dirty="0"/>
              <a:t>value="Male"&gt;</a:t>
            </a:r>
          </a:p>
          <a:p>
            <a:r>
              <a:rPr lang="en-IN" sz="2400" dirty="0"/>
              <a:t>        &lt;label for="male"&gt;Male&lt;/label&gt;</a:t>
            </a:r>
          </a:p>
          <a:p>
            <a:r>
              <a:rPr lang="en-IN" sz="2400" dirty="0"/>
              <a:t>        &lt;input type="radio" id="female" </a:t>
            </a:r>
            <a:r>
              <a:rPr lang="en-IN" sz="2400" dirty="0">
                <a:highlight>
                  <a:srgbClr val="FFFF00"/>
                </a:highlight>
              </a:rPr>
              <a:t>name="gender" </a:t>
            </a:r>
            <a:r>
              <a:rPr lang="en-IN" sz="2400" dirty="0"/>
              <a:t>value="Female"&gt;</a:t>
            </a:r>
          </a:p>
          <a:p>
            <a:r>
              <a:rPr lang="en-IN" sz="2400" dirty="0"/>
              <a:t>        &lt;label for="female"&gt;Female&lt;/label&gt;</a:t>
            </a:r>
          </a:p>
          <a:p>
            <a:r>
              <a:rPr lang="en-IN" sz="2400" dirty="0"/>
              <a:t>        &lt;input type="radio" id="other" </a:t>
            </a:r>
            <a:r>
              <a:rPr lang="en-IN" sz="2400" dirty="0">
                <a:highlight>
                  <a:srgbClr val="FFFF00"/>
                </a:highlight>
              </a:rPr>
              <a:t>name="gender" </a:t>
            </a:r>
            <a:r>
              <a:rPr lang="en-IN" sz="2400" dirty="0"/>
              <a:t>value="Other"&gt;</a:t>
            </a:r>
          </a:p>
          <a:p>
            <a:r>
              <a:rPr lang="en-IN" sz="2400" dirty="0"/>
              <a:t>        &lt;label for="other"&gt;Other&lt;/label&gt;&lt;</a:t>
            </a:r>
            <a:r>
              <a:rPr lang="en-IN" sz="2400" dirty="0" err="1"/>
              <a:t>br</a:t>
            </a:r>
            <a:r>
              <a:rPr lang="en-IN" sz="2400" dirty="0"/>
              <a:t>&gt;&lt;</a:t>
            </a:r>
            <a:r>
              <a:rPr lang="en-IN" sz="2400" dirty="0" err="1"/>
              <a:t>br</a:t>
            </a:r>
            <a:r>
              <a:rPr lang="en-IN" sz="2400" dirty="0"/>
              <a:t>&gt;</a:t>
            </a:r>
          </a:p>
          <a:p>
            <a:endParaRPr lang="en-IN" sz="2400" dirty="0"/>
          </a:p>
          <a:p>
            <a:r>
              <a:rPr lang="en-IN" sz="2400" dirty="0"/>
              <a:t>        &lt;label&gt;Hobbies:&lt;/label&gt;&lt;</a:t>
            </a:r>
            <a:r>
              <a:rPr lang="en-IN" sz="2400" dirty="0" err="1"/>
              <a:t>br</a:t>
            </a:r>
            <a:r>
              <a:rPr lang="en-IN" sz="2400" dirty="0"/>
              <a:t>&gt;</a:t>
            </a:r>
          </a:p>
          <a:p>
            <a:r>
              <a:rPr lang="en-IN" sz="2400" dirty="0"/>
              <a:t>        &lt;input </a:t>
            </a:r>
            <a:r>
              <a:rPr lang="en-IN" sz="2400" dirty="0">
                <a:solidFill>
                  <a:srgbClr val="FF0000"/>
                </a:solidFill>
              </a:rPr>
              <a:t>type="checkbox" </a:t>
            </a:r>
            <a:r>
              <a:rPr lang="en-IN" sz="2400" dirty="0">
                <a:highlight>
                  <a:srgbClr val="FFFF00"/>
                </a:highlight>
              </a:rPr>
              <a:t>name="hobbies" </a:t>
            </a:r>
            <a:r>
              <a:rPr lang="en-IN" sz="2400" dirty="0"/>
              <a:t>value="Reading"&gt; Reading</a:t>
            </a:r>
          </a:p>
          <a:p>
            <a:r>
              <a:rPr lang="en-IN" sz="2400" dirty="0"/>
              <a:t>        &lt;input type="checkbox" </a:t>
            </a:r>
            <a:r>
              <a:rPr lang="en-IN" sz="2400" dirty="0">
                <a:highlight>
                  <a:srgbClr val="FFFF00"/>
                </a:highlight>
              </a:rPr>
              <a:t>name="hobbies" </a:t>
            </a:r>
            <a:r>
              <a:rPr lang="en-IN" sz="2400" dirty="0"/>
              <a:t>value="Music"&gt; Music</a:t>
            </a:r>
          </a:p>
          <a:p>
            <a:r>
              <a:rPr lang="en-IN" sz="2400" dirty="0"/>
              <a:t>        &lt;input type="checkbox" </a:t>
            </a:r>
            <a:r>
              <a:rPr lang="en-IN" sz="2400" dirty="0">
                <a:highlight>
                  <a:srgbClr val="FFFF00"/>
                </a:highlight>
              </a:rPr>
              <a:t>name="hobbies" </a:t>
            </a:r>
            <a:r>
              <a:rPr lang="en-IN" sz="2400" dirty="0"/>
              <a:t>value="Sports"&gt; Sports</a:t>
            </a:r>
          </a:p>
          <a:p>
            <a:r>
              <a:rPr lang="en-IN" sz="2400" dirty="0"/>
              <a:t>        &lt;input type="checkbox" </a:t>
            </a:r>
            <a:r>
              <a:rPr lang="en-IN" sz="2400" dirty="0">
                <a:highlight>
                  <a:srgbClr val="FFFF00"/>
                </a:highlight>
              </a:rPr>
              <a:t>name="hobbies" </a:t>
            </a:r>
            <a:r>
              <a:rPr lang="en-IN" sz="2400" dirty="0"/>
              <a:t>value="Travel"&gt; Travel&lt;</a:t>
            </a:r>
            <a:r>
              <a:rPr lang="en-IN" sz="2400" dirty="0" err="1"/>
              <a:t>br</a:t>
            </a:r>
            <a:r>
              <a:rPr lang="en-IN" sz="2400" dirty="0"/>
              <a:t>&gt;&lt;</a:t>
            </a:r>
            <a:r>
              <a:rPr lang="en-IN" sz="2400" dirty="0" err="1"/>
              <a:t>br</a:t>
            </a:r>
            <a:r>
              <a:rPr lang="en-IN" sz="2400" dirty="0"/>
              <a:t>&gt;</a:t>
            </a:r>
          </a:p>
          <a:p>
            <a:endParaRPr lang="en-IN" sz="2400" dirty="0"/>
          </a:p>
        </p:txBody>
      </p:sp>
    </p:spTree>
    <p:extLst>
      <p:ext uri="{BB962C8B-B14F-4D97-AF65-F5344CB8AC3E}">
        <p14:creationId xmlns:p14="http://schemas.microsoft.com/office/powerpoint/2010/main" val="1254320358"/>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97923277-EB9C-A934-E6C2-8EF1DA8A1FC3}"/>
              </a:ext>
            </a:extLst>
          </p:cNvPr>
          <p:cNvSpPr txBox="1"/>
          <p:nvPr/>
        </p:nvSpPr>
        <p:spPr>
          <a:xfrm>
            <a:off x="634728" y="1123945"/>
            <a:ext cx="10775815" cy="3539430"/>
          </a:xfrm>
          <a:prstGeom prst="rect">
            <a:avLst/>
          </a:prstGeom>
          <a:noFill/>
        </p:spPr>
        <p:txBody>
          <a:bodyPr wrap="square">
            <a:spAutoFit/>
          </a:bodyPr>
          <a:lstStyle/>
          <a:p>
            <a:r>
              <a:rPr lang="en-IN" sz="2800" dirty="0"/>
              <a:t> &lt;label for="country"&gt;Country:&lt;/label&gt;&lt;</a:t>
            </a:r>
            <a:r>
              <a:rPr lang="en-IN" sz="2800" dirty="0" err="1"/>
              <a:t>br</a:t>
            </a:r>
            <a:r>
              <a:rPr lang="en-IN" sz="2800" dirty="0"/>
              <a:t>&gt;</a:t>
            </a:r>
          </a:p>
          <a:p>
            <a:r>
              <a:rPr lang="en-IN" sz="2800" dirty="0"/>
              <a:t>        &lt;</a:t>
            </a:r>
            <a:r>
              <a:rPr lang="en-IN" sz="2800" dirty="0">
                <a:solidFill>
                  <a:srgbClr val="FF0000"/>
                </a:solidFill>
              </a:rPr>
              <a:t>select</a:t>
            </a:r>
            <a:r>
              <a:rPr lang="en-IN" sz="2800" dirty="0"/>
              <a:t> id="country" name="country"&gt;</a:t>
            </a:r>
          </a:p>
          <a:p>
            <a:r>
              <a:rPr lang="en-IN" sz="2800" dirty="0"/>
              <a:t>            &lt;</a:t>
            </a:r>
            <a:r>
              <a:rPr lang="en-IN" sz="2800" dirty="0">
                <a:solidFill>
                  <a:srgbClr val="FF0000"/>
                </a:solidFill>
              </a:rPr>
              <a:t>option</a:t>
            </a:r>
            <a:r>
              <a:rPr lang="en-IN" sz="2800" dirty="0"/>
              <a:t> value=""&gt;--Select--&lt;/option&gt;</a:t>
            </a:r>
          </a:p>
          <a:p>
            <a:r>
              <a:rPr lang="en-IN" sz="2800" dirty="0"/>
              <a:t>            &lt;option value="India"&gt;India&lt;/option&gt;</a:t>
            </a:r>
          </a:p>
          <a:p>
            <a:r>
              <a:rPr lang="en-IN" sz="2800" dirty="0"/>
              <a:t>            &lt;option value="USA"&gt;USA&lt;/option&gt;</a:t>
            </a:r>
          </a:p>
          <a:p>
            <a:r>
              <a:rPr lang="en-IN" sz="2800" dirty="0"/>
              <a:t>            &lt;option value="UK"&gt;UK&lt;/option&gt;</a:t>
            </a:r>
          </a:p>
          <a:p>
            <a:r>
              <a:rPr lang="en-IN" sz="2800" dirty="0"/>
              <a:t>            &lt;option value="Canada"&gt;Canada&lt;/option&gt;</a:t>
            </a:r>
          </a:p>
          <a:p>
            <a:r>
              <a:rPr lang="en-IN" sz="2800" dirty="0"/>
              <a:t>        &lt;/select&gt;&lt;</a:t>
            </a:r>
            <a:r>
              <a:rPr lang="en-IN" sz="2800" dirty="0" err="1"/>
              <a:t>br</a:t>
            </a:r>
            <a:r>
              <a:rPr lang="en-IN" sz="2800" dirty="0"/>
              <a:t>&gt;&lt;</a:t>
            </a:r>
            <a:r>
              <a:rPr lang="en-IN" sz="2800" dirty="0" err="1"/>
              <a:t>br</a:t>
            </a:r>
            <a:r>
              <a:rPr lang="en-IN" sz="2800" dirty="0"/>
              <a:t>&gt;</a:t>
            </a:r>
          </a:p>
        </p:txBody>
      </p:sp>
    </p:spTree>
    <p:extLst>
      <p:ext uri="{BB962C8B-B14F-4D97-AF65-F5344CB8AC3E}">
        <p14:creationId xmlns:p14="http://schemas.microsoft.com/office/powerpoint/2010/main" val="3340383270"/>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CDC8B129-999B-6BDA-2E0E-F979F63B8461}"/>
              </a:ext>
            </a:extLst>
          </p:cNvPr>
          <p:cNvSpPr txBox="1"/>
          <p:nvPr/>
        </p:nvSpPr>
        <p:spPr>
          <a:xfrm>
            <a:off x="797669" y="1417210"/>
            <a:ext cx="10321046" cy="3970318"/>
          </a:xfrm>
          <a:prstGeom prst="rect">
            <a:avLst/>
          </a:prstGeom>
          <a:noFill/>
        </p:spPr>
        <p:txBody>
          <a:bodyPr wrap="square">
            <a:spAutoFit/>
          </a:bodyPr>
          <a:lstStyle/>
          <a:p>
            <a:r>
              <a:rPr lang="en-IN" sz="2800" dirty="0"/>
              <a:t>&lt;label for="profile"&gt;Upload Profile Picture:&lt;/label&gt;&lt;</a:t>
            </a:r>
            <a:r>
              <a:rPr lang="en-IN" sz="2800" dirty="0" err="1"/>
              <a:t>br</a:t>
            </a:r>
            <a:r>
              <a:rPr lang="en-IN" sz="2800" dirty="0"/>
              <a:t>&gt;</a:t>
            </a:r>
          </a:p>
          <a:p>
            <a:r>
              <a:rPr lang="en-IN" sz="2800" dirty="0"/>
              <a:t>        &lt;input </a:t>
            </a:r>
            <a:r>
              <a:rPr lang="en-IN" sz="2800" dirty="0">
                <a:solidFill>
                  <a:srgbClr val="FF0000"/>
                </a:solidFill>
              </a:rPr>
              <a:t>type="file" </a:t>
            </a:r>
            <a:r>
              <a:rPr lang="en-IN" sz="2800" dirty="0"/>
              <a:t>id="profile" name="profile"&gt;&lt;</a:t>
            </a:r>
            <a:r>
              <a:rPr lang="en-IN" sz="2800" dirty="0" err="1"/>
              <a:t>br</a:t>
            </a:r>
            <a:r>
              <a:rPr lang="en-IN" sz="2800" dirty="0"/>
              <a:t>&gt;&lt;</a:t>
            </a:r>
            <a:r>
              <a:rPr lang="en-IN" sz="2800" dirty="0" err="1"/>
              <a:t>br</a:t>
            </a:r>
            <a:r>
              <a:rPr lang="en-IN" sz="2800" dirty="0"/>
              <a:t>&gt;</a:t>
            </a:r>
          </a:p>
          <a:p>
            <a:endParaRPr lang="en-IN" sz="2800" dirty="0"/>
          </a:p>
          <a:p>
            <a:r>
              <a:rPr lang="en-IN" sz="2800" dirty="0"/>
              <a:t>&lt;label for="comments"&gt;Comments:&lt;/label&gt;&lt;</a:t>
            </a:r>
            <a:r>
              <a:rPr lang="en-IN" sz="2800" dirty="0" err="1"/>
              <a:t>br</a:t>
            </a:r>
            <a:r>
              <a:rPr lang="en-IN" sz="2800" dirty="0"/>
              <a:t>&gt;</a:t>
            </a:r>
          </a:p>
          <a:p>
            <a:r>
              <a:rPr lang="en-IN" sz="2800" dirty="0"/>
              <a:t>        &lt;</a:t>
            </a:r>
            <a:r>
              <a:rPr lang="en-IN" sz="2800" dirty="0" err="1">
                <a:solidFill>
                  <a:srgbClr val="FF0000"/>
                </a:solidFill>
              </a:rPr>
              <a:t>textarea</a:t>
            </a:r>
            <a:r>
              <a:rPr lang="en-IN" sz="2800" dirty="0"/>
              <a:t> id="comments" name="comments" rows="4" cols="40"&gt;&lt;/</a:t>
            </a:r>
            <a:r>
              <a:rPr lang="en-IN" sz="2800" dirty="0" err="1"/>
              <a:t>textarea</a:t>
            </a:r>
            <a:r>
              <a:rPr lang="en-IN" sz="2800" dirty="0"/>
              <a:t>&gt;&lt;</a:t>
            </a:r>
            <a:r>
              <a:rPr lang="en-IN" sz="2800" dirty="0" err="1"/>
              <a:t>br</a:t>
            </a:r>
            <a:r>
              <a:rPr lang="en-IN" sz="2800" dirty="0"/>
              <a:t>&gt;&lt;</a:t>
            </a:r>
            <a:r>
              <a:rPr lang="en-IN" sz="2800" dirty="0" err="1"/>
              <a:t>br</a:t>
            </a:r>
            <a:r>
              <a:rPr lang="en-IN" sz="2800" dirty="0"/>
              <a:t>&gt;</a:t>
            </a:r>
          </a:p>
          <a:p>
            <a:endParaRPr lang="en-IN" sz="2800" dirty="0"/>
          </a:p>
          <a:p>
            <a:r>
              <a:rPr lang="en-IN" sz="2800" dirty="0"/>
              <a:t>        &lt;input type="submit" value="Submit"&gt;</a:t>
            </a:r>
          </a:p>
          <a:p>
            <a:r>
              <a:rPr lang="en-IN" sz="2800" dirty="0"/>
              <a:t>        &lt;input </a:t>
            </a:r>
            <a:r>
              <a:rPr lang="en-IN" sz="2800" dirty="0">
                <a:solidFill>
                  <a:srgbClr val="FF0000"/>
                </a:solidFill>
              </a:rPr>
              <a:t>type="reset" </a:t>
            </a:r>
            <a:r>
              <a:rPr lang="en-IN" sz="2800" dirty="0"/>
              <a:t>value="Reset"&gt;</a:t>
            </a:r>
          </a:p>
        </p:txBody>
      </p:sp>
    </p:spTree>
    <p:extLst>
      <p:ext uri="{BB962C8B-B14F-4D97-AF65-F5344CB8AC3E}">
        <p14:creationId xmlns:p14="http://schemas.microsoft.com/office/powerpoint/2010/main" val="1055904502"/>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367486-C9A8-886A-BD09-659D28EE89BD}"/>
              </a:ext>
            </a:extLst>
          </p:cNvPr>
          <p:cNvSpPr>
            <a:spLocks noGrp="1"/>
          </p:cNvSpPr>
          <p:nvPr>
            <p:ph type="title"/>
          </p:nvPr>
        </p:nvSpPr>
        <p:spPr/>
        <p:txBody>
          <a:bodyPr/>
          <a:lstStyle/>
          <a:p>
            <a:r>
              <a:rPr lang="en-IN" dirty="0"/>
              <a:t>Assignment:</a:t>
            </a:r>
          </a:p>
        </p:txBody>
      </p:sp>
      <p:sp>
        <p:nvSpPr>
          <p:cNvPr id="3" name="Content Placeholder 2">
            <a:extLst>
              <a:ext uri="{FF2B5EF4-FFF2-40B4-BE49-F238E27FC236}">
                <a16:creationId xmlns="" xmlns:a16="http://schemas.microsoft.com/office/drawing/2014/main" id="{9753E1CA-B24B-1F68-7471-A2DFF9F7D86B}"/>
              </a:ext>
            </a:extLst>
          </p:cNvPr>
          <p:cNvSpPr>
            <a:spLocks noGrp="1"/>
          </p:cNvSpPr>
          <p:nvPr>
            <p:ph idx="1"/>
          </p:nvPr>
        </p:nvSpPr>
        <p:spPr/>
        <p:txBody>
          <a:bodyPr/>
          <a:lstStyle/>
          <a:p>
            <a:r>
              <a:rPr lang="en-US" dirty="0"/>
              <a:t>The type attribute in the &lt;input&gt; tag specifies the kind of input the user is expected to enter. </a:t>
            </a:r>
          </a:p>
          <a:p>
            <a:r>
              <a:rPr lang="en-US" dirty="0"/>
              <a:t>List out all available type values in HTML.</a:t>
            </a:r>
            <a:endParaRPr lang="en-IN" dirty="0"/>
          </a:p>
        </p:txBody>
      </p:sp>
    </p:spTree>
    <p:extLst>
      <p:ext uri="{BB962C8B-B14F-4D97-AF65-F5344CB8AC3E}">
        <p14:creationId xmlns:p14="http://schemas.microsoft.com/office/powerpoint/2010/main" val="3782086966"/>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9BDDEC7-A4D3-425A-4FD7-5CBE64F944A3}"/>
              </a:ext>
            </a:extLst>
          </p:cNvPr>
          <p:cNvSpPr>
            <a:spLocks noGrp="1"/>
          </p:cNvSpPr>
          <p:nvPr>
            <p:ph idx="1"/>
          </p:nvPr>
        </p:nvSpPr>
        <p:spPr>
          <a:xfrm>
            <a:off x="116732" y="1825624"/>
            <a:ext cx="12003932" cy="4964281"/>
          </a:xfrm>
        </p:spPr>
        <p:txBody>
          <a:bodyPr>
            <a:normAutofit fontScale="77500" lnSpcReduction="20000"/>
          </a:bodyPr>
          <a:lstStyle/>
          <a:p>
            <a:r>
              <a:rPr lang="en-IN" b="1" dirty="0"/>
              <a:t>Design an HTML form titled "University Admission Form" that collects the following student details:</a:t>
            </a:r>
            <a:endParaRPr lang="en-IN" dirty="0"/>
          </a:p>
          <a:p>
            <a:r>
              <a:rPr lang="en-IN" dirty="0"/>
              <a:t>Full Name</a:t>
            </a:r>
          </a:p>
          <a:p>
            <a:r>
              <a:rPr lang="en-IN" dirty="0"/>
              <a:t>Date of Birth</a:t>
            </a:r>
          </a:p>
          <a:p>
            <a:r>
              <a:rPr lang="en-IN" dirty="0"/>
              <a:t>Gender (Radio buttons)</a:t>
            </a:r>
          </a:p>
          <a:p>
            <a:r>
              <a:rPr lang="en-IN" dirty="0"/>
              <a:t>Course Applied For (Dropdown: </a:t>
            </a:r>
            <a:r>
              <a:rPr lang="en-IN" dirty="0" err="1"/>
              <a:t>B.Sc</a:t>
            </a:r>
            <a:r>
              <a:rPr lang="en-IN" dirty="0"/>
              <a:t>, B.A, </a:t>
            </a:r>
            <a:r>
              <a:rPr lang="en-IN" dirty="0" err="1"/>
              <a:t>B.Com</a:t>
            </a:r>
            <a:r>
              <a:rPr lang="en-IN" dirty="0"/>
              <a:t>, </a:t>
            </a:r>
            <a:r>
              <a:rPr lang="en-IN" dirty="0" err="1"/>
              <a:t>B.Tech</a:t>
            </a:r>
            <a:r>
              <a:rPr lang="en-IN" dirty="0"/>
              <a:t>, </a:t>
            </a:r>
            <a:r>
              <a:rPr lang="en-IN" dirty="0" err="1"/>
              <a:t>M.Sc</a:t>
            </a:r>
            <a:r>
              <a:rPr lang="en-IN" dirty="0"/>
              <a:t>, M.A, etc.)</a:t>
            </a:r>
          </a:p>
          <a:p>
            <a:r>
              <a:rPr lang="en-IN" dirty="0"/>
              <a:t>Email Address</a:t>
            </a:r>
          </a:p>
          <a:p>
            <a:r>
              <a:rPr lang="en-IN" dirty="0"/>
              <a:t>Phone Number</a:t>
            </a:r>
          </a:p>
          <a:p>
            <a:r>
              <a:rPr lang="en-IN" dirty="0"/>
              <a:t>Address (</a:t>
            </a:r>
            <a:r>
              <a:rPr lang="en-IN" dirty="0" err="1"/>
              <a:t>Textarea</a:t>
            </a:r>
            <a:r>
              <a:rPr lang="en-IN" dirty="0"/>
              <a:t>)</a:t>
            </a:r>
          </a:p>
          <a:p>
            <a:r>
              <a:rPr lang="en-IN" dirty="0"/>
              <a:t>12th Grade Percentage (Number input)</a:t>
            </a:r>
          </a:p>
          <a:p>
            <a:r>
              <a:rPr lang="en-IN" dirty="0"/>
              <a:t>Upload 12th Marksheet (File input)</a:t>
            </a:r>
          </a:p>
          <a:p>
            <a:r>
              <a:rPr lang="en-IN" dirty="0"/>
              <a:t>Select Subjects (Checkboxes: Physics, Chemistry, Maths, Biology, Computer Science, Economics)</a:t>
            </a:r>
          </a:p>
          <a:p>
            <a:r>
              <a:rPr lang="en-IN" dirty="0"/>
              <a:t>Preferred Mode of Admission (Radio: Entrance Exam / Merit)</a:t>
            </a:r>
          </a:p>
        </p:txBody>
      </p:sp>
      <p:sp>
        <p:nvSpPr>
          <p:cNvPr id="4" name="Title 1">
            <a:extLst>
              <a:ext uri="{FF2B5EF4-FFF2-40B4-BE49-F238E27FC236}">
                <a16:creationId xmlns="" xmlns:a16="http://schemas.microsoft.com/office/drawing/2014/main" id="{0FC571F7-8671-75CB-7713-DDE8509F8CF9}"/>
              </a:ext>
            </a:extLst>
          </p:cNvPr>
          <p:cNvSpPr txBox="1">
            <a:spLocks/>
          </p:cNvSpPr>
          <p:nvPr/>
        </p:nvSpPr>
        <p:spPr>
          <a:xfrm>
            <a:off x="698770" y="36188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Lab Assignment:</a:t>
            </a:r>
          </a:p>
        </p:txBody>
      </p:sp>
    </p:spTree>
    <p:extLst>
      <p:ext uri="{BB962C8B-B14F-4D97-AF65-F5344CB8AC3E}">
        <p14:creationId xmlns:p14="http://schemas.microsoft.com/office/powerpoint/2010/main" val="1090901949"/>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solidFill>
                  <a:srgbClr val="273239"/>
                </a:solidFill>
                <a:effectLst/>
                <a:latin typeface="Nunito" pitchFamily="2" charset="0"/>
              </a:rPr>
              <a:t>Semantic Elements:</a:t>
            </a:r>
            <a:br>
              <a:rPr lang="en-US" b="1" i="0" dirty="0">
                <a:solidFill>
                  <a:srgbClr val="273239"/>
                </a:solidFill>
                <a:effectLst/>
                <a:latin typeface="Nunito" pitchFamily="2" charset="0"/>
              </a:rPr>
            </a:br>
            <a:endParaRPr lang="en-IN" dirty="0"/>
          </a:p>
        </p:txBody>
      </p:sp>
      <p:sp>
        <p:nvSpPr>
          <p:cNvPr id="3" name="Content Placeholder 2"/>
          <p:cNvSpPr>
            <a:spLocks noGrp="1"/>
          </p:cNvSpPr>
          <p:nvPr>
            <p:ph idx="1"/>
          </p:nvPr>
        </p:nvSpPr>
        <p:spPr>
          <a:xfrm>
            <a:off x="838200" y="1157590"/>
            <a:ext cx="10515600" cy="5535039"/>
          </a:xfrm>
        </p:spPr>
        <p:txBody>
          <a:bodyPr>
            <a:normAutofit fontScale="85000" lnSpcReduction="20000"/>
          </a:bodyPr>
          <a:lstStyle/>
          <a:p>
            <a:pPr algn="l" rtl="0" fontAlgn="base"/>
            <a:r>
              <a:rPr lang="en-US" b="0" i="0" dirty="0">
                <a:solidFill>
                  <a:srgbClr val="273239"/>
                </a:solidFill>
                <a:effectLst/>
                <a:latin typeface="Times New Roman" panose="02020603050405020304" pitchFamily="18" charset="0"/>
                <a:cs typeface="Times New Roman" panose="02020603050405020304" pitchFamily="18" charset="0"/>
              </a:rPr>
              <a:t>Semantic elements have meaningful names that tell about the type of content. For example, header, footer, table, … etc. HTML5 introduces many semantic elements as mentioned below which make the code easier to write and understand for the developer as well as instruct the browser on how to treat them. </a:t>
            </a:r>
          </a:p>
          <a:p>
            <a:pPr fontAlgn="base"/>
            <a:r>
              <a:rPr lang="en-US" b="0" i="0" u="sng" dirty="0">
                <a:solidFill>
                  <a:srgbClr val="273239"/>
                </a:solidFill>
                <a:effectLst/>
                <a:latin typeface="Times New Roman" panose="02020603050405020304" pitchFamily="18" charset="0"/>
                <a:cs typeface="Times New Roman" panose="02020603050405020304" pitchFamily="18" charset="0"/>
                <a:hlinkClick r:id="rId2"/>
              </a:rPr>
              <a:t>&lt;header&gt;</a:t>
            </a:r>
            <a:endParaRPr lang="en-US" b="0" i="0" u="sng" dirty="0">
              <a:solidFill>
                <a:srgbClr val="273239"/>
              </a:solidFill>
              <a:effectLst/>
              <a:latin typeface="Times New Roman" panose="02020603050405020304" pitchFamily="18" charset="0"/>
              <a:cs typeface="Times New Roman" panose="02020603050405020304" pitchFamily="18" charset="0"/>
            </a:endParaRPr>
          </a:p>
          <a:p>
            <a:pPr fontAlgn="base"/>
            <a:r>
              <a:rPr lang="en-US" b="0" i="0" u="sng" dirty="0">
                <a:solidFill>
                  <a:srgbClr val="273239"/>
                </a:solidFill>
                <a:effectLst/>
                <a:latin typeface="Times New Roman" panose="02020603050405020304" pitchFamily="18" charset="0"/>
                <a:cs typeface="Times New Roman" panose="02020603050405020304" pitchFamily="18" charset="0"/>
                <a:hlinkClick r:id="rId3"/>
              </a:rPr>
              <a:t>&lt;footer&gt;</a:t>
            </a:r>
            <a:endParaRPr lang="en-US" b="0" i="0" dirty="0">
              <a:solidFill>
                <a:srgbClr val="273239"/>
              </a:solidFill>
              <a:effectLst/>
              <a:latin typeface="Times New Roman" panose="02020603050405020304" pitchFamily="18" charset="0"/>
              <a:cs typeface="Times New Roman" panose="02020603050405020304" pitchFamily="18" charset="0"/>
            </a:endParaRPr>
          </a:p>
          <a:p>
            <a:pPr fontAlgn="base"/>
            <a:r>
              <a:rPr lang="en-US" b="0" i="0" u="sng" dirty="0">
                <a:solidFill>
                  <a:srgbClr val="273239"/>
                </a:solidFill>
                <a:effectLst/>
                <a:latin typeface="Times New Roman" panose="02020603050405020304" pitchFamily="18" charset="0"/>
                <a:cs typeface="Times New Roman" panose="02020603050405020304" pitchFamily="18" charset="0"/>
                <a:hlinkClick r:id="rId4"/>
              </a:rPr>
              <a:t>&lt;nav&gt;</a:t>
            </a:r>
            <a:endParaRPr lang="en-US" b="0" i="0" dirty="0">
              <a:solidFill>
                <a:srgbClr val="273239"/>
              </a:solidFill>
              <a:effectLst/>
              <a:latin typeface="Times New Roman" panose="02020603050405020304" pitchFamily="18" charset="0"/>
              <a:cs typeface="Times New Roman" panose="02020603050405020304" pitchFamily="18" charset="0"/>
            </a:endParaRPr>
          </a:p>
          <a:p>
            <a:pPr fontAlgn="base"/>
            <a:r>
              <a:rPr lang="en-US" b="0" i="0" u="sng" dirty="0">
                <a:solidFill>
                  <a:srgbClr val="273239"/>
                </a:solidFill>
                <a:effectLst/>
                <a:latin typeface="Times New Roman" panose="02020603050405020304" pitchFamily="18" charset="0"/>
                <a:cs typeface="Times New Roman" panose="02020603050405020304" pitchFamily="18" charset="0"/>
                <a:hlinkClick r:id="rId5"/>
              </a:rPr>
              <a:t>&lt;main&gt;</a:t>
            </a:r>
            <a:endParaRPr lang="en-US" b="0" i="0" dirty="0">
              <a:solidFill>
                <a:srgbClr val="273239"/>
              </a:solidFill>
              <a:effectLst/>
              <a:latin typeface="Times New Roman" panose="02020603050405020304" pitchFamily="18" charset="0"/>
              <a:cs typeface="Times New Roman" panose="02020603050405020304" pitchFamily="18" charset="0"/>
            </a:endParaRPr>
          </a:p>
          <a:p>
            <a:pPr fontAlgn="base"/>
            <a:r>
              <a:rPr lang="en-US" b="0" i="0" u="sng" dirty="0">
                <a:solidFill>
                  <a:srgbClr val="273239"/>
                </a:solidFill>
                <a:effectLst/>
                <a:latin typeface="Times New Roman" panose="02020603050405020304" pitchFamily="18" charset="0"/>
                <a:cs typeface="Times New Roman" panose="02020603050405020304" pitchFamily="18" charset="0"/>
                <a:hlinkClick r:id="rId6"/>
              </a:rPr>
              <a:t>&lt;section&gt;</a:t>
            </a:r>
            <a:endParaRPr lang="en-US" b="0"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u="sng" dirty="0">
                <a:solidFill>
                  <a:srgbClr val="273239"/>
                </a:solidFill>
                <a:effectLst/>
                <a:latin typeface="Times New Roman" panose="02020603050405020304" pitchFamily="18" charset="0"/>
                <a:cs typeface="Times New Roman" panose="02020603050405020304" pitchFamily="18" charset="0"/>
                <a:hlinkClick r:id="rId7"/>
              </a:rPr>
              <a:t>&lt;article&gt;</a:t>
            </a:r>
            <a:endParaRPr lang="en-US" b="0"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u="sng" dirty="0">
                <a:solidFill>
                  <a:srgbClr val="273239"/>
                </a:solidFill>
                <a:effectLst/>
                <a:latin typeface="Times New Roman" panose="02020603050405020304" pitchFamily="18" charset="0"/>
                <a:cs typeface="Times New Roman" panose="02020603050405020304" pitchFamily="18" charset="0"/>
                <a:hlinkClick r:id="rId8"/>
              </a:rPr>
              <a:t>&lt;aside&gt;</a:t>
            </a:r>
            <a:endParaRPr lang="en-US" b="0"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u="sng" dirty="0">
                <a:solidFill>
                  <a:srgbClr val="273239"/>
                </a:solidFill>
                <a:effectLst/>
                <a:latin typeface="Times New Roman" panose="02020603050405020304" pitchFamily="18" charset="0"/>
                <a:cs typeface="Times New Roman" panose="02020603050405020304" pitchFamily="18" charset="0"/>
                <a:hlinkClick r:id="rId9"/>
              </a:rPr>
              <a:t>&lt;details&gt; and </a:t>
            </a:r>
            <a:r>
              <a:rPr lang="en-US" sz="2900" u="sng" dirty="0">
                <a:solidFill>
                  <a:srgbClr val="273239"/>
                </a:solidFill>
                <a:latin typeface="Times New Roman" panose="02020603050405020304" pitchFamily="18" charset="0"/>
                <a:cs typeface="Times New Roman" panose="02020603050405020304" pitchFamily="18" charset="0"/>
                <a:hlinkClick r:id="rId9"/>
              </a:rPr>
              <a:t>&lt;summary&gt;</a:t>
            </a:r>
            <a:endParaRPr lang="en-US" sz="2900" u="sng" dirty="0">
              <a:solidFill>
                <a:srgbClr val="273239"/>
              </a:solidFill>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u="sng" dirty="0">
                <a:solidFill>
                  <a:srgbClr val="273239"/>
                </a:solidFill>
                <a:effectLst/>
                <a:latin typeface="Times New Roman" panose="02020603050405020304" pitchFamily="18" charset="0"/>
                <a:cs typeface="Times New Roman" panose="02020603050405020304" pitchFamily="18" charset="0"/>
                <a:hlinkClick r:id="rId10"/>
              </a:rPr>
              <a:t>&lt;</a:t>
            </a:r>
            <a:r>
              <a:rPr lang="en-US" b="0" i="0" u="sng" dirty="0" err="1">
                <a:solidFill>
                  <a:srgbClr val="273239"/>
                </a:solidFill>
                <a:effectLst/>
                <a:latin typeface="Times New Roman" panose="02020603050405020304" pitchFamily="18" charset="0"/>
                <a:cs typeface="Times New Roman" panose="02020603050405020304" pitchFamily="18" charset="0"/>
                <a:hlinkClick r:id="rId10"/>
              </a:rPr>
              <a:t>figcaption</a:t>
            </a:r>
            <a:r>
              <a:rPr lang="en-US" b="0" i="0" u="sng" dirty="0">
                <a:solidFill>
                  <a:srgbClr val="273239"/>
                </a:solidFill>
                <a:effectLst/>
                <a:latin typeface="Times New Roman" panose="02020603050405020304" pitchFamily="18" charset="0"/>
                <a:cs typeface="Times New Roman" panose="02020603050405020304" pitchFamily="18" charset="0"/>
                <a:hlinkClick r:id="rId10"/>
              </a:rPr>
              <a:t>&gt;</a:t>
            </a:r>
            <a:endParaRPr lang="en-US" b="0"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u="sng" dirty="0">
                <a:solidFill>
                  <a:srgbClr val="273239"/>
                </a:solidFill>
                <a:effectLst/>
                <a:latin typeface="Times New Roman" panose="02020603050405020304" pitchFamily="18" charset="0"/>
                <a:cs typeface="Times New Roman" panose="02020603050405020304" pitchFamily="18" charset="0"/>
                <a:hlinkClick r:id="rId11"/>
              </a:rPr>
              <a:t>&lt;figure&gt;</a:t>
            </a:r>
            <a:endParaRPr lang="en-US" b="0"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u="sng" dirty="0">
                <a:solidFill>
                  <a:srgbClr val="273239"/>
                </a:solidFill>
                <a:effectLst/>
                <a:latin typeface="Times New Roman" panose="02020603050405020304" pitchFamily="18" charset="0"/>
                <a:cs typeface="Times New Roman" panose="02020603050405020304" pitchFamily="18" charset="0"/>
                <a:hlinkClick r:id="rId12"/>
              </a:rPr>
              <a:t>&lt;mark&gt;</a:t>
            </a:r>
            <a:endParaRPr lang="en-US" b="0" i="0" dirty="0">
              <a:solidFill>
                <a:srgbClr val="273239"/>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article:</a:t>
            </a:r>
            <a:br>
              <a:rPr lang="en-US" dirty="0"/>
            </a:br>
            <a:endParaRPr lang="en-IN" dirty="0"/>
          </a:p>
        </p:txBody>
      </p:sp>
      <p:sp>
        <p:nvSpPr>
          <p:cNvPr id="3" name="Content Placeholder 2"/>
          <p:cNvSpPr>
            <a:spLocks noGrp="1"/>
          </p:cNvSpPr>
          <p:nvPr>
            <p:ph idx="1"/>
          </p:nvPr>
        </p:nvSpPr>
        <p:spPr/>
        <p:txBody>
          <a:bodyPr/>
          <a:lstStyle/>
          <a:p>
            <a:r>
              <a:rPr lang="en-US" dirty="0"/>
              <a:t>It contains independent content which doesn’t require any other context blog Post, Newspaper Article, etc.</a:t>
            </a:r>
            <a:endParaRPr lang="en-IN" dirty="0"/>
          </a:p>
        </p:txBody>
      </p:sp>
    </p:spTree>
    <p:extLst>
      <p:ext uri="{BB962C8B-B14F-4D97-AF65-F5344CB8AC3E}">
        <p14:creationId xmlns:p14="http://schemas.microsoft.com/office/powerpoint/2010/main" val="3523431427"/>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idx="1"/>
          </p:nvPr>
        </p:nvSpPr>
        <p:spPr bwMode="auto">
          <a:xfrm>
            <a:off x="670248" y="1310174"/>
            <a:ext cx="11176312"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&lt;!DOCTYPE html&gt;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html</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head</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title</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&gt;Article Tag&lt;/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title</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head</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body</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article</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h1</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r>
              <a:rPr kumimoji="0" lang="en-US" altLang="en-US" sz="20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GeeksforGeeks</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h1</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p</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 Computer Science Portal for Geeks&lt;/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p</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article</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body</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html</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96851410"/>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Aside:</a:t>
            </a:r>
          </a:p>
          <a:p>
            <a:r>
              <a:rPr lang="en-US" dirty="0"/>
              <a:t>It is used to place content in a sidebar i.e. aside from the existing content. It is related to surrounding content</a:t>
            </a:r>
            <a:endParaRPr lang="en-IN" dirty="0"/>
          </a:p>
        </p:txBody>
      </p:sp>
    </p:spTree>
    <p:extLst>
      <p:ext uri="{BB962C8B-B14F-4D97-AF65-F5344CB8AC3E}">
        <p14:creationId xmlns:p14="http://schemas.microsoft.com/office/powerpoint/2010/main" val="200640835"/>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2990850" y="180975"/>
          <a:ext cx="6871172" cy="7466928"/>
        </p:xfrm>
        <a:graphic>
          <a:graphicData uri="http://schemas.openxmlformats.org/drawingml/2006/table">
            <a:tbl>
              <a:tblPr/>
              <a:tblGrid>
                <a:gridCol w="6871172">
                  <a:extLst>
                    <a:ext uri="{9D8B030D-6E8A-4147-A177-3AD203B41FA5}">
                      <a16:colId xmlns="" xmlns:a16="http://schemas.microsoft.com/office/drawing/2014/main" val="20000"/>
                    </a:ext>
                  </a:extLst>
                </a:gridCol>
              </a:tblGrid>
              <a:tr h="5928818">
                <a:tc>
                  <a:txBody>
                    <a:bodyPr/>
                    <a:lstStyle/>
                    <a:p>
                      <a:pPr algn="l" rtl="0" fontAlgn="base"/>
                      <a:r>
                        <a:rPr lang="en-IN" sz="2400" b="0" i="0" dirty="0">
                          <a:effectLst/>
                          <a:latin typeface="Times New Roman" panose="02020603050405020304" pitchFamily="18" charset="0"/>
                          <a:cs typeface="Times New Roman" panose="02020603050405020304" pitchFamily="18" charset="0"/>
                        </a:rPr>
                        <a:t>&lt;!DOCTYPE html&gt;</a:t>
                      </a:r>
                    </a:p>
                    <a:p>
                      <a:pPr algn="l" rtl="0" fontAlgn="base"/>
                      <a:r>
                        <a:rPr lang="en-IN" sz="2400" b="0" i="0" dirty="0">
                          <a:effectLst/>
                          <a:latin typeface="Times New Roman" panose="02020603050405020304" pitchFamily="18" charset="0"/>
                          <a:cs typeface="Times New Roman" panose="02020603050405020304" pitchFamily="18" charset="0"/>
                        </a:rPr>
                        <a:t>&lt;html&gt;</a:t>
                      </a:r>
                    </a:p>
                    <a:p>
                      <a:pPr algn="l" rtl="0" fontAlgn="base"/>
                      <a:r>
                        <a:rPr lang="en-IN" sz="2400" b="0" i="0" dirty="0">
                          <a:effectLst/>
                          <a:latin typeface="Times New Roman" panose="02020603050405020304" pitchFamily="18" charset="0"/>
                          <a:cs typeface="Times New Roman" panose="02020603050405020304" pitchFamily="18" charset="0"/>
                        </a:rPr>
                        <a:t> </a:t>
                      </a:r>
                    </a:p>
                    <a:p>
                      <a:pPr algn="l" rtl="0" fontAlgn="base"/>
                      <a:r>
                        <a:rPr lang="en-IN" sz="2400" b="0" i="0" dirty="0">
                          <a:effectLst/>
                          <a:latin typeface="Times New Roman" panose="02020603050405020304" pitchFamily="18" charset="0"/>
                          <a:cs typeface="Times New Roman" panose="02020603050405020304" pitchFamily="18" charset="0"/>
                        </a:rPr>
                        <a:t>&lt;head&gt;</a:t>
                      </a:r>
                    </a:p>
                    <a:p>
                      <a:pPr algn="l" rtl="0" fontAlgn="base"/>
                      <a:r>
                        <a:rPr lang="en-IN" sz="2400" b="0" i="0" dirty="0">
                          <a:effectLst/>
                          <a:latin typeface="Times New Roman" panose="02020603050405020304" pitchFamily="18" charset="0"/>
                          <a:cs typeface="Times New Roman" panose="02020603050405020304" pitchFamily="18" charset="0"/>
                        </a:rPr>
                        <a:t>    &lt;title&gt;Aside Tag&lt;/title&gt;</a:t>
                      </a:r>
                    </a:p>
                    <a:p>
                      <a:pPr algn="l" rtl="0" fontAlgn="base"/>
                      <a:r>
                        <a:rPr lang="en-IN" sz="2400" b="0" i="0" dirty="0">
                          <a:effectLst/>
                          <a:latin typeface="Times New Roman" panose="02020603050405020304" pitchFamily="18" charset="0"/>
                          <a:cs typeface="Times New Roman" panose="02020603050405020304" pitchFamily="18" charset="0"/>
                        </a:rPr>
                        <a:t>    &lt;/head&gt;</a:t>
                      </a:r>
                    </a:p>
                    <a:p>
                      <a:pPr algn="l" rtl="0" fontAlgn="base"/>
                      <a:r>
                        <a:rPr lang="en-IN" sz="2400" b="0" i="0" dirty="0">
                          <a:effectLst/>
                          <a:latin typeface="Times New Roman" panose="02020603050405020304" pitchFamily="18" charset="0"/>
                          <a:cs typeface="Times New Roman" panose="02020603050405020304" pitchFamily="18" charset="0"/>
                        </a:rPr>
                        <a:t> </a:t>
                      </a:r>
                    </a:p>
                    <a:p>
                      <a:pPr algn="l" rtl="0" fontAlgn="base"/>
                      <a:r>
                        <a:rPr lang="en-IN" sz="2400" b="0" i="0" dirty="0">
                          <a:effectLst/>
                          <a:latin typeface="Times New Roman" panose="02020603050405020304" pitchFamily="18" charset="0"/>
                          <a:cs typeface="Times New Roman" panose="02020603050405020304" pitchFamily="18" charset="0"/>
                        </a:rPr>
                        <a:t>&lt;body&gt;</a:t>
                      </a:r>
                    </a:p>
                    <a:p>
                      <a:pPr algn="l" rtl="0" fontAlgn="base"/>
                      <a:r>
                        <a:rPr lang="en-IN" sz="2400" b="0" i="0" dirty="0">
                          <a:effectLst/>
                          <a:latin typeface="Times New Roman" panose="02020603050405020304" pitchFamily="18" charset="0"/>
                          <a:cs typeface="Times New Roman" panose="02020603050405020304" pitchFamily="18" charset="0"/>
                        </a:rPr>
                        <a:t>    &lt;p&gt;</a:t>
                      </a:r>
                      <a:r>
                        <a:rPr lang="en-IN" sz="2400" b="0" i="0" dirty="0" err="1">
                          <a:effectLst/>
                          <a:latin typeface="Times New Roman" panose="02020603050405020304" pitchFamily="18" charset="0"/>
                          <a:cs typeface="Times New Roman" panose="02020603050405020304" pitchFamily="18" charset="0"/>
                        </a:rPr>
                        <a:t>GeeksforGeeks</a:t>
                      </a:r>
                      <a:r>
                        <a:rPr lang="en-IN" sz="2400" b="0" i="0" dirty="0">
                          <a:effectLst/>
                          <a:latin typeface="Times New Roman" panose="02020603050405020304" pitchFamily="18" charset="0"/>
                          <a:cs typeface="Times New Roman" panose="02020603050405020304" pitchFamily="18" charset="0"/>
                        </a:rPr>
                        <a:t> is a Computer Science Portal&lt;/p&gt;</a:t>
                      </a:r>
                    </a:p>
                    <a:p>
                      <a:pPr algn="l" rtl="0" fontAlgn="base"/>
                      <a:r>
                        <a:rPr lang="en-IN" sz="2400" b="0" i="0" dirty="0">
                          <a:effectLst/>
                          <a:latin typeface="Times New Roman" panose="02020603050405020304" pitchFamily="18" charset="0"/>
                          <a:cs typeface="Times New Roman" panose="02020603050405020304" pitchFamily="18" charset="0"/>
                        </a:rPr>
                        <a:t>    &lt;aside&gt;</a:t>
                      </a:r>
                    </a:p>
                    <a:p>
                      <a:pPr algn="l" rtl="0" fontAlgn="base"/>
                      <a:r>
                        <a:rPr lang="en-IN" sz="2400" b="0" i="0" dirty="0">
                          <a:effectLst/>
                          <a:latin typeface="Times New Roman" panose="02020603050405020304" pitchFamily="18" charset="0"/>
                          <a:cs typeface="Times New Roman" panose="02020603050405020304" pitchFamily="18" charset="0"/>
                        </a:rPr>
                        <a:t>        &lt;h4&gt;</a:t>
                      </a:r>
                      <a:r>
                        <a:rPr lang="en-IN" sz="2400" b="0" i="0" dirty="0" err="1">
                          <a:effectLst/>
                          <a:latin typeface="Times New Roman" panose="02020603050405020304" pitchFamily="18" charset="0"/>
                          <a:cs typeface="Times New Roman" panose="02020603050405020304" pitchFamily="18" charset="0"/>
                        </a:rPr>
                        <a:t>GeeksForGeeks</a:t>
                      </a:r>
                      <a:r>
                        <a:rPr lang="en-IN" sz="2400" b="0" i="0" dirty="0">
                          <a:effectLst/>
                          <a:latin typeface="Times New Roman" panose="02020603050405020304" pitchFamily="18" charset="0"/>
                          <a:cs typeface="Times New Roman" panose="02020603050405020304" pitchFamily="18" charset="0"/>
                        </a:rPr>
                        <a:t>&lt;/h4&gt;</a:t>
                      </a:r>
                    </a:p>
                    <a:p>
                      <a:pPr algn="l" rtl="0" fontAlgn="base"/>
                      <a:r>
                        <a:rPr lang="en-IN" sz="2400" b="0" i="0" dirty="0">
                          <a:effectLst/>
                          <a:latin typeface="Times New Roman" panose="02020603050405020304" pitchFamily="18" charset="0"/>
                          <a:cs typeface="Times New Roman" panose="02020603050405020304" pitchFamily="18" charset="0"/>
                        </a:rPr>
                        <a:t>        &lt;p&gt;</a:t>
                      </a:r>
                      <a:r>
                        <a:rPr lang="en-IN" sz="2400" b="0" i="0" dirty="0" err="1">
                          <a:effectLst/>
                          <a:latin typeface="Times New Roman" panose="02020603050405020304" pitchFamily="18" charset="0"/>
                          <a:cs typeface="Times New Roman" panose="02020603050405020304" pitchFamily="18" charset="0"/>
                        </a:rPr>
                        <a:t>GeeksforGeeks</a:t>
                      </a:r>
                      <a:r>
                        <a:rPr lang="en-IN" sz="2400" b="0" i="0" dirty="0">
                          <a:effectLst/>
                          <a:latin typeface="Times New Roman" panose="02020603050405020304" pitchFamily="18" charset="0"/>
                          <a:cs typeface="Times New Roman" panose="02020603050405020304" pitchFamily="18" charset="0"/>
                        </a:rPr>
                        <a:t> is a computer Science platform</a:t>
                      </a:r>
                    </a:p>
                    <a:p>
                      <a:pPr algn="l" rtl="0" fontAlgn="base"/>
                      <a:r>
                        <a:rPr lang="en-IN" sz="2400" b="0" i="0" dirty="0">
                          <a:effectLst/>
                          <a:latin typeface="Times New Roman" panose="02020603050405020304" pitchFamily="18" charset="0"/>
                          <a:cs typeface="Times New Roman" panose="02020603050405020304" pitchFamily="18" charset="0"/>
                        </a:rPr>
                        <a:t>            where you can learn good programming.</a:t>
                      </a:r>
                    </a:p>
                    <a:p>
                      <a:pPr algn="l" rtl="0" fontAlgn="base"/>
                      <a:r>
                        <a:rPr lang="en-IN" sz="2400" b="0" i="0" dirty="0">
                          <a:effectLst/>
                          <a:latin typeface="Times New Roman" panose="02020603050405020304" pitchFamily="18" charset="0"/>
                          <a:cs typeface="Times New Roman" panose="02020603050405020304" pitchFamily="18" charset="0"/>
                        </a:rPr>
                        <a:t>        &lt;/p&gt;</a:t>
                      </a:r>
                    </a:p>
                    <a:p>
                      <a:pPr algn="l" rtl="0" fontAlgn="base"/>
                      <a:r>
                        <a:rPr lang="en-IN" sz="2400" b="0" i="0" dirty="0">
                          <a:effectLst/>
                          <a:latin typeface="Times New Roman" panose="02020603050405020304" pitchFamily="18" charset="0"/>
                          <a:cs typeface="Times New Roman" panose="02020603050405020304" pitchFamily="18" charset="0"/>
                        </a:rPr>
                        <a:t>    &lt;/aside&gt;</a:t>
                      </a:r>
                    </a:p>
                    <a:p>
                      <a:pPr algn="l" rtl="0" fontAlgn="base"/>
                      <a:r>
                        <a:rPr lang="en-IN" sz="2400" b="0" i="0" dirty="0">
                          <a:effectLst/>
                          <a:latin typeface="Times New Roman" panose="02020603050405020304" pitchFamily="18" charset="0"/>
                          <a:cs typeface="Times New Roman" panose="02020603050405020304" pitchFamily="18" charset="0"/>
                        </a:rPr>
                        <a:t>&lt;/body&gt;</a:t>
                      </a:r>
                    </a:p>
                    <a:p>
                      <a:pPr algn="l" rtl="0" fontAlgn="base"/>
                      <a:r>
                        <a:rPr lang="en-IN" sz="2400" b="0" i="0" dirty="0">
                          <a:effectLst/>
                          <a:latin typeface="Times New Roman" panose="02020603050405020304" pitchFamily="18" charset="0"/>
                          <a:cs typeface="Times New Roman" panose="02020603050405020304" pitchFamily="18" charset="0"/>
                        </a:rPr>
                        <a:t> </a:t>
                      </a:r>
                    </a:p>
                    <a:p>
                      <a:pPr algn="l" rtl="0" fontAlgn="base"/>
                      <a:r>
                        <a:rPr lang="en-IN" sz="2400" b="0" i="0" dirty="0">
                          <a:effectLst/>
                          <a:latin typeface="Times New Roman" panose="02020603050405020304" pitchFamily="18" charset="0"/>
                          <a:cs typeface="Times New Roman" panose="02020603050405020304" pitchFamily="18" charset="0"/>
                        </a:rPr>
                        <a:t>&lt;/html&gt;</a:t>
                      </a:r>
                    </a:p>
                  </a:txBody>
                  <a:tcPr marL="54189" marR="54189" marT="75864" marB="7586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noFill/>
                  </a:tcPr>
                </a:tc>
                <a:extLst>
                  <a:ext uri="{0D108BD9-81ED-4DB2-BD59-A6C34878D82A}">
                    <a16:rowId xmlns="" xmlns:a16="http://schemas.microsoft.com/office/drawing/2014/main" val="10000"/>
                  </a:ext>
                </a:extLst>
              </a:tr>
            </a:tbl>
          </a:graphicData>
        </a:graphic>
      </p:graphicFrame>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a:ln>
                  <a:noFill/>
                </a:ln>
                <a:solidFill>
                  <a:schemeClr val="tx1"/>
                </a:solidFill>
                <a:effectLst/>
                <a:latin typeface="Arial" panose="020B0604020202020204" pitchFamily="34" charset="0"/>
              </a:rPr>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53324637"/>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solidFill>
                  <a:srgbClr val="273239"/>
                </a:solidFill>
                <a:effectLst/>
                <a:latin typeface="Nunito" pitchFamily="2" charset="0"/>
              </a:rPr>
              <a:t>Header:</a:t>
            </a:r>
            <a:br>
              <a:rPr lang="en-US" b="1" i="0" dirty="0">
                <a:solidFill>
                  <a:srgbClr val="273239"/>
                </a:solidFill>
                <a:effectLst/>
                <a:latin typeface="Nunito" pitchFamily="2" charset="0"/>
              </a:rPr>
            </a:br>
            <a:endParaRPr lang="en-IN" dirty="0"/>
          </a:p>
        </p:txBody>
      </p:sp>
      <p:sp>
        <p:nvSpPr>
          <p:cNvPr id="3" name="Content Placeholder 2"/>
          <p:cNvSpPr>
            <a:spLocks noGrp="1"/>
          </p:cNvSpPr>
          <p:nvPr>
            <p:ph idx="1"/>
          </p:nvPr>
        </p:nvSpPr>
        <p:spPr/>
        <p:txBody>
          <a:bodyPr/>
          <a:lstStyle/>
          <a:p>
            <a:pPr algn="l" rtl="0" fontAlgn="base"/>
            <a:r>
              <a:rPr lang="en-US" b="0" i="0" dirty="0">
                <a:solidFill>
                  <a:srgbClr val="273239"/>
                </a:solidFill>
                <a:effectLst/>
                <a:latin typeface="Nunito" pitchFamily="2" charset="0"/>
              </a:rPr>
              <a:t>As the name suggests, it is for the header of a section introductory of a page. There can be multiple headers on a page.  </a:t>
            </a:r>
          </a:p>
          <a:p>
            <a:endParaRPr lang="en-IN" dirty="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idx="1"/>
          </p:nvPr>
        </p:nvSpPr>
        <p:spPr bwMode="auto">
          <a:xfrm>
            <a:off x="655526" y="152560"/>
            <a:ext cx="10215673"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rgbClr val="000000"/>
                </a:solidFill>
                <a:effectLst/>
                <a:latin typeface="Consolas" panose="020B0609020204030204" pitchFamily="49" charset="0"/>
              </a:rPr>
              <a:t>&lt;!DOCTYPE html&gt;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rgbClr val="000000"/>
                </a:solidFill>
                <a:effectLst/>
                <a:latin typeface="Consolas" panose="020B0609020204030204" pitchFamily="49" charset="0"/>
              </a:rPr>
              <a:t>&lt;</a:t>
            </a:r>
            <a:r>
              <a:rPr kumimoji="0" lang="en-US" altLang="en-US" sz="2400" b="1" i="0" u="none" strike="noStrike" cap="none" normalizeH="0" baseline="0" dirty="0">
                <a:ln>
                  <a:noFill/>
                </a:ln>
                <a:solidFill>
                  <a:srgbClr val="006699"/>
                </a:solidFill>
                <a:effectLst/>
                <a:latin typeface="Consolas" panose="020B0609020204030204" pitchFamily="49" charset="0"/>
              </a:rPr>
              <a:t>html</a:t>
            </a:r>
            <a:r>
              <a:rPr kumimoji="0" lang="en-US" altLang="en-US" sz="2400" b="0" i="0" u="none" strike="noStrike" cap="none" normalizeH="0" baseline="0" dirty="0">
                <a:ln>
                  <a:noFill/>
                </a:ln>
                <a:solidFill>
                  <a:srgbClr val="000000"/>
                </a:solidFill>
                <a:effectLst/>
                <a:latin typeface="Consolas" panose="020B0609020204030204" pitchFamily="49" charset="0"/>
              </a:rPr>
              <a:t>&gt;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rgbClr val="273239"/>
                </a:solidFill>
                <a:effectLst/>
                <a:latin typeface="Consolas" panose="020B0609020204030204" pitchFamily="49" charset="0"/>
              </a:rPr>
              <a:t> </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rgbClr val="000000"/>
                </a:solidFill>
                <a:effectLst/>
                <a:latin typeface="Consolas" panose="020B0609020204030204" pitchFamily="49" charset="0"/>
              </a:rPr>
              <a:t>&lt;</a:t>
            </a:r>
            <a:r>
              <a:rPr kumimoji="0" lang="en-US" altLang="en-US" sz="2400" b="1" i="0" u="none" strike="noStrike" cap="none" normalizeH="0" baseline="0" dirty="0">
                <a:ln>
                  <a:noFill/>
                </a:ln>
                <a:solidFill>
                  <a:srgbClr val="006699"/>
                </a:solidFill>
                <a:effectLst/>
                <a:latin typeface="Consolas" panose="020B0609020204030204" pitchFamily="49" charset="0"/>
              </a:rPr>
              <a:t>head</a:t>
            </a:r>
            <a:r>
              <a:rPr kumimoji="0" lang="en-US" altLang="en-US" sz="2400" b="0" i="0" u="none" strike="noStrike" cap="none" normalizeH="0" baseline="0" dirty="0">
                <a:ln>
                  <a:noFill/>
                </a:ln>
                <a:solidFill>
                  <a:srgbClr val="000000"/>
                </a:solidFill>
                <a:effectLst/>
                <a:latin typeface="Consolas" panose="020B0609020204030204" pitchFamily="49" charset="0"/>
              </a:rPr>
              <a:t>&gt;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0" i="0" u="none" strike="noStrike" cap="none" normalizeH="0" baseline="0" dirty="0">
                <a:ln>
                  <a:noFill/>
                </a:ln>
                <a:solidFill>
                  <a:srgbClr val="000000"/>
                </a:solidFill>
                <a:effectLst/>
                <a:latin typeface="Consolas" panose="020B0609020204030204" pitchFamily="49" charset="0"/>
              </a:rPr>
              <a:t>&lt;</a:t>
            </a:r>
            <a:r>
              <a:rPr kumimoji="0" lang="en-US" altLang="en-US" sz="2400" b="1" i="0" u="none" strike="noStrike" cap="none" normalizeH="0" baseline="0" dirty="0">
                <a:ln>
                  <a:noFill/>
                </a:ln>
                <a:solidFill>
                  <a:srgbClr val="006699"/>
                </a:solidFill>
                <a:effectLst/>
                <a:latin typeface="Consolas" panose="020B0609020204030204" pitchFamily="49" charset="0"/>
              </a:rPr>
              <a:t>title</a:t>
            </a:r>
            <a:r>
              <a:rPr kumimoji="0" lang="en-US" altLang="en-US" sz="2400" b="0" i="0" u="none" strike="noStrike" cap="none" normalizeH="0" baseline="0" dirty="0">
                <a:ln>
                  <a:noFill/>
                </a:ln>
                <a:solidFill>
                  <a:srgbClr val="000000"/>
                </a:solidFill>
                <a:effectLst/>
                <a:latin typeface="Consolas" panose="020B0609020204030204" pitchFamily="49" charset="0"/>
              </a:rPr>
              <a:t>&gt;Header Tag&lt;/</a:t>
            </a:r>
            <a:r>
              <a:rPr kumimoji="0" lang="en-US" altLang="en-US" sz="2400" b="1" i="0" u="none" strike="noStrike" cap="none" normalizeH="0" baseline="0" dirty="0">
                <a:ln>
                  <a:noFill/>
                </a:ln>
                <a:solidFill>
                  <a:srgbClr val="006699"/>
                </a:solidFill>
                <a:effectLst/>
                <a:latin typeface="Consolas" panose="020B0609020204030204" pitchFamily="49" charset="0"/>
              </a:rPr>
              <a:t>title</a:t>
            </a:r>
            <a:r>
              <a:rPr kumimoji="0" lang="en-US" altLang="en-US" sz="2400" b="0" i="0" u="none" strike="noStrike" cap="none" normalizeH="0" baseline="0" dirty="0">
                <a:ln>
                  <a:noFill/>
                </a:ln>
                <a:solidFill>
                  <a:srgbClr val="000000"/>
                </a:solidFill>
                <a:effectLst/>
                <a:latin typeface="Consolas" panose="020B0609020204030204" pitchFamily="49" charset="0"/>
              </a:rPr>
              <a:t>&gt;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0" i="0" u="none" strike="noStrike" cap="none" normalizeH="0" baseline="0" dirty="0">
                <a:ln>
                  <a:noFill/>
                </a:ln>
                <a:solidFill>
                  <a:srgbClr val="000000"/>
                </a:solidFill>
                <a:effectLst/>
                <a:latin typeface="Consolas" panose="020B0609020204030204" pitchFamily="49" charset="0"/>
              </a:rPr>
              <a:t>&lt;/</a:t>
            </a:r>
            <a:r>
              <a:rPr kumimoji="0" lang="en-US" altLang="en-US" sz="2400" b="1" i="0" u="none" strike="noStrike" cap="none" normalizeH="0" baseline="0" dirty="0">
                <a:ln>
                  <a:noFill/>
                </a:ln>
                <a:solidFill>
                  <a:srgbClr val="006699"/>
                </a:solidFill>
                <a:effectLst/>
                <a:latin typeface="Consolas" panose="020B0609020204030204" pitchFamily="49" charset="0"/>
              </a:rPr>
              <a:t>head</a:t>
            </a:r>
            <a:r>
              <a:rPr kumimoji="0" lang="en-US" altLang="en-US" sz="2400" b="0" i="0" u="none" strike="noStrike" cap="none" normalizeH="0" baseline="0" dirty="0">
                <a:ln>
                  <a:noFill/>
                </a:ln>
                <a:solidFill>
                  <a:srgbClr val="000000"/>
                </a:solidFill>
                <a:effectLst/>
                <a:latin typeface="Consolas" panose="020B0609020204030204" pitchFamily="49" charset="0"/>
              </a:rPr>
              <a:t>&gt;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rgbClr val="273239"/>
                </a:solidFill>
                <a:effectLst/>
                <a:latin typeface="Consolas" panose="020B0609020204030204" pitchFamily="49" charset="0"/>
              </a:rPr>
              <a:t> </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rgbClr val="000000"/>
                </a:solidFill>
                <a:effectLst/>
                <a:latin typeface="Consolas" panose="020B0609020204030204" pitchFamily="49" charset="0"/>
              </a:rPr>
              <a:t>&lt;</a:t>
            </a:r>
            <a:r>
              <a:rPr kumimoji="0" lang="en-US" altLang="en-US" sz="2400" b="1" i="0" u="none" strike="noStrike" cap="none" normalizeH="0" baseline="0" dirty="0">
                <a:ln>
                  <a:noFill/>
                </a:ln>
                <a:solidFill>
                  <a:srgbClr val="006699"/>
                </a:solidFill>
                <a:effectLst/>
                <a:latin typeface="Consolas" panose="020B0609020204030204" pitchFamily="49" charset="0"/>
              </a:rPr>
              <a:t>body</a:t>
            </a:r>
            <a:r>
              <a:rPr kumimoji="0" lang="en-US" altLang="en-US" sz="2400" b="0" i="0" u="none" strike="noStrike" cap="none" normalizeH="0" baseline="0" dirty="0">
                <a:ln>
                  <a:noFill/>
                </a:ln>
                <a:solidFill>
                  <a:srgbClr val="000000"/>
                </a:solidFill>
                <a:effectLst/>
                <a:latin typeface="Consolas" panose="020B0609020204030204" pitchFamily="49" charset="0"/>
              </a:rPr>
              <a:t>&gt;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0" i="0" u="none" strike="noStrike" cap="none" normalizeH="0" baseline="0" dirty="0">
                <a:ln>
                  <a:noFill/>
                </a:ln>
                <a:solidFill>
                  <a:srgbClr val="000000"/>
                </a:solidFill>
                <a:effectLst/>
                <a:latin typeface="Consolas" panose="020B0609020204030204" pitchFamily="49" charset="0"/>
              </a:rPr>
              <a:t>&lt;</a:t>
            </a:r>
            <a:r>
              <a:rPr kumimoji="0" lang="en-US" altLang="en-US" sz="2400" b="1" i="0" u="none" strike="noStrike" cap="none" normalizeH="0" baseline="0" dirty="0">
                <a:ln>
                  <a:noFill/>
                </a:ln>
                <a:solidFill>
                  <a:srgbClr val="006699"/>
                </a:solidFill>
                <a:effectLst/>
                <a:latin typeface="Consolas" panose="020B0609020204030204" pitchFamily="49" charset="0"/>
              </a:rPr>
              <a:t>article</a:t>
            </a:r>
            <a:r>
              <a:rPr kumimoji="0" lang="en-US" altLang="en-US" sz="2400" b="0" i="0" u="none" strike="noStrike" cap="none" normalizeH="0" baseline="0" dirty="0">
                <a:ln>
                  <a:noFill/>
                </a:ln>
                <a:solidFill>
                  <a:srgbClr val="000000"/>
                </a:solidFill>
                <a:effectLst/>
                <a:latin typeface="Consolas" panose="020B0609020204030204" pitchFamily="49" charset="0"/>
              </a:rPr>
              <a:t>&gt;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0" i="0" u="none" strike="noStrike" cap="none" normalizeH="0" baseline="0" dirty="0">
                <a:ln>
                  <a:noFill/>
                </a:ln>
                <a:solidFill>
                  <a:srgbClr val="000000"/>
                </a:solidFill>
                <a:effectLst/>
                <a:latin typeface="Consolas" panose="020B0609020204030204" pitchFamily="49" charset="0"/>
              </a:rPr>
              <a:t>&lt;</a:t>
            </a:r>
            <a:r>
              <a:rPr kumimoji="0" lang="en-US" altLang="en-US" sz="2400" b="1" i="0" u="none" strike="noStrike" cap="none" normalizeH="0" baseline="0" dirty="0">
                <a:ln>
                  <a:noFill/>
                </a:ln>
                <a:solidFill>
                  <a:srgbClr val="006699"/>
                </a:solidFill>
                <a:effectLst/>
                <a:latin typeface="Consolas" panose="020B0609020204030204" pitchFamily="49" charset="0"/>
              </a:rPr>
              <a:t>header</a:t>
            </a:r>
            <a:r>
              <a:rPr kumimoji="0" lang="en-US" altLang="en-US" sz="2400" b="0" i="0" u="none" strike="noStrike" cap="none" normalizeH="0" baseline="0" dirty="0">
                <a:ln>
                  <a:noFill/>
                </a:ln>
                <a:solidFill>
                  <a:srgbClr val="000000"/>
                </a:solidFill>
                <a:effectLst/>
                <a:latin typeface="Consolas" panose="020B0609020204030204" pitchFamily="49" charset="0"/>
              </a:rPr>
              <a:t>&gt;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0" i="0" u="none" strike="noStrike" cap="none" normalizeH="0" baseline="0" dirty="0">
                <a:ln>
                  <a:noFill/>
                </a:ln>
                <a:solidFill>
                  <a:srgbClr val="000000"/>
                </a:solidFill>
                <a:effectLst/>
                <a:latin typeface="Consolas" panose="020B0609020204030204" pitchFamily="49" charset="0"/>
              </a:rPr>
              <a:t>&lt;</a:t>
            </a:r>
            <a:r>
              <a:rPr kumimoji="0" lang="en-US" altLang="en-US" sz="2400" b="1" i="0" u="none" strike="noStrike" cap="none" normalizeH="0" baseline="0" dirty="0">
                <a:ln>
                  <a:noFill/>
                </a:ln>
                <a:solidFill>
                  <a:srgbClr val="006699"/>
                </a:solidFill>
                <a:effectLst/>
                <a:latin typeface="Consolas" panose="020B0609020204030204" pitchFamily="49" charset="0"/>
              </a:rPr>
              <a:t>h1</a:t>
            </a:r>
            <a:r>
              <a:rPr kumimoji="0" lang="en-US" altLang="en-US" sz="2400" b="0" i="0" u="none" strike="noStrike" cap="none" normalizeH="0" baseline="0" dirty="0">
                <a:ln>
                  <a:noFill/>
                </a:ln>
                <a:solidFill>
                  <a:srgbClr val="000000"/>
                </a:solidFill>
                <a:effectLst/>
                <a:latin typeface="Consolas" panose="020B0609020204030204" pitchFamily="49" charset="0"/>
              </a:rPr>
              <a:t>&gt;</a:t>
            </a:r>
            <a:r>
              <a:rPr kumimoji="0" lang="en-US" altLang="en-US" sz="2400" b="0" i="0" u="none" strike="noStrike" cap="none" normalizeH="0" baseline="0" dirty="0" err="1">
                <a:ln>
                  <a:noFill/>
                </a:ln>
                <a:solidFill>
                  <a:srgbClr val="000000"/>
                </a:solidFill>
                <a:effectLst/>
                <a:latin typeface="Consolas" panose="020B0609020204030204" pitchFamily="49" charset="0"/>
              </a:rPr>
              <a:t>GeeksforGeeks</a:t>
            </a:r>
            <a:r>
              <a:rPr kumimoji="0" lang="en-US" altLang="en-US" sz="2400" b="0" i="0" u="none" strike="noStrike" cap="none" normalizeH="0" baseline="0" dirty="0">
                <a:ln>
                  <a:noFill/>
                </a:ln>
                <a:solidFill>
                  <a:srgbClr val="000000"/>
                </a:solidFill>
                <a:effectLst/>
                <a:latin typeface="Consolas" panose="020B0609020204030204" pitchFamily="49" charset="0"/>
              </a:rPr>
              <a:t>&lt;/</a:t>
            </a:r>
            <a:r>
              <a:rPr kumimoji="0" lang="en-US" altLang="en-US" sz="2400" b="1" i="0" u="none" strike="noStrike" cap="none" normalizeH="0" baseline="0" dirty="0">
                <a:ln>
                  <a:noFill/>
                </a:ln>
                <a:solidFill>
                  <a:srgbClr val="006699"/>
                </a:solidFill>
                <a:effectLst/>
                <a:latin typeface="Consolas" panose="020B0609020204030204" pitchFamily="49" charset="0"/>
              </a:rPr>
              <a:t>h1</a:t>
            </a:r>
            <a:r>
              <a:rPr kumimoji="0" lang="en-US" altLang="en-US" sz="2400" b="0" i="0" u="none" strike="noStrike" cap="none" normalizeH="0" baseline="0" dirty="0">
                <a:ln>
                  <a:noFill/>
                </a:ln>
                <a:solidFill>
                  <a:srgbClr val="000000"/>
                </a:solidFill>
                <a:effectLst/>
                <a:latin typeface="Consolas" panose="020B0609020204030204" pitchFamily="49" charset="0"/>
              </a:rPr>
              <a:t>&gt;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0" i="0" u="none" strike="noStrike" cap="none" normalizeH="0" baseline="0" dirty="0">
                <a:ln>
                  <a:noFill/>
                </a:ln>
                <a:solidFill>
                  <a:srgbClr val="000000"/>
                </a:solidFill>
                <a:effectLst/>
                <a:latin typeface="Consolas" panose="020B0609020204030204" pitchFamily="49" charset="0"/>
              </a:rPr>
              <a:t>&lt;</a:t>
            </a:r>
            <a:r>
              <a:rPr kumimoji="0" lang="en-US" altLang="en-US" sz="2400" b="1" i="0" u="none" strike="noStrike" cap="none" normalizeH="0" baseline="0" dirty="0">
                <a:ln>
                  <a:noFill/>
                </a:ln>
                <a:solidFill>
                  <a:srgbClr val="006699"/>
                </a:solidFill>
                <a:effectLst/>
                <a:latin typeface="Consolas" panose="020B0609020204030204" pitchFamily="49" charset="0"/>
              </a:rPr>
              <a:t>h3</a:t>
            </a:r>
            <a:r>
              <a:rPr kumimoji="0" lang="en-US" altLang="en-US" sz="2400" b="0" i="0" u="none" strike="noStrike" cap="none" normalizeH="0" baseline="0" dirty="0">
                <a:ln>
                  <a:noFill/>
                </a:ln>
                <a:solidFill>
                  <a:srgbClr val="000000"/>
                </a:solidFill>
                <a:effectLst/>
                <a:latin typeface="Consolas" panose="020B0609020204030204" pitchFamily="49" charset="0"/>
              </a:rPr>
              <a:t>&gt;</a:t>
            </a:r>
            <a:r>
              <a:rPr kumimoji="0" lang="en-US" altLang="en-US" sz="2400" b="0" i="0" u="none" strike="noStrike" cap="none" normalizeH="0" baseline="0" dirty="0" err="1">
                <a:ln>
                  <a:noFill/>
                </a:ln>
                <a:solidFill>
                  <a:srgbClr val="000000"/>
                </a:solidFill>
                <a:effectLst/>
                <a:latin typeface="Consolas" panose="020B0609020204030204" pitchFamily="49" charset="0"/>
              </a:rPr>
              <a:t>GeeksforGeeks</a:t>
            </a:r>
            <a:r>
              <a:rPr kumimoji="0" lang="en-US" altLang="en-US" sz="2400" b="0" i="0" u="none" strike="noStrike" cap="none" normalizeH="0" baseline="0" dirty="0">
                <a:ln>
                  <a:noFill/>
                </a:ln>
                <a:solidFill>
                  <a:srgbClr val="000000"/>
                </a:solidFill>
                <a:effectLst/>
                <a:latin typeface="Consolas" panose="020B0609020204030204" pitchFamily="49" charset="0"/>
              </a:rPr>
              <a:t>&lt;/</a:t>
            </a:r>
            <a:r>
              <a:rPr kumimoji="0" lang="en-US" altLang="en-US" sz="2400" b="1" i="0" u="none" strike="noStrike" cap="none" normalizeH="0" baseline="0" dirty="0">
                <a:ln>
                  <a:noFill/>
                </a:ln>
                <a:solidFill>
                  <a:srgbClr val="006699"/>
                </a:solidFill>
                <a:effectLst/>
                <a:latin typeface="Consolas" panose="020B0609020204030204" pitchFamily="49" charset="0"/>
              </a:rPr>
              <a:t>h3</a:t>
            </a:r>
            <a:r>
              <a:rPr kumimoji="0" lang="en-US" altLang="en-US" sz="2400" b="0" i="0" u="none" strike="noStrike" cap="none" normalizeH="0" baseline="0" dirty="0">
                <a:ln>
                  <a:noFill/>
                </a:ln>
                <a:solidFill>
                  <a:srgbClr val="000000"/>
                </a:solidFill>
                <a:effectLst/>
                <a:latin typeface="Consolas" panose="020B0609020204030204" pitchFamily="49" charset="0"/>
              </a:rPr>
              <a:t>&gt;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0" i="0" u="none" strike="noStrike" cap="none" normalizeH="0" baseline="0" dirty="0">
                <a:ln>
                  <a:noFill/>
                </a:ln>
                <a:solidFill>
                  <a:srgbClr val="000000"/>
                </a:solidFill>
                <a:effectLst/>
                <a:latin typeface="Consolas" panose="020B0609020204030204" pitchFamily="49" charset="0"/>
              </a:rPr>
              <a:t>&lt;</a:t>
            </a:r>
            <a:r>
              <a:rPr kumimoji="0" lang="en-US" altLang="en-US" sz="2400" b="1" i="0" u="none" strike="noStrike" cap="none" normalizeH="0" baseline="0" dirty="0">
                <a:ln>
                  <a:noFill/>
                </a:ln>
                <a:solidFill>
                  <a:srgbClr val="006699"/>
                </a:solidFill>
                <a:effectLst/>
                <a:latin typeface="Consolas" panose="020B0609020204030204" pitchFamily="49" charset="0"/>
              </a:rPr>
              <a:t>p</a:t>
            </a:r>
            <a:r>
              <a:rPr kumimoji="0" lang="en-US" altLang="en-US" sz="2400" b="0" i="0" u="none" strike="noStrike" cap="none" normalizeH="0" baseline="0" dirty="0">
                <a:ln>
                  <a:noFill/>
                </a:ln>
                <a:solidFill>
                  <a:srgbClr val="000000"/>
                </a:solidFill>
                <a:effectLst/>
                <a:latin typeface="Consolas" panose="020B0609020204030204" pitchFamily="49" charset="0"/>
              </a:rPr>
              <a:t>&gt;A computer Science portal&lt;/</a:t>
            </a:r>
            <a:r>
              <a:rPr kumimoji="0" lang="en-US" altLang="en-US" sz="2400" b="1" i="0" u="none" strike="noStrike" cap="none" normalizeH="0" baseline="0" dirty="0">
                <a:ln>
                  <a:noFill/>
                </a:ln>
                <a:solidFill>
                  <a:srgbClr val="006699"/>
                </a:solidFill>
                <a:effectLst/>
                <a:latin typeface="Consolas" panose="020B0609020204030204" pitchFamily="49" charset="0"/>
              </a:rPr>
              <a:t>p</a:t>
            </a:r>
            <a:r>
              <a:rPr kumimoji="0" lang="en-US" altLang="en-US" sz="2400" b="0" i="0" u="none" strike="noStrike" cap="none" normalizeH="0" baseline="0" dirty="0">
                <a:ln>
                  <a:noFill/>
                </a:ln>
                <a:solidFill>
                  <a:srgbClr val="000000"/>
                </a:solidFill>
                <a:effectLst/>
                <a:latin typeface="Consolas" panose="020B0609020204030204" pitchFamily="49" charset="0"/>
              </a:rPr>
              <a:t>&gt;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0" i="0" u="none" strike="noStrike" cap="none" normalizeH="0" baseline="0" dirty="0">
                <a:ln>
                  <a:noFill/>
                </a:ln>
                <a:solidFill>
                  <a:srgbClr val="000000"/>
                </a:solidFill>
                <a:effectLst/>
                <a:latin typeface="Consolas" panose="020B0609020204030204" pitchFamily="49" charset="0"/>
              </a:rPr>
              <a:t>&lt;/</a:t>
            </a:r>
            <a:r>
              <a:rPr kumimoji="0" lang="en-US" altLang="en-US" sz="2400" b="1" i="0" u="none" strike="noStrike" cap="none" normalizeH="0" baseline="0" dirty="0">
                <a:ln>
                  <a:noFill/>
                </a:ln>
                <a:solidFill>
                  <a:srgbClr val="006699"/>
                </a:solidFill>
                <a:effectLst/>
                <a:latin typeface="Consolas" panose="020B0609020204030204" pitchFamily="49" charset="0"/>
              </a:rPr>
              <a:t>header</a:t>
            </a:r>
            <a:r>
              <a:rPr kumimoji="0" lang="en-US" altLang="en-US" sz="2400" b="0" i="0" u="none" strike="noStrike" cap="none" normalizeH="0" baseline="0" dirty="0">
                <a:ln>
                  <a:noFill/>
                </a:ln>
                <a:solidFill>
                  <a:srgbClr val="000000"/>
                </a:solidFill>
                <a:effectLst/>
                <a:latin typeface="Consolas" panose="020B0609020204030204" pitchFamily="49" charset="0"/>
              </a:rPr>
              <a:t>&gt;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0" i="0" u="none" strike="noStrike" cap="none" normalizeH="0" baseline="0" dirty="0">
                <a:ln>
                  <a:noFill/>
                </a:ln>
                <a:solidFill>
                  <a:srgbClr val="000000"/>
                </a:solidFill>
                <a:effectLst/>
                <a:latin typeface="Consolas" panose="020B0609020204030204" pitchFamily="49" charset="0"/>
              </a:rPr>
              <a:t>&lt;/</a:t>
            </a:r>
            <a:r>
              <a:rPr kumimoji="0" lang="en-US" altLang="en-US" sz="2400" b="1" i="0" u="none" strike="noStrike" cap="none" normalizeH="0" baseline="0" dirty="0">
                <a:ln>
                  <a:noFill/>
                </a:ln>
                <a:solidFill>
                  <a:srgbClr val="006699"/>
                </a:solidFill>
                <a:effectLst/>
                <a:latin typeface="Consolas" panose="020B0609020204030204" pitchFamily="49" charset="0"/>
              </a:rPr>
              <a:t>article</a:t>
            </a:r>
            <a:r>
              <a:rPr kumimoji="0" lang="en-US" altLang="en-US" sz="2400" b="0" i="0" u="none" strike="noStrike" cap="none" normalizeH="0" baseline="0" dirty="0">
                <a:ln>
                  <a:noFill/>
                </a:ln>
                <a:solidFill>
                  <a:srgbClr val="000000"/>
                </a:solidFill>
                <a:effectLst/>
                <a:latin typeface="Consolas" panose="020B0609020204030204" pitchFamily="49" charset="0"/>
              </a:rPr>
              <a:t>&gt;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rgbClr val="000000"/>
                </a:solidFill>
                <a:effectLst/>
                <a:latin typeface="Consolas" panose="020B0609020204030204" pitchFamily="49" charset="0"/>
              </a:rPr>
              <a:t>&lt;/</a:t>
            </a:r>
            <a:r>
              <a:rPr kumimoji="0" lang="en-US" altLang="en-US" sz="2400" b="1" i="0" u="none" strike="noStrike" cap="none" normalizeH="0" baseline="0" dirty="0">
                <a:ln>
                  <a:noFill/>
                </a:ln>
                <a:solidFill>
                  <a:srgbClr val="006699"/>
                </a:solidFill>
                <a:effectLst/>
                <a:latin typeface="Consolas" panose="020B0609020204030204" pitchFamily="49" charset="0"/>
              </a:rPr>
              <a:t>body</a:t>
            </a:r>
            <a:r>
              <a:rPr kumimoji="0" lang="en-US" altLang="en-US" sz="2400" b="0" i="0" u="none" strike="noStrike" cap="none" normalizeH="0" baseline="0" dirty="0">
                <a:ln>
                  <a:noFill/>
                </a:ln>
                <a:solidFill>
                  <a:srgbClr val="000000"/>
                </a:solidFill>
                <a:effectLst/>
                <a:latin typeface="Consolas" panose="020B0609020204030204" pitchFamily="49" charset="0"/>
              </a:rPr>
              <a:t>&gt;</a:t>
            </a:r>
            <a:endParaRPr kumimoji="0" lang="en-US" altLang="en-US" sz="2400" b="0" i="0" u="none" strike="noStrike" cap="none" normalizeH="0" baseline="0" dirty="0">
              <a:ln>
                <a:noFill/>
              </a:ln>
              <a:solidFill>
                <a:schemeClr val="tx1"/>
              </a:solidFill>
              <a:effectLst/>
            </a:endParaRP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l" fontAlgn="base"/>
            <a:r>
              <a:rPr lang="en-US" b="1" i="0" dirty="0">
                <a:solidFill>
                  <a:srgbClr val="273239"/>
                </a:solidFill>
                <a:effectLst/>
                <a:latin typeface="Nunito" pitchFamily="2" charset="0"/>
              </a:rPr>
              <a:t>Footer:</a:t>
            </a:r>
          </a:p>
          <a:p>
            <a:pPr algn="l" rtl="0" fontAlgn="base"/>
            <a:r>
              <a:rPr lang="en-US" b="0" i="0" dirty="0">
                <a:solidFill>
                  <a:srgbClr val="273239"/>
                </a:solidFill>
                <a:effectLst/>
                <a:latin typeface="Nunito" pitchFamily="2" charset="0"/>
              </a:rPr>
              <a:t>Footer located at the bottom of any article or document, they can contain contact details, copyright information etc. There can be multiple footers on a page. </a:t>
            </a:r>
          </a:p>
          <a:p>
            <a:endParaRPr lang="en-IN" dirty="0"/>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310640" y="152736"/>
          <a:ext cx="9570720" cy="6247728"/>
        </p:xfrm>
        <a:graphic>
          <a:graphicData uri="http://schemas.openxmlformats.org/drawingml/2006/table">
            <a:tbl>
              <a:tblPr/>
              <a:tblGrid>
                <a:gridCol w="9570720">
                  <a:extLst>
                    <a:ext uri="{9D8B030D-6E8A-4147-A177-3AD203B41FA5}">
                      <a16:colId xmlns="" xmlns:a16="http://schemas.microsoft.com/office/drawing/2014/main" val="20000"/>
                    </a:ext>
                  </a:extLst>
                </a:gridCol>
              </a:tblGrid>
              <a:tr h="5165268">
                <a:tc>
                  <a:txBody>
                    <a:bodyPr/>
                    <a:lstStyle/>
                    <a:p>
                      <a:pPr algn="l" rtl="0" fontAlgn="base"/>
                      <a:r>
                        <a:rPr lang="en-IN" sz="2000" b="0" i="0" dirty="0">
                          <a:effectLst/>
                          <a:latin typeface="Consolas" panose="020B0609020204030204" pitchFamily="49" charset="0"/>
                        </a:rPr>
                        <a:t>&lt;!DOCTYPE html&gt;</a:t>
                      </a:r>
                    </a:p>
                    <a:p>
                      <a:pPr algn="l" rtl="0" fontAlgn="base"/>
                      <a:r>
                        <a:rPr lang="en-IN" sz="2000" b="0" i="0" dirty="0">
                          <a:effectLst/>
                          <a:latin typeface="Consolas" panose="020B0609020204030204" pitchFamily="49" charset="0"/>
                        </a:rPr>
                        <a:t>&lt;html&gt;</a:t>
                      </a:r>
                    </a:p>
                    <a:p>
                      <a:pPr algn="l" rtl="0" fontAlgn="base"/>
                      <a:r>
                        <a:rPr lang="en-IN" sz="2000" b="0" i="0" dirty="0">
                          <a:effectLst/>
                          <a:latin typeface="Consolas" panose="020B0609020204030204" pitchFamily="49" charset="0"/>
                        </a:rPr>
                        <a:t>&lt;head&gt;</a:t>
                      </a:r>
                    </a:p>
                    <a:p>
                      <a:pPr algn="l" rtl="0" fontAlgn="base"/>
                      <a:r>
                        <a:rPr lang="en-IN" sz="2000" b="0" i="0" dirty="0">
                          <a:effectLst/>
                          <a:latin typeface="Consolas" panose="020B0609020204030204" pitchFamily="49" charset="0"/>
                        </a:rPr>
                        <a:t>    &lt;title&gt;footer Tag&lt;/title&gt;</a:t>
                      </a:r>
                    </a:p>
                    <a:p>
                      <a:pPr algn="l" rtl="0" fontAlgn="base"/>
                      <a:r>
                        <a:rPr lang="en-IN" sz="2000" b="0" i="0" dirty="0">
                          <a:effectLst/>
                          <a:latin typeface="Consolas" panose="020B0609020204030204" pitchFamily="49" charset="0"/>
                        </a:rPr>
                        <a:t>    &lt;/head&gt;</a:t>
                      </a:r>
                    </a:p>
                    <a:p>
                      <a:pPr algn="l" rtl="0" fontAlgn="base"/>
                      <a:r>
                        <a:rPr lang="en-IN" sz="2000" b="0" i="0" dirty="0">
                          <a:effectLst/>
                          <a:latin typeface="Consolas" panose="020B0609020204030204" pitchFamily="49" charset="0"/>
                        </a:rPr>
                        <a:t>&lt;body&gt;</a:t>
                      </a:r>
                    </a:p>
                    <a:p>
                      <a:pPr algn="l" rtl="0" fontAlgn="base"/>
                      <a:r>
                        <a:rPr lang="en-IN" sz="2000" b="0" i="0" dirty="0">
                          <a:effectLst/>
                          <a:latin typeface="Consolas" panose="020B0609020204030204" pitchFamily="49" charset="0"/>
                        </a:rPr>
                        <a:t>    &lt;footer&gt;</a:t>
                      </a:r>
                    </a:p>
                    <a:p>
                      <a:pPr algn="l" rtl="0" fontAlgn="base"/>
                      <a:r>
                        <a:rPr lang="en-IN" sz="2000" b="0" i="0" dirty="0">
                          <a:effectLst/>
                          <a:latin typeface="Consolas" panose="020B0609020204030204" pitchFamily="49" charset="0"/>
                        </a:rPr>
                        <a:t>        &lt;p&gt;</a:t>
                      </a:r>
                    </a:p>
                    <a:p>
                      <a:pPr algn="l" rtl="0" fontAlgn="base"/>
                      <a:r>
                        <a:rPr lang="en-IN" sz="2000" b="0" i="0" dirty="0">
                          <a:effectLst/>
                          <a:latin typeface="Consolas" panose="020B0609020204030204" pitchFamily="49" charset="0"/>
                        </a:rPr>
                        <a:t>            Posted by: </a:t>
                      </a:r>
                      <a:r>
                        <a:rPr lang="en-IN" sz="2000" b="0" i="0" dirty="0" err="1">
                          <a:effectLst/>
                          <a:latin typeface="Consolas" panose="020B0609020204030204" pitchFamily="49" charset="0"/>
                        </a:rPr>
                        <a:t>GeeksforGeeks</a:t>
                      </a:r>
                      <a:endParaRPr lang="en-IN" sz="2000" b="0" i="0" dirty="0">
                        <a:effectLst/>
                        <a:latin typeface="Consolas" panose="020B0609020204030204" pitchFamily="49" charset="0"/>
                      </a:endParaRPr>
                    </a:p>
                    <a:p>
                      <a:pPr algn="l" rtl="0" fontAlgn="base"/>
                      <a:r>
                        <a:rPr lang="en-IN" sz="2000" b="0" i="0" dirty="0">
                          <a:effectLst/>
                          <a:latin typeface="Consolas" panose="020B0609020204030204" pitchFamily="49" charset="0"/>
                        </a:rPr>
                        <a:t>        &lt;/p&gt;</a:t>
                      </a:r>
                    </a:p>
                    <a:p>
                      <a:pPr algn="l" rtl="0" fontAlgn="base"/>
                      <a:r>
                        <a:rPr lang="en-IN" sz="2000" b="0" i="0" dirty="0">
                          <a:effectLst/>
                          <a:latin typeface="Consolas" panose="020B0609020204030204" pitchFamily="49" charset="0"/>
                        </a:rPr>
                        <a:t>        &lt;p&gt;</a:t>
                      </a:r>
                    </a:p>
                    <a:p>
                      <a:pPr algn="l" rtl="0" fontAlgn="base"/>
                      <a:r>
                        <a:rPr lang="en-IN" sz="2000" b="0" i="0" dirty="0">
                          <a:effectLst/>
                          <a:latin typeface="Consolas" panose="020B0609020204030204" pitchFamily="49" charset="0"/>
                        </a:rPr>
                        <a:t>            Contact: </a:t>
                      </a:r>
                    </a:p>
                    <a:p>
                      <a:pPr algn="l" rtl="0" fontAlgn="base"/>
                      <a:r>
                        <a:rPr lang="en-IN" sz="2000" b="0" i="0" dirty="0">
                          <a:effectLst/>
                          <a:latin typeface="Consolas" panose="020B0609020204030204" pitchFamily="49" charset="0"/>
                        </a:rPr>
                        <a:t>            &lt;a </a:t>
                      </a:r>
                      <a:r>
                        <a:rPr lang="en-IN" sz="2000" b="0" i="0" dirty="0" err="1">
                          <a:effectLst/>
                          <a:latin typeface="Consolas" panose="020B0609020204030204" pitchFamily="49" charset="0"/>
                        </a:rPr>
                        <a:t>href</a:t>
                      </a:r>
                      <a:r>
                        <a:rPr lang="en-IN" sz="2000" b="0" i="0" dirty="0">
                          <a:effectLst/>
                          <a:latin typeface="Consolas" panose="020B0609020204030204" pitchFamily="49" charset="0"/>
                        </a:rPr>
                        <a:t>=</a:t>
                      </a:r>
                    </a:p>
                    <a:p>
                      <a:pPr algn="l" rtl="0" fontAlgn="base"/>
                      <a:r>
                        <a:rPr lang="en-IN" sz="2000" b="0" i="0" dirty="0">
                          <a:effectLst/>
                          <a:latin typeface="Consolas" panose="020B0609020204030204" pitchFamily="49" charset="0"/>
                        </a:rPr>
                        <a:t>"</a:t>
                      </a:r>
                      <a:r>
                        <a:rPr lang="en-IN" sz="2000" b="0" i="0" u="sng" dirty="0">
                          <a:solidFill>
                            <a:srgbClr val="0000FF"/>
                          </a:solidFill>
                          <a:effectLst/>
                          <a:latin typeface="Consolas" panose="020B0609020204030204" pitchFamily="49" charset="0"/>
                          <a:hlinkClick r:id="rId2"/>
                        </a:rPr>
                        <a:t>https://www.geeksforgeeks.org</a:t>
                      </a:r>
                      <a:r>
                        <a:rPr lang="en-IN" sz="2000" b="0" i="0" dirty="0">
                          <a:effectLst/>
                          <a:latin typeface="Consolas" panose="020B0609020204030204" pitchFamily="49" charset="0"/>
                        </a:rPr>
                        <a:t>"&gt;</a:t>
                      </a:r>
                    </a:p>
                    <a:p>
                      <a:pPr algn="l" rtl="0" fontAlgn="base"/>
                      <a:r>
                        <a:rPr lang="en-IN" sz="2000" b="0" i="0" dirty="0">
                          <a:effectLst/>
                          <a:latin typeface="Consolas" panose="020B0609020204030204" pitchFamily="49" charset="0"/>
                        </a:rPr>
                        <a:t>                geeksforgeeks.org</a:t>
                      </a:r>
                    </a:p>
                    <a:p>
                      <a:pPr algn="l" rtl="0" fontAlgn="base"/>
                      <a:r>
                        <a:rPr lang="en-IN" sz="2000" b="0" i="0" dirty="0">
                          <a:effectLst/>
                          <a:latin typeface="Consolas" panose="020B0609020204030204" pitchFamily="49" charset="0"/>
                        </a:rPr>
                        <a:t>            &lt;/a&gt;.</a:t>
                      </a:r>
                    </a:p>
                    <a:p>
                      <a:pPr algn="l" rtl="0" fontAlgn="base"/>
                      <a:r>
                        <a:rPr lang="en-IN" sz="2000" b="0" i="0" dirty="0">
                          <a:effectLst/>
                          <a:latin typeface="Consolas" panose="020B0609020204030204" pitchFamily="49" charset="0"/>
                        </a:rPr>
                        <a:t>        &lt;/p&gt;</a:t>
                      </a:r>
                    </a:p>
                    <a:p>
                      <a:pPr algn="l" rtl="0" fontAlgn="base"/>
                      <a:r>
                        <a:rPr lang="en-IN" sz="2000" b="0" i="0" dirty="0">
                          <a:effectLst/>
                          <a:latin typeface="Consolas" panose="020B0609020204030204" pitchFamily="49" charset="0"/>
                        </a:rPr>
                        <a:t>    &lt;/footer&gt;</a:t>
                      </a:r>
                    </a:p>
                    <a:p>
                      <a:pPr algn="l" rtl="0" fontAlgn="base"/>
                      <a:r>
                        <a:rPr lang="en-IN" sz="2000" b="0" i="0" dirty="0">
                          <a:effectLst/>
                          <a:latin typeface="Consolas" panose="020B0609020204030204" pitchFamily="49" charset="0"/>
                        </a:rPr>
                        <a:t>&lt;/body&gt;</a:t>
                      </a:r>
                    </a:p>
                    <a:p>
                      <a:pPr algn="l" rtl="0" fontAlgn="base"/>
                      <a:r>
                        <a:rPr lang="en-IN" sz="2000" b="0" i="0" dirty="0">
                          <a:effectLst/>
                          <a:latin typeface="Consolas" panose="020B0609020204030204" pitchFamily="49" charset="0"/>
                        </a:rPr>
                        <a:t>&lt;/html&gt;</a:t>
                      </a:r>
                    </a:p>
                  </a:txBody>
                  <a:tcPr marL="54189" marR="54189" marT="75864" marB="7586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noFill/>
                  </a:tcPr>
                </a:tc>
                <a:extLst>
                  <a:ext uri="{0D108BD9-81ED-4DB2-BD59-A6C34878D82A}">
                    <a16:rowId xmlns="" xmlns:a16="http://schemas.microsoft.com/office/drawing/2014/main" val="10000"/>
                  </a:ext>
                </a:extLst>
              </a:tr>
            </a:tbl>
          </a:graphicData>
        </a:graphic>
      </p:graphicFrame>
      <p:sp>
        <p:nvSpPr>
          <p:cNvPr id="5" name="Rectangle 2"/>
          <p:cNvSpPr>
            <a:spLocks noChangeArrowheads="1"/>
          </p:cNvSpPr>
          <p:nvPr/>
        </p:nvSpPr>
        <p:spPr bwMode="auto">
          <a:xfrm>
            <a:off x="0" y="0"/>
            <a:ext cx="254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200" b="0" i="0" u="none" strike="noStrike" cap="none" normalizeH="0" baseline="0">
                <a:ln>
                  <a:noFill/>
                </a:ln>
                <a:solidFill>
                  <a:srgbClr val="273239"/>
                </a:solidFill>
                <a:effectLst/>
                <a:latin typeface="Nunito" pitchFamily="2" charset="0"/>
              </a:rPr>
              <a:t>   </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solidFill>
                  <a:srgbClr val="273239"/>
                </a:solidFill>
                <a:effectLst/>
                <a:latin typeface="Nunito" pitchFamily="2" charset="0"/>
              </a:rPr>
              <a:t>Details and Summary:</a:t>
            </a:r>
            <a:br>
              <a:rPr lang="en-US" b="1" i="0" dirty="0">
                <a:solidFill>
                  <a:srgbClr val="273239"/>
                </a:solidFill>
                <a:effectLst/>
                <a:latin typeface="Nunito" pitchFamily="2" charset="0"/>
              </a:rPr>
            </a:br>
            <a:endParaRPr lang="en-IN" dirty="0"/>
          </a:p>
        </p:txBody>
      </p:sp>
      <p:sp>
        <p:nvSpPr>
          <p:cNvPr id="3" name="Content Placeholder 2"/>
          <p:cNvSpPr>
            <a:spLocks noGrp="1"/>
          </p:cNvSpPr>
          <p:nvPr>
            <p:ph idx="1"/>
          </p:nvPr>
        </p:nvSpPr>
        <p:spPr/>
        <p:txBody>
          <a:bodyPr/>
          <a:lstStyle/>
          <a:p>
            <a:pPr algn="l" rtl="0" fontAlgn="base"/>
            <a:r>
              <a:rPr lang="en-US" b="0" i="0" dirty="0">
                <a:solidFill>
                  <a:srgbClr val="273239"/>
                </a:solidFill>
                <a:effectLst/>
                <a:latin typeface="Nunito" pitchFamily="2" charset="0"/>
              </a:rPr>
              <a:t>“details” defines additional details that the user can hide or view. “summary” defines a visible heading for a “details” element.</a:t>
            </a:r>
          </a:p>
          <a:p>
            <a:endParaRPr lang="en-IN" dirty="0"/>
          </a:p>
        </p:txBody>
      </p:sp>
      <p:pic>
        <p:nvPicPr>
          <p:cNvPr id="5" name="Picture 4">
            <a:extLst>
              <a:ext uri="{FF2B5EF4-FFF2-40B4-BE49-F238E27FC236}">
                <a16:creationId xmlns="" xmlns:a16="http://schemas.microsoft.com/office/drawing/2014/main" id="{1D109ABF-FD45-CF1D-76E3-6FBF7BE23389}"/>
              </a:ext>
            </a:extLst>
          </p:cNvPr>
          <p:cNvPicPr>
            <a:picLocks noChangeAspect="1"/>
          </p:cNvPicPr>
          <p:nvPr/>
        </p:nvPicPr>
        <p:blipFill>
          <a:blip r:embed="rId2"/>
          <a:srcRect r="63218" b="78723"/>
          <a:stretch/>
        </p:blipFill>
        <p:spPr>
          <a:xfrm>
            <a:off x="1011677" y="3375836"/>
            <a:ext cx="4752479" cy="1546360"/>
          </a:xfrm>
          <a:prstGeom prst="rect">
            <a:avLst/>
          </a:prstGeom>
        </p:spPr>
      </p:pic>
      <p:pic>
        <p:nvPicPr>
          <p:cNvPr id="7" name="Picture 6">
            <a:extLst>
              <a:ext uri="{FF2B5EF4-FFF2-40B4-BE49-F238E27FC236}">
                <a16:creationId xmlns="" xmlns:a16="http://schemas.microsoft.com/office/drawing/2014/main" id="{2C1430B3-5F02-1E51-5E65-66486D5C2131}"/>
              </a:ext>
            </a:extLst>
          </p:cNvPr>
          <p:cNvPicPr>
            <a:picLocks noChangeAspect="1"/>
          </p:cNvPicPr>
          <p:nvPr/>
        </p:nvPicPr>
        <p:blipFill>
          <a:blip r:embed="rId3"/>
          <a:srcRect r="60904" b="75347"/>
          <a:stretch/>
        </p:blipFill>
        <p:spPr>
          <a:xfrm>
            <a:off x="6041687" y="3375836"/>
            <a:ext cx="4766553" cy="1690688"/>
          </a:xfrm>
          <a:prstGeom prst="rect">
            <a:avLst/>
          </a:prstGeom>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idx="1"/>
          </p:nvPr>
        </p:nvSpPr>
        <p:spPr bwMode="auto">
          <a:xfrm>
            <a:off x="1146109" y="486364"/>
            <a:ext cx="10536809" cy="5539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&lt;!DOCTYPE html&gt;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html</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head</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title</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&gt;Detail and summary Tag&lt;/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title</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head</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body</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details</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summary</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GeeksforGeeks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summary</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p</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r>
              <a:rPr kumimoji="0" lang="en-US" altLang="en-US" sz="20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GeeksforGeeks</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is a Computer Science portal where you can learn good programming.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p</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details</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body</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en-US" altLang="en-US" sz="20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html</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l" fontAlgn="base"/>
            <a:r>
              <a:rPr lang="en-US" b="1" i="0" dirty="0">
                <a:solidFill>
                  <a:srgbClr val="273239"/>
                </a:solidFill>
                <a:effectLst/>
                <a:latin typeface="Nunito" pitchFamily="2" charset="0"/>
              </a:rPr>
              <a:t>Figure and </a:t>
            </a:r>
            <a:r>
              <a:rPr lang="en-US" b="1" i="0" dirty="0" err="1">
                <a:solidFill>
                  <a:srgbClr val="273239"/>
                </a:solidFill>
                <a:effectLst/>
                <a:latin typeface="Nunito" pitchFamily="2" charset="0"/>
              </a:rPr>
              <a:t>Figcaption</a:t>
            </a:r>
            <a:r>
              <a:rPr lang="en-US" b="1" i="0" dirty="0">
                <a:solidFill>
                  <a:srgbClr val="273239"/>
                </a:solidFill>
                <a:effectLst/>
                <a:latin typeface="Nunito" pitchFamily="2" charset="0"/>
              </a:rPr>
              <a:t>:</a:t>
            </a:r>
          </a:p>
          <a:p>
            <a:pPr algn="l" rtl="0" fontAlgn="base"/>
            <a:r>
              <a:rPr lang="en-US" b="0" i="0" dirty="0">
                <a:solidFill>
                  <a:srgbClr val="273239"/>
                </a:solidFill>
                <a:effectLst/>
                <a:latin typeface="Nunito" pitchFamily="2" charset="0"/>
              </a:rPr>
              <a:t>These are used to add an image to a web page with a small description.</a:t>
            </a:r>
          </a:p>
          <a:p>
            <a:endParaRPr lang="en-IN" dirty="0"/>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idx="1"/>
          </p:nvPr>
        </p:nvSpPr>
        <p:spPr bwMode="auto">
          <a:xfrm>
            <a:off x="340360" y="222489"/>
            <a:ext cx="7797800" cy="615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Consolas" panose="020B0609020204030204" pitchFamily="49" charset="0"/>
              </a:rPr>
              <a:t>&lt;!DOCTYPE html&gt;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html</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head</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title</a:t>
            </a:r>
            <a:r>
              <a:rPr kumimoji="0" lang="en-US" altLang="en-US" sz="2000" b="0" i="0" u="none" strike="noStrike" cap="none" normalizeH="0" baseline="0" dirty="0">
                <a:ln>
                  <a:noFill/>
                </a:ln>
                <a:solidFill>
                  <a:srgbClr val="000000"/>
                </a:solidFill>
                <a:effectLst/>
                <a:latin typeface="Consolas" panose="020B0609020204030204" pitchFamily="49" charset="0"/>
              </a:rPr>
              <a:t>&gt;</a:t>
            </a:r>
            <a:r>
              <a:rPr kumimoji="0" lang="en-US" altLang="en-US" sz="2000" b="0" i="0" u="none" strike="noStrike" cap="none" normalizeH="0" baseline="0" dirty="0" err="1">
                <a:ln>
                  <a:noFill/>
                </a:ln>
                <a:solidFill>
                  <a:srgbClr val="000000"/>
                </a:solidFill>
                <a:effectLst/>
                <a:latin typeface="Consolas" panose="020B0609020204030204" pitchFamily="49" charset="0"/>
              </a:rPr>
              <a:t>Figcaption</a:t>
            </a:r>
            <a:r>
              <a:rPr kumimoji="0" lang="en-US" altLang="en-US" sz="2000" b="0" i="0" u="none" strike="noStrike" cap="none" normalizeH="0" baseline="0" dirty="0">
                <a:ln>
                  <a:noFill/>
                </a:ln>
                <a:solidFill>
                  <a:srgbClr val="000000"/>
                </a:solidFill>
                <a:effectLst/>
                <a:latin typeface="Consolas" panose="020B0609020204030204" pitchFamily="49" charset="0"/>
              </a:rPr>
              <a:t> Tag&lt;/</a:t>
            </a:r>
            <a:r>
              <a:rPr kumimoji="0" lang="en-US" altLang="en-US" sz="2000" b="1" i="0" u="none" strike="noStrike" cap="none" normalizeH="0" baseline="0" dirty="0">
                <a:ln>
                  <a:noFill/>
                </a:ln>
                <a:solidFill>
                  <a:srgbClr val="006699"/>
                </a:solidFill>
                <a:effectLst/>
                <a:latin typeface="Consolas" panose="020B0609020204030204" pitchFamily="49" charset="0"/>
              </a:rPr>
              <a:t>title</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head</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body</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h2</a:t>
            </a:r>
            <a:r>
              <a:rPr kumimoji="0" lang="en-US" altLang="en-US" sz="2000" b="0" i="0" u="none" strike="noStrike" cap="none" normalizeH="0" baseline="0" dirty="0">
                <a:ln>
                  <a:noFill/>
                </a:ln>
                <a:solidFill>
                  <a:srgbClr val="000000"/>
                </a:solidFill>
                <a:effectLst/>
                <a:latin typeface="Consolas" panose="020B0609020204030204" pitchFamily="49" charset="0"/>
              </a:rPr>
              <a:t>&gt;</a:t>
            </a:r>
            <a:r>
              <a:rPr kumimoji="0" lang="en-US" altLang="en-US" sz="2000" b="0" i="0" u="none" strike="noStrike" cap="none" normalizeH="0" baseline="0" dirty="0" err="1">
                <a:ln>
                  <a:noFill/>
                </a:ln>
                <a:solidFill>
                  <a:srgbClr val="000000"/>
                </a:solidFill>
                <a:effectLst/>
                <a:latin typeface="Consolas" panose="020B0609020204030204" pitchFamily="49" charset="0"/>
              </a:rPr>
              <a:t>GeeksforGeeks</a:t>
            </a: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h2</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figure</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err="1">
                <a:ln>
                  <a:noFill/>
                </a:ln>
                <a:solidFill>
                  <a:srgbClr val="006699"/>
                </a:solidFill>
                <a:effectLst/>
                <a:latin typeface="Consolas" panose="020B0609020204030204" pitchFamily="49" charset="0"/>
              </a:rPr>
              <a:t>img</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err="1">
                <a:ln>
                  <a:noFill/>
                </a:ln>
                <a:solidFill>
                  <a:srgbClr val="808080"/>
                </a:solidFill>
                <a:effectLst/>
                <a:latin typeface="Consolas" panose="020B0609020204030204" pitchFamily="49" charset="0"/>
              </a:rPr>
              <a:t>src</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a:ln>
                  <a:noFill/>
                </a:ln>
                <a:solidFill>
                  <a:srgbClr val="0000FF"/>
                </a:solidFill>
                <a:effectLst/>
                <a:latin typeface="Consolas" panose="020B0609020204030204" pitchFamily="49" charset="0"/>
              </a:rPr>
              <a:t>"4.jpg"</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808080"/>
                </a:solidFill>
                <a:effectLst/>
                <a:latin typeface="Consolas" panose="020B0609020204030204" pitchFamily="49" charset="0"/>
              </a:rPr>
              <a:t>alt</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a:ln>
                  <a:noFill/>
                </a:ln>
                <a:solidFill>
                  <a:srgbClr val="0000FF"/>
                </a:solidFill>
                <a:effectLst/>
                <a:latin typeface="Consolas" panose="020B0609020204030204" pitchFamily="49" charset="0"/>
              </a:rPr>
              <a:t>"</a:t>
            </a:r>
            <a:r>
              <a:rPr kumimoji="0" lang="en-US" altLang="en-US" sz="2000" b="0" i="0" u="none" strike="noStrike" cap="none" normalizeH="0" baseline="0" dirty="0" err="1">
                <a:ln>
                  <a:noFill/>
                </a:ln>
                <a:solidFill>
                  <a:srgbClr val="0000FF"/>
                </a:solidFill>
                <a:effectLst/>
                <a:latin typeface="Consolas" panose="020B0609020204030204" pitchFamily="49" charset="0"/>
              </a:rPr>
              <a:t>gfg</a:t>
            </a:r>
            <a:r>
              <a:rPr kumimoji="0" lang="en-US" altLang="en-US" sz="2000" b="0" i="0" u="none" strike="noStrike" cap="none" normalizeH="0" baseline="0" dirty="0">
                <a:ln>
                  <a:noFill/>
                </a:ln>
                <a:solidFill>
                  <a:srgbClr val="0000FF"/>
                </a:solidFill>
                <a:effectLst/>
                <a:latin typeface="Consolas" panose="020B0609020204030204" pitchFamily="49" charset="0"/>
              </a:rPr>
              <a: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808080"/>
                </a:solidFill>
                <a:effectLst/>
                <a:latin typeface="Consolas" panose="020B0609020204030204" pitchFamily="49" charset="0"/>
              </a:rPr>
              <a:t>style</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a:ln>
                  <a:noFill/>
                </a:ln>
                <a:solidFill>
                  <a:srgbClr val="0000FF"/>
                </a:solidFill>
                <a:effectLst/>
                <a:latin typeface="Consolas" panose="020B0609020204030204" pitchFamily="49" charset="0"/>
              </a:rPr>
              <a:t>"width:20%"</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err="1">
                <a:ln>
                  <a:noFill/>
                </a:ln>
                <a:solidFill>
                  <a:srgbClr val="006699"/>
                </a:solidFill>
                <a:effectLst/>
                <a:latin typeface="Consolas" panose="020B0609020204030204" pitchFamily="49" charset="0"/>
              </a:rPr>
              <a:t>figcaption</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err="1">
                <a:ln>
                  <a:noFill/>
                </a:ln>
                <a:solidFill>
                  <a:srgbClr val="000000"/>
                </a:solidFill>
                <a:effectLst/>
                <a:latin typeface="Consolas" panose="020B0609020204030204" pitchFamily="49" charset="0"/>
              </a:rPr>
              <a:t>GeeksforGeeks</a:t>
            </a:r>
            <a:r>
              <a:rPr kumimoji="0" lang="en-US" altLang="en-US" sz="2000" b="0" i="0" u="none" strike="noStrike" cap="none" normalizeH="0" baseline="0" dirty="0">
                <a:ln>
                  <a:noFill/>
                </a:ln>
                <a:solidFill>
                  <a:srgbClr val="000000"/>
                </a:solidFill>
                <a:effectLst/>
                <a:latin typeface="Consolas" panose="020B0609020204030204" pitchFamily="49" charset="0"/>
              </a:rPr>
              <a:t> Logo</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err="1">
                <a:ln>
                  <a:noFill/>
                </a:ln>
                <a:solidFill>
                  <a:srgbClr val="006699"/>
                </a:solidFill>
                <a:effectLst/>
                <a:latin typeface="Consolas" panose="020B0609020204030204" pitchFamily="49" charset="0"/>
              </a:rPr>
              <a:t>figcaption</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figure</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body</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html</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Section:</a:t>
            </a:r>
          </a:p>
          <a:p>
            <a:r>
              <a:rPr lang="en-US" dirty="0"/>
              <a:t>A page can be split into sections like Introduction, Contact Information, Details, </a:t>
            </a:r>
            <a:r>
              <a:rPr lang="en-US" dirty="0" err="1"/>
              <a:t>etc</a:t>
            </a:r>
            <a:r>
              <a:rPr lang="en-US" dirty="0"/>
              <a:t> and each of these sections can be in a different section tag.</a:t>
            </a:r>
            <a:endParaRPr lang="en-IN"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Grp="1" noChangeArrowheads="1"/>
          </p:cNvSpPr>
          <p:nvPr>
            <p:ph idx="1"/>
          </p:nvPr>
        </p:nvSpPr>
        <p:spPr bwMode="auto">
          <a:xfrm>
            <a:off x="492760" y="212327"/>
            <a:ext cx="10612120" cy="615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Consolas" panose="020B0609020204030204" pitchFamily="49" charset="0"/>
              </a:rPr>
              <a:t>&lt;!DOCTYPE html&gt;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html</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head</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title</a:t>
            </a:r>
            <a:r>
              <a:rPr kumimoji="0" lang="en-US" altLang="en-US" sz="2000" b="0" i="0" u="none" strike="noStrike" cap="none" normalizeH="0" baseline="0" dirty="0">
                <a:ln>
                  <a:noFill/>
                </a:ln>
                <a:solidFill>
                  <a:srgbClr val="000000"/>
                </a:solidFill>
                <a:effectLst/>
                <a:latin typeface="Consolas" panose="020B0609020204030204" pitchFamily="49" charset="0"/>
              </a:rPr>
              <a:t>&gt;section Tag&lt;/</a:t>
            </a:r>
            <a:r>
              <a:rPr kumimoji="0" lang="en-US" altLang="en-US" sz="2000" b="1" i="0" u="none" strike="noStrike" cap="none" normalizeH="0" baseline="0" dirty="0">
                <a:ln>
                  <a:noFill/>
                </a:ln>
                <a:solidFill>
                  <a:srgbClr val="006699"/>
                </a:solidFill>
                <a:effectLst/>
                <a:latin typeface="Consolas" panose="020B0609020204030204" pitchFamily="49" charset="0"/>
              </a:rPr>
              <a:t>title</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head</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body</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section</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h1</a:t>
            </a:r>
            <a:r>
              <a:rPr kumimoji="0" lang="en-US" altLang="en-US" sz="2000" b="0" i="0" u="none" strike="noStrike" cap="none" normalizeH="0" baseline="0" dirty="0">
                <a:ln>
                  <a:noFill/>
                </a:ln>
                <a:solidFill>
                  <a:srgbClr val="000000"/>
                </a:solidFill>
                <a:effectLst/>
                <a:latin typeface="Consolas" panose="020B0609020204030204" pitchFamily="49" charset="0"/>
              </a:rPr>
              <a:t>&gt;Data Structure&lt;/</a:t>
            </a:r>
            <a:r>
              <a:rPr kumimoji="0" lang="en-US" altLang="en-US" sz="2000" b="1" i="0" u="none" strike="noStrike" cap="none" normalizeH="0" baseline="0" dirty="0">
                <a:ln>
                  <a:noFill/>
                </a:ln>
                <a:solidFill>
                  <a:srgbClr val="006699"/>
                </a:solidFill>
                <a:effectLst/>
                <a:latin typeface="Consolas" panose="020B0609020204030204" pitchFamily="49" charset="0"/>
              </a:rPr>
              <a:t>h1</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p</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Data Structure is a data</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p</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section</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section</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h1</a:t>
            </a:r>
            <a:r>
              <a:rPr kumimoji="0" lang="en-US" altLang="en-US" sz="2000" b="0" i="0" u="none" strike="noStrike" cap="none" normalizeH="0" baseline="0" dirty="0">
                <a:ln>
                  <a:noFill/>
                </a:ln>
                <a:solidFill>
                  <a:srgbClr val="000000"/>
                </a:solidFill>
                <a:effectLst/>
                <a:latin typeface="Consolas" panose="020B0609020204030204" pitchFamily="49" charset="0"/>
              </a:rPr>
              <a:t>&gt;Algorithm&lt;/</a:t>
            </a:r>
            <a:r>
              <a:rPr kumimoji="0" lang="en-US" altLang="en-US" sz="2000" b="1" i="0" u="none" strike="noStrike" cap="none" normalizeH="0" baseline="0" dirty="0">
                <a:ln>
                  <a:noFill/>
                </a:ln>
                <a:solidFill>
                  <a:srgbClr val="006699"/>
                </a:solidFill>
                <a:effectLst/>
                <a:latin typeface="Consolas" panose="020B0609020204030204" pitchFamily="49" charset="0"/>
              </a:rPr>
              <a:t>h1</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p</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A process or set of rules to</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p</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section</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body</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000000"/>
                </a:solidFill>
                <a:effectLst/>
                <a:latin typeface="Consolas" panose="020B0609020204030204" pitchFamily="49" charset="0"/>
              </a:rPr>
              <a:t>&lt;/</a:t>
            </a:r>
            <a:r>
              <a:rPr kumimoji="0" lang="en-US" altLang="en-US" sz="2000" b="1" i="0" u="none" strike="noStrike" cap="none" normalizeH="0" baseline="0" dirty="0">
                <a:ln>
                  <a:noFill/>
                </a:ln>
                <a:solidFill>
                  <a:srgbClr val="006699"/>
                </a:solidFill>
                <a:effectLst/>
                <a:latin typeface="Consolas" panose="020B0609020204030204" pitchFamily="49" charset="0"/>
              </a:rPr>
              <a:t>html</a:t>
            </a:r>
            <a:r>
              <a:rPr kumimoji="0" lang="en-US" altLang="en-US" sz="2000" b="0" i="0" u="none" strike="noStrike" cap="none" normalizeH="0" baseline="0" dirty="0">
                <a:ln>
                  <a:noFill/>
                </a:ln>
                <a:solidFill>
                  <a:srgbClr val="000000"/>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 xmlns:a16="http://schemas.microsoft.com/office/drawing/2014/main" id="{9CA36FDA-1E35-324A-670B-8EF3DEB569FD}"/>
              </a:ext>
            </a:extLst>
          </p:cNvPr>
          <p:cNvPicPr>
            <a:picLocks noChangeAspect="1"/>
          </p:cNvPicPr>
          <p:nvPr/>
        </p:nvPicPr>
        <p:blipFill>
          <a:blip r:embed="rId2"/>
          <a:srcRect r="79415" b="38156"/>
          <a:stretch/>
        </p:blipFill>
        <p:spPr>
          <a:xfrm>
            <a:off x="7383294" y="564203"/>
            <a:ext cx="3194732" cy="5398851"/>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l" fontAlgn="base"/>
            <a:r>
              <a:rPr lang="en-US" b="1" i="0" dirty="0">
                <a:solidFill>
                  <a:srgbClr val="273239"/>
                </a:solidFill>
                <a:effectLst/>
                <a:latin typeface="Nunito" pitchFamily="2" charset="0"/>
              </a:rPr>
              <a:t>nav:</a:t>
            </a:r>
          </a:p>
          <a:p>
            <a:pPr algn="l" rtl="0" fontAlgn="base"/>
            <a:r>
              <a:rPr lang="en-US" b="0" i="0" dirty="0">
                <a:solidFill>
                  <a:srgbClr val="273239"/>
                </a:solidFill>
                <a:effectLst/>
                <a:latin typeface="Nunito" pitchFamily="2" charset="0"/>
              </a:rPr>
              <a:t>It is used to define a set of navigation links in the form of a navigation bar or nav menu. </a:t>
            </a:r>
          </a:p>
          <a:p>
            <a:endParaRPr lang="en-IN"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29491076"/>
              </p:ext>
            </p:extLst>
          </p:nvPr>
        </p:nvGraphicFramePr>
        <p:xfrm>
          <a:off x="429208" y="138601"/>
          <a:ext cx="9761272" cy="6461088"/>
        </p:xfrm>
        <a:graphic>
          <a:graphicData uri="http://schemas.openxmlformats.org/drawingml/2006/table">
            <a:tbl>
              <a:tblPr/>
              <a:tblGrid>
                <a:gridCol w="9761272">
                  <a:extLst>
                    <a:ext uri="{9D8B030D-6E8A-4147-A177-3AD203B41FA5}">
                      <a16:colId xmlns="" xmlns:a16="http://schemas.microsoft.com/office/drawing/2014/main" val="20000"/>
                    </a:ext>
                  </a:extLst>
                </a:gridCol>
              </a:tblGrid>
              <a:tr h="4351338">
                <a:tc>
                  <a:txBody>
                    <a:bodyPr/>
                    <a:lstStyle/>
                    <a:p>
                      <a:pPr algn="l" rtl="0" fontAlgn="base"/>
                      <a:r>
                        <a:rPr lang="en-IN" sz="1800" b="0" i="0" dirty="0">
                          <a:effectLst/>
                          <a:latin typeface="Consolas" panose="020B0609020204030204" pitchFamily="49" charset="0"/>
                        </a:rPr>
                        <a:t>&lt;!DOCTYPE html&gt;</a:t>
                      </a:r>
                    </a:p>
                    <a:p>
                      <a:pPr algn="l" rtl="0" fontAlgn="base"/>
                      <a:r>
                        <a:rPr lang="en-IN" sz="1800" b="0" i="0" dirty="0">
                          <a:effectLst/>
                          <a:latin typeface="Consolas" panose="020B0609020204030204" pitchFamily="49" charset="0"/>
                        </a:rPr>
                        <a:t>&lt;html&gt;</a:t>
                      </a:r>
                    </a:p>
                    <a:p>
                      <a:pPr algn="l" rtl="0" fontAlgn="base"/>
                      <a:r>
                        <a:rPr lang="en-IN" sz="1800" b="0" i="0" dirty="0">
                          <a:effectLst/>
                          <a:latin typeface="Consolas" panose="020B0609020204030204" pitchFamily="49" charset="0"/>
                        </a:rPr>
                        <a:t> &lt;head&gt;</a:t>
                      </a:r>
                    </a:p>
                    <a:p>
                      <a:pPr algn="l" rtl="0" fontAlgn="base"/>
                      <a:r>
                        <a:rPr lang="en-IN" sz="1800" b="0" i="0" dirty="0">
                          <a:effectLst/>
                          <a:latin typeface="Consolas" panose="020B0609020204030204" pitchFamily="49" charset="0"/>
                        </a:rPr>
                        <a:t>    &lt;title&gt;nav Tag&lt;/title&gt;</a:t>
                      </a:r>
                    </a:p>
                    <a:p>
                      <a:pPr algn="l" rtl="0" fontAlgn="base"/>
                      <a:r>
                        <a:rPr lang="en-IN" sz="1800" b="0" i="0" dirty="0">
                          <a:effectLst/>
                          <a:latin typeface="Consolas" panose="020B0609020204030204" pitchFamily="49" charset="0"/>
                        </a:rPr>
                        <a:t>    &lt;/head&gt;</a:t>
                      </a:r>
                    </a:p>
                    <a:p>
                      <a:pPr algn="l" rtl="0" fontAlgn="base"/>
                      <a:r>
                        <a:rPr lang="en-IN" sz="1800" b="0" i="0" dirty="0">
                          <a:effectLst/>
                          <a:latin typeface="Consolas" panose="020B0609020204030204" pitchFamily="49" charset="0"/>
                        </a:rPr>
                        <a:t>&lt;body&gt;</a:t>
                      </a:r>
                    </a:p>
                    <a:p>
                      <a:pPr algn="l" rtl="0" fontAlgn="base"/>
                      <a:r>
                        <a:rPr lang="en-IN" sz="1800" b="0" i="0" dirty="0">
                          <a:effectLst/>
                          <a:latin typeface="Consolas" panose="020B0609020204030204" pitchFamily="49" charset="0"/>
                        </a:rPr>
                        <a:t>    &lt;h1&gt;Navigation Bar&lt;/h1&gt;</a:t>
                      </a:r>
                    </a:p>
                    <a:p>
                      <a:pPr algn="l" rtl="0" fontAlgn="base"/>
                      <a:r>
                        <a:rPr lang="en-IN" sz="1800" b="0" i="0" dirty="0">
                          <a:effectLst/>
                          <a:latin typeface="Consolas" panose="020B0609020204030204" pitchFamily="49" charset="0"/>
                        </a:rPr>
                        <a:t>    &lt;nav&gt;</a:t>
                      </a:r>
                    </a:p>
                    <a:p>
                      <a:pPr algn="l" rtl="0" fontAlgn="base"/>
                      <a:r>
                        <a:rPr lang="en-IN" sz="1800" b="0" i="0" dirty="0">
                          <a:effectLst/>
                          <a:latin typeface="Consolas" panose="020B0609020204030204" pitchFamily="49" charset="0"/>
                        </a:rPr>
                        <a:t>        &lt;a </a:t>
                      </a:r>
                      <a:r>
                        <a:rPr lang="en-IN" sz="1800" b="0" i="0" dirty="0" err="1">
                          <a:effectLst/>
                          <a:latin typeface="Consolas" panose="020B0609020204030204" pitchFamily="49" charset="0"/>
                        </a:rPr>
                        <a:t>href</a:t>
                      </a:r>
                      <a:r>
                        <a:rPr lang="en-IN" sz="1800" b="0" i="0" dirty="0">
                          <a:effectLst/>
                          <a:latin typeface="Consolas" panose="020B0609020204030204" pitchFamily="49" charset="0"/>
                        </a:rPr>
                        <a:t>="/home/"&gt;</a:t>
                      </a:r>
                    </a:p>
                    <a:p>
                      <a:pPr algn="l" rtl="0" fontAlgn="base"/>
                      <a:r>
                        <a:rPr lang="en-IN" sz="1800" b="0" i="0" dirty="0">
                          <a:effectLst/>
                          <a:latin typeface="Consolas" panose="020B0609020204030204" pitchFamily="49" charset="0"/>
                        </a:rPr>
                        <a:t>            Home</a:t>
                      </a:r>
                    </a:p>
                    <a:p>
                      <a:pPr algn="l" rtl="0" fontAlgn="base"/>
                      <a:r>
                        <a:rPr lang="en-IN" sz="1800" b="0" i="0" dirty="0">
                          <a:effectLst/>
                          <a:latin typeface="Consolas" panose="020B0609020204030204" pitchFamily="49" charset="0"/>
                        </a:rPr>
                        <a:t>        &lt;/a&gt; |</a:t>
                      </a:r>
                    </a:p>
                    <a:p>
                      <a:pPr algn="l" rtl="0" fontAlgn="base"/>
                      <a:r>
                        <a:rPr lang="en-IN" sz="1800" b="0" i="0" dirty="0">
                          <a:effectLst/>
                          <a:latin typeface="Consolas" panose="020B0609020204030204" pitchFamily="49" charset="0"/>
                        </a:rPr>
                        <a:t>        &lt;a </a:t>
                      </a:r>
                      <a:r>
                        <a:rPr lang="en-IN" sz="1800" b="0" i="0" dirty="0" err="1">
                          <a:effectLst/>
                          <a:latin typeface="Consolas" panose="020B0609020204030204" pitchFamily="49" charset="0"/>
                        </a:rPr>
                        <a:t>href</a:t>
                      </a:r>
                      <a:r>
                        <a:rPr lang="en-IN" sz="1800" b="0" i="0" dirty="0">
                          <a:effectLst/>
                          <a:latin typeface="Consolas" panose="020B0609020204030204" pitchFamily="49" charset="0"/>
                        </a:rPr>
                        <a:t>="/about-us/"&gt;</a:t>
                      </a:r>
                    </a:p>
                    <a:p>
                      <a:pPr algn="l" rtl="0" fontAlgn="base"/>
                      <a:r>
                        <a:rPr lang="en-IN" sz="1800" b="0" i="0" dirty="0">
                          <a:effectLst/>
                          <a:latin typeface="Consolas" panose="020B0609020204030204" pitchFamily="49" charset="0"/>
                        </a:rPr>
                        <a:t>            About Us</a:t>
                      </a:r>
                    </a:p>
                    <a:p>
                      <a:pPr algn="l" rtl="0" fontAlgn="base"/>
                      <a:r>
                        <a:rPr lang="en-IN" sz="1800" b="0" i="0" dirty="0">
                          <a:effectLst/>
                          <a:latin typeface="Consolas" panose="020B0609020204030204" pitchFamily="49" charset="0"/>
                        </a:rPr>
                        <a:t>        &lt;/a&gt; |</a:t>
                      </a:r>
                    </a:p>
                    <a:p>
                      <a:pPr algn="l" rtl="0" fontAlgn="base"/>
                      <a:r>
                        <a:rPr lang="en-IN" sz="1800" b="0" i="0" dirty="0">
                          <a:effectLst/>
                          <a:latin typeface="Consolas" panose="020B0609020204030204" pitchFamily="49" charset="0"/>
                        </a:rPr>
                        <a:t>        &lt;a </a:t>
                      </a:r>
                      <a:r>
                        <a:rPr lang="en-IN" sz="1800" b="0" i="0" dirty="0" err="1">
                          <a:effectLst/>
                          <a:latin typeface="Consolas" panose="020B0609020204030204" pitchFamily="49" charset="0"/>
                        </a:rPr>
                        <a:t>href</a:t>
                      </a:r>
                      <a:r>
                        <a:rPr lang="en-IN" sz="1800" b="0" i="0" dirty="0">
                          <a:effectLst/>
                          <a:latin typeface="Consolas" panose="020B0609020204030204" pitchFamily="49" charset="0"/>
                        </a:rPr>
                        <a:t>="/data-structure/"&gt;</a:t>
                      </a:r>
                    </a:p>
                    <a:p>
                      <a:pPr algn="l" rtl="0" fontAlgn="base"/>
                      <a:r>
                        <a:rPr lang="en-IN" sz="1800" b="0" i="0" dirty="0">
                          <a:effectLst/>
                          <a:latin typeface="Consolas" panose="020B0609020204030204" pitchFamily="49" charset="0"/>
                        </a:rPr>
                        <a:t>            Data Structure</a:t>
                      </a:r>
                    </a:p>
                    <a:p>
                      <a:pPr algn="l" rtl="0" fontAlgn="base"/>
                      <a:r>
                        <a:rPr lang="en-IN" sz="1800" b="0" i="0" dirty="0">
                          <a:effectLst/>
                          <a:latin typeface="Consolas" panose="020B0609020204030204" pitchFamily="49" charset="0"/>
                        </a:rPr>
                        <a:t>        &lt;/a&gt; |</a:t>
                      </a:r>
                    </a:p>
                    <a:p>
                      <a:pPr algn="l" rtl="0" fontAlgn="base"/>
                      <a:r>
                        <a:rPr lang="en-IN" sz="1800" b="0" i="0" dirty="0">
                          <a:effectLst/>
                          <a:latin typeface="Consolas" panose="020B0609020204030204" pitchFamily="49" charset="0"/>
                        </a:rPr>
                        <a:t>        &lt;a </a:t>
                      </a:r>
                      <a:r>
                        <a:rPr lang="en-IN" sz="1800" b="0" i="0" dirty="0" err="1">
                          <a:effectLst/>
                          <a:latin typeface="Consolas" panose="020B0609020204030204" pitchFamily="49" charset="0"/>
                        </a:rPr>
                        <a:t>href</a:t>
                      </a:r>
                      <a:r>
                        <a:rPr lang="en-IN" sz="1800" b="0" i="0" dirty="0">
                          <a:effectLst/>
                          <a:latin typeface="Consolas" panose="020B0609020204030204" pitchFamily="49" charset="0"/>
                        </a:rPr>
                        <a:t>="/operating-system/"&gt;</a:t>
                      </a:r>
                    </a:p>
                    <a:p>
                      <a:pPr algn="l" rtl="0" fontAlgn="base"/>
                      <a:r>
                        <a:rPr lang="en-IN" sz="1800" b="0" i="0" dirty="0">
                          <a:effectLst/>
                          <a:latin typeface="Consolas" panose="020B0609020204030204" pitchFamily="49" charset="0"/>
                        </a:rPr>
                        <a:t>            Operating System</a:t>
                      </a:r>
                    </a:p>
                    <a:p>
                      <a:pPr algn="l" rtl="0" fontAlgn="base"/>
                      <a:r>
                        <a:rPr lang="en-IN" sz="1800" b="0" i="0" dirty="0">
                          <a:effectLst/>
                          <a:latin typeface="Consolas" panose="020B0609020204030204" pitchFamily="49" charset="0"/>
                        </a:rPr>
                        <a:t>        &lt;/a&gt;</a:t>
                      </a:r>
                    </a:p>
                    <a:p>
                      <a:pPr algn="l" rtl="0" fontAlgn="base"/>
                      <a:r>
                        <a:rPr lang="en-IN" sz="1800" b="0" i="0" dirty="0">
                          <a:effectLst/>
                          <a:latin typeface="Consolas" panose="020B0609020204030204" pitchFamily="49" charset="0"/>
                        </a:rPr>
                        <a:t>    &lt;/nav&gt;</a:t>
                      </a:r>
                    </a:p>
                    <a:p>
                      <a:pPr algn="l" rtl="0" fontAlgn="base"/>
                      <a:r>
                        <a:rPr lang="en-IN" sz="1800" b="0" i="0" dirty="0">
                          <a:effectLst/>
                          <a:latin typeface="Consolas" panose="020B0609020204030204" pitchFamily="49" charset="0"/>
                        </a:rPr>
                        <a:t>&lt;/body&gt;</a:t>
                      </a:r>
                    </a:p>
                    <a:p>
                      <a:pPr algn="l" rtl="0" fontAlgn="base"/>
                      <a:r>
                        <a:rPr lang="en-IN" sz="1800" b="0" i="0" dirty="0">
                          <a:effectLst/>
                          <a:latin typeface="Consolas" panose="020B0609020204030204" pitchFamily="49" charset="0"/>
                        </a:rPr>
                        <a:t> &lt;/html&gt;</a:t>
                      </a:r>
                    </a:p>
                  </a:txBody>
                  <a:tcPr marL="54189" marR="54189" marT="75864" marB="7586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noFill/>
                  </a:tcPr>
                </a:tc>
                <a:extLst>
                  <a:ext uri="{0D108BD9-81ED-4DB2-BD59-A6C34878D82A}">
                    <a16:rowId xmlns="" xmlns:a16="http://schemas.microsoft.com/office/drawing/2014/main" val="10000"/>
                  </a:ext>
                </a:extLst>
              </a:tr>
            </a:tbl>
          </a:graphicData>
        </a:graphic>
      </p:graphicFrame>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a:ln>
                  <a:noFill/>
                </a:ln>
                <a:solidFill>
                  <a:schemeClr val="tx1"/>
                </a:solidFill>
                <a:effectLst/>
                <a:latin typeface="Arial" panose="020B0604020202020204" pitchFamily="34" charset="0"/>
              </a:rPr>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3" name="Picture 2">
            <a:extLst>
              <a:ext uri="{FF2B5EF4-FFF2-40B4-BE49-F238E27FC236}">
                <a16:creationId xmlns="" xmlns:a16="http://schemas.microsoft.com/office/drawing/2014/main" id="{255FF5A3-1159-A787-3725-6538D979A373}"/>
              </a:ext>
            </a:extLst>
          </p:cNvPr>
          <p:cNvPicPr>
            <a:picLocks noChangeAspect="1"/>
          </p:cNvPicPr>
          <p:nvPr/>
        </p:nvPicPr>
        <p:blipFill>
          <a:blip r:embed="rId2"/>
          <a:srcRect r="44787" b="67801"/>
          <a:stretch/>
        </p:blipFill>
        <p:spPr>
          <a:xfrm>
            <a:off x="4464996" y="258311"/>
            <a:ext cx="6731540" cy="2208177"/>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l" fontAlgn="base"/>
            <a:r>
              <a:rPr lang="en-US" b="1" i="0" dirty="0">
                <a:solidFill>
                  <a:srgbClr val="273239"/>
                </a:solidFill>
                <a:effectLst/>
                <a:latin typeface="Nunito" pitchFamily="2" charset="0"/>
              </a:rPr>
              <a:t>Mark:</a:t>
            </a:r>
          </a:p>
          <a:p>
            <a:pPr algn="l" rtl="0" fontAlgn="base"/>
            <a:r>
              <a:rPr lang="en-US" b="0" i="0" dirty="0">
                <a:solidFill>
                  <a:srgbClr val="273239"/>
                </a:solidFill>
                <a:effectLst/>
                <a:latin typeface="Nunito" pitchFamily="2" charset="0"/>
              </a:rPr>
              <a:t>It is used to highlight the text.</a:t>
            </a:r>
          </a:p>
          <a:p>
            <a:endParaRPr lang="en-IN"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nvPr>
        </p:nvGraphicFramePr>
        <p:xfrm>
          <a:off x="1073020" y="2304661"/>
          <a:ext cx="8312698" cy="3353564"/>
        </p:xfrm>
        <a:graphic>
          <a:graphicData uri="http://schemas.openxmlformats.org/drawingml/2006/table">
            <a:tbl>
              <a:tblPr/>
              <a:tblGrid>
                <a:gridCol w="1661051">
                  <a:extLst>
                    <a:ext uri="{9D8B030D-6E8A-4147-A177-3AD203B41FA5}">
                      <a16:colId xmlns="" xmlns:a16="http://schemas.microsoft.com/office/drawing/2014/main" val="20000"/>
                    </a:ext>
                  </a:extLst>
                </a:gridCol>
                <a:gridCol w="6651647">
                  <a:extLst>
                    <a:ext uri="{9D8B030D-6E8A-4147-A177-3AD203B41FA5}">
                      <a16:colId xmlns="" xmlns:a16="http://schemas.microsoft.com/office/drawing/2014/main" val="20001"/>
                    </a:ext>
                  </a:extLst>
                </a:gridCol>
              </a:tblGrid>
              <a:tr h="400471">
                <a:tc>
                  <a:txBody>
                    <a:bodyPr/>
                    <a:lstStyle/>
                    <a:p>
                      <a:pPr algn="l" fontAlgn="t"/>
                      <a:r>
                        <a:rPr lang="en-IN">
                          <a:effectLst/>
                        </a:rPr>
                        <a:t>Tag</a:t>
                      </a: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Description</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 xmlns:a16="http://schemas.microsoft.com/office/drawing/2014/main" val="10000"/>
                  </a:ext>
                </a:extLst>
              </a:tr>
              <a:tr h="400471">
                <a:tc>
                  <a:txBody>
                    <a:bodyPr/>
                    <a:lstStyle/>
                    <a:p>
                      <a:pPr algn="l" fontAlgn="t"/>
                      <a:r>
                        <a:rPr lang="en-IN">
                          <a:effectLst/>
                          <a:hlinkClick r:id="rId2"/>
                        </a:rPr>
                        <a:t>&lt;abbr&gt;</a:t>
                      </a:r>
                      <a:endParaRPr lang="en-IN">
                        <a:effectLst/>
                      </a:endParaRP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a:effectLst/>
                        </a:rPr>
                        <a:t>Defines an abbreviation or acronym</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 xmlns:a16="http://schemas.microsoft.com/office/drawing/2014/main" val="10001"/>
                  </a:ext>
                </a:extLst>
              </a:tr>
              <a:tr h="677720">
                <a:tc>
                  <a:txBody>
                    <a:bodyPr/>
                    <a:lstStyle/>
                    <a:p>
                      <a:pPr algn="l" fontAlgn="t"/>
                      <a:r>
                        <a:rPr lang="en-IN">
                          <a:effectLst/>
                          <a:hlinkClick r:id="rId3"/>
                        </a:rPr>
                        <a:t>&lt;address&gt;</a:t>
                      </a:r>
                      <a:endParaRPr lang="en-IN">
                        <a:effectLst/>
                      </a:endParaRP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dirty="0">
                          <a:effectLst/>
                        </a:rPr>
                        <a:t>Defines contact information for the author/owner of a document</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 xmlns:a16="http://schemas.microsoft.com/office/drawing/2014/main" val="10002"/>
                  </a:ext>
                </a:extLst>
              </a:tr>
              <a:tr h="400471">
                <a:tc>
                  <a:txBody>
                    <a:bodyPr/>
                    <a:lstStyle/>
                    <a:p>
                      <a:pPr algn="l" fontAlgn="t"/>
                      <a:r>
                        <a:rPr lang="en-IN">
                          <a:effectLst/>
                          <a:hlinkClick r:id="rId4"/>
                        </a:rPr>
                        <a:t>&lt;bdo&gt;</a:t>
                      </a:r>
                      <a:endParaRPr lang="en-IN">
                        <a:effectLst/>
                      </a:endParaRP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a:effectLst/>
                        </a:rPr>
                        <a:t>Defines the text direction</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 xmlns:a16="http://schemas.microsoft.com/office/drawing/2014/main" val="10003"/>
                  </a:ext>
                </a:extLst>
              </a:tr>
              <a:tr h="677720">
                <a:tc>
                  <a:txBody>
                    <a:bodyPr/>
                    <a:lstStyle/>
                    <a:p>
                      <a:pPr algn="l" fontAlgn="t"/>
                      <a:r>
                        <a:rPr lang="en-IN" dirty="0">
                          <a:effectLst/>
                          <a:hlinkClick r:id="rId5"/>
                        </a:rPr>
                        <a:t>&lt;blockquote&gt;</a:t>
                      </a:r>
                      <a:endParaRPr lang="en-IN" dirty="0">
                        <a:effectLst/>
                      </a:endParaRP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a:effectLst/>
                        </a:rPr>
                        <a:t>Defines a section that is quoted from another source</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 xmlns:a16="http://schemas.microsoft.com/office/drawing/2014/main" val="10004"/>
                  </a:ext>
                </a:extLst>
              </a:tr>
              <a:tr h="400471">
                <a:tc>
                  <a:txBody>
                    <a:bodyPr/>
                    <a:lstStyle/>
                    <a:p>
                      <a:pPr algn="l" fontAlgn="t"/>
                      <a:r>
                        <a:rPr lang="en-IN">
                          <a:effectLst/>
                          <a:hlinkClick r:id="rId6"/>
                        </a:rPr>
                        <a:t>&lt;cite&gt;</a:t>
                      </a:r>
                      <a:endParaRPr lang="en-IN">
                        <a:effectLst/>
                      </a:endParaRP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a:effectLst/>
                        </a:rPr>
                        <a:t>Defines the title of a work</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 xmlns:a16="http://schemas.microsoft.com/office/drawing/2014/main" val="10005"/>
                  </a:ext>
                </a:extLst>
              </a:tr>
              <a:tr h="271068">
                <a:tc>
                  <a:txBody>
                    <a:bodyPr/>
                    <a:lstStyle/>
                    <a:p>
                      <a:pPr algn="l" fontAlgn="t"/>
                      <a:r>
                        <a:rPr lang="en-IN">
                          <a:effectLst/>
                          <a:hlinkClick r:id="rId7"/>
                        </a:rPr>
                        <a:t>&lt;q&gt;</a:t>
                      </a:r>
                      <a:endParaRPr lang="en-IN">
                        <a:effectLst/>
                      </a:endParaRP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dirty="0">
                          <a:effectLst/>
                        </a:rPr>
                        <a:t>Defines a short inline quotation</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 xmlns:a16="http://schemas.microsoft.com/office/drawing/2014/main" val="10006"/>
                  </a:ext>
                </a:extLst>
              </a:tr>
            </a:tbl>
          </a:graphicData>
        </a:graphic>
      </p:graphicFrame>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3224"/>
            <a:ext cx="5982478" cy="5803739"/>
          </a:xfrm>
        </p:spPr>
        <p:txBody>
          <a:bodyPr>
            <a:normAutofit fontScale="70000" lnSpcReduction="20000"/>
          </a:bodyPr>
          <a:lstStyle/>
          <a:p>
            <a:pPr marL="0" indent="0">
              <a:buNone/>
            </a:pPr>
            <a:r>
              <a:rPr lang="en-US" dirty="0"/>
              <a:t>&lt;!DOCTYPE html&gt;</a:t>
            </a:r>
          </a:p>
          <a:p>
            <a:pPr marL="0" indent="0">
              <a:buNone/>
            </a:pPr>
            <a:r>
              <a:rPr lang="en-US" dirty="0"/>
              <a:t>&lt;html&gt;</a:t>
            </a:r>
          </a:p>
          <a:p>
            <a:pPr marL="0" indent="0">
              <a:buNone/>
            </a:pPr>
            <a:r>
              <a:rPr lang="en-US" dirty="0"/>
              <a:t>&lt;body&gt;</a:t>
            </a:r>
          </a:p>
          <a:p>
            <a:pPr marL="0" indent="0">
              <a:buNone/>
            </a:pPr>
            <a:endParaRPr lang="en-US" dirty="0"/>
          </a:p>
          <a:p>
            <a:pPr marL="0" indent="0">
              <a:buNone/>
            </a:pPr>
            <a:r>
              <a:rPr lang="en-US" dirty="0"/>
              <a:t>&lt;h1&gt;The blockquote element&lt;/h1&gt;</a:t>
            </a:r>
          </a:p>
          <a:p>
            <a:pPr marL="0" indent="0">
              <a:buNone/>
            </a:pPr>
            <a:endParaRPr lang="en-US" dirty="0"/>
          </a:p>
          <a:p>
            <a:pPr marL="0" indent="0">
              <a:buNone/>
            </a:pPr>
            <a:r>
              <a:rPr lang="en-US" dirty="0"/>
              <a:t>&lt;p&gt;Here is a quote from WWF's website:&lt;/p&gt;</a:t>
            </a:r>
          </a:p>
          <a:p>
            <a:pPr marL="0" indent="0">
              <a:buNone/>
            </a:pPr>
            <a:endParaRPr lang="en-US" dirty="0"/>
          </a:p>
          <a:p>
            <a:pPr marL="0" indent="0">
              <a:buNone/>
            </a:pPr>
            <a:r>
              <a:rPr lang="en-US" dirty="0"/>
              <a:t>&lt;blockquote cite="http://www.worldwildlife.org/who/index.html"&gt;</a:t>
            </a:r>
          </a:p>
          <a:p>
            <a:pPr marL="0" indent="0">
              <a:buNone/>
            </a:pPr>
            <a:r>
              <a:rPr lang="en-US" dirty="0"/>
              <a:t>For 50 years, WWF has been protecting the future of nature. The world's leading conservation organization, WWF works in 100 countries and is supported by 1.2 million members in the United States and close to 5 million globally.</a:t>
            </a:r>
          </a:p>
          <a:p>
            <a:pPr marL="0" indent="0">
              <a:buNone/>
            </a:pPr>
            <a:r>
              <a:rPr lang="en-US" dirty="0"/>
              <a:t>&lt;/blockquote&gt;</a:t>
            </a:r>
          </a:p>
          <a:p>
            <a:pPr marL="0" indent="0">
              <a:buNone/>
            </a:pPr>
            <a:endParaRPr lang="en-US" dirty="0"/>
          </a:p>
          <a:p>
            <a:pPr marL="0" indent="0">
              <a:buNone/>
            </a:pPr>
            <a:r>
              <a:rPr lang="en-US" dirty="0"/>
              <a:t>&lt;/body&gt;</a:t>
            </a:r>
          </a:p>
          <a:p>
            <a:pPr marL="0" indent="0">
              <a:buNone/>
            </a:pPr>
            <a:r>
              <a:rPr lang="en-US" dirty="0"/>
              <a:t>&lt;/html&gt;</a:t>
            </a:r>
          </a:p>
          <a:p>
            <a:endParaRPr lang="en-IN" dirty="0"/>
          </a:p>
        </p:txBody>
      </p:sp>
      <p:pic>
        <p:nvPicPr>
          <p:cNvPr id="5" name="Picture 4"/>
          <p:cNvPicPr>
            <a:picLocks noChangeAspect="1"/>
          </p:cNvPicPr>
          <p:nvPr/>
        </p:nvPicPr>
        <p:blipFill>
          <a:blip r:embed="rId2"/>
          <a:stretch>
            <a:fillRect/>
          </a:stretch>
        </p:blipFill>
        <p:spPr>
          <a:xfrm>
            <a:off x="6686549" y="920602"/>
            <a:ext cx="5280487" cy="2841773"/>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1825625"/>
            <a:ext cx="5058747" cy="4351338"/>
          </a:xfrm>
        </p:spPr>
        <p:txBody>
          <a:bodyPr>
            <a:normAutofit fontScale="70000" lnSpcReduction="20000"/>
          </a:bodyPr>
          <a:lstStyle/>
          <a:p>
            <a:pPr marL="0" indent="0">
              <a:buNone/>
            </a:pPr>
            <a:r>
              <a:rPr lang="en-US" dirty="0"/>
              <a:t>&lt;!DOCTYPE html&gt;</a:t>
            </a:r>
          </a:p>
          <a:p>
            <a:pPr marL="0" indent="0">
              <a:buNone/>
            </a:pPr>
            <a:r>
              <a:rPr lang="en-US" dirty="0"/>
              <a:t>&lt;html&gt;</a:t>
            </a:r>
          </a:p>
          <a:p>
            <a:pPr marL="0" indent="0">
              <a:buNone/>
            </a:pPr>
            <a:r>
              <a:rPr lang="en-US" dirty="0"/>
              <a:t>&lt;body&gt;</a:t>
            </a:r>
          </a:p>
          <a:p>
            <a:pPr marL="0" indent="0">
              <a:buNone/>
            </a:pPr>
            <a:endParaRPr lang="en-US" dirty="0"/>
          </a:p>
          <a:p>
            <a:pPr marL="0" indent="0">
              <a:buNone/>
            </a:pPr>
            <a:r>
              <a:rPr lang="en-US" dirty="0"/>
              <a:t>&lt;h1&gt;The </a:t>
            </a:r>
            <a:r>
              <a:rPr lang="en-US" dirty="0" err="1"/>
              <a:t>bdo</a:t>
            </a:r>
            <a:r>
              <a:rPr lang="en-US" dirty="0"/>
              <a:t> element&lt;/h1&gt;</a:t>
            </a:r>
          </a:p>
          <a:p>
            <a:pPr marL="0" indent="0">
              <a:buNone/>
            </a:pPr>
            <a:endParaRPr lang="en-US" dirty="0"/>
          </a:p>
          <a:p>
            <a:pPr marL="0" indent="0">
              <a:buNone/>
            </a:pPr>
            <a:r>
              <a:rPr lang="en-US" dirty="0"/>
              <a:t>&lt;p&gt;This paragraph will go left-to-right.&lt;/p&gt;  </a:t>
            </a:r>
          </a:p>
          <a:p>
            <a:pPr marL="0" indent="0">
              <a:buNone/>
            </a:pPr>
            <a:r>
              <a:rPr lang="en-US" dirty="0"/>
              <a:t>&lt;p&gt;&lt;</a:t>
            </a:r>
            <a:r>
              <a:rPr lang="en-US" dirty="0" err="1"/>
              <a:t>bdo</a:t>
            </a:r>
            <a:r>
              <a:rPr lang="en-US" dirty="0"/>
              <a:t> </a:t>
            </a:r>
            <a:r>
              <a:rPr lang="en-US" dirty="0" err="1"/>
              <a:t>dir</a:t>
            </a:r>
            <a:r>
              <a:rPr lang="en-US" dirty="0"/>
              <a:t>="</a:t>
            </a:r>
            <a:r>
              <a:rPr lang="en-US" dirty="0" err="1"/>
              <a:t>rtl</a:t>
            </a:r>
            <a:r>
              <a:rPr lang="en-US" dirty="0"/>
              <a:t>"&gt;This paragraph will go right-to-left.&lt;/</a:t>
            </a:r>
            <a:r>
              <a:rPr lang="en-US" dirty="0" err="1"/>
              <a:t>bdo</a:t>
            </a:r>
            <a:r>
              <a:rPr lang="en-US" dirty="0"/>
              <a:t>&gt;&lt;/p&gt;  </a:t>
            </a:r>
          </a:p>
          <a:p>
            <a:pPr marL="0" indent="0">
              <a:buNone/>
            </a:pPr>
            <a:endParaRPr lang="en-US" dirty="0"/>
          </a:p>
          <a:p>
            <a:pPr marL="0" indent="0">
              <a:buNone/>
            </a:pPr>
            <a:r>
              <a:rPr lang="en-US" dirty="0"/>
              <a:t>&lt;/body&gt;</a:t>
            </a:r>
          </a:p>
          <a:p>
            <a:pPr marL="0" indent="0">
              <a:buNone/>
            </a:pPr>
            <a:r>
              <a:rPr lang="en-US" dirty="0"/>
              <a:t>&lt;/html&gt;</a:t>
            </a:r>
          </a:p>
          <a:p>
            <a:pPr marL="0" indent="0">
              <a:buNone/>
            </a:pPr>
            <a:endParaRPr lang="en-IN" dirty="0"/>
          </a:p>
        </p:txBody>
      </p:sp>
      <p:pic>
        <p:nvPicPr>
          <p:cNvPr id="5" name="Picture 4"/>
          <p:cNvPicPr>
            <a:picLocks noChangeAspect="1"/>
          </p:cNvPicPr>
          <p:nvPr/>
        </p:nvPicPr>
        <p:blipFill>
          <a:blip r:embed="rId2"/>
          <a:stretch>
            <a:fillRect/>
          </a:stretch>
        </p:blipFill>
        <p:spPr>
          <a:xfrm>
            <a:off x="6929928" y="2036855"/>
            <a:ext cx="3482642" cy="2187130"/>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1933575"/>
            <a:ext cx="5257800" cy="4243388"/>
          </a:xfrm>
        </p:spPr>
        <p:txBody>
          <a:bodyPr>
            <a:normAutofit fontScale="77500" lnSpcReduction="20000"/>
          </a:bodyPr>
          <a:lstStyle/>
          <a:p>
            <a:pPr marL="0" indent="0">
              <a:buNone/>
            </a:pPr>
            <a:r>
              <a:rPr lang="en-US" dirty="0"/>
              <a:t>&lt;!DOCTYPE html&gt;</a:t>
            </a:r>
          </a:p>
          <a:p>
            <a:pPr marL="0" indent="0">
              <a:buNone/>
            </a:pPr>
            <a:r>
              <a:rPr lang="en-US" dirty="0"/>
              <a:t>&lt;html&gt;</a:t>
            </a:r>
          </a:p>
          <a:p>
            <a:pPr marL="0" indent="0">
              <a:buNone/>
            </a:pPr>
            <a:r>
              <a:rPr lang="en-US" dirty="0"/>
              <a:t>&lt;body&gt;</a:t>
            </a:r>
          </a:p>
          <a:p>
            <a:pPr marL="0" indent="0">
              <a:buNone/>
            </a:pPr>
            <a:endParaRPr lang="en-US" dirty="0"/>
          </a:p>
          <a:p>
            <a:pPr marL="0" indent="0">
              <a:buNone/>
            </a:pPr>
            <a:r>
              <a:rPr lang="en-US" dirty="0"/>
              <a:t>&lt;h1&gt;The </a:t>
            </a:r>
            <a:r>
              <a:rPr lang="en-US" dirty="0" err="1"/>
              <a:t>abbr</a:t>
            </a:r>
            <a:r>
              <a:rPr lang="en-US" dirty="0"/>
              <a:t> element&lt;/h1&gt;</a:t>
            </a:r>
          </a:p>
          <a:p>
            <a:pPr marL="0" indent="0">
              <a:buNone/>
            </a:pPr>
            <a:endParaRPr lang="en-US" dirty="0"/>
          </a:p>
          <a:p>
            <a:pPr marL="0" indent="0">
              <a:buNone/>
            </a:pPr>
            <a:r>
              <a:rPr lang="en-US" dirty="0"/>
              <a:t>&lt;p&gt;The &lt;</a:t>
            </a:r>
            <a:r>
              <a:rPr lang="en-US" dirty="0" err="1"/>
              <a:t>abbr</a:t>
            </a:r>
            <a:r>
              <a:rPr lang="en-US" dirty="0"/>
              <a:t> title="World Health Organization"&gt;WHO&lt;/</a:t>
            </a:r>
            <a:r>
              <a:rPr lang="en-US" dirty="0" err="1"/>
              <a:t>abbr</a:t>
            </a:r>
            <a:r>
              <a:rPr lang="en-US" dirty="0"/>
              <a:t>&gt; was founded in 1948.&lt;/p&gt;</a:t>
            </a:r>
          </a:p>
          <a:p>
            <a:pPr marL="0" indent="0">
              <a:buNone/>
            </a:pPr>
            <a:endParaRPr lang="en-US" dirty="0"/>
          </a:p>
          <a:p>
            <a:pPr marL="0" indent="0">
              <a:buNone/>
            </a:pPr>
            <a:r>
              <a:rPr lang="en-US" dirty="0"/>
              <a:t>&lt;/body&gt;</a:t>
            </a:r>
          </a:p>
          <a:p>
            <a:pPr marL="0" indent="0">
              <a:buNone/>
            </a:pPr>
            <a:r>
              <a:rPr lang="en-US" dirty="0"/>
              <a:t>&lt;/html&gt;</a:t>
            </a:r>
          </a:p>
          <a:p>
            <a:endParaRPr lang="en-IN" dirty="0"/>
          </a:p>
        </p:txBody>
      </p:sp>
      <p:pic>
        <p:nvPicPr>
          <p:cNvPr id="5" name="Picture 4"/>
          <p:cNvPicPr>
            <a:picLocks noChangeAspect="1"/>
          </p:cNvPicPr>
          <p:nvPr/>
        </p:nvPicPr>
        <p:blipFill>
          <a:blip r:embed="rId2"/>
          <a:stretch>
            <a:fillRect/>
          </a:stretch>
        </p:blipFill>
        <p:spPr>
          <a:xfrm>
            <a:off x="6307605" y="2203339"/>
            <a:ext cx="2842506" cy="1966130"/>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838200" y="1968759"/>
            <a:ext cx="4218992" cy="4208204"/>
          </a:xfrm>
        </p:spPr>
        <p:txBody>
          <a:bodyPr>
            <a:normAutofit fontScale="25000" lnSpcReduction="20000"/>
          </a:bodyPr>
          <a:lstStyle/>
          <a:p>
            <a:pPr marL="0" indent="0">
              <a:buNone/>
            </a:pPr>
            <a:r>
              <a:rPr lang="en-US" dirty="0"/>
              <a:t>&lt;!DOCTYPE html&gt;</a:t>
            </a:r>
          </a:p>
          <a:p>
            <a:pPr marL="0" indent="0">
              <a:buNone/>
            </a:pPr>
            <a:r>
              <a:rPr lang="en-US" sz="5600" dirty="0"/>
              <a:t>&lt;html&gt;</a:t>
            </a:r>
          </a:p>
          <a:p>
            <a:pPr marL="0" indent="0">
              <a:buNone/>
            </a:pPr>
            <a:r>
              <a:rPr lang="en-US" sz="5600" dirty="0"/>
              <a:t>&lt;body&gt;</a:t>
            </a:r>
          </a:p>
          <a:p>
            <a:pPr marL="0" indent="0">
              <a:buNone/>
            </a:pPr>
            <a:endParaRPr lang="en-US" sz="5600" dirty="0"/>
          </a:p>
          <a:p>
            <a:pPr marL="0" indent="0">
              <a:buNone/>
            </a:pPr>
            <a:r>
              <a:rPr lang="en-US" sz="5600" dirty="0"/>
              <a:t>&lt;h1&gt;The address element&lt;/h1&gt;</a:t>
            </a:r>
          </a:p>
          <a:p>
            <a:pPr marL="0" indent="0">
              <a:buNone/>
            </a:pPr>
            <a:endParaRPr lang="en-US" sz="5600" dirty="0"/>
          </a:p>
          <a:p>
            <a:pPr marL="0" indent="0">
              <a:buNone/>
            </a:pPr>
            <a:r>
              <a:rPr lang="en-US" sz="5600" dirty="0"/>
              <a:t>&lt;address&gt;</a:t>
            </a:r>
          </a:p>
          <a:p>
            <a:pPr marL="0" indent="0">
              <a:buNone/>
            </a:pPr>
            <a:r>
              <a:rPr lang="en-US" sz="5600" dirty="0"/>
              <a:t>Written by &lt;a </a:t>
            </a:r>
            <a:r>
              <a:rPr lang="en-US" sz="5600" dirty="0" err="1"/>
              <a:t>href</a:t>
            </a:r>
            <a:r>
              <a:rPr lang="en-US" sz="5600" dirty="0"/>
              <a:t>="mailto:webmaster@example.com"&gt;Jon Doe&lt;/a&gt;.&lt;</a:t>
            </a:r>
            <a:r>
              <a:rPr lang="en-US" sz="5600" dirty="0" err="1"/>
              <a:t>br</a:t>
            </a:r>
            <a:r>
              <a:rPr lang="en-US" sz="5600" dirty="0"/>
              <a:t>&gt; </a:t>
            </a:r>
          </a:p>
          <a:p>
            <a:pPr marL="0" indent="0">
              <a:buNone/>
            </a:pPr>
            <a:r>
              <a:rPr lang="en-US" sz="5600" dirty="0"/>
              <a:t>Visit us at:&lt;</a:t>
            </a:r>
            <a:r>
              <a:rPr lang="en-US" sz="5600" dirty="0" err="1"/>
              <a:t>br</a:t>
            </a:r>
            <a:r>
              <a:rPr lang="en-US" sz="5600" dirty="0"/>
              <a:t>&gt;</a:t>
            </a:r>
          </a:p>
          <a:p>
            <a:pPr marL="0" indent="0">
              <a:buNone/>
            </a:pPr>
            <a:r>
              <a:rPr lang="en-US" sz="5600" dirty="0"/>
              <a:t>Example.com&lt;</a:t>
            </a:r>
            <a:r>
              <a:rPr lang="en-US" sz="5600" dirty="0" err="1"/>
              <a:t>br</a:t>
            </a:r>
            <a:r>
              <a:rPr lang="en-US" sz="5600" dirty="0"/>
              <a:t>&gt;</a:t>
            </a:r>
          </a:p>
          <a:p>
            <a:pPr marL="0" indent="0">
              <a:buNone/>
            </a:pPr>
            <a:r>
              <a:rPr lang="en-US" sz="5600" dirty="0"/>
              <a:t>Box 564, Disneyland&lt;</a:t>
            </a:r>
            <a:r>
              <a:rPr lang="en-US" sz="5600" dirty="0" err="1"/>
              <a:t>br</a:t>
            </a:r>
            <a:r>
              <a:rPr lang="en-US" sz="5600" dirty="0"/>
              <a:t>&gt;</a:t>
            </a:r>
          </a:p>
          <a:p>
            <a:pPr marL="0" indent="0">
              <a:buNone/>
            </a:pPr>
            <a:r>
              <a:rPr lang="en-US" sz="5600" dirty="0"/>
              <a:t>USA</a:t>
            </a:r>
          </a:p>
          <a:p>
            <a:pPr marL="0" indent="0">
              <a:buNone/>
            </a:pPr>
            <a:r>
              <a:rPr lang="en-US" sz="5600" dirty="0"/>
              <a:t>&lt;/address&gt;</a:t>
            </a:r>
          </a:p>
          <a:p>
            <a:pPr marL="0" indent="0">
              <a:buNone/>
            </a:pPr>
            <a:endParaRPr lang="en-US" sz="5600" dirty="0"/>
          </a:p>
          <a:p>
            <a:pPr marL="0" indent="0">
              <a:buNone/>
            </a:pPr>
            <a:r>
              <a:rPr lang="en-US" sz="5600" dirty="0"/>
              <a:t>&lt;/body&gt;</a:t>
            </a:r>
          </a:p>
          <a:p>
            <a:pPr marL="0" indent="0">
              <a:buNone/>
            </a:pPr>
            <a:r>
              <a:rPr lang="en-US" sz="5600" dirty="0"/>
              <a:t>&lt;/html&gt;</a:t>
            </a:r>
          </a:p>
          <a:p>
            <a:endParaRPr lang="en-IN" dirty="0"/>
          </a:p>
        </p:txBody>
      </p:sp>
      <p:pic>
        <p:nvPicPr>
          <p:cNvPr id="7" name="Picture 6"/>
          <p:cNvPicPr>
            <a:picLocks noChangeAspect="1"/>
          </p:cNvPicPr>
          <p:nvPr/>
        </p:nvPicPr>
        <p:blipFill>
          <a:blip r:embed="rId2"/>
          <a:stretch>
            <a:fillRect/>
          </a:stretch>
        </p:blipFill>
        <p:spPr>
          <a:xfrm>
            <a:off x="7675986" y="2112187"/>
            <a:ext cx="3520745" cy="2484335"/>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2EAAE3A-5870-EC6B-8447-F7F4A3E8272D}"/>
              </a:ext>
            </a:extLst>
          </p:cNvPr>
          <p:cNvSpPr>
            <a:spLocks noGrp="1"/>
          </p:cNvSpPr>
          <p:nvPr>
            <p:ph idx="1"/>
          </p:nvPr>
        </p:nvSpPr>
        <p:spPr>
          <a:xfrm>
            <a:off x="838200" y="1825625"/>
            <a:ext cx="4901119" cy="4351338"/>
          </a:xfrm>
        </p:spPr>
        <p:txBody>
          <a:bodyPr>
            <a:normAutofit fontScale="77500" lnSpcReduction="20000"/>
          </a:bodyPr>
          <a:lstStyle/>
          <a:p>
            <a:pPr marL="0" indent="0">
              <a:buNone/>
            </a:pPr>
            <a:r>
              <a:rPr lang="en-US" dirty="0"/>
              <a:t>&lt;html&gt;</a:t>
            </a:r>
          </a:p>
          <a:p>
            <a:pPr marL="0" indent="0">
              <a:buNone/>
            </a:pPr>
            <a:r>
              <a:rPr lang="en-US" dirty="0"/>
              <a:t>&lt;body&gt;</a:t>
            </a:r>
          </a:p>
          <a:p>
            <a:pPr marL="0" indent="0">
              <a:buNone/>
            </a:pPr>
            <a:endParaRPr lang="en-US" dirty="0"/>
          </a:p>
          <a:p>
            <a:pPr marL="0" indent="0">
              <a:buNone/>
            </a:pPr>
            <a:r>
              <a:rPr lang="en-US" dirty="0"/>
              <a:t>&lt;h1&gt;The cite element&lt;/h1&gt;</a:t>
            </a:r>
          </a:p>
          <a:p>
            <a:pPr marL="0" indent="0">
              <a:buNone/>
            </a:pPr>
            <a:endParaRPr lang="en-US" dirty="0"/>
          </a:p>
          <a:p>
            <a:pPr marL="0" indent="0">
              <a:buNone/>
            </a:pPr>
            <a:r>
              <a:rPr lang="en-US" dirty="0"/>
              <a:t>&lt;</a:t>
            </a:r>
            <a:r>
              <a:rPr lang="en-US" dirty="0" err="1"/>
              <a:t>img</a:t>
            </a:r>
            <a:r>
              <a:rPr lang="en-US" dirty="0"/>
              <a:t> </a:t>
            </a:r>
            <a:r>
              <a:rPr lang="en-US" dirty="0" err="1"/>
              <a:t>src</a:t>
            </a:r>
            <a:r>
              <a:rPr lang="en-US" dirty="0"/>
              <a:t>="img_the_scream.jpg" width="220" height="277" alt="The Scream"&gt;</a:t>
            </a:r>
          </a:p>
          <a:p>
            <a:pPr marL="0" indent="0">
              <a:buNone/>
            </a:pPr>
            <a:r>
              <a:rPr lang="en-US" dirty="0"/>
              <a:t>&lt;p&gt;</a:t>
            </a:r>
            <a:r>
              <a:rPr lang="en-US" b="1" dirty="0"/>
              <a:t>&lt;cite&gt;</a:t>
            </a:r>
            <a:r>
              <a:rPr lang="en-US" dirty="0"/>
              <a:t>The Scream</a:t>
            </a:r>
            <a:r>
              <a:rPr lang="en-US" b="1" dirty="0"/>
              <a:t>&lt;/cite&gt; </a:t>
            </a:r>
            <a:r>
              <a:rPr lang="en-US" dirty="0"/>
              <a:t>by Edward Munch. Painted in 1893.&lt;/p&gt;</a:t>
            </a:r>
          </a:p>
          <a:p>
            <a:pPr marL="0" indent="0">
              <a:buNone/>
            </a:pPr>
            <a:endParaRPr lang="en-US" dirty="0"/>
          </a:p>
          <a:p>
            <a:pPr marL="0" indent="0">
              <a:buNone/>
            </a:pPr>
            <a:r>
              <a:rPr lang="en-US" dirty="0"/>
              <a:t>&lt;/body&gt;</a:t>
            </a:r>
          </a:p>
          <a:p>
            <a:pPr marL="0" indent="0">
              <a:buNone/>
            </a:pPr>
            <a:r>
              <a:rPr lang="en-US" dirty="0"/>
              <a:t>&lt;/html&gt;</a:t>
            </a:r>
          </a:p>
          <a:p>
            <a:endParaRPr lang="en-IN" dirty="0"/>
          </a:p>
        </p:txBody>
      </p:sp>
      <p:pic>
        <p:nvPicPr>
          <p:cNvPr id="5" name="Picture 4">
            <a:extLst>
              <a:ext uri="{FF2B5EF4-FFF2-40B4-BE49-F238E27FC236}">
                <a16:creationId xmlns="" xmlns:a16="http://schemas.microsoft.com/office/drawing/2014/main" id="{7F0111E0-33D3-FAF6-171A-C89B19738EC0}"/>
              </a:ext>
            </a:extLst>
          </p:cNvPr>
          <p:cNvPicPr>
            <a:picLocks noChangeAspect="1"/>
          </p:cNvPicPr>
          <p:nvPr/>
        </p:nvPicPr>
        <p:blipFill>
          <a:blip r:embed="rId2"/>
          <a:srcRect l="50904" t="17447" r="904" b="8085"/>
          <a:stretch/>
        </p:blipFill>
        <p:spPr>
          <a:xfrm>
            <a:off x="6206247" y="1825625"/>
            <a:ext cx="5151716" cy="4477898"/>
          </a:xfrm>
          <a:prstGeom prst="rect">
            <a:avLst/>
          </a:prstGeom>
        </p:spPr>
      </p:pic>
    </p:spTree>
    <p:extLst>
      <p:ext uri="{BB962C8B-B14F-4D97-AF65-F5344CB8AC3E}">
        <p14:creationId xmlns:p14="http://schemas.microsoft.com/office/powerpoint/2010/main" val="334937229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9E688939-0FF7-87B8-9760-A6EEA21E70BC}"/>
              </a:ext>
            </a:extLst>
          </p:cNvPr>
          <p:cNvSpPr txBox="1"/>
          <p:nvPr/>
        </p:nvSpPr>
        <p:spPr>
          <a:xfrm>
            <a:off x="741733" y="1331734"/>
            <a:ext cx="5454786" cy="3416320"/>
          </a:xfrm>
          <a:prstGeom prst="rect">
            <a:avLst/>
          </a:prstGeom>
          <a:noFill/>
        </p:spPr>
        <p:txBody>
          <a:bodyPr wrap="square">
            <a:spAutoFit/>
          </a:bodyPr>
          <a:lstStyle/>
          <a:p>
            <a:r>
              <a:rPr lang="en-IN" dirty="0"/>
              <a:t>&lt;html&gt;</a:t>
            </a:r>
          </a:p>
          <a:p>
            <a:r>
              <a:rPr lang="en-IN" dirty="0"/>
              <a:t>&lt;body&gt;</a:t>
            </a:r>
          </a:p>
          <a:p>
            <a:endParaRPr lang="en-IN" dirty="0"/>
          </a:p>
          <a:p>
            <a:r>
              <a:rPr lang="en-IN" dirty="0"/>
              <a:t>&lt;h1&gt;The q element&lt;/h1&gt;</a:t>
            </a:r>
          </a:p>
          <a:p>
            <a:endParaRPr lang="en-IN" dirty="0"/>
          </a:p>
          <a:p>
            <a:r>
              <a:rPr lang="en-IN" dirty="0"/>
              <a:t>&lt;p&gt;WWF's goal is to: </a:t>
            </a:r>
          </a:p>
          <a:p>
            <a:r>
              <a:rPr lang="en-IN" b="1" dirty="0"/>
              <a:t>&lt;q&gt;</a:t>
            </a:r>
            <a:r>
              <a:rPr lang="en-IN" dirty="0"/>
              <a:t>Build a future where people live in harmony with nature.</a:t>
            </a:r>
            <a:r>
              <a:rPr lang="en-IN" b="1" dirty="0"/>
              <a:t>&lt;/q&gt;</a:t>
            </a:r>
          </a:p>
          <a:p>
            <a:r>
              <a:rPr lang="en-IN" dirty="0"/>
              <a:t>We hope they succeed.&lt;/p&gt;</a:t>
            </a:r>
          </a:p>
          <a:p>
            <a:endParaRPr lang="en-IN" dirty="0"/>
          </a:p>
          <a:p>
            <a:r>
              <a:rPr lang="en-IN" dirty="0"/>
              <a:t>&lt;/body&gt;</a:t>
            </a:r>
          </a:p>
          <a:p>
            <a:r>
              <a:rPr lang="en-IN" dirty="0"/>
              <a:t>&lt;/html&gt;</a:t>
            </a:r>
          </a:p>
        </p:txBody>
      </p:sp>
      <p:pic>
        <p:nvPicPr>
          <p:cNvPr id="7" name="Picture 6">
            <a:extLst>
              <a:ext uri="{FF2B5EF4-FFF2-40B4-BE49-F238E27FC236}">
                <a16:creationId xmlns="" xmlns:a16="http://schemas.microsoft.com/office/drawing/2014/main" id="{E82A600A-4DA7-7A91-F45D-DBD4774F8C1E}"/>
              </a:ext>
            </a:extLst>
          </p:cNvPr>
          <p:cNvPicPr>
            <a:picLocks noChangeAspect="1"/>
          </p:cNvPicPr>
          <p:nvPr/>
        </p:nvPicPr>
        <p:blipFill>
          <a:blip r:embed="rId2"/>
          <a:srcRect l="50825" t="17021" r="825" b="7092"/>
          <a:stretch/>
        </p:blipFill>
        <p:spPr>
          <a:xfrm>
            <a:off x="6196518" y="1167318"/>
            <a:ext cx="5894963" cy="5204299"/>
          </a:xfrm>
          <a:prstGeom prst="rect">
            <a:avLst/>
          </a:prstGeom>
        </p:spPr>
      </p:pic>
    </p:spTree>
    <p:extLst>
      <p:ext uri="{BB962C8B-B14F-4D97-AF65-F5344CB8AC3E}">
        <p14:creationId xmlns:p14="http://schemas.microsoft.com/office/powerpoint/2010/main" val="36333183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811</TotalTime>
  <Words>5447</Words>
  <Application>Microsoft Office PowerPoint</Application>
  <PresentationFormat>Widescreen</PresentationFormat>
  <Paragraphs>1213</Paragraphs>
  <Slides>128</Slides>
  <Notes>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128</vt:i4>
      </vt:variant>
    </vt:vector>
  </HeadingPairs>
  <TitlesOfParts>
    <vt:vector size="140" baseType="lpstr">
      <vt:lpstr>Arial Unicode MS</vt:lpstr>
      <vt:lpstr>Aptos</vt:lpstr>
      <vt:lpstr>Aptos Display</vt:lpstr>
      <vt:lpstr>Arial</vt:lpstr>
      <vt:lpstr>Calibri</vt:lpstr>
      <vt:lpstr>Consolas</vt:lpstr>
      <vt:lpstr>Courier</vt:lpstr>
      <vt:lpstr>Nunito</vt:lpstr>
      <vt:lpstr>Segoe UI</vt:lpstr>
      <vt:lpstr>Times New Roman</vt:lpstr>
      <vt:lpstr>Verdana</vt:lpstr>
      <vt:lpstr>Office Theme</vt:lpstr>
      <vt:lpstr>Unit 2</vt:lpstr>
      <vt:lpstr>Assignment 1: Student Details Table</vt:lpstr>
      <vt:lpstr>College Time Table using Table Tags </vt:lpstr>
      <vt:lpstr>HTML </vt:lpstr>
      <vt:lpstr>PowerPoint Presentation</vt:lpstr>
      <vt:lpstr>HTML STRUCTURE</vt:lpstr>
      <vt:lpstr>PowerPoint Presentation</vt:lpstr>
      <vt:lpstr>HTML CODING CONVENTIONS</vt:lpstr>
      <vt:lpstr>PowerPoint Presentation</vt:lpstr>
      <vt:lpstr>HTML Coding Conventions </vt:lpstr>
      <vt:lpstr>PowerPoint Presentation</vt:lpstr>
      <vt:lpstr>PowerPoint Presentation</vt:lpstr>
      <vt:lpstr>Interaction of HTML, CSS, and JavaScript </vt:lpstr>
      <vt:lpstr>HTML Elements and HTML Tags </vt:lpstr>
      <vt:lpstr>PowerPoint Presentation</vt:lpstr>
      <vt:lpstr>HTML Attributes </vt:lpstr>
      <vt:lpstr>HTML Attributes </vt:lpstr>
      <vt:lpstr>Components of Attribute </vt:lpstr>
      <vt:lpstr>PowerPoint Presentation</vt:lpstr>
      <vt:lpstr>PowerPoint Presentation</vt:lpstr>
      <vt:lpstr>PowerPoint Presentation</vt:lpstr>
      <vt:lpstr>1. HTML alt Attribute </vt:lpstr>
      <vt:lpstr>2. HTML width and height Attribute  </vt:lpstr>
      <vt:lpstr>3. HTML id Attribute </vt:lpstr>
      <vt:lpstr>4. HTML title Attribute </vt:lpstr>
      <vt:lpstr>5. HTML href Attribute </vt:lpstr>
      <vt:lpstr>6. HTML style Attribute </vt:lpstr>
      <vt:lpstr>TAG</vt:lpstr>
      <vt:lpstr>HTML p Tag</vt:lpstr>
      <vt:lpstr>PowerPoint Presentation</vt:lpstr>
      <vt:lpstr>Styling Paragraphs </vt:lpstr>
      <vt:lpstr>Aligning Paragraph </vt:lpstr>
      <vt:lpstr>2.HTML a Tag </vt:lpstr>
      <vt:lpstr>PowerPoint Presentation</vt:lpstr>
      <vt:lpstr>PowerPoint Presentation</vt:lpstr>
      <vt:lpstr>3.HTML br Tag </vt:lpstr>
      <vt:lpstr>PowerPoint Presentation</vt:lpstr>
      <vt:lpstr>PowerPoint Presentation</vt:lpstr>
      <vt:lpstr>PowerPoint Presentation</vt:lpstr>
      <vt:lpstr>HTML Block Elements and Text Elements</vt:lpstr>
      <vt:lpstr>. Block Elements</vt:lpstr>
      <vt:lpstr>Examples of Block Elements </vt:lpstr>
      <vt:lpstr>PowerPoint Presentation</vt:lpstr>
      <vt:lpstr>3. Text Elements (Inline Elements)</vt:lpstr>
      <vt:lpstr>Examples of Text (Inline) Elements </vt:lpstr>
      <vt:lpstr>PowerPoint Presentation</vt:lpstr>
      <vt:lpstr>Difference Between Block and Inline Elements</vt:lpstr>
      <vt:lpstr>ACTIVITY</vt:lpstr>
      <vt:lpstr>HTML Character Reference</vt:lpstr>
      <vt:lpstr>Syntax of Character Reference</vt:lpstr>
      <vt:lpstr>PowerPoint Presentation</vt:lpstr>
      <vt:lpstr>4. Non-Breaking Space</vt:lpstr>
      <vt:lpstr>5. Currency Character References</vt:lpstr>
      <vt:lpstr>6. Mathematical Character References</vt:lpstr>
      <vt:lpstr>HTML Program</vt:lpstr>
      <vt:lpstr>Write an HTML program to display:</vt:lpstr>
      <vt:lpstr>HTML Lists</vt:lpstr>
      <vt:lpstr>PowerPoint Presentation</vt:lpstr>
      <vt:lpstr>Types of HTML Lists</vt:lpstr>
      <vt:lpstr>Syntax:</vt:lpstr>
      <vt:lpstr>PowerPoint Presentation</vt:lpstr>
      <vt:lpstr>2. HTML Ordered List</vt:lpstr>
      <vt:lpstr>PowerPoint Presentation</vt:lpstr>
      <vt:lpstr>PowerPoint Presentation</vt:lpstr>
      <vt:lpstr>3. HTML Description List</vt:lpstr>
      <vt:lpstr>PowerPoint Presentation</vt:lpstr>
      <vt:lpstr>PowerPoint Presentation</vt:lpstr>
      <vt:lpstr>PowerPoint Presentation</vt:lpstr>
      <vt:lpstr>PowerPoint Presentation</vt:lpstr>
      <vt:lpstr>HTML Images</vt:lpstr>
      <vt:lpstr>PowerPoint Presentation</vt:lpstr>
      <vt:lpstr>PowerPoint Presentation</vt:lpstr>
      <vt:lpstr>HTML Image tag - alt Attribute</vt:lpstr>
      <vt:lpstr>Set Image Size - Width and Height Attribute</vt:lpstr>
      <vt:lpstr>Setting Style of an Image</vt:lpstr>
      <vt:lpstr>Set Image Alignment</vt:lpstr>
      <vt:lpstr>HTML &lt;section&gt; Tag </vt:lpstr>
      <vt:lpstr>PowerPoint Presentation</vt:lpstr>
      <vt:lpstr>PowerPoint Presentation</vt:lpstr>
      <vt:lpstr>Nested Section tag: </vt:lpstr>
      <vt:lpstr>HTML article Tag </vt:lpstr>
      <vt:lpstr>Lab Assignment 1</vt:lpstr>
      <vt:lpstr>Table</vt:lpstr>
      <vt:lpstr>Table Headers</vt:lpstr>
      <vt:lpstr>PowerPoint Presentation</vt:lpstr>
      <vt:lpstr>Row Span</vt:lpstr>
      <vt:lpstr>Linking Another Pages</vt:lpstr>
      <vt:lpstr>Inserting Image</vt:lpstr>
      <vt:lpstr>PowerPoint Presentation</vt:lpstr>
      <vt:lpstr>PowerPoint Presentation</vt:lpstr>
      <vt:lpstr>Formatting Elements</vt:lpstr>
      <vt:lpstr>PowerPoint Presentation</vt:lpstr>
      <vt:lpstr>Embedding Video</vt:lpstr>
      <vt:lpstr>Un ordered List</vt:lpstr>
      <vt:lpstr>Ordered List</vt:lpstr>
      <vt:lpstr>Detailed List</vt:lpstr>
      <vt:lpstr>AMITY UNIVERSITY   H1 BENGALURU   H2 DEVANHALLI     H2</vt:lpstr>
      <vt:lpstr>Creating Form</vt:lpstr>
      <vt:lpstr>PowerPoint Presentation</vt:lpstr>
      <vt:lpstr>PowerPoint Presentation</vt:lpstr>
      <vt:lpstr>PowerPoint Presentation</vt:lpstr>
      <vt:lpstr>Assignment:</vt:lpstr>
      <vt:lpstr>PowerPoint Presentation</vt:lpstr>
      <vt:lpstr>Semantic Elements: </vt:lpstr>
      <vt:lpstr>article: </vt:lpstr>
      <vt:lpstr>PowerPoint Presentation</vt:lpstr>
      <vt:lpstr>PowerPoint Presentation</vt:lpstr>
      <vt:lpstr>PowerPoint Presentation</vt:lpstr>
      <vt:lpstr>Header: </vt:lpstr>
      <vt:lpstr>PowerPoint Presentation</vt:lpstr>
      <vt:lpstr>PowerPoint Presentation</vt:lpstr>
      <vt:lpstr>PowerPoint Presentation</vt:lpstr>
      <vt:lpstr>Details and Summary: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shashvat.sharma13@outlook.com</dc:creator>
  <cp:lastModifiedBy>user</cp:lastModifiedBy>
  <cp:revision>73</cp:revision>
  <dcterms:created xsi:type="dcterms:W3CDTF">2024-03-26T05:20:00Z</dcterms:created>
  <dcterms:modified xsi:type="dcterms:W3CDTF">2026-03-14T07:49:57Z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5B9BD0C097144AE2847C04F3F26F954B_12</vt:lpwstr>
  </property>
  <property fmtid="{D5CDD505-2E9C-101B-9397-08002B2CF9AE}" pid="3" name="KSOProductBuildVer">
    <vt:lpwstr>1033-12.2.0.19805</vt:lpwstr>
  </property>
</Properties>
</file>