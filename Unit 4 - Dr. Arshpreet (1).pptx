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28" r:id="rId4"/>
    <p:sldId id="329" r:id="rId5"/>
    <p:sldId id="327" r:id="rId6"/>
    <p:sldId id="303" r:id="rId7"/>
    <p:sldId id="302" r:id="rId8"/>
    <p:sldId id="301" r:id="rId9"/>
    <p:sldId id="320" r:id="rId10"/>
    <p:sldId id="321" r:id="rId11"/>
    <p:sldId id="323" r:id="rId12"/>
    <p:sldId id="324" r:id="rId13"/>
    <p:sldId id="325" r:id="rId14"/>
    <p:sldId id="326" r:id="rId15"/>
    <p:sldId id="263" r:id="rId16"/>
    <p:sldId id="304" r:id="rId17"/>
    <p:sldId id="318" r:id="rId18"/>
    <p:sldId id="319" r:id="rId19"/>
    <p:sldId id="305" r:id="rId20"/>
    <p:sldId id="306" r:id="rId21"/>
    <p:sldId id="307" r:id="rId22"/>
    <p:sldId id="308" r:id="rId23"/>
    <p:sldId id="258" r:id="rId24"/>
    <p:sldId id="284" r:id="rId25"/>
    <p:sldId id="285" r:id="rId26"/>
    <p:sldId id="259" r:id="rId27"/>
    <p:sldId id="286" r:id="rId28"/>
    <p:sldId id="287" r:id="rId29"/>
    <p:sldId id="260" r:id="rId30"/>
    <p:sldId id="288" r:id="rId31"/>
    <p:sldId id="289" r:id="rId32"/>
    <p:sldId id="290" r:id="rId33"/>
    <p:sldId id="291" r:id="rId34"/>
    <p:sldId id="292" r:id="rId35"/>
    <p:sldId id="296" r:id="rId36"/>
    <p:sldId id="309" r:id="rId37"/>
    <p:sldId id="310" r:id="rId38"/>
    <p:sldId id="311" r:id="rId39"/>
    <p:sldId id="312" r:id="rId40"/>
    <p:sldId id="313" r:id="rId41"/>
    <p:sldId id="314" r:id="rId42"/>
    <p:sldId id="315" r:id="rId43"/>
    <p:sldId id="297" r:id="rId44"/>
    <p:sldId id="316" r:id="rId45"/>
    <p:sldId id="317" r:id="rId46"/>
    <p:sldId id="298" r:id="rId47"/>
    <p:sldId id="299" r:id="rId48"/>
    <p:sldId id="271" r:id="rId49"/>
    <p:sldId id="272" r:id="rId50"/>
    <p:sldId id="273" r:id="rId51"/>
    <p:sldId id="274" r:id="rId52"/>
    <p:sldId id="275" r:id="rId53"/>
    <p:sldId id="276" r:id="rId54"/>
    <p:sldId id="277" r:id="rId55"/>
    <p:sldId id="278" r:id="rId56"/>
    <p:sldId id="279" r:id="rId57"/>
    <p:sldId id="280" r:id="rId58"/>
    <p:sldId id="281" r:id="rId59"/>
    <p:sldId id="282" r:id="rId60"/>
    <p:sldId id="283" r:id="rId61"/>
    <p:sldId id="261" r:id="rId62"/>
    <p:sldId id="270" r:id="rId63"/>
    <p:sldId id="340" r:id="rId64"/>
    <p:sldId id="341" r:id="rId65"/>
    <p:sldId id="342" r:id="rId66"/>
    <p:sldId id="343" r:id="rId67"/>
    <p:sldId id="262" r:id="rId68"/>
    <p:sldId id="344" r:id="rId69"/>
    <p:sldId id="264" r:id="rId70"/>
    <p:sldId id="265" r:id="rId71"/>
    <p:sldId id="266" r:id="rId72"/>
    <p:sldId id="345" r:id="rId73"/>
    <p:sldId id="346" r:id="rId74"/>
    <p:sldId id="347" r:id="rId75"/>
    <p:sldId id="348" r:id="rId76"/>
    <p:sldId id="349" r:id="rId77"/>
    <p:sldId id="350" r:id="rId78"/>
    <p:sldId id="267" r:id="rId79"/>
    <p:sldId id="268" r:id="rId80"/>
    <p:sldId id="351" r:id="rId81"/>
    <p:sldId id="269" r:id="rId82"/>
    <p:sldId id="352" r:id="rId83"/>
    <p:sldId id="353" r:id="rId84"/>
    <p:sldId id="354" r:id="rId85"/>
    <p:sldId id="355" r:id="rId86"/>
    <p:sldId id="356" r:id="rId87"/>
    <p:sldId id="357" r:id="rId88"/>
    <p:sldId id="358" r:id="rId89"/>
    <p:sldId id="359"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F18478-9357-4EF5-8908-035D263ACDD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CDBB31B-C613-4635-9049-96C1979088A1}">
      <dgm:prSet/>
      <dgm:spPr/>
      <dgm:t>
        <a:bodyPr/>
        <a:lstStyle/>
        <a:p>
          <a:r>
            <a:rPr lang="en-IN"/>
            <a:t>[ISP] ⇄ [Modem] ⇄ [Router] ⇄ [Switch] ⇄ [PCs, Printers, Smart TVs]</a:t>
          </a:r>
          <a:endParaRPr lang="en-US"/>
        </a:p>
      </dgm:t>
    </dgm:pt>
    <dgm:pt modelId="{D9585762-55BD-4583-A2C1-0D5F44E5B521}" type="parTrans" cxnId="{E37C9BBE-34F5-45B8-8762-4FBA2AAD0A00}">
      <dgm:prSet/>
      <dgm:spPr/>
      <dgm:t>
        <a:bodyPr/>
        <a:lstStyle/>
        <a:p>
          <a:endParaRPr lang="en-US"/>
        </a:p>
      </dgm:t>
    </dgm:pt>
    <dgm:pt modelId="{A7952942-39E8-4B47-8DF0-7A772CDB458C}" type="sibTrans" cxnId="{E37C9BBE-34F5-45B8-8762-4FBA2AAD0A00}">
      <dgm:prSet/>
      <dgm:spPr/>
      <dgm:t>
        <a:bodyPr/>
        <a:lstStyle/>
        <a:p>
          <a:endParaRPr lang="en-US"/>
        </a:p>
      </dgm:t>
    </dgm:pt>
    <dgm:pt modelId="{9B013060-B9A5-42AA-870E-9A4819CC0FBF}">
      <dgm:prSet/>
      <dgm:spPr/>
      <dgm:t>
        <a:bodyPr/>
        <a:lstStyle/>
        <a:p>
          <a:r>
            <a:rPr lang="en-US" b="1"/>
            <a:t>Modem</a:t>
          </a:r>
          <a:r>
            <a:rPr lang="en-US"/>
            <a:t>: Talks to your ISP and brings the internet in.</a:t>
          </a:r>
        </a:p>
      </dgm:t>
    </dgm:pt>
    <dgm:pt modelId="{1DE154AE-269D-46D3-A3E3-99392C1495D0}" type="parTrans" cxnId="{7BB4B34B-79C5-48D1-ACC3-50C506E65040}">
      <dgm:prSet/>
      <dgm:spPr/>
      <dgm:t>
        <a:bodyPr/>
        <a:lstStyle/>
        <a:p>
          <a:endParaRPr lang="en-US"/>
        </a:p>
      </dgm:t>
    </dgm:pt>
    <dgm:pt modelId="{BE8D63C6-C1EA-49F7-B650-6BF6B17A04B6}" type="sibTrans" cxnId="{7BB4B34B-79C5-48D1-ACC3-50C506E65040}">
      <dgm:prSet/>
      <dgm:spPr/>
      <dgm:t>
        <a:bodyPr/>
        <a:lstStyle/>
        <a:p>
          <a:endParaRPr lang="en-US"/>
        </a:p>
      </dgm:t>
    </dgm:pt>
    <dgm:pt modelId="{7AC81D77-F8AA-4D7B-AD5E-37F0926719E4}">
      <dgm:prSet/>
      <dgm:spPr/>
      <dgm:t>
        <a:bodyPr/>
        <a:lstStyle/>
        <a:p>
          <a:r>
            <a:rPr lang="en-US" b="1"/>
            <a:t>Router</a:t>
          </a:r>
          <a:r>
            <a:rPr lang="en-US"/>
            <a:t>: Shares that internet with your home and manages IP addresses.</a:t>
          </a:r>
        </a:p>
      </dgm:t>
    </dgm:pt>
    <dgm:pt modelId="{1C0D0271-807D-42B8-B68D-BBA6645F1AA7}" type="parTrans" cxnId="{325F82E9-E3E3-45DE-AF22-BD238FA5E7EC}">
      <dgm:prSet/>
      <dgm:spPr/>
      <dgm:t>
        <a:bodyPr/>
        <a:lstStyle/>
        <a:p>
          <a:endParaRPr lang="en-US"/>
        </a:p>
      </dgm:t>
    </dgm:pt>
    <dgm:pt modelId="{14CE074E-DA6C-44D3-A79A-3F6BDD624DFF}" type="sibTrans" cxnId="{325F82E9-E3E3-45DE-AF22-BD238FA5E7EC}">
      <dgm:prSet/>
      <dgm:spPr/>
      <dgm:t>
        <a:bodyPr/>
        <a:lstStyle/>
        <a:p>
          <a:endParaRPr lang="en-US"/>
        </a:p>
      </dgm:t>
    </dgm:pt>
    <dgm:pt modelId="{46C4C53E-7D37-418F-8FA0-99B21D369E08}">
      <dgm:prSet/>
      <dgm:spPr/>
      <dgm:t>
        <a:bodyPr/>
        <a:lstStyle/>
        <a:p>
          <a:r>
            <a:rPr lang="en-US" b="1"/>
            <a:t>Switch</a:t>
          </a:r>
          <a:r>
            <a:rPr lang="en-US"/>
            <a:t>: Lets your devices talk to each other efficiently in the local network.</a:t>
          </a:r>
        </a:p>
      </dgm:t>
    </dgm:pt>
    <dgm:pt modelId="{10F0EE64-F630-4D91-824A-2A5773B5ABAA}" type="parTrans" cxnId="{19E54EB7-8C80-4BDD-B0CB-5AED9215F054}">
      <dgm:prSet/>
      <dgm:spPr/>
      <dgm:t>
        <a:bodyPr/>
        <a:lstStyle/>
        <a:p>
          <a:endParaRPr lang="en-US"/>
        </a:p>
      </dgm:t>
    </dgm:pt>
    <dgm:pt modelId="{FBCBADBF-5AA5-4BBA-A3AF-A1108CEE5AC4}" type="sibTrans" cxnId="{19E54EB7-8C80-4BDD-B0CB-5AED9215F054}">
      <dgm:prSet/>
      <dgm:spPr/>
      <dgm:t>
        <a:bodyPr/>
        <a:lstStyle/>
        <a:p>
          <a:endParaRPr lang="en-US"/>
        </a:p>
      </dgm:t>
    </dgm:pt>
    <dgm:pt modelId="{4C83B6E6-F1F2-4405-9C7A-0CF89BB37129}" type="pres">
      <dgm:prSet presAssocID="{56F18478-9357-4EF5-8908-035D263ACDDF}" presName="linear" presStyleCnt="0">
        <dgm:presLayoutVars>
          <dgm:animLvl val="lvl"/>
          <dgm:resizeHandles val="exact"/>
        </dgm:presLayoutVars>
      </dgm:prSet>
      <dgm:spPr/>
    </dgm:pt>
    <dgm:pt modelId="{0DCB9047-7FDD-4AE5-9C3D-38F299BFA32C}" type="pres">
      <dgm:prSet presAssocID="{5CDBB31B-C613-4635-9049-96C1979088A1}" presName="parentText" presStyleLbl="node1" presStyleIdx="0" presStyleCnt="4">
        <dgm:presLayoutVars>
          <dgm:chMax val="0"/>
          <dgm:bulletEnabled val="1"/>
        </dgm:presLayoutVars>
      </dgm:prSet>
      <dgm:spPr/>
    </dgm:pt>
    <dgm:pt modelId="{FF27B142-CFDB-4ED1-8C48-35E3103CE076}" type="pres">
      <dgm:prSet presAssocID="{A7952942-39E8-4B47-8DF0-7A772CDB458C}" presName="spacer" presStyleCnt="0"/>
      <dgm:spPr/>
    </dgm:pt>
    <dgm:pt modelId="{22FD7B4A-2004-433F-9BF6-903A0A9B1314}" type="pres">
      <dgm:prSet presAssocID="{9B013060-B9A5-42AA-870E-9A4819CC0FBF}" presName="parentText" presStyleLbl="node1" presStyleIdx="1" presStyleCnt="4">
        <dgm:presLayoutVars>
          <dgm:chMax val="0"/>
          <dgm:bulletEnabled val="1"/>
        </dgm:presLayoutVars>
      </dgm:prSet>
      <dgm:spPr/>
    </dgm:pt>
    <dgm:pt modelId="{863900A1-7C0C-471C-8741-9AB689F77153}" type="pres">
      <dgm:prSet presAssocID="{BE8D63C6-C1EA-49F7-B650-6BF6B17A04B6}" presName="spacer" presStyleCnt="0"/>
      <dgm:spPr/>
    </dgm:pt>
    <dgm:pt modelId="{7AB70F2B-DAD3-4308-AE9A-B327C4B2E730}" type="pres">
      <dgm:prSet presAssocID="{7AC81D77-F8AA-4D7B-AD5E-37F0926719E4}" presName="parentText" presStyleLbl="node1" presStyleIdx="2" presStyleCnt="4">
        <dgm:presLayoutVars>
          <dgm:chMax val="0"/>
          <dgm:bulletEnabled val="1"/>
        </dgm:presLayoutVars>
      </dgm:prSet>
      <dgm:spPr/>
    </dgm:pt>
    <dgm:pt modelId="{F7D4137A-440E-4199-BD83-DCB3FAA53D4E}" type="pres">
      <dgm:prSet presAssocID="{14CE074E-DA6C-44D3-A79A-3F6BDD624DFF}" presName="spacer" presStyleCnt="0"/>
      <dgm:spPr/>
    </dgm:pt>
    <dgm:pt modelId="{F3478212-C3D9-43CC-A983-ECAE216408E6}" type="pres">
      <dgm:prSet presAssocID="{46C4C53E-7D37-418F-8FA0-99B21D369E08}" presName="parentText" presStyleLbl="node1" presStyleIdx="3" presStyleCnt="4">
        <dgm:presLayoutVars>
          <dgm:chMax val="0"/>
          <dgm:bulletEnabled val="1"/>
        </dgm:presLayoutVars>
      </dgm:prSet>
      <dgm:spPr/>
    </dgm:pt>
  </dgm:ptLst>
  <dgm:cxnLst>
    <dgm:cxn modelId="{3B986F07-877C-4026-82F1-19501050134E}" type="presOf" srcId="{56F18478-9357-4EF5-8908-035D263ACDDF}" destId="{4C83B6E6-F1F2-4405-9C7A-0CF89BB37129}" srcOrd="0" destOrd="0" presId="urn:microsoft.com/office/officeart/2005/8/layout/vList2"/>
    <dgm:cxn modelId="{E6AE1B37-9814-41A0-BA78-AA70E929F015}" type="presOf" srcId="{46C4C53E-7D37-418F-8FA0-99B21D369E08}" destId="{F3478212-C3D9-43CC-A983-ECAE216408E6}" srcOrd="0" destOrd="0" presId="urn:microsoft.com/office/officeart/2005/8/layout/vList2"/>
    <dgm:cxn modelId="{31FFDE41-7F3A-4714-A1ED-DDA55AD65448}" type="presOf" srcId="{5CDBB31B-C613-4635-9049-96C1979088A1}" destId="{0DCB9047-7FDD-4AE5-9C3D-38F299BFA32C}" srcOrd="0" destOrd="0" presId="urn:microsoft.com/office/officeart/2005/8/layout/vList2"/>
    <dgm:cxn modelId="{23F64E67-5CFE-4D74-986C-9D0693B32758}" type="presOf" srcId="{9B013060-B9A5-42AA-870E-9A4819CC0FBF}" destId="{22FD7B4A-2004-433F-9BF6-903A0A9B1314}" srcOrd="0" destOrd="0" presId="urn:microsoft.com/office/officeart/2005/8/layout/vList2"/>
    <dgm:cxn modelId="{7BB4B34B-79C5-48D1-ACC3-50C506E65040}" srcId="{56F18478-9357-4EF5-8908-035D263ACDDF}" destId="{9B013060-B9A5-42AA-870E-9A4819CC0FBF}" srcOrd="1" destOrd="0" parTransId="{1DE154AE-269D-46D3-A3E3-99392C1495D0}" sibTransId="{BE8D63C6-C1EA-49F7-B650-6BF6B17A04B6}"/>
    <dgm:cxn modelId="{8D945CB1-F58D-4EE2-9F2B-861C7BB92674}" type="presOf" srcId="{7AC81D77-F8AA-4D7B-AD5E-37F0926719E4}" destId="{7AB70F2B-DAD3-4308-AE9A-B327C4B2E730}" srcOrd="0" destOrd="0" presId="urn:microsoft.com/office/officeart/2005/8/layout/vList2"/>
    <dgm:cxn modelId="{19E54EB7-8C80-4BDD-B0CB-5AED9215F054}" srcId="{56F18478-9357-4EF5-8908-035D263ACDDF}" destId="{46C4C53E-7D37-418F-8FA0-99B21D369E08}" srcOrd="3" destOrd="0" parTransId="{10F0EE64-F630-4D91-824A-2A5773B5ABAA}" sibTransId="{FBCBADBF-5AA5-4BBA-A3AF-A1108CEE5AC4}"/>
    <dgm:cxn modelId="{E37C9BBE-34F5-45B8-8762-4FBA2AAD0A00}" srcId="{56F18478-9357-4EF5-8908-035D263ACDDF}" destId="{5CDBB31B-C613-4635-9049-96C1979088A1}" srcOrd="0" destOrd="0" parTransId="{D9585762-55BD-4583-A2C1-0D5F44E5B521}" sibTransId="{A7952942-39E8-4B47-8DF0-7A772CDB458C}"/>
    <dgm:cxn modelId="{325F82E9-E3E3-45DE-AF22-BD238FA5E7EC}" srcId="{56F18478-9357-4EF5-8908-035D263ACDDF}" destId="{7AC81D77-F8AA-4D7B-AD5E-37F0926719E4}" srcOrd="2" destOrd="0" parTransId="{1C0D0271-807D-42B8-B68D-BBA6645F1AA7}" sibTransId="{14CE074E-DA6C-44D3-A79A-3F6BDD624DFF}"/>
    <dgm:cxn modelId="{CCEDD2D5-5368-4810-9041-7B8CDE72A7E6}" type="presParOf" srcId="{4C83B6E6-F1F2-4405-9C7A-0CF89BB37129}" destId="{0DCB9047-7FDD-4AE5-9C3D-38F299BFA32C}" srcOrd="0" destOrd="0" presId="urn:microsoft.com/office/officeart/2005/8/layout/vList2"/>
    <dgm:cxn modelId="{ACC06D76-47EB-4487-AB36-865DA21CACEF}" type="presParOf" srcId="{4C83B6E6-F1F2-4405-9C7A-0CF89BB37129}" destId="{FF27B142-CFDB-4ED1-8C48-35E3103CE076}" srcOrd="1" destOrd="0" presId="urn:microsoft.com/office/officeart/2005/8/layout/vList2"/>
    <dgm:cxn modelId="{3F7E1A90-443F-4BE7-B16E-0AA64CE302DD}" type="presParOf" srcId="{4C83B6E6-F1F2-4405-9C7A-0CF89BB37129}" destId="{22FD7B4A-2004-433F-9BF6-903A0A9B1314}" srcOrd="2" destOrd="0" presId="urn:microsoft.com/office/officeart/2005/8/layout/vList2"/>
    <dgm:cxn modelId="{A06AC9BB-E0F1-4F1C-B52F-B839EB02C2C7}" type="presParOf" srcId="{4C83B6E6-F1F2-4405-9C7A-0CF89BB37129}" destId="{863900A1-7C0C-471C-8741-9AB689F77153}" srcOrd="3" destOrd="0" presId="urn:microsoft.com/office/officeart/2005/8/layout/vList2"/>
    <dgm:cxn modelId="{6A87E62D-8F3D-4E47-9DBA-48314BCA6FAD}" type="presParOf" srcId="{4C83B6E6-F1F2-4405-9C7A-0CF89BB37129}" destId="{7AB70F2B-DAD3-4308-AE9A-B327C4B2E730}" srcOrd="4" destOrd="0" presId="urn:microsoft.com/office/officeart/2005/8/layout/vList2"/>
    <dgm:cxn modelId="{3220A7C5-8867-4D38-A3E4-400954330A78}" type="presParOf" srcId="{4C83B6E6-F1F2-4405-9C7A-0CF89BB37129}" destId="{F7D4137A-440E-4199-BD83-DCB3FAA53D4E}" srcOrd="5" destOrd="0" presId="urn:microsoft.com/office/officeart/2005/8/layout/vList2"/>
    <dgm:cxn modelId="{ECDF9C5B-174B-4E25-A630-59C206C56217}" type="presParOf" srcId="{4C83B6E6-F1F2-4405-9C7A-0CF89BB37129}" destId="{F3478212-C3D9-43CC-A983-ECAE216408E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CB9047-7FDD-4AE5-9C3D-38F299BFA32C}">
      <dsp:nvSpPr>
        <dsp:cNvPr id="0" name=""/>
        <dsp:cNvSpPr/>
      </dsp:nvSpPr>
      <dsp:spPr>
        <a:xfrm>
          <a:off x="0" y="290728"/>
          <a:ext cx="7559504" cy="13525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IN" sz="3400" kern="1200"/>
            <a:t>[ISP] ⇄ [Modem] ⇄ [Router] ⇄ [Switch] ⇄ [PCs, Printers, Smart TVs]</a:t>
          </a:r>
          <a:endParaRPr lang="en-US" sz="3400" kern="1200"/>
        </a:p>
      </dsp:txBody>
      <dsp:txXfrm>
        <a:off x="66025" y="356753"/>
        <a:ext cx="7427454" cy="1220470"/>
      </dsp:txXfrm>
    </dsp:sp>
    <dsp:sp modelId="{22FD7B4A-2004-433F-9BF6-903A0A9B1314}">
      <dsp:nvSpPr>
        <dsp:cNvPr id="0" name=""/>
        <dsp:cNvSpPr/>
      </dsp:nvSpPr>
      <dsp:spPr>
        <a:xfrm>
          <a:off x="0" y="1741168"/>
          <a:ext cx="7559504" cy="135252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Modem</a:t>
          </a:r>
          <a:r>
            <a:rPr lang="en-US" sz="3400" kern="1200"/>
            <a:t>: Talks to your ISP and brings the internet in.</a:t>
          </a:r>
        </a:p>
      </dsp:txBody>
      <dsp:txXfrm>
        <a:off x="66025" y="1807193"/>
        <a:ext cx="7427454" cy="1220470"/>
      </dsp:txXfrm>
    </dsp:sp>
    <dsp:sp modelId="{7AB70F2B-DAD3-4308-AE9A-B327C4B2E730}">
      <dsp:nvSpPr>
        <dsp:cNvPr id="0" name=""/>
        <dsp:cNvSpPr/>
      </dsp:nvSpPr>
      <dsp:spPr>
        <a:xfrm>
          <a:off x="0" y="3191608"/>
          <a:ext cx="7559504" cy="135252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Router</a:t>
          </a:r>
          <a:r>
            <a:rPr lang="en-US" sz="3400" kern="1200"/>
            <a:t>: Shares that internet with your home and manages IP addresses.</a:t>
          </a:r>
        </a:p>
      </dsp:txBody>
      <dsp:txXfrm>
        <a:off x="66025" y="3257633"/>
        <a:ext cx="7427454" cy="1220470"/>
      </dsp:txXfrm>
    </dsp:sp>
    <dsp:sp modelId="{F3478212-C3D9-43CC-A983-ECAE216408E6}">
      <dsp:nvSpPr>
        <dsp:cNvPr id="0" name=""/>
        <dsp:cNvSpPr/>
      </dsp:nvSpPr>
      <dsp:spPr>
        <a:xfrm>
          <a:off x="0" y="4642048"/>
          <a:ext cx="7559504" cy="135252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kern="1200"/>
            <a:t>Switch</a:t>
          </a:r>
          <a:r>
            <a:rPr lang="en-US" sz="3400" kern="1200"/>
            <a:t>: Lets your devices talk to each other efficiently in the local network.</a:t>
          </a:r>
        </a:p>
      </dsp:txBody>
      <dsp:txXfrm>
        <a:off x="66025" y="4708073"/>
        <a:ext cx="7427454" cy="122047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F3C27-EA1D-9E1B-8D08-1BDE1BA85E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E219C93-E4AB-9CF3-3DB0-D015DE3351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AAF057-0643-A7B4-C4A3-69A7B6334CCE}"/>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5" name="Footer Placeholder 4">
            <a:extLst>
              <a:ext uri="{FF2B5EF4-FFF2-40B4-BE49-F238E27FC236}">
                <a16:creationId xmlns:a16="http://schemas.microsoft.com/office/drawing/2014/main" id="{8430DBF7-8DB5-58C1-CFD2-2098BACDC8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EBEB1F-FC24-E5B5-5BBC-5502DAAE0941}"/>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556251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D8E3-358F-72AE-E620-5DB530B1DD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2582F5-6812-22C7-A595-92577530A8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EB37FC-226A-1935-DD7E-3E0E40EE320B}"/>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5" name="Footer Placeholder 4">
            <a:extLst>
              <a:ext uri="{FF2B5EF4-FFF2-40B4-BE49-F238E27FC236}">
                <a16:creationId xmlns:a16="http://schemas.microsoft.com/office/drawing/2014/main" id="{4F4004F9-89B3-BB57-BDC6-6B48251F67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161356-39E5-AAD9-1928-05441E66C561}"/>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1239223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A2C2-FF80-C116-DCBC-C09B2CF414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757A68-BAEB-DE49-46F8-704B6DFABF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5B6C14-A219-AFD7-01A6-622E24438D4E}"/>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5" name="Footer Placeholder 4">
            <a:extLst>
              <a:ext uri="{FF2B5EF4-FFF2-40B4-BE49-F238E27FC236}">
                <a16:creationId xmlns:a16="http://schemas.microsoft.com/office/drawing/2014/main" id="{6C3A212C-EED6-A220-F2B7-B0638F0F0C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DF9FD2-C5FE-C960-099F-F3517455F351}"/>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401395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114D3-718C-E8FC-0D48-64306A004A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B30FE5-F9AC-2070-C43C-14C52BBBC4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35941A8-AD77-CE6C-404E-33C988A555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525FC31-465B-7E19-3014-78FE51024216}"/>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6" name="Footer Placeholder 5">
            <a:extLst>
              <a:ext uri="{FF2B5EF4-FFF2-40B4-BE49-F238E27FC236}">
                <a16:creationId xmlns:a16="http://schemas.microsoft.com/office/drawing/2014/main" id="{0BE3741D-3D82-55F3-8C4B-12460CD0A6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0F3BCF-761C-E672-609B-F252CF73600D}"/>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3743881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F1138-C5EC-CEF6-0E6C-D0C11EBFF3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D14F71-5057-C9FF-E3B3-3535E414DE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08FAB6-6418-7F52-CFA3-CEF682380E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7821C1A-AEBB-1761-4EC5-A7A1EFCEB5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4E521F-E7D6-C261-8C03-C7C9EE81D4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958381-A059-B956-7DBA-3EA20EA32BFE}"/>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8" name="Footer Placeholder 7">
            <a:extLst>
              <a:ext uri="{FF2B5EF4-FFF2-40B4-BE49-F238E27FC236}">
                <a16:creationId xmlns:a16="http://schemas.microsoft.com/office/drawing/2014/main" id="{B5BF2219-07E7-4384-8F00-824DC100D11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0DC141-34DA-2663-2DBE-9FE25F6F1D40}"/>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3818991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0F6A8-97F2-4D09-EE76-C5758C83B20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17C0A0-27E9-7765-FAE3-F51827392E6C}"/>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4" name="Footer Placeholder 3">
            <a:extLst>
              <a:ext uri="{FF2B5EF4-FFF2-40B4-BE49-F238E27FC236}">
                <a16:creationId xmlns:a16="http://schemas.microsoft.com/office/drawing/2014/main" id="{DBE6B77B-90F1-4FC0-CE51-42CD8F32C69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19DD84-B426-3EEC-A26C-070FC1D5F543}"/>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1827223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643D58-9A10-5038-D103-E28C94183331}"/>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3" name="Footer Placeholder 2">
            <a:extLst>
              <a:ext uri="{FF2B5EF4-FFF2-40B4-BE49-F238E27FC236}">
                <a16:creationId xmlns:a16="http://schemas.microsoft.com/office/drawing/2014/main" id="{648E7E83-F650-3E14-BAF8-5B4C7C74BAC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A5BEB6-40C8-0D43-7C81-D0C42DF8A64F}"/>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2847933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1A2C1-5964-6B8C-1622-140B6DC014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7E1B1D-4FEF-3AFB-0206-ADB2356D8E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E6B0350-5944-04C3-1EE5-4956440D0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56EE13-556B-A8A6-20CE-83095A5C6E39}"/>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6" name="Footer Placeholder 5">
            <a:extLst>
              <a:ext uri="{FF2B5EF4-FFF2-40B4-BE49-F238E27FC236}">
                <a16:creationId xmlns:a16="http://schemas.microsoft.com/office/drawing/2014/main" id="{EF148FE7-1F6C-255E-D658-7EF3ADCAF7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07EE89-64C0-353A-3F9B-4F4538A25127}"/>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240682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617AF-62AB-6C6E-B2A5-6578B68589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63C707E-4D10-4B4A-BE49-B74AB70EF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9C44B9-7553-8396-BAAF-AEAB1608A1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C22B15-CB0B-34E6-3EBC-F7833DC3046C}"/>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6" name="Footer Placeholder 5">
            <a:extLst>
              <a:ext uri="{FF2B5EF4-FFF2-40B4-BE49-F238E27FC236}">
                <a16:creationId xmlns:a16="http://schemas.microsoft.com/office/drawing/2014/main" id="{C68FCFED-95FE-28D7-17EE-572E7C1F5E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45D68C-3A23-B686-E675-FA671161923B}"/>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3638967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05718-4623-E27D-F3F1-669EBAA148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533F2A-3CA2-5EF5-C9BE-8317A06B6E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ACE07C-A706-6FF2-B870-D5A65D437C6D}"/>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5" name="Footer Placeholder 4">
            <a:extLst>
              <a:ext uri="{FF2B5EF4-FFF2-40B4-BE49-F238E27FC236}">
                <a16:creationId xmlns:a16="http://schemas.microsoft.com/office/drawing/2014/main" id="{5145DC2F-FB90-F055-1008-CFC0DA6192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26589F-4B11-BEC3-DA0B-350C20B01DD8}"/>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583895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E6F96F-7A3D-4C8A-5209-B2DD55C4F4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88A05A-F995-BB09-39FB-5CFF7E0309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0F704F-2A52-FFA3-C42D-0AFCB1E39D20}"/>
              </a:ext>
            </a:extLst>
          </p:cNvPr>
          <p:cNvSpPr>
            <a:spLocks noGrp="1"/>
          </p:cNvSpPr>
          <p:nvPr>
            <p:ph type="dt" sz="half" idx="10"/>
          </p:nvPr>
        </p:nvSpPr>
        <p:spPr/>
        <p:txBody>
          <a:bodyPr/>
          <a:lstStyle/>
          <a:p>
            <a:fld id="{224FBE52-B463-4A7D-BBED-33FFB2E69F8B}" type="datetimeFigureOut">
              <a:rPr lang="en-IN" smtClean="0"/>
              <a:t>15-04-2025</a:t>
            </a:fld>
            <a:endParaRPr lang="en-IN"/>
          </a:p>
        </p:txBody>
      </p:sp>
      <p:sp>
        <p:nvSpPr>
          <p:cNvPr id="5" name="Footer Placeholder 4">
            <a:extLst>
              <a:ext uri="{FF2B5EF4-FFF2-40B4-BE49-F238E27FC236}">
                <a16:creationId xmlns:a16="http://schemas.microsoft.com/office/drawing/2014/main" id="{790D8BD3-739B-2870-43DA-1A8C99208E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6F40A2-3627-945B-6AB3-55A0820CDB87}"/>
              </a:ext>
            </a:extLst>
          </p:cNvPr>
          <p:cNvSpPr>
            <a:spLocks noGrp="1"/>
          </p:cNvSpPr>
          <p:nvPr>
            <p:ph type="sldNum" sz="quarter" idx="12"/>
          </p:nvPr>
        </p:nvSpPr>
        <p:spPr/>
        <p:txBody>
          <a:bodyPr/>
          <a:lstStyle/>
          <a:p>
            <a:fld id="{DE0C1678-BB03-47E2-8771-ED2FCC6B7726}" type="slidenum">
              <a:rPr lang="en-IN" smtClean="0"/>
              <a:t>‹#›</a:t>
            </a:fld>
            <a:endParaRPr lang="en-IN"/>
          </a:p>
        </p:txBody>
      </p:sp>
    </p:spTree>
    <p:extLst>
      <p:ext uri="{BB962C8B-B14F-4D97-AF65-F5344CB8AC3E}">
        <p14:creationId xmlns:p14="http://schemas.microsoft.com/office/powerpoint/2010/main" val="2480845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EE82DF-0FD5-C899-362C-95A0ECB6E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E2F225-391D-B672-C837-B04E63BF34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25A6B6-4D33-EA68-35FA-F642C8A54B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4FBE52-B463-4A7D-BBED-33FFB2E69F8B}" type="datetimeFigureOut">
              <a:rPr lang="en-IN" smtClean="0"/>
              <a:t>15-04-2025</a:t>
            </a:fld>
            <a:endParaRPr lang="en-IN"/>
          </a:p>
        </p:txBody>
      </p:sp>
      <p:sp>
        <p:nvSpPr>
          <p:cNvPr id="5" name="Footer Placeholder 4">
            <a:extLst>
              <a:ext uri="{FF2B5EF4-FFF2-40B4-BE49-F238E27FC236}">
                <a16:creationId xmlns:a16="http://schemas.microsoft.com/office/drawing/2014/main" id="{B7EF2F89-C9A9-846A-C36A-8A328CEC99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33C974B-E571-25BC-7415-56A2211FC1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0C1678-BB03-47E2-8771-ED2FCC6B7726}" type="slidenum">
              <a:rPr lang="en-IN" smtClean="0"/>
              <a:t>‹#›</a:t>
            </a:fld>
            <a:endParaRPr lang="en-IN"/>
          </a:p>
        </p:txBody>
      </p:sp>
    </p:spTree>
    <p:extLst>
      <p:ext uri="{BB962C8B-B14F-4D97-AF65-F5344CB8AC3E}">
        <p14:creationId xmlns:p14="http://schemas.microsoft.com/office/powerpoint/2010/main" val="4093949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www.geeksforgeeks.org/inter-cloud-resource-management/" TargetMode="External"/><Relationship Id="rId2" Type="http://schemas.openxmlformats.org/officeDocument/2006/relationships/hyperlink" Target="https://www.geeksforgeeks.org/what-is-intranet/"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www.geeksforgeeks.org/platform-as-a-service-paas-and-its-types/" TargetMode="External"/><Relationship Id="rId2" Type="http://schemas.openxmlformats.org/officeDocument/2006/relationships/hyperlink" Target="https://www.geeksforgeeks.org/alibaba-cloud-introduction-to-iaas/" TargetMode="External"/><Relationship Id="rId1" Type="http://schemas.openxmlformats.org/officeDocument/2006/relationships/slideLayout" Target="../slideLayouts/slideLayout2.xml"/><Relationship Id="rId5" Type="http://schemas.openxmlformats.org/officeDocument/2006/relationships/hyperlink" Target="https://www.geeksforgeeks.org/google-cloud-platform-understanding-functions-as-a-service-faas/" TargetMode="External"/><Relationship Id="rId4" Type="http://schemas.openxmlformats.org/officeDocument/2006/relationships/hyperlink" Target="https://www.geeksforgeeks.org/software-as-a-service-saas/" TargetMode="Externa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hyperlink" Target="https://www.ibm.com/topics/microservices" TargetMode="External"/><Relationship Id="rId2" Type="http://schemas.openxmlformats.org/officeDocument/2006/relationships/hyperlink" Target="https://www.ibm.com/topics/cloud-computing"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9DE62-7E36-251B-9CBF-52FE1A646C78}"/>
              </a:ext>
            </a:extLst>
          </p:cNvPr>
          <p:cNvSpPr>
            <a:spLocks noGrp="1"/>
          </p:cNvSpPr>
          <p:nvPr>
            <p:ph type="ctrTitle"/>
          </p:nvPr>
        </p:nvSpPr>
        <p:spPr/>
        <p:txBody>
          <a:bodyPr/>
          <a:lstStyle/>
          <a:p>
            <a:r>
              <a:rPr lang="en-US" dirty="0"/>
              <a:t>Unit 4</a:t>
            </a:r>
            <a:endParaRPr lang="en-IN" dirty="0"/>
          </a:p>
        </p:txBody>
      </p:sp>
      <p:sp>
        <p:nvSpPr>
          <p:cNvPr id="3" name="Subtitle 2">
            <a:extLst>
              <a:ext uri="{FF2B5EF4-FFF2-40B4-BE49-F238E27FC236}">
                <a16:creationId xmlns:a16="http://schemas.microsoft.com/office/drawing/2014/main" id="{A99679C8-FD71-1A29-AE7D-C1FFBA305B1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957736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2149E5-70BC-F978-FE4E-EC75550FB848}"/>
              </a:ext>
            </a:extLst>
          </p:cNvPr>
          <p:cNvSpPr>
            <a:spLocks noGrp="1"/>
          </p:cNvSpPr>
          <p:nvPr>
            <p:ph type="title"/>
          </p:nvPr>
        </p:nvSpPr>
        <p:spPr>
          <a:xfrm>
            <a:off x="761803" y="350196"/>
            <a:ext cx="4646904" cy="1624520"/>
          </a:xfrm>
        </p:spPr>
        <p:txBody>
          <a:bodyPr anchor="ctr">
            <a:normAutofit/>
          </a:bodyPr>
          <a:lstStyle/>
          <a:p>
            <a:r>
              <a:rPr lang="en-US" sz="4000" dirty="0"/>
              <a:t>Computer Network</a:t>
            </a:r>
            <a:endParaRPr lang="en-IN" sz="4000" dirty="0"/>
          </a:p>
        </p:txBody>
      </p:sp>
      <p:sp>
        <p:nvSpPr>
          <p:cNvPr id="18" name="Content Placeholder 2">
            <a:extLst>
              <a:ext uri="{FF2B5EF4-FFF2-40B4-BE49-F238E27FC236}">
                <a16:creationId xmlns:a16="http://schemas.microsoft.com/office/drawing/2014/main" id="{C3AD6166-840C-6731-6FB3-3A7D650EE85D}"/>
              </a:ext>
            </a:extLst>
          </p:cNvPr>
          <p:cNvSpPr>
            <a:spLocks noGrp="1"/>
          </p:cNvSpPr>
          <p:nvPr>
            <p:ph idx="1"/>
          </p:nvPr>
        </p:nvSpPr>
        <p:spPr>
          <a:xfrm>
            <a:off x="412800" y="1746116"/>
            <a:ext cx="5408707" cy="4381634"/>
          </a:xfrm>
        </p:spPr>
        <p:txBody>
          <a:bodyPr anchor="ctr">
            <a:normAutofit/>
          </a:bodyPr>
          <a:lstStyle/>
          <a:p>
            <a:r>
              <a:rPr lang="en-US" sz="2000" dirty="0">
                <a:latin typeface="Times New Roman" panose="02020603050405020304" pitchFamily="18" charset="0"/>
                <a:cs typeface="Times New Roman" panose="02020603050405020304" pitchFamily="18" charset="0"/>
              </a:rPr>
              <a:t>Computer networking refers to interconnecting computers and other digital devices to share resources (like files, printers, or internet), communicate, and exchange data.</a:t>
            </a:r>
            <a:endParaRPr lang="en-IN" sz="2000" dirty="0">
              <a:latin typeface="Times New Roman" panose="02020603050405020304" pitchFamily="18" charset="0"/>
              <a:cs typeface="Times New Roman" panose="02020603050405020304" pitchFamily="18" charset="0"/>
            </a:endParaRPr>
          </a:p>
        </p:txBody>
      </p:sp>
      <p:pic>
        <p:nvPicPr>
          <p:cNvPr id="5" name="Picture 4" descr="Cloud shaped hard drive with cables">
            <a:extLst>
              <a:ext uri="{FF2B5EF4-FFF2-40B4-BE49-F238E27FC236}">
                <a16:creationId xmlns:a16="http://schemas.microsoft.com/office/drawing/2014/main" id="{D440A9F6-4903-719B-1486-EA5A3E15CDBF}"/>
              </a:ext>
            </a:extLst>
          </p:cNvPr>
          <p:cNvPicPr>
            <a:picLocks noChangeAspect="1"/>
          </p:cNvPicPr>
          <p:nvPr/>
        </p:nvPicPr>
        <p:blipFill>
          <a:blip r:embed="rId2"/>
          <a:srcRect l="18252" r="30803" b="1"/>
          <a:stretch/>
        </p:blipFill>
        <p:spPr>
          <a:xfrm>
            <a:off x="6096000" y="1"/>
            <a:ext cx="6102825" cy="6858000"/>
          </a:xfrm>
          <a:prstGeom prst="rect">
            <a:avLst/>
          </a:prstGeom>
        </p:spPr>
      </p:pic>
    </p:spTree>
    <p:extLst>
      <p:ext uri="{BB962C8B-B14F-4D97-AF65-F5344CB8AC3E}">
        <p14:creationId xmlns:p14="http://schemas.microsoft.com/office/powerpoint/2010/main" val="2799695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2B447C98-1A42-3322-BA4C-8E1D33BA841B}"/>
              </a:ext>
            </a:extLst>
          </p:cNvPr>
          <p:cNvSpPr>
            <a:spLocks noGrp="1"/>
          </p:cNvSpPr>
          <p:nvPr>
            <p:ph type="title"/>
          </p:nvPr>
        </p:nvSpPr>
        <p:spPr>
          <a:xfrm rot="16200000">
            <a:off x="-1325880" y="1947672"/>
            <a:ext cx="5961888" cy="2788920"/>
          </a:xfrm>
        </p:spPr>
        <p:txBody>
          <a:bodyPr anchor="ctr">
            <a:normAutofit/>
          </a:bodyPr>
          <a:lstStyle/>
          <a:p>
            <a:endParaRPr lang="en-IN" sz="4800">
              <a:solidFill>
                <a:schemeClr val="bg1"/>
              </a:solidFill>
            </a:endParaRPr>
          </a:p>
        </p:txBody>
      </p:sp>
      <p:graphicFrame>
        <p:nvGraphicFramePr>
          <p:cNvPr id="5" name="Content Placeholder 2">
            <a:extLst>
              <a:ext uri="{FF2B5EF4-FFF2-40B4-BE49-F238E27FC236}">
                <a16:creationId xmlns:a16="http://schemas.microsoft.com/office/drawing/2014/main" id="{30D94C8F-22FA-2969-1EBC-824262CDB3AE}"/>
              </a:ext>
            </a:extLst>
          </p:cNvPr>
          <p:cNvGraphicFramePr>
            <a:graphicFrameLocks noGrp="1"/>
          </p:cNvGraphicFramePr>
          <p:nvPr>
            <p:ph idx="1"/>
            <p:extLst>
              <p:ext uri="{D42A27DB-BD31-4B8C-83A1-F6EECF244321}">
                <p14:modId xmlns:p14="http://schemas.microsoft.com/office/powerpoint/2010/main" val="939577903"/>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6738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DE44802-899D-590F-2605-3A31E643853E}"/>
              </a:ext>
            </a:extLst>
          </p:cNvPr>
          <p:cNvGraphicFramePr>
            <a:graphicFrameLocks noGrp="1"/>
          </p:cNvGraphicFramePr>
          <p:nvPr>
            <p:ph idx="1"/>
            <p:extLst>
              <p:ext uri="{D42A27DB-BD31-4B8C-83A1-F6EECF244321}">
                <p14:modId xmlns:p14="http://schemas.microsoft.com/office/powerpoint/2010/main" val="2208233255"/>
              </p:ext>
            </p:extLst>
          </p:nvPr>
        </p:nvGraphicFramePr>
        <p:xfrm>
          <a:off x="643467" y="721891"/>
          <a:ext cx="10905069" cy="4514830"/>
        </p:xfrm>
        <a:graphic>
          <a:graphicData uri="http://schemas.openxmlformats.org/drawingml/2006/table">
            <a:tbl>
              <a:tblPr>
                <a:tableStyleId>{9D7B26C5-4107-4FEC-AEDC-1716B250A1EF}</a:tableStyleId>
              </a:tblPr>
              <a:tblGrid>
                <a:gridCol w="2451214">
                  <a:extLst>
                    <a:ext uri="{9D8B030D-6E8A-4147-A177-3AD203B41FA5}">
                      <a16:colId xmlns:a16="http://schemas.microsoft.com/office/drawing/2014/main" val="1845163022"/>
                    </a:ext>
                  </a:extLst>
                </a:gridCol>
                <a:gridCol w="3292332">
                  <a:extLst>
                    <a:ext uri="{9D8B030D-6E8A-4147-A177-3AD203B41FA5}">
                      <a16:colId xmlns:a16="http://schemas.microsoft.com/office/drawing/2014/main" val="2774967153"/>
                    </a:ext>
                  </a:extLst>
                </a:gridCol>
                <a:gridCol w="2578553">
                  <a:extLst>
                    <a:ext uri="{9D8B030D-6E8A-4147-A177-3AD203B41FA5}">
                      <a16:colId xmlns:a16="http://schemas.microsoft.com/office/drawing/2014/main" val="3798216074"/>
                    </a:ext>
                  </a:extLst>
                </a:gridCol>
                <a:gridCol w="2582970">
                  <a:extLst>
                    <a:ext uri="{9D8B030D-6E8A-4147-A177-3AD203B41FA5}">
                      <a16:colId xmlns:a16="http://schemas.microsoft.com/office/drawing/2014/main" val="4056803789"/>
                    </a:ext>
                  </a:extLst>
                </a:gridCol>
              </a:tblGrid>
              <a:tr h="390559">
                <a:tc>
                  <a:txBody>
                    <a:bodyPr/>
                    <a:lstStyle/>
                    <a:p>
                      <a:r>
                        <a:rPr lang="en-IN" sz="1700"/>
                        <a:t>Feature</a:t>
                      </a:r>
                    </a:p>
                  </a:txBody>
                  <a:tcPr marL="85259" marR="85259" marT="42629" marB="42629" anchor="ctr"/>
                </a:tc>
                <a:tc>
                  <a:txBody>
                    <a:bodyPr/>
                    <a:lstStyle/>
                    <a:p>
                      <a:r>
                        <a:rPr lang="en-IN" sz="1700" b="1"/>
                        <a:t>Modem</a:t>
                      </a:r>
                      <a:endParaRPr lang="en-IN" sz="1700"/>
                    </a:p>
                  </a:txBody>
                  <a:tcPr marL="85259" marR="85259" marT="42629" marB="42629" anchor="ctr"/>
                </a:tc>
                <a:tc>
                  <a:txBody>
                    <a:bodyPr/>
                    <a:lstStyle/>
                    <a:p>
                      <a:r>
                        <a:rPr lang="en-IN" sz="1700" b="1"/>
                        <a:t>Router</a:t>
                      </a:r>
                      <a:endParaRPr lang="en-IN" sz="1700"/>
                    </a:p>
                  </a:txBody>
                  <a:tcPr marL="85259" marR="85259" marT="42629" marB="42629" anchor="ctr"/>
                </a:tc>
                <a:tc>
                  <a:txBody>
                    <a:bodyPr/>
                    <a:lstStyle/>
                    <a:p>
                      <a:r>
                        <a:rPr lang="en-IN" sz="1700" b="1"/>
                        <a:t>Switch</a:t>
                      </a:r>
                      <a:endParaRPr lang="en-IN" sz="1700"/>
                    </a:p>
                  </a:txBody>
                  <a:tcPr marL="85259" marR="85259" marT="42629" marB="42629" anchor="ctr"/>
                </a:tc>
                <a:extLst>
                  <a:ext uri="{0D108BD9-81ED-4DB2-BD59-A6C34878D82A}">
                    <a16:rowId xmlns:a16="http://schemas.microsoft.com/office/drawing/2014/main" val="3536496081"/>
                  </a:ext>
                </a:extLst>
              </a:tr>
              <a:tr h="899392">
                <a:tc>
                  <a:txBody>
                    <a:bodyPr/>
                    <a:lstStyle/>
                    <a:p>
                      <a:r>
                        <a:rPr lang="en-IN" sz="1700" b="1"/>
                        <a:t>Main Function</a:t>
                      </a:r>
                      <a:endParaRPr lang="en-IN" sz="1700"/>
                    </a:p>
                  </a:txBody>
                  <a:tcPr marL="85259" marR="85259" marT="42629" marB="42629" anchor="ctr"/>
                </a:tc>
                <a:tc>
                  <a:txBody>
                    <a:bodyPr/>
                    <a:lstStyle/>
                    <a:p>
                      <a:r>
                        <a:rPr lang="en-IN" sz="1700"/>
                        <a:t>Modulates/Demodulates signals between digital (computer) and analog (ISP)</a:t>
                      </a:r>
                    </a:p>
                  </a:txBody>
                  <a:tcPr marL="85259" marR="85259" marT="42629" marB="42629" anchor="ctr"/>
                </a:tc>
                <a:tc>
                  <a:txBody>
                    <a:bodyPr/>
                    <a:lstStyle/>
                    <a:p>
                      <a:r>
                        <a:rPr lang="en-US" sz="1700"/>
                        <a:t>Routes data between </a:t>
                      </a:r>
                      <a:r>
                        <a:rPr lang="en-US" sz="1700" b="1"/>
                        <a:t>different networks</a:t>
                      </a:r>
                      <a:r>
                        <a:rPr lang="en-US" sz="1700"/>
                        <a:t> (e.g., LAN to WAN)</a:t>
                      </a:r>
                    </a:p>
                  </a:txBody>
                  <a:tcPr marL="85259" marR="85259" marT="42629" marB="42629" anchor="ctr"/>
                </a:tc>
                <a:tc>
                  <a:txBody>
                    <a:bodyPr/>
                    <a:lstStyle/>
                    <a:p>
                      <a:r>
                        <a:rPr lang="en-US" sz="1700"/>
                        <a:t>Forwards data within a </a:t>
                      </a:r>
                      <a:r>
                        <a:rPr lang="en-US" sz="1700" b="1"/>
                        <a:t>local network (LAN)</a:t>
                      </a:r>
                      <a:endParaRPr lang="en-US" sz="1700"/>
                    </a:p>
                  </a:txBody>
                  <a:tcPr marL="85259" marR="85259" marT="42629" marB="42629" anchor="ctr"/>
                </a:tc>
                <a:extLst>
                  <a:ext uri="{0D108BD9-81ED-4DB2-BD59-A6C34878D82A}">
                    <a16:rowId xmlns:a16="http://schemas.microsoft.com/office/drawing/2014/main" val="3596449713"/>
                  </a:ext>
                </a:extLst>
              </a:tr>
              <a:tr h="644976">
                <a:tc>
                  <a:txBody>
                    <a:bodyPr/>
                    <a:lstStyle/>
                    <a:p>
                      <a:r>
                        <a:rPr lang="en-IN" sz="1700" b="1"/>
                        <a:t>IP Address Handling</a:t>
                      </a:r>
                      <a:endParaRPr lang="en-IN" sz="1700"/>
                    </a:p>
                  </a:txBody>
                  <a:tcPr marL="85259" marR="85259" marT="42629" marB="42629" anchor="ctr"/>
                </a:tc>
                <a:tc>
                  <a:txBody>
                    <a:bodyPr/>
                    <a:lstStyle/>
                    <a:p>
                      <a:r>
                        <a:rPr lang="en-US" sz="1700"/>
                        <a:t>Usually has </a:t>
                      </a:r>
                      <a:r>
                        <a:rPr lang="en-US" sz="1700" b="1"/>
                        <a:t>1 public IP</a:t>
                      </a:r>
                      <a:r>
                        <a:rPr lang="en-US" sz="1700"/>
                        <a:t> from ISP</a:t>
                      </a:r>
                    </a:p>
                  </a:txBody>
                  <a:tcPr marL="85259" marR="85259" marT="42629" marB="42629" anchor="ctr"/>
                </a:tc>
                <a:tc>
                  <a:txBody>
                    <a:bodyPr/>
                    <a:lstStyle/>
                    <a:p>
                      <a:r>
                        <a:rPr lang="en-US" sz="1700"/>
                        <a:t>Assigns </a:t>
                      </a:r>
                      <a:r>
                        <a:rPr lang="en-US" sz="1700" b="1"/>
                        <a:t>private IPs</a:t>
                      </a:r>
                      <a:r>
                        <a:rPr lang="en-US" sz="1700"/>
                        <a:t> to devices, uses </a:t>
                      </a:r>
                      <a:r>
                        <a:rPr lang="en-US" sz="1700" b="1"/>
                        <a:t>NAT</a:t>
                      </a:r>
                      <a:endParaRPr lang="en-US" sz="1700"/>
                    </a:p>
                  </a:txBody>
                  <a:tcPr marL="85259" marR="85259" marT="42629" marB="42629" anchor="ctr"/>
                </a:tc>
                <a:tc>
                  <a:txBody>
                    <a:bodyPr/>
                    <a:lstStyle/>
                    <a:p>
                      <a:r>
                        <a:rPr lang="en-US" sz="1700" dirty="0"/>
                        <a:t>Does </a:t>
                      </a:r>
                      <a:r>
                        <a:rPr lang="en-US" sz="1700" b="1" dirty="0"/>
                        <a:t>not assign IPs</a:t>
                      </a:r>
                      <a:r>
                        <a:rPr lang="en-US" sz="1700" dirty="0"/>
                        <a:t>, just uses MAC addresses</a:t>
                      </a:r>
                    </a:p>
                  </a:txBody>
                  <a:tcPr marL="85259" marR="85259" marT="42629" marB="42629" anchor="ctr"/>
                </a:tc>
                <a:extLst>
                  <a:ext uri="{0D108BD9-81ED-4DB2-BD59-A6C34878D82A}">
                    <a16:rowId xmlns:a16="http://schemas.microsoft.com/office/drawing/2014/main" val="4194960083"/>
                  </a:ext>
                </a:extLst>
              </a:tr>
              <a:tr h="644976">
                <a:tc>
                  <a:txBody>
                    <a:bodyPr/>
                    <a:lstStyle/>
                    <a:p>
                      <a:r>
                        <a:rPr lang="en-IN" sz="1700" b="1"/>
                        <a:t>Packet Forwarding</a:t>
                      </a:r>
                      <a:endParaRPr lang="en-IN" sz="1700"/>
                    </a:p>
                  </a:txBody>
                  <a:tcPr marL="85259" marR="85259" marT="42629" marB="42629" anchor="ctr"/>
                </a:tc>
                <a:tc>
                  <a:txBody>
                    <a:bodyPr/>
                    <a:lstStyle/>
                    <a:p>
                      <a:r>
                        <a:rPr lang="en-US" sz="1700"/>
                        <a:t>Forwards data between ISP and router</a:t>
                      </a:r>
                    </a:p>
                  </a:txBody>
                  <a:tcPr marL="85259" marR="85259" marT="42629" marB="42629" anchor="ctr"/>
                </a:tc>
                <a:tc>
                  <a:txBody>
                    <a:bodyPr/>
                    <a:lstStyle/>
                    <a:p>
                      <a:r>
                        <a:rPr lang="en-US" sz="1700"/>
                        <a:t>Forwards packets based on </a:t>
                      </a:r>
                      <a:r>
                        <a:rPr lang="en-US" sz="1700" b="1"/>
                        <a:t>IP addresses</a:t>
                      </a:r>
                      <a:endParaRPr lang="en-US" sz="1700"/>
                    </a:p>
                  </a:txBody>
                  <a:tcPr marL="85259" marR="85259" marT="42629" marB="42629" anchor="ctr"/>
                </a:tc>
                <a:tc>
                  <a:txBody>
                    <a:bodyPr/>
                    <a:lstStyle/>
                    <a:p>
                      <a:r>
                        <a:rPr lang="en-US" sz="1700"/>
                        <a:t>Forwards frames based on </a:t>
                      </a:r>
                      <a:r>
                        <a:rPr lang="en-US" sz="1700" b="1"/>
                        <a:t>MAC addresses</a:t>
                      </a:r>
                      <a:endParaRPr lang="en-US" sz="1700"/>
                    </a:p>
                  </a:txBody>
                  <a:tcPr marL="85259" marR="85259" marT="42629" marB="42629" anchor="ctr"/>
                </a:tc>
                <a:extLst>
                  <a:ext uri="{0D108BD9-81ED-4DB2-BD59-A6C34878D82A}">
                    <a16:rowId xmlns:a16="http://schemas.microsoft.com/office/drawing/2014/main" val="132397211"/>
                  </a:ext>
                </a:extLst>
              </a:tr>
              <a:tr h="899392">
                <a:tc>
                  <a:txBody>
                    <a:bodyPr/>
                    <a:lstStyle/>
                    <a:p>
                      <a:r>
                        <a:rPr lang="en-IN" sz="1700" b="1" dirty="0"/>
                        <a:t>Connectivity</a:t>
                      </a:r>
                      <a:endParaRPr lang="en-IN" sz="1700" dirty="0"/>
                    </a:p>
                  </a:txBody>
                  <a:tcPr marL="85259" marR="85259" marT="42629" marB="42629" anchor="ctr"/>
                </a:tc>
                <a:tc>
                  <a:txBody>
                    <a:bodyPr/>
                    <a:lstStyle/>
                    <a:p>
                      <a:r>
                        <a:rPr lang="en-US" sz="1700"/>
                        <a:t>Connects to ISP and router</a:t>
                      </a:r>
                    </a:p>
                  </a:txBody>
                  <a:tcPr marL="85259" marR="85259" marT="42629" marB="42629" anchor="ctr"/>
                </a:tc>
                <a:tc>
                  <a:txBody>
                    <a:bodyPr/>
                    <a:lstStyle/>
                    <a:p>
                      <a:r>
                        <a:rPr lang="en-US" sz="1700"/>
                        <a:t>Connects to modem and switch or devices</a:t>
                      </a:r>
                    </a:p>
                  </a:txBody>
                  <a:tcPr marL="85259" marR="85259" marT="42629" marB="42629" anchor="ctr"/>
                </a:tc>
                <a:tc>
                  <a:txBody>
                    <a:bodyPr/>
                    <a:lstStyle/>
                    <a:p>
                      <a:r>
                        <a:rPr lang="fr-FR" sz="1700"/>
                        <a:t>Connects multiple devices (PCs, printers, etc.)</a:t>
                      </a:r>
                    </a:p>
                  </a:txBody>
                  <a:tcPr marL="85259" marR="85259" marT="42629" marB="42629" anchor="ctr"/>
                </a:tc>
                <a:extLst>
                  <a:ext uri="{0D108BD9-81ED-4DB2-BD59-A6C34878D82A}">
                    <a16:rowId xmlns:a16="http://schemas.microsoft.com/office/drawing/2014/main" val="2407296160"/>
                  </a:ext>
                </a:extLst>
              </a:tr>
              <a:tr h="390559">
                <a:tc>
                  <a:txBody>
                    <a:bodyPr/>
                    <a:lstStyle/>
                    <a:p>
                      <a:r>
                        <a:rPr lang="en-IN" sz="1700" b="1"/>
                        <a:t>NAT &amp; DHCP</a:t>
                      </a:r>
                      <a:endParaRPr lang="en-IN" sz="1700"/>
                    </a:p>
                  </a:txBody>
                  <a:tcPr marL="85259" marR="85259" marT="42629" marB="42629" anchor="ctr"/>
                </a:tc>
                <a:tc>
                  <a:txBody>
                    <a:bodyPr/>
                    <a:lstStyle/>
                    <a:p>
                      <a:r>
                        <a:rPr lang="en-IN" sz="1700"/>
                        <a:t>❌ Not built-in (modem only)</a:t>
                      </a:r>
                    </a:p>
                  </a:txBody>
                  <a:tcPr marL="85259" marR="85259" marT="42629" marB="42629" anchor="ctr"/>
                </a:tc>
                <a:tc>
                  <a:txBody>
                    <a:bodyPr/>
                    <a:lstStyle/>
                    <a:p>
                      <a:r>
                        <a:rPr lang="en-IN" sz="1700"/>
                        <a:t>✅ Yes</a:t>
                      </a:r>
                    </a:p>
                  </a:txBody>
                  <a:tcPr marL="85259" marR="85259" marT="42629" marB="42629" anchor="ctr"/>
                </a:tc>
                <a:tc>
                  <a:txBody>
                    <a:bodyPr/>
                    <a:lstStyle/>
                    <a:p>
                      <a:r>
                        <a:rPr lang="en-IN" sz="1700"/>
                        <a:t>❌ No</a:t>
                      </a:r>
                    </a:p>
                  </a:txBody>
                  <a:tcPr marL="85259" marR="85259" marT="42629" marB="42629" anchor="ctr"/>
                </a:tc>
                <a:extLst>
                  <a:ext uri="{0D108BD9-81ED-4DB2-BD59-A6C34878D82A}">
                    <a16:rowId xmlns:a16="http://schemas.microsoft.com/office/drawing/2014/main" val="996988729"/>
                  </a:ext>
                </a:extLst>
              </a:tr>
              <a:tr h="644976">
                <a:tc>
                  <a:txBody>
                    <a:bodyPr/>
                    <a:lstStyle/>
                    <a:p>
                      <a:r>
                        <a:rPr lang="en-IN" sz="1700" b="1"/>
                        <a:t>Example Use</a:t>
                      </a:r>
                      <a:endParaRPr lang="en-IN" sz="1700"/>
                    </a:p>
                  </a:txBody>
                  <a:tcPr marL="85259" marR="85259" marT="42629" marB="42629" anchor="ctr"/>
                </a:tc>
                <a:tc>
                  <a:txBody>
                    <a:bodyPr/>
                    <a:lstStyle/>
                    <a:p>
                      <a:r>
                        <a:rPr lang="en-US" sz="1700"/>
                        <a:t>Required to get internet from ISP</a:t>
                      </a:r>
                    </a:p>
                  </a:txBody>
                  <a:tcPr marL="85259" marR="85259" marT="42629" marB="42629" anchor="ctr"/>
                </a:tc>
                <a:tc>
                  <a:txBody>
                    <a:bodyPr/>
                    <a:lstStyle/>
                    <a:p>
                      <a:r>
                        <a:rPr lang="en-US" sz="1700"/>
                        <a:t>Used to share internet with devices</a:t>
                      </a:r>
                    </a:p>
                  </a:txBody>
                  <a:tcPr marL="85259" marR="85259" marT="42629" marB="42629" anchor="ctr"/>
                </a:tc>
                <a:tc>
                  <a:txBody>
                    <a:bodyPr/>
                    <a:lstStyle/>
                    <a:p>
                      <a:r>
                        <a:rPr lang="en-US" sz="1700" dirty="0"/>
                        <a:t>Used to expand a wired network in offices/homes</a:t>
                      </a:r>
                    </a:p>
                  </a:txBody>
                  <a:tcPr marL="85259" marR="85259" marT="42629" marB="42629" anchor="ctr"/>
                </a:tc>
                <a:extLst>
                  <a:ext uri="{0D108BD9-81ED-4DB2-BD59-A6C34878D82A}">
                    <a16:rowId xmlns:a16="http://schemas.microsoft.com/office/drawing/2014/main" val="253876256"/>
                  </a:ext>
                </a:extLst>
              </a:tr>
            </a:tbl>
          </a:graphicData>
        </a:graphic>
      </p:graphicFrame>
    </p:spTree>
    <p:extLst>
      <p:ext uri="{BB962C8B-B14F-4D97-AF65-F5344CB8AC3E}">
        <p14:creationId xmlns:p14="http://schemas.microsoft.com/office/powerpoint/2010/main" val="323664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E2F821D-4585-BACF-DBC3-9BF24D050483}"/>
              </a:ext>
            </a:extLst>
          </p:cNvPr>
          <p:cNvGraphicFramePr>
            <a:graphicFrameLocks noGrp="1"/>
          </p:cNvGraphicFramePr>
          <p:nvPr>
            <p:ph idx="1"/>
            <p:extLst>
              <p:ext uri="{D42A27DB-BD31-4B8C-83A1-F6EECF244321}">
                <p14:modId xmlns:p14="http://schemas.microsoft.com/office/powerpoint/2010/main" val="3187933367"/>
              </p:ext>
            </p:extLst>
          </p:nvPr>
        </p:nvGraphicFramePr>
        <p:xfrm>
          <a:off x="643467" y="660698"/>
          <a:ext cx="10905067" cy="5536603"/>
        </p:xfrm>
        <a:graphic>
          <a:graphicData uri="http://schemas.openxmlformats.org/drawingml/2006/table">
            <a:tbl>
              <a:tblPr>
                <a:tableStyleId>{3B4B98B0-60AC-42C2-AFA5-B58CD77FA1E5}</a:tableStyleId>
              </a:tblPr>
              <a:tblGrid>
                <a:gridCol w="1749114">
                  <a:extLst>
                    <a:ext uri="{9D8B030D-6E8A-4147-A177-3AD203B41FA5}">
                      <a16:colId xmlns:a16="http://schemas.microsoft.com/office/drawing/2014/main" val="1165450605"/>
                    </a:ext>
                  </a:extLst>
                </a:gridCol>
                <a:gridCol w="4558055">
                  <a:extLst>
                    <a:ext uri="{9D8B030D-6E8A-4147-A177-3AD203B41FA5}">
                      <a16:colId xmlns:a16="http://schemas.microsoft.com/office/drawing/2014/main" val="760670566"/>
                    </a:ext>
                  </a:extLst>
                </a:gridCol>
                <a:gridCol w="4597898">
                  <a:extLst>
                    <a:ext uri="{9D8B030D-6E8A-4147-A177-3AD203B41FA5}">
                      <a16:colId xmlns:a16="http://schemas.microsoft.com/office/drawing/2014/main" val="2134946720"/>
                    </a:ext>
                  </a:extLst>
                </a:gridCol>
              </a:tblGrid>
              <a:tr h="631116">
                <a:tc>
                  <a:txBody>
                    <a:bodyPr/>
                    <a:lstStyle/>
                    <a:p>
                      <a:r>
                        <a:rPr lang="en-IN" sz="2800"/>
                        <a:t>Device</a:t>
                      </a:r>
                    </a:p>
                  </a:txBody>
                  <a:tcPr marL="143435" marR="143435" marT="71718" marB="71718" anchor="ctr"/>
                </a:tc>
                <a:tc>
                  <a:txBody>
                    <a:bodyPr/>
                    <a:lstStyle/>
                    <a:p>
                      <a:r>
                        <a:rPr lang="en-IN" sz="2800"/>
                        <a:t>What it Does</a:t>
                      </a:r>
                    </a:p>
                  </a:txBody>
                  <a:tcPr marL="143435" marR="143435" marT="71718" marB="71718" anchor="ctr"/>
                </a:tc>
                <a:tc>
                  <a:txBody>
                    <a:bodyPr/>
                    <a:lstStyle/>
                    <a:p>
                      <a:r>
                        <a:rPr lang="en-IN" sz="2800"/>
                        <a:t>Think of it Like</a:t>
                      </a:r>
                    </a:p>
                  </a:txBody>
                  <a:tcPr marL="143435" marR="143435" marT="71718" marB="71718" anchor="ctr"/>
                </a:tc>
                <a:extLst>
                  <a:ext uri="{0D108BD9-81ED-4DB2-BD59-A6C34878D82A}">
                    <a16:rowId xmlns:a16="http://schemas.microsoft.com/office/drawing/2014/main" val="2451503091"/>
                  </a:ext>
                </a:extLst>
              </a:tr>
              <a:tr h="1491727">
                <a:tc>
                  <a:txBody>
                    <a:bodyPr/>
                    <a:lstStyle/>
                    <a:p>
                      <a:r>
                        <a:rPr lang="en-IN" sz="2800" b="1"/>
                        <a:t>Modem</a:t>
                      </a:r>
                      <a:endParaRPr lang="en-IN" sz="2800"/>
                    </a:p>
                  </a:txBody>
                  <a:tcPr marL="143435" marR="143435" marT="71718" marB="71718" anchor="ctr"/>
                </a:tc>
                <a:tc>
                  <a:txBody>
                    <a:bodyPr/>
                    <a:lstStyle/>
                    <a:p>
                      <a:r>
                        <a:rPr lang="en-US" sz="2800" dirty="0"/>
                        <a:t>Connects your home to the </a:t>
                      </a:r>
                      <a:r>
                        <a:rPr lang="en-US" sz="2800" b="1" dirty="0"/>
                        <a:t>internet</a:t>
                      </a:r>
                      <a:endParaRPr lang="en-US" sz="2800" dirty="0"/>
                    </a:p>
                  </a:txBody>
                  <a:tcPr marL="143435" marR="143435" marT="71718" marB="71718" anchor="ctr"/>
                </a:tc>
                <a:tc>
                  <a:txBody>
                    <a:bodyPr/>
                    <a:lstStyle/>
                    <a:p>
                      <a:r>
                        <a:rPr lang="en-US" sz="2800"/>
                        <a:t>A </a:t>
                      </a:r>
                      <a:r>
                        <a:rPr lang="en-US" sz="2800" b="1"/>
                        <a:t>translator</a:t>
                      </a:r>
                      <a:r>
                        <a:rPr lang="en-US" sz="2800"/>
                        <a:t> that speaks to your Internet Service Provider (ISP)</a:t>
                      </a:r>
                    </a:p>
                  </a:txBody>
                  <a:tcPr marL="143435" marR="143435" marT="71718" marB="71718" anchor="ctr"/>
                </a:tc>
                <a:extLst>
                  <a:ext uri="{0D108BD9-81ED-4DB2-BD59-A6C34878D82A}">
                    <a16:rowId xmlns:a16="http://schemas.microsoft.com/office/drawing/2014/main" val="1304447091"/>
                  </a:ext>
                </a:extLst>
              </a:tr>
              <a:tr h="1922033">
                <a:tc>
                  <a:txBody>
                    <a:bodyPr/>
                    <a:lstStyle/>
                    <a:p>
                      <a:r>
                        <a:rPr lang="en-IN" sz="2800" b="1"/>
                        <a:t>Router</a:t>
                      </a:r>
                      <a:endParaRPr lang="en-IN" sz="2800"/>
                    </a:p>
                  </a:txBody>
                  <a:tcPr marL="143435" marR="143435" marT="71718" marB="71718" anchor="ctr"/>
                </a:tc>
                <a:tc>
                  <a:txBody>
                    <a:bodyPr/>
                    <a:lstStyle/>
                    <a:p>
                      <a:r>
                        <a:rPr lang="en-US" sz="2800"/>
                        <a:t>Connects </a:t>
                      </a:r>
                      <a:r>
                        <a:rPr lang="en-US" sz="2800" b="1"/>
                        <a:t>different networks</a:t>
                      </a:r>
                      <a:r>
                        <a:rPr lang="en-US" sz="2800"/>
                        <a:t> (like your home network to the internet) and directs traffic</a:t>
                      </a:r>
                    </a:p>
                  </a:txBody>
                  <a:tcPr marL="143435" marR="143435" marT="71718" marB="71718" anchor="ctr"/>
                </a:tc>
                <a:tc>
                  <a:txBody>
                    <a:bodyPr/>
                    <a:lstStyle/>
                    <a:p>
                      <a:r>
                        <a:rPr lang="en-US" sz="2800"/>
                        <a:t>A </a:t>
                      </a:r>
                      <a:r>
                        <a:rPr lang="en-US" sz="2800" b="1"/>
                        <a:t>traffic manager</a:t>
                      </a:r>
                      <a:r>
                        <a:rPr lang="en-US" sz="2800"/>
                        <a:t> that tells data where to go</a:t>
                      </a:r>
                    </a:p>
                  </a:txBody>
                  <a:tcPr marL="143435" marR="143435" marT="71718" marB="71718" anchor="ctr"/>
                </a:tc>
                <a:extLst>
                  <a:ext uri="{0D108BD9-81ED-4DB2-BD59-A6C34878D82A}">
                    <a16:rowId xmlns:a16="http://schemas.microsoft.com/office/drawing/2014/main" val="554097170"/>
                  </a:ext>
                </a:extLst>
              </a:tr>
              <a:tr h="1491727">
                <a:tc>
                  <a:txBody>
                    <a:bodyPr/>
                    <a:lstStyle/>
                    <a:p>
                      <a:r>
                        <a:rPr lang="en-IN" sz="2800" b="1"/>
                        <a:t>Switch</a:t>
                      </a:r>
                      <a:endParaRPr lang="en-IN" sz="2800"/>
                    </a:p>
                  </a:txBody>
                  <a:tcPr marL="143435" marR="143435" marT="71718" marB="71718" anchor="ctr"/>
                </a:tc>
                <a:tc>
                  <a:txBody>
                    <a:bodyPr/>
                    <a:lstStyle/>
                    <a:p>
                      <a:r>
                        <a:rPr lang="en-US" sz="2800"/>
                        <a:t>Connects </a:t>
                      </a:r>
                      <a:r>
                        <a:rPr lang="en-US" sz="2800" b="1"/>
                        <a:t>devices within the same local network</a:t>
                      </a:r>
                      <a:r>
                        <a:rPr lang="en-US" sz="2800"/>
                        <a:t> (like PC, printer, etc.)</a:t>
                      </a:r>
                    </a:p>
                  </a:txBody>
                  <a:tcPr marL="143435" marR="143435" marT="71718" marB="71718" anchor="ctr"/>
                </a:tc>
                <a:tc>
                  <a:txBody>
                    <a:bodyPr/>
                    <a:lstStyle/>
                    <a:p>
                      <a:r>
                        <a:rPr lang="en-US" sz="2800" dirty="0"/>
                        <a:t>A </a:t>
                      </a:r>
                      <a:r>
                        <a:rPr lang="en-US" sz="2800" b="1" dirty="0"/>
                        <a:t>power strip</a:t>
                      </a:r>
                      <a:r>
                        <a:rPr lang="en-US" sz="2800" dirty="0"/>
                        <a:t> for data – helps devices talk to each other</a:t>
                      </a:r>
                    </a:p>
                  </a:txBody>
                  <a:tcPr marL="143435" marR="143435" marT="71718" marB="71718" anchor="ctr"/>
                </a:tc>
                <a:extLst>
                  <a:ext uri="{0D108BD9-81ED-4DB2-BD59-A6C34878D82A}">
                    <a16:rowId xmlns:a16="http://schemas.microsoft.com/office/drawing/2014/main" val="2911496545"/>
                  </a:ext>
                </a:extLst>
              </a:tr>
            </a:tbl>
          </a:graphicData>
        </a:graphic>
      </p:graphicFrame>
    </p:spTree>
    <p:extLst>
      <p:ext uri="{BB962C8B-B14F-4D97-AF65-F5344CB8AC3E}">
        <p14:creationId xmlns:p14="http://schemas.microsoft.com/office/powerpoint/2010/main" val="332221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57803-E2D7-3A59-758B-95411320EBFF}"/>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2A84978-B279-07B8-25D7-4C3F41C21478}"/>
              </a:ext>
            </a:extLst>
          </p:cNvPr>
          <p:cNvSpPr>
            <a:spLocks noGrp="1"/>
          </p:cNvSpPr>
          <p:nvPr>
            <p:ph idx="1"/>
          </p:nvPr>
        </p:nvSpPr>
        <p:spPr/>
        <p:txBody>
          <a:bodyPr/>
          <a:lstStyle/>
          <a:p>
            <a:pPr marL="0" indent="0" algn="just">
              <a:buNone/>
            </a:pPr>
            <a:r>
              <a:rPr lang="en-US" dirty="0"/>
              <a:t>A </a:t>
            </a:r>
            <a:r>
              <a:rPr lang="en-US" b="1" dirty="0"/>
              <a:t>switch</a:t>
            </a:r>
            <a:r>
              <a:rPr lang="en-US" dirty="0"/>
              <a:t> is a device that connects multiple devices (like computers, printers, etc.) in a </a:t>
            </a:r>
            <a:r>
              <a:rPr lang="en-US" b="1" dirty="0"/>
              <a:t>Local Area Network (LAN)</a:t>
            </a:r>
            <a:r>
              <a:rPr lang="en-US" dirty="0"/>
              <a:t> and helps them </a:t>
            </a:r>
            <a:r>
              <a:rPr lang="en-US" b="1" dirty="0"/>
              <a:t>communicate efficiently</a:t>
            </a:r>
            <a:r>
              <a:rPr lang="en-US" dirty="0"/>
              <a:t>.</a:t>
            </a:r>
            <a:endParaRPr lang="en-IN" dirty="0"/>
          </a:p>
        </p:txBody>
      </p:sp>
    </p:spTree>
    <p:extLst>
      <p:ext uri="{BB962C8B-B14F-4D97-AF65-F5344CB8AC3E}">
        <p14:creationId xmlns:p14="http://schemas.microsoft.com/office/powerpoint/2010/main" val="3316197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D438-BBA2-3E93-E690-C24F6CFE5507}"/>
              </a:ext>
            </a:extLst>
          </p:cNvPr>
          <p:cNvSpPr>
            <a:spLocks noGrp="1"/>
          </p:cNvSpPr>
          <p:nvPr>
            <p:ph type="title"/>
          </p:nvPr>
        </p:nvSpPr>
        <p:spPr/>
        <p:txBody>
          <a:bodyPr/>
          <a:lstStyle/>
          <a:p>
            <a:r>
              <a:rPr lang="en-US" b="1" dirty="0"/>
              <a:t>⚙️ How It Works (Step-by-Step):</a:t>
            </a:r>
            <a:br>
              <a:rPr lang="en-US" b="1" dirty="0"/>
            </a:br>
            <a:endParaRPr lang="en-IN" dirty="0"/>
          </a:p>
        </p:txBody>
      </p:sp>
      <p:sp>
        <p:nvSpPr>
          <p:cNvPr id="3" name="Content Placeholder 2">
            <a:extLst>
              <a:ext uri="{FF2B5EF4-FFF2-40B4-BE49-F238E27FC236}">
                <a16:creationId xmlns:a16="http://schemas.microsoft.com/office/drawing/2014/main" id="{2B07A4C0-6FF2-0482-A8D2-C103A58E39D8}"/>
              </a:ext>
            </a:extLst>
          </p:cNvPr>
          <p:cNvSpPr>
            <a:spLocks noGrp="1"/>
          </p:cNvSpPr>
          <p:nvPr>
            <p:ph idx="1"/>
          </p:nvPr>
        </p:nvSpPr>
        <p:spPr/>
        <p:txBody>
          <a:bodyPr>
            <a:normAutofit/>
          </a:bodyPr>
          <a:lstStyle/>
          <a:p>
            <a:pPr>
              <a:buFont typeface="+mj-lt"/>
              <a:buAutoNum type="arabicPeriod"/>
            </a:pPr>
            <a:r>
              <a:rPr lang="en-US" b="1" dirty="0"/>
              <a:t>Devices Connect</a:t>
            </a:r>
            <a:r>
              <a:rPr lang="en-US" dirty="0"/>
              <a:t>: All devices plug into the switch using Ethernet cables.</a:t>
            </a:r>
          </a:p>
          <a:p>
            <a:pPr>
              <a:buFont typeface="+mj-lt"/>
              <a:buAutoNum type="arabicPeriod"/>
            </a:pPr>
            <a:r>
              <a:rPr lang="en-US" b="1" dirty="0"/>
              <a:t>Learns MAC Addresses</a:t>
            </a:r>
            <a:r>
              <a:rPr lang="en-US" dirty="0"/>
              <a:t>: The switch remembers the </a:t>
            </a:r>
            <a:r>
              <a:rPr lang="en-US" b="1" dirty="0"/>
              <a:t>unique hardware addresses</a:t>
            </a:r>
            <a:r>
              <a:rPr lang="en-US" dirty="0"/>
              <a:t> (MAC) of each device and which port it's connected to.</a:t>
            </a:r>
          </a:p>
          <a:p>
            <a:pPr>
              <a:buFont typeface="+mj-lt"/>
              <a:buAutoNum type="arabicPeriod"/>
            </a:pPr>
            <a:r>
              <a:rPr lang="en-US" b="1" dirty="0"/>
              <a:t>Smart Forwarding</a:t>
            </a:r>
            <a:r>
              <a:rPr lang="en-US" dirty="0"/>
              <a:t>: When one device sends data, the switch checks its memory and </a:t>
            </a:r>
            <a:r>
              <a:rPr lang="en-US" b="1" dirty="0"/>
              <a:t>sends it only to the correct device</a:t>
            </a:r>
            <a:r>
              <a:rPr lang="en-US" dirty="0"/>
              <a:t>, not everyone.</a:t>
            </a:r>
          </a:p>
          <a:p>
            <a:pPr>
              <a:buFont typeface="+mj-lt"/>
              <a:buAutoNum type="arabicPeriod"/>
            </a:pPr>
            <a:r>
              <a:rPr lang="en-US" b="1" dirty="0"/>
              <a:t>Fast &amp; Secure</a:t>
            </a:r>
            <a:r>
              <a:rPr lang="en-US" dirty="0"/>
              <a:t>: This reduces network traffic and improves speed and security.</a:t>
            </a:r>
          </a:p>
          <a:p>
            <a:endParaRPr lang="en-IN" dirty="0"/>
          </a:p>
        </p:txBody>
      </p:sp>
    </p:spTree>
    <p:extLst>
      <p:ext uri="{BB962C8B-B14F-4D97-AF65-F5344CB8AC3E}">
        <p14:creationId xmlns:p14="http://schemas.microsoft.com/office/powerpoint/2010/main" val="3932120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0FED4-F258-9D37-B0BB-6ABCFC141CC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A755EF9-7533-19DF-A392-A80ED706AB5C}"/>
              </a:ext>
            </a:extLst>
          </p:cNvPr>
          <p:cNvSpPr>
            <a:spLocks noGrp="1"/>
          </p:cNvSpPr>
          <p:nvPr>
            <p:ph idx="1"/>
          </p:nvPr>
        </p:nvSpPr>
        <p:spPr/>
        <p:txBody>
          <a:bodyPr/>
          <a:lstStyle/>
          <a:p>
            <a:pPr>
              <a:buNone/>
            </a:pPr>
            <a:r>
              <a:rPr lang="en-US" dirty="0"/>
              <a:t>A </a:t>
            </a:r>
            <a:r>
              <a:rPr lang="en-US" b="1" dirty="0"/>
              <a:t>switch</a:t>
            </a:r>
            <a:r>
              <a:rPr lang="en-US" dirty="0"/>
              <a:t> is like a smart office assistant who:</a:t>
            </a:r>
          </a:p>
          <a:p>
            <a:pPr>
              <a:buFont typeface="Arial" panose="020B0604020202020204" pitchFamily="34" charset="0"/>
              <a:buChar char="•"/>
            </a:pPr>
            <a:r>
              <a:rPr lang="en-US" dirty="0"/>
              <a:t>Learns where everyone sits (MAC addresses)</a:t>
            </a:r>
          </a:p>
          <a:p>
            <a:pPr>
              <a:buFont typeface="Arial" panose="020B0604020202020204" pitchFamily="34" charset="0"/>
              <a:buChar char="•"/>
            </a:pPr>
            <a:r>
              <a:rPr lang="en-US" dirty="0"/>
              <a:t>Sends each document </a:t>
            </a:r>
            <a:r>
              <a:rPr lang="en-US" b="1" dirty="0"/>
              <a:t>only</a:t>
            </a:r>
            <a:r>
              <a:rPr lang="en-US" dirty="0"/>
              <a:t> to the correct desk (port)</a:t>
            </a:r>
          </a:p>
          <a:p>
            <a:pPr>
              <a:buFont typeface="Arial" panose="020B0604020202020204" pitchFamily="34" charset="0"/>
              <a:buChar char="•"/>
            </a:pPr>
            <a:r>
              <a:rPr lang="en-US" dirty="0"/>
              <a:t>Never shouts the message to the whole office</a:t>
            </a:r>
          </a:p>
          <a:p>
            <a:endParaRPr lang="en-IN" dirty="0"/>
          </a:p>
        </p:txBody>
      </p:sp>
    </p:spTree>
    <p:extLst>
      <p:ext uri="{BB962C8B-B14F-4D97-AF65-F5344CB8AC3E}">
        <p14:creationId xmlns:p14="http://schemas.microsoft.com/office/powerpoint/2010/main" val="2720487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A0DE2-8AA3-49CE-E4A8-B02EF3ED2B67}"/>
              </a:ext>
            </a:extLst>
          </p:cNvPr>
          <p:cNvSpPr>
            <a:spLocks noGrp="1"/>
          </p:cNvSpPr>
          <p:nvPr>
            <p:ph type="title"/>
          </p:nvPr>
        </p:nvSpPr>
        <p:spPr/>
        <p:txBody>
          <a:bodyPr/>
          <a:lstStyle/>
          <a:p>
            <a:r>
              <a:rPr lang="en-US" dirty="0"/>
              <a:t>🔧 What is a Router?</a:t>
            </a:r>
            <a:endParaRPr lang="en-IN" dirty="0"/>
          </a:p>
        </p:txBody>
      </p:sp>
      <p:sp>
        <p:nvSpPr>
          <p:cNvPr id="3" name="Content Placeholder 2">
            <a:extLst>
              <a:ext uri="{FF2B5EF4-FFF2-40B4-BE49-F238E27FC236}">
                <a16:creationId xmlns:a16="http://schemas.microsoft.com/office/drawing/2014/main" id="{AE0A1A70-3171-6562-6148-8EDE7B4DF3A7}"/>
              </a:ext>
            </a:extLst>
          </p:cNvPr>
          <p:cNvSpPr>
            <a:spLocks noGrp="1"/>
          </p:cNvSpPr>
          <p:nvPr>
            <p:ph idx="1"/>
          </p:nvPr>
        </p:nvSpPr>
        <p:spPr/>
        <p:txBody>
          <a:bodyPr/>
          <a:lstStyle/>
          <a:p>
            <a:pPr marL="0" indent="0" algn="just">
              <a:buNone/>
            </a:pPr>
            <a:r>
              <a:rPr lang="en-US" dirty="0"/>
              <a:t>A </a:t>
            </a:r>
            <a:r>
              <a:rPr lang="en-US" b="1" dirty="0"/>
              <a:t>router</a:t>
            </a:r>
            <a:r>
              <a:rPr lang="en-US" dirty="0"/>
              <a:t> is a </a:t>
            </a:r>
            <a:r>
              <a:rPr lang="en-US" b="1" dirty="0"/>
              <a:t>networking device</a:t>
            </a:r>
            <a:r>
              <a:rPr lang="en-US" dirty="0"/>
              <a:t> that </a:t>
            </a:r>
            <a:r>
              <a:rPr lang="en-US" b="1" dirty="0"/>
              <a:t>forwards data packets</a:t>
            </a:r>
            <a:r>
              <a:rPr lang="en-US" dirty="0"/>
              <a:t> between </a:t>
            </a:r>
            <a:r>
              <a:rPr lang="en-US" b="1" dirty="0"/>
              <a:t>computer networks</a:t>
            </a:r>
            <a:r>
              <a:rPr lang="en-US" dirty="0"/>
              <a:t>. It acts as a </a:t>
            </a:r>
            <a:r>
              <a:rPr lang="en-US" b="1" dirty="0"/>
              <a:t>gateway</a:t>
            </a:r>
            <a:r>
              <a:rPr lang="en-US" dirty="0"/>
              <a:t> between two or more networks—most commonly between your </a:t>
            </a:r>
            <a:r>
              <a:rPr lang="en-US" b="1" dirty="0"/>
              <a:t>local home network</a:t>
            </a:r>
            <a:r>
              <a:rPr lang="en-US" dirty="0"/>
              <a:t> (LAN) and the </a:t>
            </a:r>
            <a:r>
              <a:rPr lang="en-US" b="1" dirty="0"/>
              <a:t>internet</a:t>
            </a:r>
            <a:r>
              <a:rPr lang="en-US" dirty="0"/>
              <a:t> (WAN).</a:t>
            </a:r>
          </a:p>
          <a:p>
            <a:endParaRPr lang="en-IN" dirty="0"/>
          </a:p>
        </p:txBody>
      </p:sp>
    </p:spTree>
    <p:extLst>
      <p:ext uri="{BB962C8B-B14F-4D97-AF65-F5344CB8AC3E}">
        <p14:creationId xmlns:p14="http://schemas.microsoft.com/office/powerpoint/2010/main" val="2933803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BCB6C-7DF9-3E3F-9B6B-34AB01783F25}"/>
              </a:ext>
            </a:extLst>
          </p:cNvPr>
          <p:cNvSpPr>
            <a:spLocks noGrp="1"/>
          </p:cNvSpPr>
          <p:nvPr>
            <p:ph type="title"/>
          </p:nvPr>
        </p:nvSpPr>
        <p:spPr/>
        <p:txBody>
          <a:bodyPr/>
          <a:lstStyle/>
          <a:p>
            <a:r>
              <a:rPr lang="en-US" b="1" dirty="0"/>
              <a:t>Routing Packets</a:t>
            </a:r>
            <a:r>
              <a:rPr lang="en-US" dirty="0"/>
              <a:t>:</a:t>
            </a:r>
            <a:br>
              <a:rPr lang="en-US" dirty="0"/>
            </a:br>
            <a:endParaRPr lang="en-IN" dirty="0"/>
          </a:p>
        </p:txBody>
      </p:sp>
      <p:sp>
        <p:nvSpPr>
          <p:cNvPr id="3" name="Content Placeholder 2">
            <a:extLst>
              <a:ext uri="{FF2B5EF4-FFF2-40B4-BE49-F238E27FC236}">
                <a16:creationId xmlns:a16="http://schemas.microsoft.com/office/drawing/2014/main" id="{ADC001E7-C301-95B5-7512-6EE2F7614BD4}"/>
              </a:ext>
            </a:extLst>
          </p:cNvPr>
          <p:cNvSpPr>
            <a:spLocks noGrp="1"/>
          </p:cNvSpPr>
          <p:nvPr>
            <p:ph idx="1"/>
          </p:nvPr>
        </p:nvSpPr>
        <p:spPr/>
        <p:txBody>
          <a:bodyPr/>
          <a:lstStyle/>
          <a:p>
            <a:pPr>
              <a:buFont typeface="Arial" panose="020B0604020202020204" pitchFamily="34" charset="0"/>
              <a:buChar char="•"/>
            </a:pPr>
            <a:r>
              <a:rPr lang="en-US" dirty="0"/>
              <a:t>Routers examine the </a:t>
            </a:r>
            <a:r>
              <a:rPr lang="en-US" b="1" dirty="0"/>
              <a:t>destination IP address</a:t>
            </a:r>
            <a:r>
              <a:rPr lang="en-US" dirty="0"/>
              <a:t> of each incoming data packet.</a:t>
            </a:r>
          </a:p>
          <a:p>
            <a:pPr>
              <a:buFont typeface="Arial" panose="020B0604020202020204" pitchFamily="34" charset="0"/>
              <a:buChar char="•"/>
            </a:pPr>
            <a:r>
              <a:rPr lang="en-US" dirty="0"/>
              <a:t>Based on its </a:t>
            </a:r>
            <a:r>
              <a:rPr lang="en-US" b="1" dirty="0"/>
              <a:t>routing table</a:t>
            </a:r>
            <a:r>
              <a:rPr lang="en-US" dirty="0"/>
              <a:t>, it determines the best path for the packet to reach its destination.</a:t>
            </a:r>
          </a:p>
          <a:p>
            <a:pPr>
              <a:buFont typeface="Arial" panose="020B0604020202020204" pitchFamily="34" charset="0"/>
              <a:buChar char="•"/>
            </a:pPr>
            <a:r>
              <a:rPr lang="en-US" dirty="0"/>
              <a:t>It then forwards the packet to the next network on the path.</a:t>
            </a:r>
          </a:p>
          <a:p>
            <a:endParaRPr lang="en-IN" dirty="0"/>
          </a:p>
        </p:txBody>
      </p:sp>
    </p:spTree>
    <p:extLst>
      <p:ext uri="{BB962C8B-B14F-4D97-AF65-F5344CB8AC3E}">
        <p14:creationId xmlns:p14="http://schemas.microsoft.com/office/powerpoint/2010/main" val="2032825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A39570-7F21-DCAA-E720-51C69050F04E}"/>
              </a:ext>
            </a:extLst>
          </p:cNvPr>
          <p:cNvSpPr>
            <a:spLocks noGrp="1"/>
          </p:cNvSpPr>
          <p:nvPr>
            <p:ph idx="1"/>
          </p:nvPr>
        </p:nvSpPr>
        <p:spPr>
          <a:xfrm>
            <a:off x="838200" y="566057"/>
            <a:ext cx="10515600" cy="5610906"/>
          </a:xfrm>
        </p:spPr>
        <p:txBody>
          <a:bodyPr>
            <a:normAutofit/>
          </a:bodyPr>
          <a:lstStyle/>
          <a:p>
            <a:pPr>
              <a:buFont typeface="+mj-lt"/>
              <a:buAutoNum type="arabicPeriod"/>
            </a:pPr>
            <a:r>
              <a:rPr lang="en-US" b="1" dirty="0">
                <a:latin typeface="Times New Roman" panose="02020603050405020304" pitchFamily="18" charset="0"/>
                <a:cs typeface="Times New Roman" panose="02020603050405020304" pitchFamily="18" charset="0"/>
              </a:rPr>
              <a:t>Firewall/Security</a:t>
            </a:r>
            <a:r>
              <a:rPr lang="en-US"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US" dirty="0">
                <a:latin typeface="Times New Roman" panose="02020603050405020304" pitchFamily="18" charset="0"/>
                <a:cs typeface="Times New Roman" panose="02020603050405020304" pitchFamily="18" charset="0"/>
              </a:rPr>
              <a:t>Routers often include built-in firewalls to </a:t>
            </a:r>
            <a:r>
              <a:rPr lang="en-US" b="1" dirty="0">
                <a:latin typeface="Times New Roman" panose="02020603050405020304" pitchFamily="18" charset="0"/>
                <a:cs typeface="Times New Roman" panose="02020603050405020304" pitchFamily="18" charset="0"/>
              </a:rPr>
              <a:t>block unwanted incoming traffic</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filter</a:t>
            </a:r>
            <a:r>
              <a:rPr lang="en-US" dirty="0">
                <a:latin typeface="Times New Roman" panose="02020603050405020304" pitchFamily="18" charset="0"/>
                <a:cs typeface="Times New Roman" panose="02020603050405020304" pitchFamily="18" charset="0"/>
              </a:rPr>
              <a:t> outgoing traffic based on rules.</a:t>
            </a:r>
          </a:p>
          <a:p>
            <a:pPr>
              <a:buNone/>
            </a:pPr>
            <a:r>
              <a:rPr lang="en-US" sz="2400" b="1" dirty="0">
                <a:latin typeface="Times New Roman" panose="02020603050405020304" pitchFamily="18" charset="0"/>
                <a:cs typeface="Times New Roman" panose="02020603050405020304" pitchFamily="18" charset="0"/>
              </a:rPr>
              <a:t>2. DHCP (Dynamic Host Configuration Protocol)</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router assigns IP addresses to devices in the network automatically so you don't have to configure them manually.</a:t>
            </a:r>
          </a:p>
          <a:p>
            <a:pPr marL="0" indent="0" eaLnBrk="0" fontAlgn="base" hangingPunct="0">
              <a:lnSpc>
                <a:spcPct val="100000"/>
              </a:lnSpc>
              <a:spcBef>
                <a:spcPct val="0"/>
              </a:spcBef>
              <a:spcAft>
                <a:spcPct val="0"/>
              </a:spcAft>
              <a:buNone/>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NAT (Network Address Translation)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home routers use NAT to allow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devices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a private network to share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public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IP address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translates private IP addresses (e.g., 192.168.0.x) to the public IP when communicating with the internet.</a:t>
            </a:r>
          </a:p>
          <a:p>
            <a:pPr marL="457200" lvl="1"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21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003DF-7393-C272-DD56-F6BF85296AE0}"/>
              </a:ext>
            </a:extLst>
          </p:cNvPr>
          <p:cNvSpPr>
            <a:spLocks noGrp="1"/>
          </p:cNvSpPr>
          <p:nvPr>
            <p:ph type="title"/>
          </p:nvPr>
        </p:nvSpPr>
        <p:spPr/>
        <p:txBody>
          <a:bodyPr/>
          <a:lstStyle/>
          <a:p>
            <a:r>
              <a:rPr lang="en-US" b="1" dirty="0"/>
              <a:t>🧱 Key Components of a Router:</a:t>
            </a:r>
            <a:br>
              <a:rPr lang="en-US" b="1" dirty="0"/>
            </a:br>
            <a:endParaRPr lang="en-IN" dirty="0"/>
          </a:p>
        </p:txBody>
      </p:sp>
      <p:sp>
        <p:nvSpPr>
          <p:cNvPr id="3" name="Content Placeholder 2">
            <a:extLst>
              <a:ext uri="{FF2B5EF4-FFF2-40B4-BE49-F238E27FC236}">
                <a16:creationId xmlns:a16="http://schemas.microsoft.com/office/drawing/2014/main" id="{74EDEFBE-98F5-9D7C-4433-0180CEDF168C}"/>
              </a:ext>
            </a:extLst>
          </p:cNvPr>
          <p:cNvSpPr>
            <a:spLocks noGrp="1"/>
          </p:cNvSpPr>
          <p:nvPr>
            <p:ph idx="1"/>
          </p:nvPr>
        </p:nvSpPr>
        <p:spPr/>
        <p:txBody>
          <a:bodyPr/>
          <a:lstStyle/>
          <a:p>
            <a:pPr>
              <a:buFont typeface="Arial" panose="020B0604020202020204" pitchFamily="34" charset="0"/>
              <a:buChar char="•"/>
            </a:pPr>
            <a:r>
              <a:rPr lang="en-US" b="1" dirty="0"/>
              <a:t>WAN port</a:t>
            </a:r>
            <a:r>
              <a:rPr lang="en-US" dirty="0"/>
              <a:t>: Connects to the modem or internet.</a:t>
            </a:r>
          </a:p>
          <a:p>
            <a:pPr>
              <a:buFont typeface="Arial" panose="020B0604020202020204" pitchFamily="34" charset="0"/>
              <a:buChar char="•"/>
            </a:pPr>
            <a:r>
              <a:rPr lang="en-US" b="1" dirty="0"/>
              <a:t>LAN ports</a:t>
            </a:r>
            <a:r>
              <a:rPr lang="en-US" dirty="0"/>
              <a:t>: Connect to local devices via Ethernet.</a:t>
            </a:r>
          </a:p>
          <a:p>
            <a:pPr>
              <a:buFont typeface="Arial" panose="020B0604020202020204" pitchFamily="34" charset="0"/>
              <a:buChar char="•"/>
            </a:pPr>
            <a:r>
              <a:rPr lang="en-US" b="1" dirty="0"/>
              <a:t>Wireless module</a:t>
            </a:r>
            <a:r>
              <a:rPr lang="en-US" dirty="0"/>
              <a:t>: Provides Wi-Fi access (in wireless routers).</a:t>
            </a:r>
          </a:p>
          <a:p>
            <a:pPr>
              <a:buFont typeface="Arial" panose="020B0604020202020204" pitchFamily="34" charset="0"/>
              <a:buChar char="•"/>
            </a:pPr>
            <a:r>
              <a:rPr lang="en-US" b="1" dirty="0"/>
              <a:t>Routing table</a:t>
            </a:r>
            <a:r>
              <a:rPr lang="en-US" dirty="0"/>
              <a:t>: Holds routes to various networks.</a:t>
            </a:r>
          </a:p>
          <a:p>
            <a:pPr>
              <a:buFont typeface="Arial" panose="020B0604020202020204" pitchFamily="34" charset="0"/>
              <a:buChar char="•"/>
            </a:pPr>
            <a:r>
              <a:rPr lang="en-US" b="1" dirty="0"/>
              <a:t>Firmware</a:t>
            </a:r>
            <a:r>
              <a:rPr lang="en-US" dirty="0"/>
              <a:t>: Software that runs the router’s functions.</a:t>
            </a:r>
          </a:p>
          <a:p>
            <a:endParaRPr lang="en-IN" dirty="0"/>
          </a:p>
        </p:txBody>
      </p:sp>
    </p:spTree>
    <p:extLst>
      <p:ext uri="{BB962C8B-B14F-4D97-AF65-F5344CB8AC3E}">
        <p14:creationId xmlns:p14="http://schemas.microsoft.com/office/powerpoint/2010/main" val="3086037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AF113-E438-EC77-19AF-F3F3BBD1C2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EC8476C-DDFB-93EC-F067-9C3863911C9A}"/>
              </a:ext>
            </a:extLst>
          </p:cNvPr>
          <p:cNvSpPr>
            <a:spLocks noGrp="1"/>
          </p:cNvSpPr>
          <p:nvPr>
            <p:ph idx="1"/>
          </p:nvPr>
        </p:nvSpPr>
        <p:spPr/>
        <p:txBody>
          <a:bodyPr/>
          <a:lstStyle/>
          <a:p>
            <a:r>
              <a:rPr lang="en-US" dirty="0"/>
              <a:t>A </a:t>
            </a:r>
            <a:r>
              <a:rPr lang="en-US" b="1" dirty="0"/>
              <a:t>routing table</a:t>
            </a:r>
            <a:r>
              <a:rPr lang="en-US" dirty="0"/>
              <a:t> is like a </a:t>
            </a:r>
            <a:r>
              <a:rPr lang="en-US" b="1" dirty="0"/>
              <a:t>map or GPS</a:t>
            </a:r>
            <a:r>
              <a:rPr lang="en-US" dirty="0"/>
              <a:t> for a </a:t>
            </a:r>
            <a:r>
              <a:rPr lang="en-US" b="1" dirty="0"/>
              <a:t>router</a:t>
            </a:r>
            <a:r>
              <a:rPr lang="en-US" dirty="0"/>
              <a:t>. It tells the router </a:t>
            </a:r>
            <a:r>
              <a:rPr lang="en-US" b="1" dirty="0"/>
              <a:t>where to send data packets</a:t>
            </a:r>
            <a:r>
              <a:rPr lang="en-US" dirty="0"/>
              <a:t> based on their destination IP addresses.</a:t>
            </a:r>
          </a:p>
          <a:p>
            <a:endParaRPr lang="en-IN" dirty="0"/>
          </a:p>
        </p:txBody>
      </p:sp>
    </p:spTree>
    <p:extLst>
      <p:ext uri="{BB962C8B-B14F-4D97-AF65-F5344CB8AC3E}">
        <p14:creationId xmlns:p14="http://schemas.microsoft.com/office/powerpoint/2010/main" val="1047608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B224A-4505-3DE7-1715-24C2324F2277}"/>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53FFF61-739D-D9DB-E29E-543A825BA728}"/>
              </a:ext>
            </a:extLst>
          </p:cNvPr>
          <p:cNvGraphicFramePr>
            <a:graphicFrameLocks noGrp="1"/>
          </p:cNvGraphicFramePr>
          <p:nvPr>
            <p:ph idx="1"/>
          </p:nvPr>
        </p:nvGraphicFramePr>
        <p:xfrm>
          <a:off x="838200" y="2766854"/>
          <a:ext cx="10515600" cy="2468880"/>
        </p:xfrm>
        <a:graphic>
          <a:graphicData uri="http://schemas.openxmlformats.org/drawingml/2006/table">
            <a:tbl>
              <a:tblPr/>
              <a:tblGrid>
                <a:gridCol w="5257800">
                  <a:extLst>
                    <a:ext uri="{9D8B030D-6E8A-4147-A177-3AD203B41FA5}">
                      <a16:colId xmlns:a16="http://schemas.microsoft.com/office/drawing/2014/main" val="1256752799"/>
                    </a:ext>
                  </a:extLst>
                </a:gridCol>
                <a:gridCol w="5257800">
                  <a:extLst>
                    <a:ext uri="{9D8B030D-6E8A-4147-A177-3AD203B41FA5}">
                      <a16:colId xmlns:a16="http://schemas.microsoft.com/office/drawing/2014/main" val="899814285"/>
                    </a:ext>
                  </a:extLst>
                </a:gridCol>
              </a:tblGrid>
              <a:tr h="0">
                <a:tc>
                  <a:txBody>
                    <a:bodyPr/>
                    <a:lstStyle/>
                    <a:p>
                      <a:r>
                        <a:rPr lang="en-IN"/>
                        <a:t>Field</a:t>
                      </a:r>
                    </a:p>
                  </a:txBody>
                  <a:tcPr anchor="ctr">
                    <a:lnL>
                      <a:noFill/>
                    </a:lnL>
                    <a:lnR>
                      <a:noFill/>
                    </a:lnR>
                    <a:lnT>
                      <a:noFill/>
                    </a:lnT>
                    <a:lnB>
                      <a:noFill/>
                    </a:lnB>
                    <a:noFill/>
                  </a:tcPr>
                </a:tc>
                <a:tc>
                  <a:txBody>
                    <a:bodyPr/>
                    <a:lstStyle/>
                    <a:p>
                      <a:r>
                        <a:rPr lang="en-IN"/>
                        <a:t>What It Means</a:t>
                      </a:r>
                    </a:p>
                  </a:txBody>
                  <a:tcPr anchor="ctr">
                    <a:lnL>
                      <a:noFill/>
                    </a:lnL>
                    <a:lnR>
                      <a:noFill/>
                    </a:lnR>
                    <a:lnT>
                      <a:noFill/>
                    </a:lnT>
                    <a:lnB>
                      <a:noFill/>
                    </a:lnB>
                    <a:noFill/>
                  </a:tcPr>
                </a:tc>
                <a:extLst>
                  <a:ext uri="{0D108BD9-81ED-4DB2-BD59-A6C34878D82A}">
                    <a16:rowId xmlns:a16="http://schemas.microsoft.com/office/drawing/2014/main" val="2682946144"/>
                  </a:ext>
                </a:extLst>
              </a:tr>
              <a:tr h="0">
                <a:tc>
                  <a:txBody>
                    <a:bodyPr/>
                    <a:lstStyle/>
                    <a:p>
                      <a:r>
                        <a:rPr lang="en-IN" b="1"/>
                        <a:t>Destination</a:t>
                      </a:r>
                      <a:endParaRPr lang="en-IN"/>
                    </a:p>
                  </a:txBody>
                  <a:tcPr anchor="ctr">
                    <a:lnL>
                      <a:noFill/>
                    </a:lnL>
                    <a:lnR>
                      <a:noFill/>
                    </a:lnR>
                    <a:lnT>
                      <a:noFill/>
                    </a:lnT>
                    <a:lnB>
                      <a:noFill/>
                    </a:lnB>
                    <a:noFill/>
                  </a:tcPr>
                </a:tc>
                <a:tc>
                  <a:txBody>
                    <a:bodyPr/>
                    <a:lstStyle/>
                    <a:p>
                      <a:r>
                        <a:rPr lang="en-US"/>
                        <a:t>The IP address or network the packet is going to</a:t>
                      </a:r>
                    </a:p>
                  </a:txBody>
                  <a:tcPr anchor="ctr">
                    <a:lnL>
                      <a:noFill/>
                    </a:lnL>
                    <a:lnR>
                      <a:noFill/>
                    </a:lnR>
                    <a:lnT>
                      <a:noFill/>
                    </a:lnT>
                    <a:lnB>
                      <a:noFill/>
                    </a:lnB>
                    <a:noFill/>
                  </a:tcPr>
                </a:tc>
                <a:extLst>
                  <a:ext uri="{0D108BD9-81ED-4DB2-BD59-A6C34878D82A}">
                    <a16:rowId xmlns:a16="http://schemas.microsoft.com/office/drawing/2014/main" val="3163380764"/>
                  </a:ext>
                </a:extLst>
              </a:tr>
              <a:tr h="0">
                <a:tc>
                  <a:txBody>
                    <a:bodyPr/>
                    <a:lstStyle/>
                    <a:p>
                      <a:r>
                        <a:rPr lang="en-IN" b="1" dirty="0"/>
                        <a:t>Subnet Mask</a:t>
                      </a:r>
                      <a:endParaRPr lang="en-IN" dirty="0"/>
                    </a:p>
                  </a:txBody>
                  <a:tcPr anchor="ctr">
                    <a:lnL>
                      <a:noFill/>
                    </a:lnL>
                    <a:lnR>
                      <a:noFill/>
                    </a:lnR>
                    <a:lnT>
                      <a:noFill/>
                    </a:lnT>
                    <a:lnB>
                      <a:noFill/>
                    </a:lnB>
                    <a:noFill/>
                  </a:tcPr>
                </a:tc>
                <a:tc>
                  <a:txBody>
                    <a:bodyPr/>
                    <a:lstStyle/>
                    <a:p>
                      <a:r>
                        <a:rPr lang="en-US"/>
                        <a:t>Defines the range of IPs for that destination</a:t>
                      </a:r>
                    </a:p>
                  </a:txBody>
                  <a:tcPr anchor="ctr">
                    <a:lnL>
                      <a:noFill/>
                    </a:lnL>
                    <a:lnR>
                      <a:noFill/>
                    </a:lnR>
                    <a:lnT>
                      <a:noFill/>
                    </a:lnT>
                    <a:lnB>
                      <a:noFill/>
                    </a:lnB>
                    <a:noFill/>
                  </a:tcPr>
                </a:tc>
                <a:extLst>
                  <a:ext uri="{0D108BD9-81ED-4DB2-BD59-A6C34878D82A}">
                    <a16:rowId xmlns:a16="http://schemas.microsoft.com/office/drawing/2014/main" val="3109497680"/>
                  </a:ext>
                </a:extLst>
              </a:tr>
              <a:tr h="0">
                <a:tc>
                  <a:txBody>
                    <a:bodyPr/>
                    <a:lstStyle/>
                    <a:p>
                      <a:r>
                        <a:rPr lang="en-IN" b="1"/>
                        <a:t>Next Hop</a:t>
                      </a:r>
                      <a:endParaRPr lang="en-IN"/>
                    </a:p>
                  </a:txBody>
                  <a:tcPr anchor="ctr">
                    <a:lnL>
                      <a:noFill/>
                    </a:lnL>
                    <a:lnR>
                      <a:noFill/>
                    </a:lnR>
                    <a:lnT>
                      <a:noFill/>
                    </a:lnT>
                    <a:lnB>
                      <a:noFill/>
                    </a:lnB>
                    <a:noFill/>
                  </a:tcPr>
                </a:tc>
                <a:tc>
                  <a:txBody>
                    <a:bodyPr/>
                    <a:lstStyle/>
                    <a:p>
                      <a:r>
                        <a:rPr lang="en-US"/>
                        <a:t>The IP address of the next router to forward the packet to</a:t>
                      </a:r>
                    </a:p>
                  </a:txBody>
                  <a:tcPr anchor="ctr">
                    <a:lnL>
                      <a:noFill/>
                    </a:lnL>
                    <a:lnR>
                      <a:noFill/>
                    </a:lnR>
                    <a:lnT>
                      <a:noFill/>
                    </a:lnT>
                    <a:lnB>
                      <a:noFill/>
                    </a:lnB>
                    <a:noFill/>
                  </a:tcPr>
                </a:tc>
                <a:extLst>
                  <a:ext uri="{0D108BD9-81ED-4DB2-BD59-A6C34878D82A}">
                    <a16:rowId xmlns:a16="http://schemas.microsoft.com/office/drawing/2014/main" val="2753529939"/>
                  </a:ext>
                </a:extLst>
              </a:tr>
              <a:tr h="0">
                <a:tc>
                  <a:txBody>
                    <a:bodyPr/>
                    <a:lstStyle/>
                    <a:p>
                      <a:r>
                        <a:rPr lang="en-IN" b="1"/>
                        <a:t>Interface</a:t>
                      </a:r>
                      <a:endParaRPr lang="en-IN"/>
                    </a:p>
                  </a:txBody>
                  <a:tcPr anchor="ctr">
                    <a:lnL>
                      <a:noFill/>
                    </a:lnL>
                    <a:lnR>
                      <a:noFill/>
                    </a:lnR>
                    <a:lnT>
                      <a:noFill/>
                    </a:lnT>
                    <a:lnB>
                      <a:noFill/>
                    </a:lnB>
                    <a:noFill/>
                  </a:tcPr>
                </a:tc>
                <a:tc>
                  <a:txBody>
                    <a:bodyPr/>
                    <a:lstStyle/>
                    <a:p>
                      <a:r>
                        <a:rPr lang="en-US"/>
                        <a:t>Which network interface to use (like LAN or WAN)</a:t>
                      </a:r>
                    </a:p>
                  </a:txBody>
                  <a:tcPr anchor="ctr">
                    <a:lnL>
                      <a:noFill/>
                    </a:lnL>
                    <a:lnR>
                      <a:noFill/>
                    </a:lnR>
                    <a:lnT>
                      <a:noFill/>
                    </a:lnT>
                    <a:lnB>
                      <a:noFill/>
                    </a:lnB>
                    <a:noFill/>
                  </a:tcPr>
                </a:tc>
                <a:extLst>
                  <a:ext uri="{0D108BD9-81ED-4DB2-BD59-A6C34878D82A}">
                    <a16:rowId xmlns:a16="http://schemas.microsoft.com/office/drawing/2014/main" val="757748491"/>
                  </a:ext>
                </a:extLst>
              </a:tr>
              <a:tr h="0">
                <a:tc>
                  <a:txBody>
                    <a:bodyPr/>
                    <a:lstStyle/>
                    <a:p>
                      <a:r>
                        <a:rPr lang="en-IN" b="1"/>
                        <a:t>Metric</a:t>
                      </a:r>
                      <a:endParaRPr lang="en-IN"/>
                    </a:p>
                  </a:txBody>
                  <a:tcPr anchor="ctr">
                    <a:lnL>
                      <a:noFill/>
                    </a:lnL>
                    <a:lnR>
                      <a:noFill/>
                    </a:lnR>
                    <a:lnT>
                      <a:noFill/>
                    </a:lnT>
                    <a:lnB>
                      <a:noFill/>
                    </a:lnB>
                    <a:noFill/>
                  </a:tcPr>
                </a:tc>
                <a:tc>
                  <a:txBody>
                    <a:bodyPr/>
                    <a:lstStyle/>
                    <a:p>
                      <a:r>
                        <a:rPr lang="en-US" dirty="0"/>
                        <a:t>Cost or distance for the route (lower is better)</a:t>
                      </a:r>
                    </a:p>
                  </a:txBody>
                  <a:tcPr anchor="ctr">
                    <a:lnL>
                      <a:noFill/>
                    </a:lnL>
                    <a:lnR>
                      <a:noFill/>
                    </a:lnR>
                    <a:lnT>
                      <a:noFill/>
                    </a:lnT>
                    <a:lnB>
                      <a:noFill/>
                    </a:lnB>
                    <a:noFill/>
                  </a:tcPr>
                </a:tc>
                <a:extLst>
                  <a:ext uri="{0D108BD9-81ED-4DB2-BD59-A6C34878D82A}">
                    <a16:rowId xmlns:a16="http://schemas.microsoft.com/office/drawing/2014/main" val="274766343"/>
                  </a:ext>
                </a:extLst>
              </a:tr>
            </a:tbl>
          </a:graphicData>
        </a:graphic>
      </p:graphicFrame>
      <p:sp>
        <p:nvSpPr>
          <p:cNvPr id="7" name="TextBox 6">
            <a:extLst>
              <a:ext uri="{FF2B5EF4-FFF2-40B4-BE49-F238E27FC236}">
                <a16:creationId xmlns:a16="http://schemas.microsoft.com/office/drawing/2014/main" id="{E25A2DB7-5393-522E-2A51-01FC6B9A8590}"/>
              </a:ext>
            </a:extLst>
          </p:cNvPr>
          <p:cNvSpPr txBox="1"/>
          <p:nvPr/>
        </p:nvSpPr>
        <p:spPr>
          <a:xfrm>
            <a:off x="838200" y="1783808"/>
            <a:ext cx="1051560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A routing table contains a list of </a:t>
            </a:r>
            <a:r>
              <a:rPr kumimoji="0" lang="en-US" altLang="en-US" sz="2400" b="1" i="0" u="none" strike="noStrike" cap="none" normalizeH="0" baseline="0" dirty="0">
                <a:ln>
                  <a:noFill/>
                </a:ln>
                <a:solidFill>
                  <a:schemeClr val="tx1"/>
                </a:solidFill>
                <a:effectLst/>
                <a:latin typeface="Arial" panose="020B0604020202020204" pitchFamily="34" charset="0"/>
              </a:rPr>
              <a:t>routes</a:t>
            </a:r>
            <a:r>
              <a:rPr kumimoji="0" lang="en-US" altLang="en-US" sz="2400" b="0" i="0" u="none" strike="noStrike" cap="none" normalizeH="0" baseline="0" dirty="0">
                <a:ln>
                  <a:noFill/>
                </a:ln>
                <a:solidFill>
                  <a:schemeClr val="tx1"/>
                </a:solidFill>
                <a:effectLst/>
                <a:latin typeface="Arial" panose="020B0604020202020204" pitchFamily="34" charset="0"/>
              </a:rPr>
              <a:t> to different </a:t>
            </a:r>
            <a:r>
              <a:rPr kumimoji="0" lang="en-US" altLang="en-US" sz="2400" b="1" i="0" u="none" strike="noStrike" cap="none" normalizeH="0" baseline="0" dirty="0">
                <a:ln>
                  <a:noFill/>
                </a:ln>
                <a:solidFill>
                  <a:schemeClr val="tx1"/>
                </a:solidFill>
                <a:effectLst/>
                <a:latin typeface="Arial" panose="020B0604020202020204" pitchFamily="34" charset="0"/>
              </a:rPr>
              <a:t>network destinations</a:t>
            </a:r>
            <a:r>
              <a:rPr kumimoji="0" lang="en-US" altLang="en-US" sz="2400" b="0" i="0" u="none" strike="noStrike" cap="none" normalizeH="0" baseline="0" dirty="0">
                <a:ln>
                  <a:noFill/>
                </a:ln>
                <a:solidFill>
                  <a:schemeClr val="tx1"/>
                </a:solidFill>
                <a:effectLst/>
                <a:latin typeface="Arial" panose="020B0604020202020204" pitchFamily="34" charset="0"/>
              </a:rPr>
              <a:t>. Each entry (or row) in the table usually has: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3085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F175B-A0D7-D2D6-1347-DF0E7988D957}"/>
              </a:ext>
            </a:extLst>
          </p:cNvPr>
          <p:cNvSpPr>
            <a:spLocks noGrp="1"/>
          </p:cNvSpPr>
          <p:nvPr>
            <p:ph type="title"/>
          </p:nvPr>
        </p:nvSpPr>
        <p:spPr/>
        <p:txBody>
          <a:bodyPr/>
          <a:lstStyle/>
          <a:p>
            <a:r>
              <a:rPr lang="en-US" b="1" dirty="0"/>
              <a:t>Router</a:t>
            </a:r>
            <a:br>
              <a:rPr lang="en-US" b="1" dirty="0"/>
            </a:br>
            <a:endParaRPr lang="en-IN" dirty="0"/>
          </a:p>
        </p:txBody>
      </p:sp>
      <p:sp>
        <p:nvSpPr>
          <p:cNvPr id="3" name="Content Placeholder 2">
            <a:extLst>
              <a:ext uri="{FF2B5EF4-FFF2-40B4-BE49-F238E27FC236}">
                <a16:creationId xmlns:a16="http://schemas.microsoft.com/office/drawing/2014/main" id="{5A34AC7F-F8A1-E608-4A41-3FDCCAC74E23}"/>
              </a:ext>
            </a:extLst>
          </p:cNvPr>
          <p:cNvSpPr>
            <a:spLocks noGrp="1"/>
          </p:cNvSpPr>
          <p:nvPr>
            <p:ph idx="1"/>
          </p:nvPr>
        </p:nvSpPr>
        <p:spPr/>
        <p:txBody>
          <a:bodyPr/>
          <a:lstStyle/>
          <a:p>
            <a:pPr>
              <a:buFont typeface="Arial" panose="020B0604020202020204" pitchFamily="34" charset="0"/>
              <a:buChar char="•"/>
            </a:pPr>
            <a:r>
              <a:rPr lang="en-US" b="1" dirty="0"/>
              <a:t>Function:</a:t>
            </a:r>
            <a:r>
              <a:rPr lang="en-US" dirty="0"/>
              <a:t> Connects </a:t>
            </a:r>
            <a:r>
              <a:rPr lang="en-US" b="1" dirty="0"/>
              <a:t>different networks</a:t>
            </a:r>
            <a:r>
              <a:rPr lang="en-US" dirty="0"/>
              <a:t>, typically your LAN to the </a:t>
            </a:r>
            <a:r>
              <a:rPr lang="en-US" b="1" dirty="0"/>
              <a:t>internet (WAN)</a:t>
            </a:r>
            <a:r>
              <a:rPr lang="en-US" dirty="0"/>
              <a:t>.</a:t>
            </a:r>
          </a:p>
          <a:p>
            <a:pPr>
              <a:buFont typeface="Arial" panose="020B0604020202020204" pitchFamily="34" charset="0"/>
              <a:buChar char="•"/>
            </a:pPr>
            <a:r>
              <a:rPr lang="en-US" b="1" dirty="0"/>
              <a:t>Layer:</a:t>
            </a:r>
            <a:r>
              <a:rPr lang="en-US" dirty="0"/>
              <a:t> Operates at </a:t>
            </a:r>
            <a:r>
              <a:rPr lang="en-US" b="1" dirty="0"/>
              <a:t>Layer 3 (Network Layer)</a:t>
            </a:r>
            <a:r>
              <a:rPr lang="en-US" dirty="0"/>
              <a:t>.</a:t>
            </a:r>
          </a:p>
          <a:p>
            <a:pPr>
              <a:buFont typeface="Arial" panose="020B0604020202020204" pitchFamily="34" charset="0"/>
              <a:buChar char="•"/>
            </a:pPr>
            <a:r>
              <a:rPr lang="en-US" b="1" dirty="0"/>
              <a:t>Extra Features:</a:t>
            </a:r>
            <a:r>
              <a:rPr lang="en-US" dirty="0"/>
              <a:t> Can perform </a:t>
            </a:r>
            <a:r>
              <a:rPr lang="en-US" b="1" dirty="0"/>
              <a:t>NAT (Network Address Translation)</a:t>
            </a:r>
            <a:r>
              <a:rPr lang="en-US" dirty="0"/>
              <a:t> and </a:t>
            </a:r>
            <a:r>
              <a:rPr lang="en-US" b="1" dirty="0"/>
              <a:t>DHCP</a:t>
            </a:r>
            <a:r>
              <a:rPr lang="en-US" dirty="0"/>
              <a:t>.</a:t>
            </a:r>
          </a:p>
          <a:p>
            <a:r>
              <a:rPr lang="en-US" dirty="0"/>
              <a:t>📦 </a:t>
            </a:r>
            <a:r>
              <a:rPr lang="en-US" b="1" dirty="0"/>
              <a:t>NAT</a:t>
            </a:r>
            <a:r>
              <a:rPr lang="en-US" dirty="0"/>
              <a:t>: Allows multiple devices in your LAN to share a </a:t>
            </a:r>
            <a:r>
              <a:rPr lang="en-US" b="1" dirty="0"/>
              <a:t>single public IP</a:t>
            </a:r>
            <a:r>
              <a:rPr lang="en-US" dirty="0"/>
              <a:t>.</a:t>
            </a:r>
          </a:p>
          <a:p>
            <a:endParaRPr lang="en-IN" dirty="0"/>
          </a:p>
        </p:txBody>
      </p:sp>
    </p:spTree>
    <p:extLst>
      <p:ext uri="{BB962C8B-B14F-4D97-AF65-F5344CB8AC3E}">
        <p14:creationId xmlns:p14="http://schemas.microsoft.com/office/powerpoint/2010/main" val="3510224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7DAAC389-60C5-E52B-8A0F-CE7E2A94FEB1}"/>
              </a:ext>
            </a:extLst>
          </p:cNvPr>
          <p:cNvSpPr>
            <a:spLocks noGrp="1" noChangeArrowheads="1"/>
          </p:cNvSpPr>
          <p:nvPr>
            <p:ph idx="1"/>
          </p:nvPr>
        </p:nvSpPr>
        <p:spPr bwMode="auto">
          <a:xfrm>
            <a:off x="838200" y="2093625"/>
            <a:ext cx="1017814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Think of it like this: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router is like a delivery person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inside your home or office.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you ask for something on the internet (like opening Google),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router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takes your request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sends it out to the internet.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the internet sends the answer back (like Google’s page),</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router brings it back 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your device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not someone else’s.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543B8FD3-C723-F156-A9C7-C0A7424A647D}"/>
              </a:ext>
            </a:extLst>
          </p:cNvPr>
          <p:cNvSpPr txBox="1"/>
          <p:nvPr/>
        </p:nvSpPr>
        <p:spPr>
          <a:xfrm>
            <a:off x="1338943" y="816429"/>
            <a:ext cx="4038600" cy="646331"/>
          </a:xfrm>
          <a:prstGeom prst="rect">
            <a:avLst/>
          </a:prstGeom>
          <a:noFill/>
        </p:spPr>
        <p:txBody>
          <a:bodyPr wrap="square" rtlCol="0">
            <a:spAutoFit/>
          </a:bodyPr>
          <a:lstStyle/>
          <a:p>
            <a:r>
              <a:rPr lang="en-US" sz="3600" dirty="0"/>
              <a:t>Router</a:t>
            </a:r>
            <a:endParaRPr lang="en-IN" sz="3600" dirty="0"/>
          </a:p>
        </p:txBody>
      </p:sp>
    </p:spTree>
    <p:extLst>
      <p:ext uri="{BB962C8B-B14F-4D97-AF65-F5344CB8AC3E}">
        <p14:creationId xmlns:p14="http://schemas.microsoft.com/office/powerpoint/2010/main" val="3802770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CF94A-3947-B27A-DC43-87D4071C68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6A5AF0-4EE1-0D55-C879-C03574F0C488}"/>
              </a:ext>
            </a:extLst>
          </p:cNvPr>
          <p:cNvSpPr>
            <a:spLocks noGrp="1"/>
          </p:cNvSpPr>
          <p:nvPr>
            <p:ph idx="1"/>
          </p:nvPr>
        </p:nvSpPr>
        <p:spPr/>
        <p:txBody>
          <a:bodyPr/>
          <a:lstStyle/>
          <a:p>
            <a:pPr>
              <a:buNone/>
            </a:pPr>
            <a:r>
              <a:rPr lang="en-US" b="1" dirty="0"/>
              <a:t>💡 Imagine your Wi-Fi router as a traffic cop for the internet.</a:t>
            </a:r>
          </a:p>
          <a:p>
            <a:pPr>
              <a:buFont typeface="Arial" panose="020B0604020202020204" pitchFamily="34" charset="0"/>
              <a:buChar char="•"/>
            </a:pPr>
            <a:r>
              <a:rPr lang="en-US" dirty="0"/>
              <a:t>Your </a:t>
            </a:r>
            <a:r>
              <a:rPr lang="en-US" b="1" dirty="0"/>
              <a:t>internet connection</a:t>
            </a:r>
            <a:r>
              <a:rPr lang="en-US" dirty="0"/>
              <a:t> is like a big road bringing information to your house.</a:t>
            </a:r>
          </a:p>
          <a:p>
            <a:pPr>
              <a:buFont typeface="Arial" panose="020B0604020202020204" pitchFamily="34" charset="0"/>
              <a:buChar char="•"/>
            </a:pPr>
            <a:r>
              <a:rPr lang="en-US" dirty="0"/>
              <a:t>Inside your house, you have multiple </a:t>
            </a:r>
            <a:r>
              <a:rPr lang="en-US" b="1" dirty="0"/>
              <a:t>devices</a:t>
            </a:r>
            <a:r>
              <a:rPr lang="en-US" dirty="0"/>
              <a:t> – phones, laptops, smart TVs – all wanting to use that road.</a:t>
            </a:r>
          </a:p>
          <a:p>
            <a:pPr>
              <a:buFont typeface="Arial" panose="020B0604020202020204" pitchFamily="34" charset="0"/>
              <a:buChar char="•"/>
            </a:pPr>
            <a:r>
              <a:rPr lang="en-US" dirty="0"/>
              <a:t>The </a:t>
            </a:r>
            <a:r>
              <a:rPr lang="en-US" b="1" dirty="0"/>
              <a:t>router</a:t>
            </a:r>
            <a:r>
              <a:rPr lang="en-US" dirty="0"/>
              <a:t> makes sure the internet traffic gets to the right device – like a traffic cop telling the cars (data) where to go.</a:t>
            </a:r>
          </a:p>
          <a:p>
            <a:endParaRPr lang="en-IN" dirty="0"/>
          </a:p>
        </p:txBody>
      </p:sp>
    </p:spTree>
    <p:extLst>
      <p:ext uri="{BB962C8B-B14F-4D97-AF65-F5344CB8AC3E}">
        <p14:creationId xmlns:p14="http://schemas.microsoft.com/office/powerpoint/2010/main" val="31416842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F70B5-29CE-A512-3959-59C80DF0652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E98598D-F091-15DE-E320-1B296080D412}"/>
              </a:ext>
            </a:extLst>
          </p:cNvPr>
          <p:cNvSpPr>
            <a:spLocks noGrp="1"/>
          </p:cNvSpPr>
          <p:nvPr>
            <p:ph idx="1"/>
          </p:nvPr>
        </p:nvSpPr>
        <p:spPr/>
        <p:txBody>
          <a:bodyPr/>
          <a:lstStyle/>
          <a:p>
            <a:pPr>
              <a:buFont typeface="Arial" panose="020B0604020202020204" pitchFamily="34" charset="0"/>
              <a:buChar char="•"/>
            </a:pPr>
            <a:r>
              <a:rPr lang="en-US" dirty="0"/>
              <a:t>It </a:t>
            </a:r>
            <a:r>
              <a:rPr lang="en-US" b="1" dirty="0"/>
              <a:t>connects your devices</a:t>
            </a:r>
            <a:r>
              <a:rPr lang="en-US" dirty="0"/>
              <a:t> (phone, laptop, etc.) to the </a:t>
            </a:r>
            <a:r>
              <a:rPr lang="en-US" b="1" dirty="0"/>
              <a:t>internet</a:t>
            </a:r>
            <a:r>
              <a:rPr lang="en-US" dirty="0"/>
              <a:t>.</a:t>
            </a:r>
          </a:p>
          <a:p>
            <a:pPr>
              <a:buFont typeface="Arial" panose="020B0604020202020204" pitchFamily="34" charset="0"/>
              <a:buChar char="•"/>
            </a:pPr>
            <a:r>
              <a:rPr lang="en-US" dirty="0"/>
              <a:t>It also </a:t>
            </a:r>
            <a:r>
              <a:rPr lang="en-US" b="1" dirty="0"/>
              <a:t>helps your devices talk to each other</a:t>
            </a:r>
            <a:r>
              <a:rPr lang="en-US" dirty="0"/>
              <a:t> (like sending files from your laptop to your printer).</a:t>
            </a:r>
          </a:p>
          <a:p>
            <a:pPr>
              <a:buFont typeface="Arial" panose="020B0604020202020204" pitchFamily="34" charset="0"/>
              <a:buChar char="•"/>
            </a:pPr>
            <a:r>
              <a:rPr lang="en-US" dirty="0"/>
              <a:t>It usually connects to a </a:t>
            </a:r>
            <a:r>
              <a:rPr lang="en-US" b="1" dirty="0"/>
              <a:t>modem</a:t>
            </a:r>
            <a:r>
              <a:rPr lang="en-US" dirty="0"/>
              <a:t>, which is what brings the internet from your provider (like Jio, Airtel, etc.) into your home.</a:t>
            </a:r>
          </a:p>
          <a:p>
            <a:endParaRPr lang="en-IN" dirty="0"/>
          </a:p>
        </p:txBody>
      </p:sp>
    </p:spTree>
    <p:extLst>
      <p:ext uri="{BB962C8B-B14F-4D97-AF65-F5344CB8AC3E}">
        <p14:creationId xmlns:p14="http://schemas.microsoft.com/office/powerpoint/2010/main" val="1726599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EE6-B6A6-E462-03DA-E3B204567307}"/>
              </a:ext>
            </a:extLst>
          </p:cNvPr>
          <p:cNvSpPr>
            <a:spLocks noGrp="1"/>
          </p:cNvSpPr>
          <p:nvPr>
            <p:ph type="title"/>
          </p:nvPr>
        </p:nvSpPr>
        <p:spPr/>
        <p:txBody>
          <a:bodyPr/>
          <a:lstStyle/>
          <a:p>
            <a:r>
              <a:rPr lang="en-US" b="1" dirty="0"/>
              <a:t>💡 What It Does:</a:t>
            </a:r>
            <a:br>
              <a:rPr lang="en-US" b="1" dirty="0"/>
            </a:br>
            <a:endParaRPr lang="en-IN" dirty="0"/>
          </a:p>
        </p:txBody>
      </p:sp>
      <p:sp>
        <p:nvSpPr>
          <p:cNvPr id="3" name="Content Placeholder 2">
            <a:extLst>
              <a:ext uri="{FF2B5EF4-FFF2-40B4-BE49-F238E27FC236}">
                <a16:creationId xmlns:a16="http://schemas.microsoft.com/office/drawing/2014/main" id="{286557FE-46C4-36C5-B9C3-8D05D01047B0}"/>
              </a:ext>
            </a:extLst>
          </p:cNvPr>
          <p:cNvSpPr>
            <a:spLocks noGrp="1"/>
          </p:cNvSpPr>
          <p:nvPr>
            <p:ph idx="1"/>
          </p:nvPr>
        </p:nvSpPr>
        <p:spPr/>
        <p:txBody>
          <a:bodyPr/>
          <a:lstStyle/>
          <a:p>
            <a:pPr>
              <a:buFont typeface="+mj-lt"/>
              <a:buAutoNum type="arabicPeriod"/>
            </a:pPr>
            <a:r>
              <a:rPr lang="en-US" b="1" dirty="0"/>
              <a:t>Connects you to the internet</a:t>
            </a:r>
            <a:br>
              <a:rPr lang="en-US" dirty="0"/>
            </a:br>
            <a:r>
              <a:rPr lang="en-US" dirty="0"/>
              <a:t>It brings the internet to your home/office from the outside world.</a:t>
            </a:r>
          </a:p>
          <a:p>
            <a:pPr>
              <a:buFont typeface="+mj-lt"/>
              <a:buAutoNum type="arabicPeriod"/>
            </a:pPr>
            <a:r>
              <a:rPr lang="en-US" b="1" dirty="0"/>
              <a:t>Shares internet with all devices</a:t>
            </a:r>
            <a:br>
              <a:rPr lang="en-US" dirty="0"/>
            </a:br>
            <a:r>
              <a:rPr lang="en-US" dirty="0"/>
              <a:t>It lets all your devices — phones, computers, TVs — use that internet </a:t>
            </a:r>
            <a:r>
              <a:rPr lang="en-US" b="1" dirty="0"/>
              <a:t>at the same time</a:t>
            </a:r>
            <a:r>
              <a:rPr lang="en-US" dirty="0"/>
              <a:t>.</a:t>
            </a:r>
          </a:p>
          <a:p>
            <a:pPr>
              <a:buFont typeface="+mj-lt"/>
              <a:buAutoNum type="arabicPeriod"/>
            </a:pPr>
            <a:r>
              <a:rPr lang="en-US" b="1" dirty="0"/>
              <a:t>Knows who asked for what</a:t>
            </a:r>
            <a:br>
              <a:rPr lang="en-US" dirty="0"/>
            </a:br>
            <a:r>
              <a:rPr lang="en-US" dirty="0"/>
              <a:t>It keeps track of which device asked for which website or video, and makes sure the right data goes to the right place.</a:t>
            </a:r>
          </a:p>
          <a:p>
            <a:endParaRPr lang="en-IN" dirty="0"/>
          </a:p>
        </p:txBody>
      </p:sp>
    </p:spTree>
    <p:extLst>
      <p:ext uri="{BB962C8B-B14F-4D97-AF65-F5344CB8AC3E}">
        <p14:creationId xmlns:p14="http://schemas.microsoft.com/office/powerpoint/2010/main" val="2109577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4ADC-C6EF-CDCD-6654-AA814175F76D}"/>
              </a:ext>
            </a:extLst>
          </p:cNvPr>
          <p:cNvSpPr>
            <a:spLocks noGrp="1"/>
          </p:cNvSpPr>
          <p:nvPr>
            <p:ph type="title"/>
          </p:nvPr>
        </p:nvSpPr>
        <p:spPr/>
        <p:txBody>
          <a:bodyPr/>
          <a:lstStyle/>
          <a:p>
            <a:r>
              <a:rPr lang="en-US" b="1" dirty="0"/>
              <a:t>What a Modem Does (Step-by-Step):</a:t>
            </a:r>
            <a:br>
              <a:rPr lang="en-US" b="1" dirty="0"/>
            </a:br>
            <a:endParaRPr lang="en-IN" dirty="0"/>
          </a:p>
        </p:txBody>
      </p:sp>
      <p:sp>
        <p:nvSpPr>
          <p:cNvPr id="3" name="Content Placeholder 2">
            <a:extLst>
              <a:ext uri="{FF2B5EF4-FFF2-40B4-BE49-F238E27FC236}">
                <a16:creationId xmlns:a16="http://schemas.microsoft.com/office/drawing/2014/main" id="{09CAE6B7-661B-4288-DAF2-56CAA89785DC}"/>
              </a:ext>
            </a:extLst>
          </p:cNvPr>
          <p:cNvSpPr>
            <a:spLocks noGrp="1"/>
          </p:cNvSpPr>
          <p:nvPr>
            <p:ph idx="1"/>
          </p:nvPr>
        </p:nvSpPr>
        <p:spPr/>
        <p:txBody>
          <a:bodyPr>
            <a:normAutofit fontScale="92500" lnSpcReduction="10000"/>
          </a:bodyPr>
          <a:lstStyle/>
          <a:p>
            <a:pPr>
              <a:buNone/>
            </a:pPr>
            <a:r>
              <a:rPr lang="en-US" b="1" dirty="0"/>
              <a:t>🔌 1. Connects to the ISP Line</a:t>
            </a:r>
          </a:p>
          <a:p>
            <a:pPr>
              <a:buFont typeface="Arial" panose="020B0604020202020204" pitchFamily="34" charset="0"/>
              <a:buChar char="•"/>
            </a:pPr>
            <a:r>
              <a:rPr lang="en-US" dirty="0"/>
              <a:t>The modem connects to your </a:t>
            </a:r>
            <a:r>
              <a:rPr lang="en-US" b="1" dirty="0"/>
              <a:t>phone line, fiber line, or cable</a:t>
            </a:r>
            <a:r>
              <a:rPr lang="en-US" dirty="0"/>
              <a:t> — this is how internet enters your building.</a:t>
            </a:r>
          </a:p>
          <a:p>
            <a:pPr>
              <a:buNone/>
            </a:pPr>
            <a:r>
              <a:rPr lang="en-US" b="1" dirty="0"/>
              <a:t>🧪 2. Converts Signals</a:t>
            </a:r>
          </a:p>
          <a:p>
            <a:pPr>
              <a:buFont typeface="Arial" panose="020B0604020202020204" pitchFamily="34" charset="0"/>
              <a:buChar char="•"/>
            </a:pPr>
            <a:r>
              <a:rPr lang="en-US" dirty="0"/>
              <a:t>It takes the </a:t>
            </a:r>
            <a:r>
              <a:rPr lang="en-US" b="1" dirty="0"/>
              <a:t>signal</a:t>
            </a:r>
            <a:r>
              <a:rPr lang="en-US" dirty="0"/>
              <a:t> coming from the ISP (light signals in fiber, or electrical pulses in phone/cable lines),</a:t>
            </a:r>
          </a:p>
          <a:p>
            <a:pPr>
              <a:buFont typeface="Arial" panose="020B0604020202020204" pitchFamily="34" charset="0"/>
              <a:buChar char="•"/>
            </a:pPr>
            <a:r>
              <a:rPr lang="en-US" dirty="0"/>
              <a:t>And </a:t>
            </a:r>
            <a:r>
              <a:rPr lang="en-US" b="1" dirty="0"/>
              <a:t>converts</a:t>
            </a:r>
            <a:r>
              <a:rPr lang="en-US" dirty="0"/>
              <a:t> it into data that your </a:t>
            </a:r>
            <a:r>
              <a:rPr lang="en-US" b="1" dirty="0"/>
              <a:t>router and devices</a:t>
            </a:r>
            <a:r>
              <a:rPr lang="en-US" dirty="0"/>
              <a:t> can understand.</a:t>
            </a:r>
          </a:p>
          <a:p>
            <a:pPr>
              <a:buNone/>
            </a:pPr>
            <a:r>
              <a:rPr lang="en-US" b="1" dirty="0"/>
              <a:t>📤 3. Sends Data to the Router</a:t>
            </a:r>
          </a:p>
          <a:p>
            <a:pPr>
              <a:buFont typeface="Arial" panose="020B0604020202020204" pitchFamily="34" charset="0"/>
              <a:buChar char="•"/>
            </a:pPr>
            <a:r>
              <a:rPr lang="en-US" dirty="0"/>
              <a:t>The modem passes the internet data to the </a:t>
            </a:r>
            <a:r>
              <a:rPr lang="en-US" b="1" dirty="0"/>
              <a:t>router</a:t>
            </a:r>
            <a:r>
              <a:rPr lang="en-US" dirty="0"/>
              <a:t>,</a:t>
            </a:r>
          </a:p>
          <a:p>
            <a:pPr>
              <a:buFont typeface="Arial" panose="020B0604020202020204" pitchFamily="34" charset="0"/>
              <a:buChar char="•"/>
            </a:pPr>
            <a:r>
              <a:rPr lang="en-US" dirty="0"/>
              <a:t>The router then shares it with all your devices (via Wi-Fi or LAN).</a:t>
            </a:r>
          </a:p>
          <a:p>
            <a:endParaRPr lang="en-IN" dirty="0"/>
          </a:p>
        </p:txBody>
      </p:sp>
    </p:spTree>
    <p:extLst>
      <p:ext uri="{BB962C8B-B14F-4D97-AF65-F5344CB8AC3E}">
        <p14:creationId xmlns:p14="http://schemas.microsoft.com/office/powerpoint/2010/main" val="1844935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6F34-BE17-CE32-5737-DDEDB37F6611}"/>
              </a:ext>
            </a:extLst>
          </p:cNvPr>
          <p:cNvSpPr>
            <a:spLocks noGrp="1"/>
          </p:cNvSpPr>
          <p:nvPr>
            <p:ph type="title"/>
          </p:nvPr>
        </p:nvSpPr>
        <p:spPr/>
        <p:txBody>
          <a:bodyPr/>
          <a:lstStyle/>
          <a:p>
            <a:r>
              <a:rPr lang="en-US" b="1" dirty="0"/>
              <a:t>Example:</a:t>
            </a:r>
            <a:br>
              <a:rPr lang="en-US" b="1" dirty="0"/>
            </a:br>
            <a:endParaRPr lang="en-IN" dirty="0"/>
          </a:p>
        </p:txBody>
      </p:sp>
      <p:sp>
        <p:nvSpPr>
          <p:cNvPr id="3" name="Content Placeholder 2">
            <a:extLst>
              <a:ext uri="{FF2B5EF4-FFF2-40B4-BE49-F238E27FC236}">
                <a16:creationId xmlns:a16="http://schemas.microsoft.com/office/drawing/2014/main" id="{EF70C56D-29DE-215A-0445-C299629D7E47}"/>
              </a:ext>
            </a:extLst>
          </p:cNvPr>
          <p:cNvSpPr>
            <a:spLocks noGrp="1"/>
          </p:cNvSpPr>
          <p:nvPr>
            <p:ph idx="1"/>
          </p:nvPr>
        </p:nvSpPr>
        <p:spPr/>
        <p:txBody>
          <a:bodyPr/>
          <a:lstStyle/>
          <a:p>
            <a:pPr>
              <a:buNone/>
            </a:pPr>
            <a:r>
              <a:rPr lang="en-US" dirty="0"/>
              <a:t>Let’s say you’re watching Netflix:</a:t>
            </a:r>
          </a:p>
          <a:p>
            <a:pPr>
              <a:buFont typeface="+mj-lt"/>
              <a:buAutoNum type="arabicPeriod"/>
            </a:pPr>
            <a:r>
              <a:rPr lang="en-US" dirty="0"/>
              <a:t>You press play on your phone.</a:t>
            </a:r>
          </a:p>
          <a:p>
            <a:pPr>
              <a:buFont typeface="+mj-lt"/>
              <a:buAutoNum type="arabicPeriod"/>
            </a:pPr>
            <a:r>
              <a:rPr lang="en-US" dirty="0"/>
              <a:t>Your router sends the request to the modem.</a:t>
            </a:r>
          </a:p>
          <a:p>
            <a:pPr>
              <a:buFont typeface="+mj-lt"/>
              <a:buAutoNum type="arabicPeriod"/>
            </a:pPr>
            <a:r>
              <a:rPr lang="en-US" dirty="0"/>
              <a:t>The modem talks to the ISP and brings back the movie.</a:t>
            </a:r>
          </a:p>
          <a:p>
            <a:pPr>
              <a:buFont typeface="+mj-lt"/>
              <a:buAutoNum type="arabicPeriod"/>
            </a:pPr>
            <a:r>
              <a:rPr lang="en-US" dirty="0"/>
              <a:t>It gives the movie data to the router.</a:t>
            </a:r>
          </a:p>
          <a:p>
            <a:pPr>
              <a:buFont typeface="+mj-lt"/>
              <a:buAutoNum type="arabicPeriod"/>
            </a:pPr>
            <a:r>
              <a:rPr lang="en-US" dirty="0"/>
              <a:t>The router sends it to your phone.</a:t>
            </a:r>
          </a:p>
          <a:p>
            <a:endParaRPr lang="en-IN" dirty="0"/>
          </a:p>
        </p:txBody>
      </p:sp>
    </p:spTree>
    <p:extLst>
      <p:ext uri="{BB962C8B-B14F-4D97-AF65-F5344CB8AC3E}">
        <p14:creationId xmlns:p14="http://schemas.microsoft.com/office/powerpoint/2010/main" val="4233753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F2AC8-92B3-4336-159B-6FB1EED89D66}"/>
              </a:ext>
            </a:extLst>
          </p:cNvPr>
          <p:cNvSpPr>
            <a:spLocks noGrp="1"/>
          </p:cNvSpPr>
          <p:nvPr>
            <p:ph type="title"/>
          </p:nvPr>
        </p:nvSpPr>
        <p:spPr/>
        <p:txBody>
          <a:bodyPr/>
          <a:lstStyle/>
          <a:p>
            <a:r>
              <a:rPr lang="en-US" b="1" dirty="0"/>
              <a:t>📌 Important Note:</a:t>
            </a:r>
            <a:br>
              <a:rPr lang="en-US" b="1" dirty="0"/>
            </a:br>
            <a:endParaRPr lang="en-IN" dirty="0"/>
          </a:p>
        </p:txBody>
      </p:sp>
      <p:sp>
        <p:nvSpPr>
          <p:cNvPr id="3" name="Content Placeholder 2">
            <a:extLst>
              <a:ext uri="{FF2B5EF4-FFF2-40B4-BE49-F238E27FC236}">
                <a16:creationId xmlns:a16="http://schemas.microsoft.com/office/drawing/2014/main" id="{D9EAABB7-75FE-6E01-0262-65C3D15B98EE}"/>
              </a:ext>
            </a:extLst>
          </p:cNvPr>
          <p:cNvSpPr>
            <a:spLocks noGrp="1"/>
          </p:cNvSpPr>
          <p:nvPr>
            <p:ph idx="1"/>
          </p:nvPr>
        </p:nvSpPr>
        <p:spPr/>
        <p:txBody>
          <a:bodyPr/>
          <a:lstStyle/>
          <a:p>
            <a:pPr>
              <a:buFont typeface="Arial" panose="020B0604020202020204" pitchFamily="34" charset="0"/>
              <a:buChar char="•"/>
            </a:pPr>
            <a:r>
              <a:rPr lang="en-US" dirty="0"/>
              <a:t>A </a:t>
            </a:r>
            <a:r>
              <a:rPr lang="en-US" b="1" dirty="0"/>
              <a:t>modem connects you to the internet</a:t>
            </a:r>
            <a:r>
              <a:rPr lang="en-US" dirty="0"/>
              <a:t>.</a:t>
            </a:r>
          </a:p>
          <a:p>
            <a:pPr>
              <a:buFont typeface="Arial" panose="020B0604020202020204" pitchFamily="34" charset="0"/>
              <a:buChar char="•"/>
            </a:pPr>
            <a:r>
              <a:rPr lang="en-US" dirty="0"/>
              <a:t>A </a:t>
            </a:r>
            <a:r>
              <a:rPr lang="en-US" b="1" dirty="0"/>
              <a:t>router shares the internet</a:t>
            </a:r>
            <a:r>
              <a:rPr lang="en-US" dirty="0"/>
              <a:t> with all your devices.</a:t>
            </a:r>
          </a:p>
          <a:p>
            <a:r>
              <a:rPr lang="en-US" dirty="0"/>
              <a:t>Sometimes, both are combined in one box — that’s called a </a:t>
            </a:r>
            <a:r>
              <a:rPr lang="en-US" b="1" dirty="0"/>
              <a:t>modem-router combo</a:t>
            </a:r>
            <a:r>
              <a:rPr lang="en-US" dirty="0"/>
              <a:t>.</a:t>
            </a:r>
          </a:p>
          <a:p>
            <a:endParaRPr lang="en-IN" dirty="0"/>
          </a:p>
        </p:txBody>
      </p:sp>
    </p:spTree>
    <p:extLst>
      <p:ext uri="{BB962C8B-B14F-4D97-AF65-F5344CB8AC3E}">
        <p14:creationId xmlns:p14="http://schemas.microsoft.com/office/powerpoint/2010/main" val="2723393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D03B9F-59D1-3BEE-3877-7E0A2EDE3CE2}"/>
              </a:ext>
            </a:extLst>
          </p:cNvPr>
          <p:cNvSpPr>
            <a:spLocks noGrp="1"/>
          </p:cNvSpPr>
          <p:nvPr>
            <p:ph type="title"/>
          </p:nvPr>
        </p:nvSpPr>
        <p:spPr>
          <a:xfrm>
            <a:off x="1156851" y="637762"/>
            <a:ext cx="9888496" cy="900131"/>
          </a:xfrm>
        </p:spPr>
        <p:txBody>
          <a:bodyPr anchor="t">
            <a:normAutofit/>
          </a:bodyPr>
          <a:lstStyle/>
          <a:p>
            <a:endParaRPr lang="en-IN" sz="4000">
              <a:solidFill>
                <a:schemeClr val="bg1"/>
              </a:solidFill>
            </a:endParaRPr>
          </a:p>
        </p:txBody>
      </p:sp>
      <p:sp>
        <p:nvSpPr>
          <p:cNvPr id="12" name="Rectangle 1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a:extLst>
              <a:ext uri="{FF2B5EF4-FFF2-40B4-BE49-F238E27FC236}">
                <a16:creationId xmlns:a16="http://schemas.microsoft.com/office/drawing/2014/main" id="{CF837EC5-DAE6-D05D-E9ED-3F8F4CD861B9}"/>
              </a:ext>
            </a:extLst>
          </p:cNvPr>
          <p:cNvSpPr>
            <a:spLocks noGrp="1" noChangeArrowheads="1"/>
          </p:cNvSpPr>
          <p:nvPr>
            <p:ph idx="1"/>
          </p:nvPr>
        </p:nvSpPr>
        <p:spPr bwMode="auto">
          <a:xfrm>
            <a:off x="1155548" y="2217343"/>
            <a:ext cx="9880893" cy="3959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2200" b="1" i="0" u="none" strike="noStrike" cap="none" normalizeH="0" baseline="0" dirty="0">
                <a:ln>
                  <a:noFill/>
                </a:ln>
                <a:effectLst/>
                <a:latin typeface="Arial" panose="020B0604020202020204" pitchFamily="34" charset="0"/>
              </a:rPr>
              <a:t>A. LAN (Local Area Network)</a:t>
            </a:r>
          </a:p>
          <a:p>
            <a:pPr marL="0" marR="0" lvl="0" indent="0" defTabSz="914400" rtl="0" eaLnBrk="0" fontAlgn="base" latinLnBrk="0" hangingPunct="0">
              <a:spcBef>
                <a:spcPct val="0"/>
              </a:spcBef>
              <a:spcAft>
                <a:spcPts val="600"/>
              </a:spcAft>
              <a:buClrTx/>
              <a:buSzTx/>
              <a:buFontTx/>
              <a:buNone/>
              <a:tabLst/>
            </a:pPr>
            <a:r>
              <a:rPr kumimoji="0" lang="en-US" altLang="en-US" sz="2200" b="1" i="0" u="none" strike="noStrike" cap="none" normalizeH="0" baseline="0" dirty="0">
                <a:ln>
                  <a:noFill/>
                </a:ln>
                <a:effectLst/>
                <a:latin typeface="Arial" panose="020B0604020202020204" pitchFamily="34" charset="0"/>
              </a:rPr>
              <a:t>Definition:</a:t>
            </a:r>
            <a:r>
              <a:rPr kumimoji="0" lang="en-US" altLang="en-US" sz="2200" b="0" i="0" u="none" strike="noStrike" cap="none" normalizeH="0" baseline="0" dirty="0">
                <a:ln>
                  <a:noFill/>
                </a:ln>
                <a:effectLst/>
                <a:latin typeface="Arial" panose="020B0604020202020204" pitchFamily="34" charset="0"/>
              </a:rPr>
              <a:t> A network that connects devices </a:t>
            </a:r>
            <a:r>
              <a:rPr kumimoji="0" lang="en-US" altLang="en-US" sz="2200" b="1" i="0" u="none" strike="noStrike" cap="none" normalizeH="0" baseline="0" dirty="0">
                <a:ln>
                  <a:noFill/>
                </a:ln>
                <a:effectLst/>
                <a:latin typeface="Arial" panose="020B0604020202020204" pitchFamily="34" charset="0"/>
              </a:rPr>
              <a:t>within a small area</a:t>
            </a:r>
            <a:r>
              <a:rPr kumimoji="0" lang="en-US" altLang="en-US" sz="2200" b="0" i="0" u="none" strike="noStrike" cap="none" normalizeH="0" baseline="0" dirty="0">
                <a:ln>
                  <a:noFill/>
                </a:ln>
                <a:effectLst/>
                <a:latin typeface="Arial" panose="020B0604020202020204" pitchFamily="34" charset="0"/>
              </a:rPr>
              <a:t>, such as a single office, home, or building.</a:t>
            </a:r>
          </a:p>
          <a:p>
            <a:pPr marL="0" marR="0" lvl="0" indent="0" defTabSz="914400" rtl="0" eaLnBrk="0" fontAlgn="base" latinLnBrk="0" hangingPunct="0">
              <a:spcBef>
                <a:spcPct val="0"/>
              </a:spcBef>
              <a:spcAft>
                <a:spcPts val="600"/>
              </a:spcAft>
              <a:buClrTx/>
              <a:buSzTx/>
              <a:buFontTx/>
              <a:buChar char="•"/>
              <a:tabLst/>
            </a:pPr>
            <a:r>
              <a:rPr kumimoji="0" lang="en-US" altLang="en-US" sz="2200" b="1" i="0" u="none" strike="noStrike" cap="none" normalizeH="0" baseline="0" dirty="0">
                <a:ln>
                  <a:noFill/>
                </a:ln>
                <a:effectLst/>
                <a:latin typeface="Arial" panose="020B0604020202020204" pitchFamily="34" charset="0"/>
              </a:rPr>
              <a:t>Technical Aspects:</a:t>
            </a:r>
            <a:endParaRPr kumimoji="0" lang="en-US" altLang="en-US" sz="2200" b="0" i="0" u="none" strike="noStrike" cap="none" normalizeH="0" baseline="0" dirty="0">
              <a:ln>
                <a:noFill/>
              </a:ln>
              <a:effectLst/>
              <a:latin typeface="Arial" panose="020B0604020202020204" pitchFamily="34" charset="0"/>
            </a:endParaRPr>
          </a:p>
          <a:p>
            <a:pPr marL="457200" marR="0" lvl="1" indent="0" defTabSz="914400" rtl="0" eaLnBrk="0" fontAlgn="base" latinLnBrk="0" hangingPunct="0">
              <a:spcBef>
                <a:spcPct val="0"/>
              </a:spcBef>
              <a:spcAft>
                <a:spcPts val="600"/>
              </a:spcAft>
              <a:buClrTx/>
              <a:buSzTx/>
              <a:buFontTx/>
              <a:buChar char="•"/>
              <a:tabLst/>
            </a:pPr>
            <a:r>
              <a:rPr kumimoji="0" lang="en-US" altLang="en-US" sz="2200" b="0" i="0" u="none" strike="noStrike" cap="none" normalizeH="0" baseline="0" dirty="0">
                <a:ln>
                  <a:noFill/>
                </a:ln>
                <a:effectLst/>
                <a:latin typeface="Arial" panose="020B0604020202020204" pitchFamily="34" charset="0"/>
              </a:rPr>
              <a:t>Uses </a:t>
            </a:r>
            <a:r>
              <a:rPr kumimoji="0" lang="en-US" altLang="en-US" sz="2200" b="1" i="0" u="none" strike="noStrike" cap="none" normalizeH="0" baseline="0" dirty="0">
                <a:ln>
                  <a:noFill/>
                </a:ln>
                <a:effectLst/>
                <a:latin typeface="Arial" panose="020B0604020202020204" pitchFamily="34" charset="0"/>
              </a:rPr>
              <a:t>Ethernet cables (Cat5e, Cat6)</a:t>
            </a:r>
            <a:r>
              <a:rPr kumimoji="0" lang="en-US" altLang="en-US" sz="2200" b="0" i="0" u="none" strike="noStrike" cap="none" normalizeH="0" baseline="0" dirty="0">
                <a:ln>
                  <a:noFill/>
                </a:ln>
                <a:effectLst/>
                <a:latin typeface="Arial" panose="020B0604020202020204" pitchFamily="34" charset="0"/>
              </a:rPr>
              <a:t> or </a:t>
            </a:r>
            <a:r>
              <a:rPr kumimoji="0" lang="en-US" altLang="en-US" sz="2200" b="1" i="0" u="none" strike="noStrike" cap="none" normalizeH="0" baseline="0" dirty="0">
                <a:ln>
                  <a:noFill/>
                </a:ln>
                <a:effectLst/>
                <a:latin typeface="Arial" panose="020B0604020202020204" pitchFamily="34" charset="0"/>
              </a:rPr>
              <a:t>Wi-Fi</a:t>
            </a:r>
            <a:r>
              <a:rPr kumimoji="0" lang="en-US" altLang="en-US" sz="2200" b="0" i="0" u="none" strike="noStrike" cap="none" normalizeH="0" baseline="0" dirty="0">
                <a:ln>
                  <a:noFill/>
                </a:ln>
                <a:effectLst/>
                <a:latin typeface="Arial" panose="020B0604020202020204" pitchFamily="34" charset="0"/>
              </a:rPr>
              <a:t> for connection.</a:t>
            </a:r>
          </a:p>
          <a:p>
            <a:pPr marL="457200" marR="0" lvl="1" indent="0" defTabSz="914400" rtl="0" eaLnBrk="0" fontAlgn="base" latinLnBrk="0" hangingPunct="0">
              <a:spcBef>
                <a:spcPct val="0"/>
              </a:spcBef>
              <a:spcAft>
                <a:spcPts val="600"/>
              </a:spcAft>
              <a:buClrTx/>
              <a:buSzTx/>
              <a:buFontTx/>
              <a:buChar char="•"/>
              <a:tabLst/>
            </a:pPr>
            <a:r>
              <a:rPr kumimoji="0" lang="en-US" altLang="en-US" sz="2200" b="0" i="0" u="none" strike="noStrike" cap="none" normalizeH="0" baseline="0" dirty="0">
                <a:ln>
                  <a:noFill/>
                </a:ln>
                <a:effectLst/>
                <a:latin typeface="Arial" panose="020B0604020202020204" pitchFamily="34" charset="0"/>
              </a:rPr>
              <a:t>Devices use </a:t>
            </a:r>
            <a:r>
              <a:rPr kumimoji="0" lang="en-US" altLang="en-US" sz="2200" b="1" i="0" u="none" strike="noStrike" cap="none" normalizeH="0" baseline="0" dirty="0">
                <a:ln>
                  <a:noFill/>
                </a:ln>
                <a:effectLst/>
                <a:latin typeface="Arial" panose="020B0604020202020204" pitchFamily="34" charset="0"/>
              </a:rPr>
              <a:t>private IP addresses</a:t>
            </a:r>
            <a:r>
              <a:rPr kumimoji="0" lang="en-US" altLang="en-US" sz="2200" b="0" i="0" u="none" strike="noStrike" cap="none" normalizeH="0" baseline="0" dirty="0">
                <a:ln>
                  <a:noFill/>
                </a:ln>
                <a:effectLst/>
                <a:latin typeface="Arial" panose="020B0604020202020204" pitchFamily="34" charset="0"/>
              </a:rPr>
              <a:t> (like </a:t>
            </a:r>
            <a:r>
              <a:rPr kumimoji="0" lang="en-US" altLang="en-US" sz="2200" b="0" i="0" u="none" strike="noStrike" cap="none" normalizeH="0" baseline="0" dirty="0">
                <a:ln>
                  <a:noFill/>
                </a:ln>
                <a:effectLst/>
                <a:latin typeface="Arial Unicode MS"/>
              </a:rPr>
              <a:t>192.168.0.1</a:t>
            </a:r>
            <a:r>
              <a:rPr kumimoji="0" lang="en-US" altLang="en-US" sz="2200" b="0" i="0" u="none" strike="noStrike" cap="none" normalizeH="0" baseline="0" dirty="0">
                <a:ln>
                  <a:noFill/>
                </a:ln>
                <a:effectLst/>
              </a:rPr>
              <a:t>) and communicate through a </a:t>
            </a:r>
            <a:r>
              <a:rPr kumimoji="0" lang="en-US" altLang="en-US" sz="2200" b="1" i="0" u="none" strike="noStrike" cap="none" normalizeH="0" baseline="0" dirty="0">
                <a:ln>
                  <a:noFill/>
                </a:ln>
                <a:effectLst/>
                <a:latin typeface="Arial" panose="020B0604020202020204" pitchFamily="34" charset="0"/>
              </a:rPr>
              <a:t>switch</a:t>
            </a:r>
            <a:r>
              <a:rPr kumimoji="0" lang="en-US" altLang="en-US" sz="2200" b="0" i="0" u="none" strike="noStrike" cap="none" normalizeH="0" baseline="0" dirty="0">
                <a:ln>
                  <a:noFill/>
                </a:ln>
                <a:effectLst/>
                <a:latin typeface="Arial" panose="020B0604020202020204" pitchFamily="34" charset="0"/>
              </a:rPr>
              <a:t> or </a:t>
            </a:r>
            <a:r>
              <a:rPr kumimoji="0" lang="en-US" altLang="en-US" sz="2200" b="1" i="0" u="none" strike="noStrike" cap="none" normalizeH="0" baseline="0" dirty="0">
                <a:ln>
                  <a:noFill/>
                </a:ln>
                <a:effectLst/>
                <a:latin typeface="Arial" panose="020B0604020202020204" pitchFamily="34" charset="0"/>
              </a:rPr>
              <a:t>router</a:t>
            </a:r>
            <a:r>
              <a:rPr kumimoji="0" lang="en-US" altLang="en-US" sz="2200" b="0" i="0" u="none" strike="noStrike" cap="none" normalizeH="0" baseline="0" dirty="0">
                <a:ln>
                  <a:noFill/>
                </a:ln>
                <a:effectLst/>
                <a:latin typeface="Arial" panose="020B0604020202020204" pitchFamily="34" charset="0"/>
              </a:rPr>
              <a:t>.</a:t>
            </a:r>
          </a:p>
          <a:p>
            <a:pPr marL="0" marR="0" lvl="0" indent="0" defTabSz="914400" rtl="0" eaLnBrk="0" fontAlgn="base" latinLnBrk="0" hangingPunct="0">
              <a:spcBef>
                <a:spcPct val="0"/>
              </a:spcBef>
              <a:spcAft>
                <a:spcPts val="600"/>
              </a:spcAft>
              <a:buClrTx/>
              <a:buSzTx/>
              <a:buFontTx/>
              <a:buNone/>
              <a:tabLst/>
            </a:pPr>
            <a:r>
              <a:rPr kumimoji="0" lang="en-US" altLang="en-US" sz="2200" b="1" i="0" u="none" strike="noStrike" cap="none" normalizeH="0" baseline="0" dirty="0">
                <a:ln>
                  <a:noFill/>
                </a:ln>
                <a:effectLst/>
                <a:latin typeface="Arial" panose="020B0604020202020204" pitchFamily="34" charset="0"/>
              </a:rPr>
              <a:t>Example:</a:t>
            </a:r>
            <a:r>
              <a:rPr kumimoji="0" lang="en-US" altLang="en-US" sz="2200" b="0" i="0" u="none" strike="noStrike" cap="none" normalizeH="0" baseline="0" dirty="0">
                <a:ln>
                  <a:noFill/>
                </a:ln>
                <a:effectLst/>
                <a:latin typeface="Arial" panose="020B0604020202020204" pitchFamily="34" charset="0"/>
              </a:rPr>
              <a:t> In a software development company, all developers’ computers are connected through a </a:t>
            </a:r>
            <a:r>
              <a:rPr kumimoji="0" lang="en-US" altLang="en-US" sz="2200" b="1" i="0" u="none" strike="noStrike" cap="none" normalizeH="0" baseline="0" dirty="0">
                <a:ln>
                  <a:noFill/>
                </a:ln>
                <a:effectLst/>
                <a:latin typeface="Arial" panose="020B0604020202020204" pitchFamily="34" charset="0"/>
              </a:rPr>
              <a:t>LAN</a:t>
            </a:r>
            <a:r>
              <a:rPr kumimoji="0" lang="en-US" altLang="en-US" sz="2200" b="0" i="0" u="none" strike="noStrike" cap="none" normalizeH="0" baseline="0" dirty="0">
                <a:ln>
                  <a:noFill/>
                </a:ln>
                <a:effectLst/>
                <a:latin typeface="Arial" panose="020B0604020202020204" pitchFamily="34" charset="0"/>
              </a:rPr>
              <a:t> to share files and use the same printer and internet.</a:t>
            </a:r>
          </a:p>
        </p:txBody>
      </p:sp>
    </p:spTree>
    <p:extLst>
      <p:ext uri="{BB962C8B-B14F-4D97-AF65-F5344CB8AC3E}">
        <p14:creationId xmlns:p14="http://schemas.microsoft.com/office/powerpoint/2010/main" val="28467135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8FE9D-F314-2F0D-4713-B6CBEF3BF766}"/>
              </a:ext>
            </a:extLst>
          </p:cNvPr>
          <p:cNvSpPr>
            <a:spLocks noGrp="1"/>
          </p:cNvSpPr>
          <p:nvPr>
            <p:ph type="title"/>
          </p:nvPr>
        </p:nvSpPr>
        <p:spPr/>
        <p:txBody>
          <a:bodyPr/>
          <a:lstStyle/>
          <a:p>
            <a:r>
              <a:rPr lang="en-US" b="1" dirty="0"/>
              <a:t>🧠 Real-World Example:</a:t>
            </a:r>
            <a:br>
              <a:rPr lang="en-US" b="1" dirty="0"/>
            </a:br>
            <a:endParaRPr lang="en-IN" dirty="0"/>
          </a:p>
        </p:txBody>
      </p:sp>
      <p:sp>
        <p:nvSpPr>
          <p:cNvPr id="3" name="Content Placeholder 2">
            <a:extLst>
              <a:ext uri="{FF2B5EF4-FFF2-40B4-BE49-F238E27FC236}">
                <a16:creationId xmlns:a16="http://schemas.microsoft.com/office/drawing/2014/main" id="{A7C96E9C-1746-CE3A-0AF2-9178EBCAD9E6}"/>
              </a:ext>
            </a:extLst>
          </p:cNvPr>
          <p:cNvSpPr>
            <a:spLocks noGrp="1"/>
          </p:cNvSpPr>
          <p:nvPr>
            <p:ph idx="1"/>
          </p:nvPr>
        </p:nvSpPr>
        <p:spPr/>
        <p:txBody>
          <a:bodyPr/>
          <a:lstStyle/>
          <a:p>
            <a:pPr>
              <a:buNone/>
            </a:pPr>
            <a:r>
              <a:rPr lang="en-US" b="1" dirty="0" err="1"/>
              <a:t>TechNest</a:t>
            </a:r>
            <a:r>
              <a:rPr lang="en-US" b="1" dirty="0"/>
              <a:t> Inc.</a:t>
            </a:r>
            <a:r>
              <a:rPr lang="en-US" dirty="0"/>
              <a:t> (our imaginary IT company) has a </a:t>
            </a:r>
            <a:r>
              <a:rPr lang="en-US" b="1" dirty="0"/>
              <a:t>single office building</a:t>
            </a:r>
            <a:r>
              <a:rPr lang="en-US" dirty="0"/>
              <a:t> in Bengaluru.</a:t>
            </a:r>
          </a:p>
          <a:p>
            <a:pPr>
              <a:buNone/>
            </a:pPr>
            <a:r>
              <a:rPr lang="en-US" dirty="0"/>
              <a:t>Inside the building:</a:t>
            </a:r>
          </a:p>
          <a:p>
            <a:pPr>
              <a:buFont typeface="Arial" panose="020B0604020202020204" pitchFamily="34" charset="0"/>
              <a:buChar char="•"/>
            </a:pPr>
            <a:r>
              <a:rPr lang="en-US" dirty="0"/>
              <a:t>30 employees use computers</a:t>
            </a:r>
          </a:p>
          <a:p>
            <a:pPr>
              <a:buFont typeface="Arial" panose="020B0604020202020204" pitchFamily="34" charset="0"/>
              <a:buChar char="•"/>
            </a:pPr>
            <a:r>
              <a:rPr lang="en-US" dirty="0"/>
              <a:t>There are 3 printers, 1 server, and a Wi-Fi router</a:t>
            </a:r>
          </a:p>
          <a:p>
            <a:pPr>
              <a:buFont typeface="Arial" panose="020B0604020202020204" pitchFamily="34" charset="0"/>
              <a:buChar char="•"/>
            </a:pPr>
            <a:r>
              <a:rPr lang="en-US" dirty="0"/>
              <a:t>All these devices are connected to share files, access the internet, and print</a:t>
            </a:r>
          </a:p>
          <a:p>
            <a:r>
              <a:rPr lang="en-US" dirty="0"/>
              <a:t>🎯 </a:t>
            </a:r>
            <a:r>
              <a:rPr lang="en-US" b="1" dirty="0"/>
              <a:t>This is a LAN.</a:t>
            </a:r>
            <a:endParaRPr lang="en-US" dirty="0"/>
          </a:p>
          <a:p>
            <a:endParaRPr lang="en-IN" dirty="0"/>
          </a:p>
        </p:txBody>
      </p:sp>
    </p:spTree>
    <p:extLst>
      <p:ext uri="{BB962C8B-B14F-4D97-AF65-F5344CB8AC3E}">
        <p14:creationId xmlns:p14="http://schemas.microsoft.com/office/powerpoint/2010/main" val="819247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7DBCC-92ED-6468-4AD1-CEBF3882EEB6}"/>
              </a:ext>
            </a:extLst>
          </p:cNvPr>
          <p:cNvSpPr>
            <a:spLocks noGrp="1"/>
          </p:cNvSpPr>
          <p:nvPr>
            <p:ph type="title"/>
          </p:nvPr>
        </p:nvSpPr>
        <p:spPr/>
        <p:txBody>
          <a:bodyPr/>
          <a:lstStyle/>
          <a:p>
            <a:r>
              <a:rPr lang="en-US" b="1" dirty="0"/>
              <a:t>⚙️ How It’s Established:</a:t>
            </a:r>
            <a:br>
              <a:rPr lang="en-US" b="1" dirty="0"/>
            </a:br>
            <a:endParaRPr lang="en-IN" dirty="0"/>
          </a:p>
        </p:txBody>
      </p:sp>
      <p:sp>
        <p:nvSpPr>
          <p:cNvPr id="3" name="Content Placeholder 2">
            <a:extLst>
              <a:ext uri="{FF2B5EF4-FFF2-40B4-BE49-F238E27FC236}">
                <a16:creationId xmlns:a16="http://schemas.microsoft.com/office/drawing/2014/main" id="{E8529B3F-0E68-EE32-0621-02C6FA541E82}"/>
              </a:ext>
            </a:extLst>
          </p:cNvPr>
          <p:cNvSpPr>
            <a:spLocks noGrp="1"/>
          </p:cNvSpPr>
          <p:nvPr>
            <p:ph idx="1"/>
          </p:nvPr>
        </p:nvSpPr>
        <p:spPr/>
        <p:txBody>
          <a:bodyPr>
            <a:normAutofit fontScale="92500" lnSpcReduction="10000"/>
          </a:bodyPr>
          <a:lstStyle/>
          <a:p>
            <a:pPr>
              <a:buFont typeface="+mj-lt"/>
              <a:buAutoNum type="arabicPeriod"/>
            </a:pPr>
            <a:r>
              <a:rPr lang="en-US" b="1" dirty="0"/>
              <a:t>Devices</a:t>
            </a:r>
            <a:r>
              <a:rPr lang="en-US" dirty="0"/>
              <a:t>: Computers, printers, routers, switches</a:t>
            </a:r>
          </a:p>
          <a:p>
            <a:pPr>
              <a:buFont typeface="+mj-lt"/>
              <a:buAutoNum type="arabicPeriod"/>
            </a:pPr>
            <a:r>
              <a:rPr lang="en-US" b="1" dirty="0"/>
              <a:t>Networking Devices</a:t>
            </a:r>
            <a:r>
              <a:rPr lang="en-US" dirty="0"/>
              <a:t>:</a:t>
            </a:r>
          </a:p>
          <a:p>
            <a:pPr marL="742950" lvl="1" indent="-285750">
              <a:buFont typeface="+mj-lt"/>
              <a:buAutoNum type="arabicPeriod"/>
            </a:pPr>
            <a:r>
              <a:rPr lang="en-US" b="1" dirty="0"/>
              <a:t>Switch</a:t>
            </a:r>
            <a:r>
              <a:rPr lang="en-US" dirty="0"/>
              <a:t> to connect all devices via Ethernet cables</a:t>
            </a:r>
          </a:p>
          <a:p>
            <a:pPr marL="742950" lvl="1" indent="-285750">
              <a:buFont typeface="+mj-lt"/>
              <a:buAutoNum type="arabicPeriod"/>
            </a:pPr>
            <a:r>
              <a:rPr lang="en-US" b="1" dirty="0"/>
              <a:t>Wi-Fi Router</a:t>
            </a:r>
            <a:r>
              <a:rPr lang="en-US" dirty="0"/>
              <a:t> to connect wireless devices</a:t>
            </a:r>
          </a:p>
          <a:p>
            <a:pPr>
              <a:buFont typeface="+mj-lt"/>
              <a:buAutoNum type="arabicPeriod"/>
            </a:pPr>
            <a:r>
              <a:rPr lang="en-US" b="1" dirty="0"/>
              <a:t>IP Addresses</a:t>
            </a:r>
            <a:r>
              <a:rPr lang="en-US" dirty="0"/>
              <a:t> are given to each device to communicate</a:t>
            </a:r>
          </a:p>
          <a:p>
            <a:pPr>
              <a:buFont typeface="+mj-lt"/>
              <a:buAutoNum type="arabicPeriod"/>
            </a:pPr>
            <a:r>
              <a:rPr lang="en-US" b="1" dirty="0"/>
              <a:t>LAN Configuration</a:t>
            </a:r>
            <a:r>
              <a:rPr lang="en-US" dirty="0"/>
              <a:t>:</a:t>
            </a:r>
          </a:p>
          <a:p>
            <a:pPr marL="742950" lvl="1" indent="-285750">
              <a:buFont typeface="+mj-lt"/>
              <a:buAutoNum type="arabicPeriod"/>
            </a:pPr>
            <a:r>
              <a:rPr lang="en-US" dirty="0"/>
              <a:t>Admin sets up file sharing, printer access, and permissions</a:t>
            </a:r>
          </a:p>
          <a:p>
            <a:pPr marL="742950" lvl="1" indent="-285750">
              <a:buFont typeface="+mj-lt"/>
              <a:buAutoNum type="arabicPeriod"/>
            </a:pPr>
            <a:r>
              <a:rPr lang="en-US" dirty="0"/>
              <a:t>Employees use this network to access internal resources quickly</a:t>
            </a:r>
          </a:p>
          <a:p>
            <a:r>
              <a:rPr lang="en-US" dirty="0"/>
              <a:t>📡 Optional: </a:t>
            </a:r>
            <a:r>
              <a:rPr lang="en-US" b="1" dirty="0"/>
              <a:t>Wi-Fi Access Point</a:t>
            </a:r>
            <a:r>
              <a:rPr lang="en-US" dirty="0"/>
              <a:t> for wireless devices</a:t>
            </a:r>
            <a:br>
              <a:rPr lang="en-US" dirty="0"/>
            </a:br>
            <a:r>
              <a:rPr lang="en-US" dirty="0"/>
              <a:t>🔌 Wired LAN = Faster &amp; more secure</a:t>
            </a:r>
            <a:br>
              <a:rPr lang="en-US" dirty="0"/>
            </a:br>
            <a:r>
              <a:rPr lang="en-US" dirty="0"/>
              <a:t>📶 Wireless LAN = More flexible but slightly slower</a:t>
            </a:r>
          </a:p>
          <a:p>
            <a:endParaRPr lang="en-IN" dirty="0"/>
          </a:p>
        </p:txBody>
      </p:sp>
    </p:spTree>
    <p:extLst>
      <p:ext uri="{BB962C8B-B14F-4D97-AF65-F5344CB8AC3E}">
        <p14:creationId xmlns:p14="http://schemas.microsoft.com/office/powerpoint/2010/main" val="4119772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B2EB3-AEE1-88E5-09FC-726DB45E9833}"/>
              </a:ext>
            </a:extLst>
          </p:cNvPr>
          <p:cNvSpPr>
            <a:spLocks noGrp="1"/>
          </p:cNvSpPr>
          <p:nvPr>
            <p:ph type="title"/>
          </p:nvPr>
        </p:nvSpPr>
        <p:spPr/>
        <p:txBody>
          <a:bodyPr/>
          <a:lstStyle/>
          <a:p>
            <a:r>
              <a:rPr lang="en-US" b="1" dirty="0"/>
              <a:t>MAN (Metropolitan Area Network)</a:t>
            </a:r>
            <a:br>
              <a:rPr lang="en-US" b="1" dirty="0"/>
            </a:br>
            <a:endParaRPr lang="en-IN" dirty="0"/>
          </a:p>
        </p:txBody>
      </p:sp>
      <p:sp>
        <p:nvSpPr>
          <p:cNvPr id="3" name="Content Placeholder 2">
            <a:extLst>
              <a:ext uri="{FF2B5EF4-FFF2-40B4-BE49-F238E27FC236}">
                <a16:creationId xmlns:a16="http://schemas.microsoft.com/office/drawing/2014/main" id="{B0C82F7B-2F91-E9F3-E5A0-C78445D574FF}"/>
              </a:ext>
            </a:extLst>
          </p:cNvPr>
          <p:cNvSpPr>
            <a:spLocks noGrp="1"/>
          </p:cNvSpPr>
          <p:nvPr>
            <p:ph idx="1"/>
          </p:nvPr>
        </p:nvSpPr>
        <p:spPr/>
        <p:txBody>
          <a:bodyPr/>
          <a:lstStyle/>
          <a:p>
            <a:pPr>
              <a:buNone/>
            </a:pPr>
            <a:r>
              <a:rPr lang="en-US" b="1" dirty="0"/>
              <a:t>B. Definition:</a:t>
            </a:r>
            <a:r>
              <a:rPr lang="en-US" dirty="0"/>
              <a:t> A network that covers a </a:t>
            </a:r>
            <a:r>
              <a:rPr lang="en-US" b="1" dirty="0"/>
              <a:t>city-sized area</a:t>
            </a:r>
            <a:r>
              <a:rPr lang="en-US" dirty="0"/>
              <a:t> or a large campus (e.g., universities, tech parks).</a:t>
            </a:r>
          </a:p>
          <a:p>
            <a:pPr>
              <a:buFont typeface="Arial" panose="020B0604020202020204" pitchFamily="34" charset="0"/>
              <a:buChar char="•"/>
            </a:pPr>
            <a:r>
              <a:rPr lang="en-US" b="1" dirty="0"/>
              <a:t>Technical Aspects:</a:t>
            </a:r>
            <a:endParaRPr lang="en-US" dirty="0"/>
          </a:p>
          <a:p>
            <a:pPr marL="742950" lvl="1" indent="-285750">
              <a:buFont typeface="Arial" panose="020B0604020202020204" pitchFamily="34" charset="0"/>
              <a:buChar char="•"/>
            </a:pPr>
            <a:r>
              <a:rPr lang="en-US" dirty="0"/>
              <a:t>Uses </a:t>
            </a:r>
            <a:r>
              <a:rPr lang="en-US" b="1" dirty="0"/>
              <a:t>fiber-optic cables</a:t>
            </a:r>
            <a:r>
              <a:rPr lang="en-US" dirty="0"/>
              <a:t> or </a:t>
            </a:r>
            <a:r>
              <a:rPr lang="en-US" b="1" dirty="0"/>
              <a:t>microwave radio links</a:t>
            </a:r>
            <a:r>
              <a:rPr lang="en-US" dirty="0"/>
              <a:t>.</a:t>
            </a:r>
          </a:p>
          <a:p>
            <a:pPr marL="742950" lvl="1" indent="-285750">
              <a:buFont typeface="Arial" panose="020B0604020202020204" pitchFamily="34" charset="0"/>
              <a:buChar char="•"/>
            </a:pPr>
            <a:r>
              <a:rPr lang="en-US" dirty="0"/>
              <a:t>Often managed by a </a:t>
            </a:r>
            <a:r>
              <a:rPr lang="en-US" b="1" dirty="0"/>
              <a:t>telecom provider</a:t>
            </a:r>
            <a:r>
              <a:rPr lang="en-US" dirty="0"/>
              <a:t> or a private IT team.</a:t>
            </a:r>
          </a:p>
          <a:p>
            <a:pPr marL="742950" lvl="1" indent="-285750">
              <a:buFont typeface="Arial" panose="020B0604020202020204" pitchFamily="34" charset="0"/>
              <a:buChar char="•"/>
            </a:pPr>
            <a:r>
              <a:rPr lang="en-US" dirty="0"/>
              <a:t>Supports </a:t>
            </a:r>
            <a:r>
              <a:rPr lang="en-US" b="1" dirty="0"/>
              <a:t>high-speed data transfer</a:t>
            </a:r>
            <a:r>
              <a:rPr lang="en-US" dirty="0"/>
              <a:t> across large buildings.</a:t>
            </a:r>
          </a:p>
          <a:p>
            <a:r>
              <a:rPr lang="en-US" b="1" dirty="0"/>
              <a:t>Example:</a:t>
            </a:r>
            <a:r>
              <a:rPr lang="en-US" dirty="0"/>
              <a:t> A company's branches in different parts of a city are connected via MAN, enabling smooth file transfer and VoIP calls between locations.</a:t>
            </a:r>
          </a:p>
          <a:p>
            <a:endParaRPr lang="en-IN" dirty="0"/>
          </a:p>
        </p:txBody>
      </p:sp>
    </p:spTree>
    <p:extLst>
      <p:ext uri="{BB962C8B-B14F-4D97-AF65-F5344CB8AC3E}">
        <p14:creationId xmlns:p14="http://schemas.microsoft.com/office/powerpoint/2010/main" val="2783054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845C5-9A78-0C1E-FBD3-89313B780072}"/>
              </a:ext>
            </a:extLst>
          </p:cNvPr>
          <p:cNvSpPr>
            <a:spLocks noGrp="1"/>
          </p:cNvSpPr>
          <p:nvPr>
            <p:ph type="title"/>
          </p:nvPr>
        </p:nvSpPr>
        <p:spPr/>
        <p:txBody>
          <a:bodyPr/>
          <a:lstStyle/>
          <a:p>
            <a:r>
              <a:rPr lang="en-US" b="1" dirty="0"/>
              <a:t>🧠 Real-World Example:</a:t>
            </a:r>
            <a:br>
              <a:rPr lang="en-US" b="1" dirty="0"/>
            </a:br>
            <a:endParaRPr lang="en-IN" dirty="0"/>
          </a:p>
        </p:txBody>
      </p:sp>
      <p:sp>
        <p:nvSpPr>
          <p:cNvPr id="3" name="Content Placeholder 2">
            <a:extLst>
              <a:ext uri="{FF2B5EF4-FFF2-40B4-BE49-F238E27FC236}">
                <a16:creationId xmlns:a16="http://schemas.microsoft.com/office/drawing/2014/main" id="{FE75A803-E477-C757-D161-D6F9962AF88F}"/>
              </a:ext>
            </a:extLst>
          </p:cNvPr>
          <p:cNvSpPr>
            <a:spLocks noGrp="1"/>
          </p:cNvSpPr>
          <p:nvPr>
            <p:ph idx="1"/>
          </p:nvPr>
        </p:nvSpPr>
        <p:spPr/>
        <p:txBody>
          <a:bodyPr/>
          <a:lstStyle/>
          <a:p>
            <a:pPr>
              <a:buNone/>
            </a:pPr>
            <a:r>
              <a:rPr lang="en-US" dirty="0" err="1"/>
              <a:t>TechNest</a:t>
            </a:r>
            <a:r>
              <a:rPr lang="en-US" dirty="0"/>
              <a:t> Inc. has 3 branch offices:</a:t>
            </a:r>
          </a:p>
          <a:p>
            <a:pPr>
              <a:buFont typeface="Arial" panose="020B0604020202020204" pitchFamily="34" charset="0"/>
              <a:buChar char="•"/>
            </a:pPr>
            <a:r>
              <a:rPr lang="en-US" dirty="0"/>
              <a:t>Office A in Koramangala</a:t>
            </a:r>
          </a:p>
          <a:p>
            <a:pPr>
              <a:buFont typeface="Arial" panose="020B0604020202020204" pitchFamily="34" charset="0"/>
              <a:buChar char="•"/>
            </a:pPr>
            <a:r>
              <a:rPr lang="en-US" dirty="0"/>
              <a:t>Office B in Whitefield</a:t>
            </a:r>
          </a:p>
          <a:p>
            <a:pPr>
              <a:buFont typeface="Arial" panose="020B0604020202020204" pitchFamily="34" charset="0"/>
              <a:buChar char="•"/>
            </a:pPr>
            <a:r>
              <a:rPr lang="en-US" dirty="0"/>
              <a:t>Office C in HSR Layout</a:t>
            </a:r>
          </a:p>
          <a:p>
            <a:pPr>
              <a:buNone/>
            </a:pPr>
            <a:r>
              <a:rPr lang="en-US" dirty="0"/>
              <a:t>They want all offices to </a:t>
            </a:r>
            <a:r>
              <a:rPr lang="en-US" b="1" dirty="0"/>
              <a:t>share data, software, and internet securely</a:t>
            </a:r>
            <a:r>
              <a:rPr lang="en-US" dirty="0"/>
              <a:t>.</a:t>
            </a:r>
          </a:p>
          <a:p>
            <a:r>
              <a:rPr lang="en-US" dirty="0"/>
              <a:t>🎯 They connect these 3 office LANs using </a:t>
            </a:r>
            <a:r>
              <a:rPr lang="en-US" b="1" dirty="0"/>
              <a:t>MAN</a:t>
            </a:r>
            <a:r>
              <a:rPr lang="en-US" dirty="0"/>
              <a:t>.</a:t>
            </a:r>
          </a:p>
          <a:p>
            <a:endParaRPr lang="en-IN" dirty="0"/>
          </a:p>
        </p:txBody>
      </p:sp>
    </p:spTree>
    <p:extLst>
      <p:ext uri="{BB962C8B-B14F-4D97-AF65-F5344CB8AC3E}">
        <p14:creationId xmlns:p14="http://schemas.microsoft.com/office/powerpoint/2010/main" val="2878977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84D3F-E9AE-270D-8C22-874508A95FF5}"/>
              </a:ext>
            </a:extLst>
          </p:cNvPr>
          <p:cNvSpPr>
            <a:spLocks noGrp="1"/>
          </p:cNvSpPr>
          <p:nvPr>
            <p:ph type="title"/>
          </p:nvPr>
        </p:nvSpPr>
        <p:spPr/>
        <p:txBody>
          <a:bodyPr/>
          <a:lstStyle/>
          <a:p>
            <a:r>
              <a:rPr lang="en-US" b="1" dirty="0"/>
              <a:t>How It’s Established:</a:t>
            </a:r>
            <a:br>
              <a:rPr lang="en-US" b="1" dirty="0"/>
            </a:br>
            <a:endParaRPr lang="en-IN" dirty="0"/>
          </a:p>
        </p:txBody>
      </p:sp>
      <p:sp>
        <p:nvSpPr>
          <p:cNvPr id="3" name="Content Placeholder 2">
            <a:extLst>
              <a:ext uri="{FF2B5EF4-FFF2-40B4-BE49-F238E27FC236}">
                <a16:creationId xmlns:a16="http://schemas.microsoft.com/office/drawing/2014/main" id="{7899DCDB-50AA-7051-EB3E-35765FDB9920}"/>
              </a:ext>
            </a:extLst>
          </p:cNvPr>
          <p:cNvSpPr>
            <a:spLocks noGrp="1"/>
          </p:cNvSpPr>
          <p:nvPr>
            <p:ph idx="1"/>
          </p:nvPr>
        </p:nvSpPr>
        <p:spPr/>
        <p:txBody>
          <a:bodyPr>
            <a:normAutofit fontScale="77500" lnSpcReduction="20000"/>
          </a:bodyPr>
          <a:lstStyle/>
          <a:p>
            <a:pPr>
              <a:buFont typeface="+mj-lt"/>
              <a:buAutoNum type="arabicPeriod"/>
            </a:pPr>
            <a:r>
              <a:rPr lang="en-US" b="1" dirty="0"/>
              <a:t>Fiber Optic/Leased Lines</a:t>
            </a:r>
            <a:r>
              <a:rPr lang="en-US" dirty="0"/>
              <a:t>: </a:t>
            </a:r>
            <a:r>
              <a:rPr lang="en-US" dirty="0" err="1"/>
              <a:t>TechNest</a:t>
            </a:r>
            <a:r>
              <a:rPr lang="en-US" dirty="0"/>
              <a:t> leases </a:t>
            </a:r>
            <a:r>
              <a:rPr lang="en-US" b="1" dirty="0"/>
              <a:t>fiber optic cables</a:t>
            </a:r>
            <a:r>
              <a:rPr lang="en-US" dirty="0"/>
              <a:t> from a telecom provider like Airtel or ACT to connect the offices.</a:t>
            </a:r>
          </a:p>
          <a:p>
            <a:pPr>
              <a:buFont typeface="+mj-lt"/>
              <a:buAutoNum type="arabicPeriod"/>
            </a:pPr>
            <a:r>
              <a:rPr lang="en-US" b="1" dirty="0"/>
              <a:t>Routers and Switches</a:t>
            </a:r>
            <a:r>
              <a:rPr lang="en-US" dirty="0"/>
              <a:t>: Each office uses routers and switches to route data across branches.</a:t>
            </a:r>
          </a:p>
          <a:p>
            <a:pPr>
              <a:buFont typeface="+mj-lt"/>
              <a:buAutoNum type="arabicPeriod"/>
            </a:pPr>
            <a:r>
              <a:rPr lang="en-US" b="1" dirty="0"/>
              <a:t>Private IP Ranges</a:t>
            </a:r>
            <a:r>
              <a:rPr lang="en-US" dirty="0"/>
              <a:t>: Devices in all offices use internal IP addresses to form a larger network.</a:t>
            </a:r>
          </a:p>
          <a:p>
            <a:pPr>
              <a:buFont typeface="+mj-lt"/>
              <a:buAutoNum type="arabicPeriod"/>
            </a:pPr>
            <a:r>
              <a:rPr lang="en-US" b="1" dirty="0"/>
              <a:t>VPNs (Virtual Private Networks)</a:t>
            </a:r>
            <a:r>
              <a:rPr lang="en-US" dirty="0"/>
              <a:t>: Sometimes used to securely encrypt communication between offices.</a:t>
            </a:r>
          </a:p>
          <a:p>
            <a:pPr>
              <a:buFont typeface="+mj-lt"/>
              <a:buAutoNum type="arabicPeriod"/>
            </a:pPr>
            <a:r>
              <a:rPr lang="en-US" b="1" dirty="0"/>
              <a:t>Firewall</a:t>
            </a:r>
            <a:r>
              <a:rPr lang="en-US" dirty="0"/>
              <a:t> protects each office from public internet threats.</a:t>
            </a:r>
          </a:p>
          <a:p>
            <a:pPr>
              <a:buNone/>
            </a:pPr>
            <a:r>
              <a:rPr lang="en-US" dirty="0"/>
              <a:t>🔁 Now they can:</a:t>
            </a:r>
          </a:p>
          <a:p>
            <a:pPr>
              <a:buFont typeface="Arial" panose="020B0604020202020204" pitchFamily="34" charset="0"/>
              <a:buChar char="•"/>
            </a:pPr>
            <a:r>
              <a:rPr lang="en-US" dirty="0"/>
              <a:t>Share files between teams in different locations</a:t>
            </a:r>
          </a:p>
          <a:p>
            <a:pPr>
              <a:buFont typeface="Arial" panose="020B0604020202020204" pitchFamily="34" charset="0"/>
              <a:buChar char="•"/>
            </a:pPr>
            <a:r>
              <a:rPr lang="en-US" dirty="0"/>
              <a:t>Use one central payroll and HR system</a:t>
            </a:r>
          </a:p>
          <a:p>
            <a:pPr>
              <a:buFont typeface="Arial" panose="020B0604020202020204" pitchFamily="34" charset="0"/>
              <a:buChar char="•"/>
            </a:pPr>
            <a:r>
              <a:rPr lang="en-US" dirty="0"/>
              <a:t>Manage employees and systems remotely</a:t>
            </a:r>
          </a:p>
          <a:p>
            <a:endParaRPr lang="en-IN" dirty="0"/>
          </a:p>
        </p:txBody>
      </p:sp>
    </p:spTree>
    <p:extLst>
      <p:ext uri="{BB962C8B-B14F-4D97-AF65-F5344CB8AC3E}">
        <p14:creationId xmlns:p14="http://schemas.microsoft.com/office/powerpoint/2010/main" val="133715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0AF41-B7AA-22C2-394C-876A48877EB9}"/>
              </a:ext>
            </a:extLst>
          </p:cNvPr>
          <p:cNvSpPr>
            <a:spLocks noGrp="1"/>
          </p:cNvSpPr>
          <p:nvPr>
            <p:ph type="title"/>
          </p:nvPr>
        </p:nvSpPr>
        <p:spPr/>
        <p:txBody>
          <a:bodyPr/>
          <a:lstStyle/>
          <a:p>
            <a:r>
              <a:rPr lang="en-US" b="1" dirty="0"/>
              <a:t>C. WAN (Wide Area Network)</a:t>
            </a:r>
            <a:br>
              <a:rPr lang="en-US" b="1" dirty="0"/>
            </a:br>
            <a:endParaRPr lang="en-IN" dirty="0"/>
          </a:p>
        </p:txBody>
      </p:sp>
      <p:sp>
        <p:nvSpPr>
          <p:cNvPr id="3" name="Content Placeholder 2">
            <a:extLst>
              <a:ext uri="{FF2B5EF4-FFF2-40B4-BE49-F238E27FC236}">
                <a16:creationId xmlns:a16="http://schemas.microsoft.com/office/drawing/2014/main" id="{3AF6B922-3D5B-90DA-7064-34D2429056F4}"/>
              </a:ext>
            </a:extLst>
          </p:cNvPr>
          <p:cNvSpPr>
            <a:spLocks noGrp="1"/>
          </p:cNvSpPr>
          <p:nvPr>
            <p:ph idx="1"/>
          </p:nvPr>
        </p:nvSpPr>
        <p:spPr>
          <a:xfrm>
            <a:off x="838200" y="1937657"/>
            <a:ext cx="10515600" cy="4239306"/>
          </a:xfrm>
        </p:spPr>
        <p:txBody>
          <a:bodyPr>
            <a:normAutofit/>
          </a:bodyPr>
          <a:lstStyle/>
          <a:p>
            <a:pPr>
              <a:buNone/>
            </a:pPr>
            <a:r>
              <a:rPr lang="en-US" b="1" dirty="0"/>
              <a:t>Definition:</a:t>
            </a:r>
            <a:r>
              <a:rPr lang="en-US" dirty="0"/>
              <a:t> A network that spans </a:t>
            </a:r>
            <a:r>
              <a:rPr lang="en-US" b="1" dirty="0"/>
              <a:t>large geographic areas</a:t>
            </a:r>
            <a:r>
              <a:rPr lang="en-US" dirty="0"/>
              <a:t> like countries or continents.</a:t>
            </a:r>
          </a:p>
          <a:p>
            <a:pPr>
              <a:buFont typeface="Arial" panose="020B0604020202020204" pitchFamily="34" charset="0"/>
              <a:buChar char="•"/>
            </a:pPr>
            <a:r>
              <a:rPr lang="en-US" b="1" dirty="0"/>
              <a:t>Technical Aspects:</a:t>
            </a:r>
            <a:endParaRPr lang="en-US" dirty="0"/>
          </a:p>
          <a:p>
            <a:pPr marL="742950" lvl="1" indent="-285750">
              <a:buFont typeface="Arial" panose="020B0604020202020204" pitchFamily="34" charset="0"/>
              <a:buChar char="•"/>
            </a:pPr>
            <a:r>
              <a:rPr lang="en-US" dirty="0"/>
              <a:t>Uses </a:t>
            </a:r>
            <a:r>
              <a:rPr lang="en-US" b="1" dirty="0"/>
              <a:t>leased telephone lines, satellites, or submarine fiber cables</a:t>
            </a:r>
            <a:r>
              <a:rPr lang="en-US" dirty="0"/>
              <a:t>.</a:t>
            </a:r>
          </a:p>
          <a:p>
            <a:pPr marL="742950" lvl="1" indent="-285750">
              <a:buFont typeface="Arial" panose="020B0604020202020204" pitchFamily="34" charset="0"/>
              <a:buChar char="•"/>
            </a:pPr>
            <a:r>
              <a:rPr lang="en-US" dirty="0"/>
              <a:t>The </a:t>
            </a:r>
            <a:r>
              <a:rPr lang="en-US" b="1" dirty="0"/>
              <a:t>Internet</a:t>
            </a:r>
            <a:r>
              <a:rPr lang="en-US" dirty="0"/>
              <a:t> is the largest WAN.</a:t>
            </a:r>
          </a:p>
          <a:p>
            <a:pPr marL="742950" lvl="1" indent="-285750">
              <a:buFont typeface="Arial" panose="020B0604020202020204" pitchFamily="34" charset="0"/>
              <a:buChar char="•"/>
            </a:pPr>
            <a:r>
              <a:rPr lang="en-US" dirty="0"/>
              <a:t>Needs </a:t>
            </a:r>
            <a:r>
              <a:rPr lang="en-US" b="1" dirty="0"/>
              <a:t>modems, routers, and firewalls</a:t>
            </a:r>
            <a:r>
              <a:rPr lang="en-US" dirty="0"/>
              <a:t> to manage traffic and security.</a:t>
            </a:r>
          </a:p>
          <a:p>
            <a:r>
              <a:rPr lang="en-US" b="1" dirty="0"/>
              <a:t>Example:</a:t>
            </a:r>
            <a:r>
              <a:rPr lang="en-US" dirty="0"/>
              <a:t> An IT company has offices in Bangalore, San Francisco, and Berlin—all connected over a WAN using secure </a:t>
            </a:r>
            <a:r>
              <a:rPr lang="en-US" b="1" dirty="0"/>
              <a:t>VPNs</a:t>
            </a:r>
            <a:r>
              <a:rPr lang="en-US" dirty="0"/>
              <a:t> and the internet.</a:t>
            </a:r>
          </a:p>
          <a:p>
            <a:endParaRPr lang="en-IN" dirty="0"/>
          </a:p>
        </p:txBody>
      </p:sp>
    </p:spTree>
    <p:extLst>
      <p:ext uri="{BB962C8B-B14F-4D97-AF65-F5344CB8AC3E}">
        <p14:creationId xmlns:p14="http://schemas.microsoft.com/office/powerpoint/2010/main" val="1842615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D4499-59DB-F416-944A-937FD456A831}"/>
              </a:ext>
            </a:extLst>
          </p:cNvPr>
          <p:cNvSpPr>
            <a:spLocks noGrp="1"/>
          </p:cNvSpPr>
          <p:nvPr>
            <p:ph type="title"/>
          </p:nvPr>
        </p:nvSpPr>
        <p:spPr/>
        <p:txBody>
          <a:bodyPr/>
          <a:lstStyle/>
          <a:p>
            <a:r>
              <a:rPr lang="en-US" b="1" dirty="0"/>
              <a:t>Real-World Example:</a:t>
            </a:r>
            <a:br>
              <a:rPr lang="en-US" b="1" dirty="0"/>
            </a:br>
            <a:endParaRPr lang="en-IN" dirty="0"/>
          </a:p>
        </p:txBody>
      </p:sp>
      <p:sp>
        <p:nvSpPr>
          <p:cNvPr id="3" name="Content Placeholder 2">
            <a:extLst>
              <a:ext uri="{FF2B5EF4-FFF2-40B4-BE49-F238E27FC236}">
                <a16:creationId xmlns:a16="http://schemas.microsoft.com/office/drawing/2014/main" id="{9A1C06A8-0B67-85F2-EAD7-247E992E668C}"/>
              </a:ext>
            </a:extLst>
          </p:cNvPr>
          <p:cNvSpPr>
            <a:spLocks noGrp="1"/>
          </p:cNvSpPr>
          <p:nvPr>
            <p:ph idx="1"/>
          </p:nvPr>
        </p:nvSpPr>
        <p:spPr/>
        <p:txBody>
          <a:bodyPr>
            <a:normAutofit lnSpcReduction="10000"/>
          </a:bodyPr>
          <a:lstStyle/>
          <a:p>
            <a:pPr>
              <a:buNone/>
            </a:pPr>
            <a:r>
              <a:rPr lang="en-US" dirty="0" err="1"/>
              <a:t>TechNest</a:t>
            </a:r>
            <a:r>
              <a:rPr lang="en-US" dirty="0"/>
              <a:t> Inc. now has branches in:</a:t>
            </a:r>
          </a:p>
          <a:p>
            <a:pPr>
              <a:buFont typeface="Arial" panose="020B0604020202020204" pitchFamily="34" charset="0"/>
              <a:buChar char="•"/>
            </a:pPr>
            <a:r>
              <a:rPr lang="en-US" dirty="0"/>
              <a:t>Bengaluru 🇮🇳</a:t>
            </a:r>
          </a:p>
          <a:p>
            <a:pPr>
              <a:buFont typeface="Arial" panose="020B0604020202020204" pitchFamily="34" charset="0"/>
              <a:buChar char="•"/>
            </a:pPr>
            <a:r>
              <a:rPr lang="en-US" dirty="0"/>
              <a:t>San Francisco 🇺🇸</a:t>
            </a:r>
          </a:p>
          <a:p>
            <a:pPr>
              <a:buFont typeface="Arial" panose="020B0604020202020204" pitchFamily="34" charset="0"/>
              <a:buChar char="•"/>
            </a:pPr>
            <a:r>
              <a:rPr lang="en-US" dirty="0"/>
              <a:t>London 🇬🇧</a:t>
            </a:r>
          </a:p>
          <a:p>
            <a:pPr>
              <a:buNone/>
            </a:pPr>
            <a:r>
              <a:rPr lang="en-US" dirty="0"/>
              <a:t>They want:</a:t>
            </a:r>
          </a:p>
          <a:p>
            <a:pPr>
              <a:buFont typeface="Arial" panose="020B0604020202020204" pitchFamily="34" charset="0"/>
              <a:buChar char="•"/>
            </a:pPr>
            <a:r>
              <a:rPr lang="en-US" dirty="0"/>
              <a:t>One common HR system</a:t>
            </a:r>
          </a:p>
          <a:p>
            <a:pPr>
              <a:buFont typeface="Arial" panose="020B0604020202020204" pitchFamily="34" charset="0"/>
              <a:buChar char="•"/>
            </a:pPr>
            <a:r>
              <a:rPr lang="en-US" dirty="0"/>
              <a:t>Company-wide Zoom calls</a:t>
            </a:r>
          </a:p>
          <a:p>
            <a:pPr>
              <a:buFont typeface="Arial" panose="020B0604020202020204" pitchFamily="34" charset="0"/>
              <a:buChar char="•"/>
            </a:pPr>
            <a:r>
              <a:rPr lang="en-US" dirty="0"/>
              <a:t>Global server access</a:t>
            </a:r>
          </a:p>
          <a:p>
            <a:r>
              <a:rPr lang="en-US" dirty="0"/>
              <a:t>🎯 They set up a </a:t>
            </a:r>
            <a:r>
              <a:rPr lang="en-US" b="1" dirty="0"/>
              <a:t>WAN</a:t>
            </a:r>
            <a:r>
              <a:rPr lang="en-US" dirty="0"/>
              <a:t> to connect all global branches.</a:t>
            </a:r>
          </a:p>
          <a:p>
            <a:endParaRPr lang="en-IN" dirty="0"/>
          </a:p>
        </p:txBody>
      </p:sp>
    </p:spTree>
    <p:extLst>
      <p:ext uri="{BB962C8B-B14F-4D97-AF65-F5344CB8AC3E}">
        <p14:creationId xmlns:p14="http://schemas.microsoft.com/office/powerpoint/2010/main" val="17296880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51289-A099-6B16-B306-96F75EFF5ECE}"/>
              </a:ext>
            </a:extLst>
          </p:cNvPr>
          <p:cNvSpPr>
            <a:spLocks noGrp="1"/>
          </p:cNvSpPr>
          <p:nvPr>
            <p:ph type="title"/>
          </p:nvPr>
        </p:nvSpPr>
        <p:spPr/>
        <p:txBody>
          <a:bodyPr/>
          <a:lstStyle/>
          <a:p>
            <a:r>
              <a:rPr lang="en-US" b="1" dirty="0"/>
              <a:t>How It’s Established:</a:t>
            </a:r>
            <a:br>
              <a:rPr lang="en-US" b="1" dirty="0"/>
            </a:br>
            <a:endParaRPr lang="en-IN" dirty="0"/>
          </a:p>
        </p:txBody>
      </p:sp>
      <p:sp>
        <p:nvSpPr>
          <p:cNvPr id="3" name="Content Placeholder 2">
            <a:extLst>
              <a:ext uri="{FF2B5EF4-FFF2-40B4-BE49-F238E27FC236}">
                <a16:creationId xmlns:a16="http://schemas.microsoft.com/office/drawing/2014/main" id="{0E025636-79FB-DF1F-8858-C85E75426C8A}"/>
              </a:ext>
            </a:extLst>
          </p:cNvPr>
          <p:cNvSpPr>
            <a:spLocks noGrp="1"/>
          </p:cNvSpPr>
          <p:nvPr>
            <p:ph idx="1"/>
          </p:nvPr>
        </p:nvSpPr>
        <p:spPr/>
        <p:txBody>
          <a:bodyPr>
            <a:normAutofit fontScale="85000" lnSpcReduction="10000"/>
          </a:bodyPr>
          <a:lstStyle/>
          <a:p>
            <a:pPr>
              <a:buFont typeface="+mj-lt"/>
              <a:buAutoNum type="arabicPeriod"/>
            </a:pPr>
            <a:r>
              <a:rPr lang="en-US" b="1" dirty="0"/>
              <a:t>ISP Connections</a:t>
            </a:r>
            <a:r>
              <a:rPr lang="en-US" dirty="0"/>
              <a:t>: Each office connects to the internet via a local Internet Service Provider.</a:t>
            </a:r>
          </a:p>
          <a:p>
            <a:pPr>
              <a:buFont typeface="+mj-lt"/>
              <a:buAutoNum type="arabicPeriod"/>
            </a:pPr>
            <a:r>
              <a:rPr lang="en-US" b="1" dirty="0"/>
              <a:t>VPN or MPLS (Multi-Protocol Label Switching)</a:t>
            </a:r>
            <a:r>
              <a:rPr lang="en-US" dirty="0"/>
              <a:t>:</a:t>
            </a:r>
          </a:p>
          <a:p>
            <a:pPr marL="742950" lvl="1" indent="-285750">
              <a:buFont typeface="+mj-lt"/>
              <a:buAutoNum type="arabicPeriod"/>
            </a:pPr>
            <a:r>
              <a:rPr lang="en-US" dirty="0" err="1"/>
              <a:t>TechNest</a:t>
            </a:r>
            <a:r>
              <a:rPr lang="en-US" dirty="0"/>
              <a:t> sets up </a:t>
            </a:r>
            <a:r>
              <a:rPr lang="en-US" b="1" dirty="0"/>
              <a:t>VPN tunnels</a:t>
            </a:r>
            <a:r>
              <a:rPr lang="en-US" dirty="0"/>
              <a:t> between countries to encrypt and secure traffic.</a:t>
            </a:r>
          </a:p>
          <a:p>
            <a:pPr marL="742950" lvl="1" indent="-285750">
              <a:buFont typeface="+mj-lt"/>
              <a:buAutoNum type="arabicPeriod"/>
            </a:pPr>
            <a:r>
              <a:rPr lang="en-US" dirty="0"/>
              <a:t>OR, they may pay for a private WAN circuit (like MPLS) through global telecom providers like Tata Communications or AT&amp;T.</a:t>
            </a:r>
          </a:p>
          <a:p>
            <a:pPr>
              <a:buFont typeface="+mj-lt"/>
              <a:buAutoNum type="arabicPeriod"/>
            </a:pPr>
            <a:r>
              <a:rPr lang="en-US" b="1" dirty="0"/>
              <a:t>Firewalls &amp; Proxy Servers</a:t>
            </a:r>
            <a:r>
              <a:rPr lang="en-US" dirty="0"/>
              <a:t> are added to protect and manage internet traffic.</a:t>
            </a:r>
          </a:p>
          <a:p>
            <a:pPr>
              <a:buFont typeface="+mj-lt"/>
              <a:buAutoNum type="arabicPeriod"/>
            </a:pPr>
            <a:r>
              <a:rPr lang="en-US" b="1" dirty="0"/>
              <a:t>Cloud Integration</a:t>
            </a:r>
            <a:r>
              <a:rPr lang="en-US" dirty="0"/>
              <a:t>: They may use services like AWS or Google Cloud to sync global data centers.</a:t>
            </a:r>
          </a:p>
          <a:p>
            <a:pPr>
              <a:buNone/>
            </a:pPr>
            <a:r>
              <a:rPr lang="en-US" dirty="0"/>
              <a:t>📦 Result:</a:t>
            </a:r>
          </a:p>
          <a:p>
            <a:pPr>
              <a:buFont typeface="Arial" panose="020B0604020202020204" pitchFamily="34" charset="0"/>
              <a:buChar char="•"/>
            </a:pPr>
            <a:r>
              <a:rPr lang="en-US" dirty="0"/>
              <a:t>Teams across countries can collaborate like they’re in the same building.</a:t>
            </a:r>
          </a:p>
          <a:p>
            <a:pPr>
              <a:buFont typeface="Arial" panose="020B0604020202020204" pitchFamily="34" charset="0"/>
              <a:buChar char="•"/>
            </a:pPr>
            <a:r>
              <a:rPr lang="en-US" dirty="0"/>
              <a:t>Shared tools, file servers, databases are available worldwide.</a:t>
            </a:r>
          </a:p>
          <a:p>
            <a:endParaRPr lang="en-IN" dirty="0"/>
          </a:p>
        </p:txBody>
      </p:sp>
    </p:spTree>
    <p:extLst>
      <p:ext uri="{BB962C8B-B14F-4D97-AF65-F5344CB8AC3E}">
        <p14:creationId xmlns:p14="http://schemas.microsoft.com/office/powerpoint/2010/main" val="2351701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015AD05-63F8-C1FD-C767-C763B46D2B64}"/>
              </a:ext>
            </a:extLst>
          </p:cNvPr>
          <p:cNvSpPr>
            <a:spLocks noGrp="1"/>
          </p:cNvSpPr>
          <p:nvPr>
            <p:ph type="title"/>
          </p:nvPr>
        </p:nvSpPr>
        <p:spPr>
          <a:xfrm>
            <a:off x="1371597" y="348865"/>
            <a:ext cx="10044023" cy="877729"/>
          </a:xfrm>
        </p:spPr>
        <p:txBody>
          <a:bodyPr anchor="ctr">
            <a:normAutofit/>
          </a:bodyPr>
          <a:lstStyle/>
          <a:p>
            <a:endParaRPr lang="en-IN" sz="4000">
              <a:solidFill>
                <a:srgbClr val="FFFFFF"/>
              </a:solidFill>
            </a:endParaRPr>
          </a:p>
        </p:txBody>
      </p:sp>
      <p:graphicFrame>
        <p:nvGraphicFramePr>
          <p:cNvPr id="4" name="Content Placeholder 3">
            <a:extLst>
              <a:ext uri="{FF2B5EF4-FFF2-40B4-BE49-F238E27FC236}">
                <a16:creationId xmlns:a16="http://schemas.microsoft.com/office/drawing/2014/main" id="{27409BD9-BD7D-45C9-74C9-32B9331968EA}"/>
              </a:ext>
            </a:extLst>
          </p:cNvPr>
          <p:cNvGraphicFramePr>
            <a:graphicFrameLocks noGrp="1"/>
          </p:cNvGraphicFramePr>
          <p:nvPr>
            <p:ph idx="1"/>
            <p:extLst>
              <p:ext uri="{D42A27DB-BD31-4B8C-83A1-F6EECF244321}">
                <p14:modId xmlns:p14="http://schemas.microsoft.com/office/powerpoint/2010/main" val="3578992951"/>
              </p:ext>
            </p:extLst>
          </p:nvPr>
        </p:nvGraphicFramePr>
        <p:xfrm>
          <a:off x="1520204" y="2112579"/>
          <a:ext cx="9175534" cy="4192806"/>
        </p:xfrm>
        <a:graphic>
          <a:graphicData uri="http://schemas.openxmlformats.org/drawingml/2006/table">
            <a:tbl>
              <a:tblPr/>
              <a:tblGrid>
                <a:gridCol w="2048730">
                  <a:extLst>
                    <a:ext uri="{9D8B030D-6E8A-4147-A177-3AD203B41FA5}">
                      <a16:colId xmlns:a16="http://schemas.microsoft.com/office/drawing/2014/main" val="3821661925"/>
                    </a:ext>
                  </a:extLst>
                </a:gridCol>
                <a:gridCol w="2456062">
                  <a:extLst>
                    <a:ext uri="{9D8B030D-6E8A-4147-A177-3AD203B41FA5}">
                      <a16:colId xmlns:a16="http://schemas.microsoft.com/office/drawing/2014/main" val="3816568677"/>
                    </a:ext>
                  </a:extLst>
                </a:gridCol>
                <a:gridCol w="2335371">
                  <a:extLst>
                    <a:ext uri="{9D8B030D-6E8A-4147-A177-3AD203B41FA5}">
                      <a16:colId xmlns:a16="http://schemas.microsoft.com/office/drawing/2014/main" val="1475012010"/>
                    </a:ext>
                  </a:extLst>
                </a:gridCol>
                <a:gridCol w="2335371">
                  <a:extLst>
                    <a:ext uri="{9D8B030D-6E8A-4147-A177-3AD203B41FA5}">
                      <a16:colId xmlns:a16="http://schemas.microsoft.com/office/drawing/2014/main" val="1677930166"/>
                    </a:ext>
                  </a:extLst>
                </a:gridCol>
              </a:tblGrid>
              <a:tr h="803802">
                <a:tc>
                  <a:txBody>
                    <a:bodyPr/>
                    <a:lstStyle/>
                    <a:p>
                      <a:r>
                        <a:rPr lang="en-IN" sz="2100"/>
                        <a:t>Network Type</a:t>
                      </a:r>
                    </a:p>
                  </a:txBody>
                  <a:tcPr marL="108622" marR="108622" marT="54311" marB="54311" anchor="ctr">
                    <a:lnL>
                      <a:noFill/>
                    </a:lnL>
                    <a:lnR>
                      <a:noFill/>
                    </a:lnR>
                    <a:lnT>
                      <a:noFill/>
                    </a:lnT>
                    <a:lnB>
                      <a:noFill/>
                    </a:lnB>
                    <a:noFill/>
                  </a:tcPr>
                </a:tc>
                <a:tc>
                  <a:txBody>
                    <a:bodyPr/>
                    <a:lstStyle/>
                    <a:p>
                      <a:r>
                        <a:rPr lang="en-IN" sz="2100"/>
                        <a:t>Area Covered</a:t>
                      </a:r>
                    </a:p>
                  </a:txBody>
                  <a:tcPr marL="108622" marR="108622" marT="54311" marB="54311" anchor="ctr">
                    <a:lnL>
                      <a:noFill/>
                    </a:lnL>
                    <a:lnR>
                      <a:noFill/>
                    </a:lnR>
                    <a:lnT>
                      <a:noFill/>
                    </a:lnT>
                    <a:lnB>
                      <a:noFill/>
                    </a:lnB>
                    <a:noFill/>
                  </a:tcPr>
                </a:tc>
                <a:tc>
                  <a:txBody>
                    <a:bodyPr/>
                    <a:lstStyle/>
                    <a:p>
                      <a:r>
                        <a:rPr lang="en-IN" sz="2100"/>
                        <a:t>Example</a:t>
                      </a:r>
                    </a:p>
                  </a:txBody>
                  <a:tcPr marL="108622" marR="108622" marT="54311" marB="54311" anchor="ctr">
                    <a:lnL>
                      <a:noFill/>
                    </a:lnL>
                    <a:lnR>
                      <a:noFill/>
                    </a:lnR>
                    <a:lnT>
                      <a:noFill/>
                    </a:lnT>
                    <a:lnB>
                      <a:noFill/>
                    </a:lnB>
                    <a:noFill/>
                  </a:tcPr>
                </a:tc>
                <a:tc>
                  <a:txBody>
                    <a:bodyPr/>
                    <a:lstStyle/>
                    <a:p>
                      <a:r>
                        <a:rPr lang="en-IN" sz="2100"/>
                        <a:t>Setup Components</a:t>
                      </a:r>
                    </a:p>
                  </a:txBody>
                  <a:tcPr marL="108622" marR="108622" marT="54311" marB="54311" anchor="ctr">
                    <a:lnL>
                      <a:noFill/>
                    </a:lnL>
                    <a:lnR>
                      <a:noFill/>
                    </a:lnR>
                    <a:lnT>
                      <a:noFill/>
                    </a:lnT>
                    <a:lnB>
                      <a:noFill/>
                    </a:lnB>
                    <a:noFill/>
                  </a:tcPr>
                </a:tc>
                <a:extLst>
                  <a:ext uri="{0D108BD9-81ED-4DB2-BD59-A6C34878D82A}">
                    <a16:rowId xmlns:a16="http://schemas.microsoft.com/office/drawing/2014/main" val="2819687617"/>
                  </a:ext>
                </a:extLst>
              </a:tr>
              <a:tr h="1129668">
                <a:tc>
                  <a:txBody>
                    <a:bodyPr/>
                    <a:lstStyle/>
                    <a:p>
                      <a:r>
                        <a:rPr lang="en-IN" sz="2100" b="1"/>
                        <a:t>LAN</a:t>
                      </a:r>
                      <a:endParaRPr lang="en-IN" sz="2100"/>
                    </a:p>
                  </a:txBody>
                  <a:tcPr marL="108622" marR="108622" marT="54311" marB="54311" anchor="ctr">
                    <a:lnL>
                      <a:noFill/>
                    </a:lnL>
                    <a:lnR>
                      <a:noFill/>
                    </a:lnR>
                    <a:lnT>
                      <a:noFill/>
                    </a:lnT>
                    <a:lnB>
                      <a:noFill/>
                    </a:lnB>
                    <a:noFill/>
                  </a:tcPr>
                </a:tc>
                <a:tc>
                  <a:txBody>
                    <a:bodyPr/>
                    <a:lstStyle/>
                    <a:p>
                      <a:r>
                        <a:rPr lang="en-IN" sz="2100"/>
                        <a:t>Single building or floor</a:t>
                      </a:r>
                    </a:p>
                  </a:txBody>
                  <a:tcPr marL="108622" marR="108622" marT="54311" marB="54311" anchor="ctr">
                    <a:lnL>
                      <a:noFill/>
                    </a:lnL>
                    <a:lnR>
                      <a:noFill/>
                    </a:lnR>
                    <a:lnT>
                      <a:noFill/>
                    </a:lnT>
                    <a:lnB>
                      <a:noFill/>
                    </a:lnB>
                    <a:noFill/>
                  </a:tcPr>
                </a:tc>
                <a:tc>
                  <a:txBody>
                    <a:bodyPr/>
                    <a:lstStyle/>
                    <a:p>
                      <a:r>
                        <a:rPr lang="en-IN" sz="2100"/>
                        <a:t>Office, school, home</a:t>
                      </a:r>
                    </a:p>
                  </a:txBody>
                  <a:tcPr marL="108622" marR="108622" marT="54311" marB="54311" anchor="ctr">
                    <a:lnL>
                      <a:noFill/>
                    </a:lnL>
                    <a:lnR>
                      <a:noFill/>
                    </a:lnR>
                    <a:lnT>
                      <a:noFill/>
                    </a:lnT>
                    <a:lnB>
                      <a:noFill/>
                    </a:lnB>
                    <a:noFill/>
                  </a:tcPr>
                </a:tc>
                <a:tc>
                  <a:txBody>
                    <a:bodyPr/>
                    <a:lstStyle/>
                    <a:p>
                      <a:r>
                        <a:rPr lang="en-US" sz="2100"/>
                        <a:t>Switch, router, Ethernet cables, Wi-Fi</a:t>
                      </a:r>
                    </a:p>
                  </a:txBody>
                  <a:tcPr marL="108622" marR="108622" marT="54311" marB="54311" anchor="ctr">
                    <a:lnL>
                      <a:noFill/>
                    </a:lnL>
                    <a:lnR>
                      <a:noFill/>
                    </a:lnR>
                    <a:lnT>
                      <a:noFill/>
                    </a:lnT>
                    <a:lnB>
                      <a:noFill/>
                    </a:lnB>
                    <a:noFill/>
                  </a:tcPr>
                </a:tc>
                <a:extLst>
                  <a:ext uri="{0D108BD9-81ED-4DB2-BD59-A6C34878D82A}">
                    <a16:rowId xmlns:a16="http://schemas.microsoft.com/office/drawing/2014/main" val="1914939377"/>
                  </a:ext>
                </a:extLst>
              </a:tr>
              <a:tr h="1129668">
                <a:tc>
                  <a:txBody>
                    <a:bodyPr/>
                    <a:lstStyle/>
                    <a:p>
                      <a:r>
                        <a:rPr lang="en-IN" sz="2100" b="1"/>
                        <a:t>MAN</a:t>
                      </a:r>
                      <a:endParaRPr lang="en-IN" sz="2100"/>
                    </a:p>
                  </a:txBody>
                  <a:tcPr marL="108622" marR="108622" marT="54311" marB="54311" anchor="ctr">
                    <a:lnL>
                      <a:noFill/>
                    </a:lnL>
                    <a:lnR>
                      <a:noFill/>
                    </a:lnR>
                    <a:lnT>
                      <a:noFill/>
                    </a:lnT>
                    <a:lnB>
                      <a:noFill/>
                    </a:lnB>
                    <a:noFill/>
                  </a:tcPr>
                </a:tc>
                <a:tc>
                  <a:txBody>
                    <a:bodyPr/>
                    <a:lstStyle/>
                    <a:p>
                      <a:r>
                        <a:rPr lang="en-IN" sz="2100"/>
                        <a:t>City-wide area</a:t>
                      </a:r>
                    </a:p>
                  </a:txBody>
                  <a:tcPr marL="108622" marR="108622" marT="54311" marB="54311" anchor="ctr">
                    <a:lnL>
                      <a:noFill/>
                    </a:lnL>
                    <a:lnR>
                      <a:noFill/>
                    </a:lnR>
                    <a:lnT>
                      <a:noFill/>
                    </a:lnT>
                    <a:lnB>
                      <a:noFill/>
                    </a:lnB>
                    <a:noFill/>
                  </a:tcPr>
                </a:tc>
                <a:tc>
                  <a:txBody>
                    <a:bodyPr/>
                    <a:lstStyle/>
                    <a:p>
                      <a:r>
                        <a:rPr lang="en-US" sz="2100"/>
                        <a:t>Company branches in one city</a:t>
                      </a:r>
                    </a:p>
                  </a:txBody>
                  <a:tcPr marL="108622" marR="108622" marT="54311" marB="54311" anchor="ctr">
                    <a:lnL>
                      <a:noFill/>
                    </a:lnL>
                    <a:lnR>
                      <a:noFill/>
                    </a:lnR>
                    <a:lnT>
                      <a:noFill/>
                    </a:lnT>
                    <a:lnB>
                      <a:noFill/>
                    </a:lnB>
                    <a:noFill/>
                  </a:tcPr>
                </a:tc>
                <a:tc>
                  <a:txBody>
                    <a:bodyPr/>
                    <a:lstStyle/>
                    <a:p>
                      <a:r>
                        <a:rPr lang="en-US" sz="2100"/>
                        <a:t>Fiber lines, routers, leased lines, VPN</a:t>
                      </a:r>
                    </a:p>
                  </a:txBody>
                  <a:tcPr marL="108622" marR="108622" marT="54311" marB="54311" anchor="ctr">
                    <a:lnL>
                      <a:noFill/>
                    </a:lnL>
                    <a:lnR>
                      <a:noFill/>
                    </a:lnR>
                    <a:lnT>
                      <a:noFill/>
                    </a:lnT>
                    <a:lnB>
                      <a:noFill/>
                    </a:lnB>
                    <a:noFill/>
                  </a:tcPr>
                </a:tc>
                <a:extLst>
                  <a:ext uri="{0D108BD9-81ED-4DB2-BD59-A6C34878D82A}">
                    <a16:rowId xmlns:a16="http://schemas.microsoft.com/office/drawing/2014/main" val="1376803799"/>
                  </a:ext>
                </a:extLst>
              </a:tr>
              <a:tr h="1129668">
                <a:tc>
                  <a:txBody>
                    <a:bodyPr/>
                    <a:lstStyle/>
                    <a:p>
                      <a:r>
                        <a:rPr lang="en-IN" sz="2100" b="1"/>
                        <a:t>WAN</a:t>
                      </a:r>
                      <a:endParaRPr lang="en-IN" sz="2100"/>
                    </a:p>
                  </a:txBody>
                  <a:tcPr marL="108622" marR="108622" marT="54311" marB="54311" anchor="ctr">
                    <a:lnL>
                      <a:noFill/>
                    </a:lnL>
                    <a:lnR>
                      <a:noFill/>
                    </a:lnR>
                    <a:lnT>
                      <a:noFill/>
                    </a:lnT>
                    <a:lnB>
                      <a:noFill/>
                    </a:lnB>
                    <a:noFill/>
                  </a:tcPr>
                </a:tc>
                <a:tc>
                  <a:txBody>
                    <a:bodyPr/>
                    <a:lstStyle/>
                    <a:p>
                      <a:r>
                        <a:rPr lang="en-IN" sz="2100"/>
                        <a:t>Across cities/countries</a:t>
                      </a:r>
                    </a:p>
                  </a:txBody>
                  <a:tcPr marL="108622" marR="108622" marT="54311" marB="54311" anchor="ctr">
                    <a:lnL>
                      <a:noFill/>
                    </a:lnL>
                    <a:lnR>
                      <a:noFill/>
                    </a:lnR>
                    <a:lnT>
                      <a:noFill/>
                    </a:lnT>
                    <a:lnB>
                      <a:noFill/>
                    </a:lnB>
                    <a:noFill/>
                  </a:tcPr>
                </a:tc>
                <a:tc>
                  <a:txBody>
                    <a:bodyPr/>
                    <a:lstStyle/>
                    <a:p>
                      <a:r>
                        <a:rPr lang="en-IN" sz="2100"/>
                        <a:t>Global offices or banks</a:t>
                      </a:r>
                    </a:p>
                  </a:txBody>
                  <a:tcPr marL="108622" marR="108622" marT="54311" marB="54311" anchor="ctr">
                    <a:lnL>
                      <a:noFill/>
                    </a:lnL>
                    <a:lnR>
                      <a:noFill/>
                    </a:lnR>
                    <a:lnT>
                      <a:noFill/>
                    </a:lnT>
                    <a:lnB>
                      <a:noFill/>
                    </a:lnB>
                    <a:noFill/>
                  </a:tcPr>
                </a:tc>
                <a:tc>
                  <a:txBody>
                    <a:bodyPr/>
                    <a:lstStyle/>
                    <a:p>
                      <a:r>
                        <a:rPr lang="en-IN" sz="2100" dirty="0"/>
                        <a:t>Internet, VPN, MPLS, firewalls, cloud</a:t>
                      </a:r>
                    </a:p>
                  </a:txBody>
                  <a:tcPr marL="108622" marR="108622" marT="54311" marB="54311" anchor="ctr">
                    <a:lnL>
                      <a:noFill/>
                    </a:lnL>
                    <a:lnR>
                      <a:noFill/>
                    </a:lnR>
                    <a:lnT>
                      <a:noFill/>
                    </a:lnT>
                    <a:lnB>
                      <a:noFill/>
                    </a:lnB>
                    <a:noFill/>
                  </a:tcPr>
                </a:tc>
                <a:extLst>
                  <a:ext uri="{0D108BD9-81ED-4DB2-BD59-A6C34878D82A}">
                    <a16:rowId xmlns:a16="http://schemas.microsoft.com/office/drawing/2014/main" val="438100952"/>
                  </a:ext>
                </a:extLst>
              </a:tr>
            </a:tbl>
          </a:graphicData>
        </a:graphic>
      </p:graphicFrame>
    </p:spTree>
    <p:extLst>
      <p:ext uri="{BB962C8B-B14F-4D97-AF65-F5344CB8AC3E}">
        <p14:creationId xmlns:p14="http://schemas.microsoft.com/office/powerpoint/2010/main" val="24909517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3A529-1B68-2170-DA58-789BDB324CBF}"/>
              </a:ext>
            </a:extLst>
          </p:cNvPr>
          <p:cNvSpPr>
            <a:spLocks noGrp="1"/>
          </p:cNvSpPr>
          <p:nvPr>
            <p:ph type="title"/>
          </p:nvPr>
        </p:nvSpPr>
        <p:spPr/>
        <p:txBody>
          <a:bodyPr/>
          <a:lstStyle/>
          <a:p>
            <a:r>
              <a:rPr lang="en-US" b="1" dirty="0"/>
              <a:t>1. End Devices (Clients) – </a:t>
            </a:r>
            <a:r>
              <a:rPr lang="en-US" b="1" i="1" dirty="0"/>
              <a:t>The users</a:t>
            </a:r>
            <a:br>
              <a:rPr lang="en-US" b="1" dirty="0"/>
            </a:br>
            <a:endParaRPr lang="en-IN" dirty="0"/>
          </a:p>
        </p:txBody>
      </p:sp>
      <p:sp>
        <p:nvSpPr>
          <p:cNvPr id="3" name="Content Placeholder 2">
            <a:extLst>
              <a:ext uri="{FF2B5EF4-FFF2-40B4-BE49-F238E27FC236}">
                <a16:creationId xmlns:a16="http://schemas.microsoft.com/office/drawing/2014/main" id="{C5ECFA57-13C8-327C-EB50-E025F86343C5}"/>
              </a:ext>
            </a:extLst>
          </p:cNvPr>
          <p:cNvSpPr>
            <a:spLocks noGrp="1"/>
          </p:cNvSpPr>
          <p:nvPr>
            <p:ph idx="1"/>
          </p:nvPr>
        </p:nvSpPr>
        <p:spPr/>
        <p:txBody>
          <a:bodyPr>
            <a:normAutofit lnSpcReduction="10000"/>
          </a:bodyPr>
          <a:lstStyle/>
          <a:p>
            <a:pPr>
              <a:buNone/>
            </a:pPr>
            <a:r>
              <a:rPr lang="en-US" dirty="0"/>
              <a:t>These are the devices that people use to interact with the network.</a:t>
            </a:r>
          </a:p>
          <a:p>
            <a:pPr>
              <a:buNone/>
            </a:pPr>
            <a:r>
              <a:rPr lang="en-US" b="1" dirty="0"/>
              <a:t>Examples:</a:t>
            </a:r>
          </a:p>
          <a:p>
            <a:pPr>
              <a:buFont typeface="Arial" panose="020B0604020202020204" pitchFamily="34" charset="0"/>
              <a:buChar char="•"/>
            </a:pPr>
            <a:r>
              <a:rPr lang="en-US" dirty="0"/>
              <a:t>🖥️ Desktops and Laptops</a:t>
            </a:r>
          </a:p>
          <a:p>
            <a:pPr>
              <a:buFont typeface="Arial" panose="020B0604020202020204" pitchFamily="34" charset="0"/>
              <a:buChar char="•"/>
            </a:pPr>
            <a:r>
              <a:rPr lang="en-US" dirty="0"/>
              <a:t>📱 Smartphones and Tablets</a:t>
            </a:r>
          </a:p>
          <a:p>
            <a:pPr>
              <a:buFont typeface="Arial" panose="020B0604020202020204" pitchFamily="34" charset="0"/>
              <a:buChar char="•"/>
            </a:pPr>
            <a:r>
              <a:rPr lang="en-US" dirty="0"/>
              <a:t>🖨️ Printers, Scanners</a:t>
            </a:r>
          </a:p>
          <a:p>
            <a:pPr>
              <a:buFont typeface="Arial" panose="020B0604020202020204" pitchFamily="34" charset="0"/>
              <a:buChar char="•"/>
            </a:pPr>
            <a:r>
              <a:rPr lang="en-US" dirty="0"/>
              <a:t>🧠 Servers (central storage or apps)</a:t>
            </a:r>
          </a:p>
          <a:p>
            <a:pPr>
              <a:buNone/>
            </a:pPr>
            <a:r>
              <a:rPr lang="en-US" dirty="0"/>
              <a:t>🎯 These are called </a:t>
            </a:r>
            <a:r>
              <a:rPr lang="en-US" b="1" dirty="0"/>
              <a:t>clients</a:t>
            </a:r>
            <a:r>
              <a:rPr lang="en-US" dirty="0"/>
              <a:t> or </a:t>
            </a:r>
            <a:r>
              <a:rPr lang="en-US" b="1" dirty="0"/>
              <a:t>nodes</a:t>
            </a:r>
            <a:r>
              <a:rPr lang="en-US" dirty="0"/>
              <a:t>.</a:t>
            </a:r>
          </a:p>
          <a:p>
            <a:r>
              <a:rPr lang="en-US" dirty="0"/>
              <a:t>Without them, there’s no point in having a network—these devices are the </a:t>
            </a:r>
            <a:r>
              <a:rPr lang="en-US" b="1" dirty="0"/>
              <a:t>reason</a:t>
            </a:r>
            <a:r>
              <a:rPr lang="en-US" dirty="0"/>
              <a:t> the network exists.</a:t>
            </a:r>
          </a:p>
          <a:p>
            <a:endParaRPr lang="en-IN" dirty="0"/>
          </a:p>
        </p:txBody>
      </p:sp>
    </p:spTree>
    <p:extLst>
      <p:ext uri="{BB962C8B-B14F-4D97-AF65-F5344CB8AC3E}">
        <p14:creationId xmlns:p14="http://schemas.microsoft.com/office/powerpoint/2010/main" val="2449205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85ECF-8716-4A2B-706F-B93BC8A0B96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6F2E21-EAC4-39B9-FE5F-98C0971C065A}"/>
              </a:ext>
            </a:extLst>
          </p:cNvPr>
          <p:cNvSpPr>
            <a:spLocks noGrp="1"/>
          </p:cNvSpPr>
          <p:nvPr>
            <p:ph idx="1"/>
          </p:nvPr>
        </p:nvSpPr>
        <p:spPr/>
        <p:txBody>
          <a:bodyPr/>
          <a:lstStyle/>
          <a:p>
            <a:pPr>
              <a:buNone/>
            </a:pPr>
            <a:r>
              <a:rPr lang="en-US" b="1" dirty="0"/>
              <a:t>🔌 2. Network Interface Card (NIC) – </a:t>
            </a:r>
            <a:r>
              <a:rPr lang="en-US" b="1" i="1" dirty="0"/>
              <a:t>The connector</a:t>
            </a:r>
            <a:endParaRPr lang="en-US" b="1" dirty="0"/>
          </a:p>
          <a:p>
            <a:pPr>
              <a:buNone/>
            </a:pPr>
            <a:r>
              <a:rPr lang="en-US" dirty="0"/>
              <a:t>Every device that connects to a network </a:t>
            </a:r>
            <a:r>
              <a:rPr lang="en-US" b="1" dirty="0"/>
              <a:t>needs a NIC</a:t>
            </a:r>
            <a:r>
              <a:rPr lang="en-US" dirty="0"/>
              <a:t> (Network Interface Card). It can be:</a:t>
            </a:r>
          </a:p>
          <a:p>
            <a:pPr>
              <a:buFont typeface="Arial" panose="020B0604020202020204" pitchFamily="34" charset="0"/>
              <a:buChar char="•"/>
            </a:pPr>
            <a:r>
              <a:rPr lang="en-US" dirty="0"/>
              <a:t>🧲 </a:t>
            </a:r>
            <a:r>
              <a:rPr lang="en-US" b="1" dirty="0"/>
              <a:t>Wired NIC</a:t>
            </a:r>
            <a:r>
              <a:rPr lang="en-US" dirty="0"/>
              <a:t> – with an Ethernet port</a:t>
            </a:r>
          </a:p>
          <a:p>
            <a:pPr>
              <a:buFont typeface="Arial" panose="020B0604020202020204" pitchFamily="34" charset="0"/>
              <a:buChar char="•"/>
            </a:pPr>
            <a:r>
              <a:rPr lang="en-US" dirty="0"/>
              <a:t>📡 </a:t>
            </a:r>
            <a:r>
              <a:rPr lang="en-US" b="1" dirty="0"/>
              <a:t>Wireless NIC</a:t>
            </a:r>
            <a:r>
              <a:rPr lang="en-US" dirty="0"/>
              <a:t> – with Wi-Fi capability</a:t>
            </a:r>
          </a:p>
          <a:p>
            <a:r>
              <a:rPr lang="en-US" dirty="0"/>
              <a:t>📦 It gives the device a </a:t>
            </a:r>
            <a:r>
              <a:rPr lang="en-US" b="1" dirty="0"/>
              <a:t>MAC address</a:t>
            </a:r>
            <a:r>
              <a:rPr lang="en-US" dirty="0"/>
              <a:t> (a unique hardware ID) so it can talk to other devices.</a:t>
            </a:r>
          </a:p>
          <a:p>
            <a:endParaRPr lang="en-IN" dirty="0"/>
          </a:p>
        </p:txBody>
      </p:sp>
    </p:spTree>
    <p:extLst>
      <p:ext uri="{BB962C8B-B14F-4D97-AF65-F5344CB8AC3E}">
        <p14:creationId xmlns:p14="http://schemas.microsoft.com/office/powerpoint/2010/main" val="3145352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B21B-5306-9695-2242-E95A729AE2A7}"/>
              </a:ext>
            </a:extLst>
          </p:cNvPr>
          <p:cNvSpPr>
            <a:spLocks noGrp="1"/>
          </p:cNvSpPr>
          <p:nvPr>
            <p:ph type="title"/>
          </p:nvPr>
        </p:nvSpPr>
        <p:spPr/>
        <p:txBody>
          <a:bodyPr/>
          <a:lstStyle/>
          <a:p>
            <a:r>
              <a:rPr lang="en-US" b="1" dirty="0"/>
              <a:t>🛑 6. Firewall – </a:t>
            </a:r>
            <a:r>
              <a:rPr lang="en-US" b="1" i="1" dirty="0"/>
              <a:t>The security gate</a:t>
            </a:r>
            <a:br>
              <a:rPr lang="en-US" b="1" dirty="0"/>
            </a:br>
            <a:endParaRPr lang="en-IN" dirty="0"/>
          </a:p>
        </p:txBody>
      </p:sp>
      <p:sp>
        <p:nvSpPr>
          <p:cNvPr id="3" name="Content Placeholder 2">
            <a:extLst>
              <a:ext uri="{FF2B5EF4-FFF2-40B4-BE49-F238E27FC236}">
                <a16:creationId xmlns:a16="http://schemas.microsoft.com/office/drawing/2014/main" id="{38114856-E79E-8296-0320-946819E21FE2}"/>
              </a:ext>
            </a:extLst>
          </p:cNvPr>
          <p:cNvSpPr>
            <a:spLocks noGrp="1"/>
          </p:cNvSpPr>
          <p:nvPr>
            <p:ph idx="1"/>
          </p:nvPr>
        </p:nvSpPr>
        <p:spPr/>
        <p:txBody>
          <a:bodyPr>
            <a:normAutofit lnSpcReduction="10000"/>
          </a:bodyPr>
          <a:lstStyle/>
          <a:p>
            <a:pPr>
              <a:buNone/>
            </a:pPr>
            <a:r>
              <a:rPr lang="en-US" b="1" dirty="0"/>
              <a:t>📌 What it does:</a:t>
            </a:r>
          </a:p>
          <a:p>
            <a:pPr>
              <a:buFont typeface="Arial" panose="020B0604020202020204" pitchFamily="34" charset="0"/>
              <a:buChar char="•"/>
            </a:pPr>
            <a:r>
              <a:rPr lang="en-US" dirty="0"/>
              <a:t>Controls what data can </a:t>
            </a:r>
            <a:r>
              <a:rPr lang="en-US" b="1" dirty="0"/>
              <a:t>enter or leave</a:t>
            </a:r>
            <a:r>
              <a:rPr lang="en-US" dirty="0"/>
              <a:t> your network</a:t>
            </a:r>
          </a:p>
          <a:p>
            <a:pPr>
              <a:buFont typeface="Arial" panose="020B0604020202020204" pitchFamily="34" charset="0"/>
              <a:buChar char="•"/>
            </a:pPr>
            <a:r>
              <a:rPr lang="en-US" dirty="0"/>
              <a:t>Protects from hackers, viruses, suspicious traffic</a:t>
            </a:r>
          </a:p>
          <a:p>
            <a:pPr>
              <a:buNone/>
            </a:pPr>
            <a:r>
              <a:rPr lang="en-US" dirty="0"/>
              <a:t>📦 Analogy: Like a </a:t>
            </a:r>
            <a:r>
              <a:rPr lang="en-US" b="1" dirty="0"/>
              <a:t>security guard</a:t>
            </a:r>
            <a:r>
              <a:rPr lang="en-US" dirty="0"/>
              <a:t> at the main gate, checking every visitor.</a:t>
            </a:r>
          </a:p>
          <a:p>
            <a:pPr>
              <a:buNone/>
            </a:pPr>
            <a:r>
              <a:rPr lang="en-US" b="1" dirty="0"/>
              <a:t>Setup:</a:t>
            </a:r>
          </a:p>
          <a:p>
            <a:pPr>
              <a:buFont typeface="Arial" panose="020B0604020202020204" pitchFamily="34" charset="0"/>
              <a:buChar char="•"/>
            </a:pPr>
            <a:r>
              <a:rPr lang="en-US" dirty="0"/>
              <a:t>Built into routers (basic level)</a:t>
            </a:r>
          </a:p>
          <a:p>
            <a:pPr>
              <a:buFont typeface="Arial" panose="020B0604020202020204" pitchFamily="34" charset="0"/>
              <a:buChar char="•"/>
            </a:pPr>
            <a:r>
              <a:rPr lang="en-US" dirty="0"/>
              <a:t>Can also be a </a:t>
            </a:r>
            <a:r>
              <a:rPr lang="en-US" b="1" dirty="0"/>
              <a:t>separate hardware box</a:t>
            </a:r>
            <a:r>
              <a:rPr lang="en-US" dirty="0"/>
              <a:t> (for bigger businesses)</a:t>
            </a:r>
          </a:p>
          <a:p>
            <a:pPr>
              <a:buFont typeface="Arial" panose="020B0604020202020204" pitchFamily="34" charset="0"/>
              <a:buChar char="•"/>
            </a:pPr>
            <a:r>
              <a:rPr lang="en-US" dirty="0"/>
              <a:t>Admin sets rules like: block ports, allow only approved IPs, etc.</a:t>
            </a:r>
          </a:p>
          <a:p>
            <a:endParaRPr lang="en-IN" dirty="0"/>
          </a:p>
        </p:txBody>
      </p:sp>
    </p:spTree>
    <p:extLst>
      <p:ext uri="{BB962C8B-B14F-4D97-AF65-F5344CB8AC3E}">
        <p14:creationId xmlns:p14="http://schemas.microsoft.com/office/powerpoint/2010/main" val="20328787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0B930-DCE2-7C6B-E4C9-FC30BED2B65D}"/>
              </a:ext>
            </a:extLst>
          </p:cNvPr>
          <p:cNvSpPr>
            <a:spLocks noGrp="1"/>
          </p:cNvSpPr>
          <p:nvPr>
            <p:ph type="title"/>
          </p:nvPr>
        </p:nvSpPr>
        <p:spPr/>
        <p:txBody>
          <a:bodyPr/>
          <a:lstStyle/>
          <a:p>
            <a:r>
              <a:rPr lang="en-US" dirty="0"/>
              <a:t>⚙️ How a Firewall Works (Step-by-Step)</a:t>
            </a:r>
            <a:endParaRPr lang="en-IN" dirty="0"/>
          </a:p>
        </p:txBody>
      </p:sp>
      <p:sp>
        <p:nvSpPr>
          <p:cNvPr id="3" name="Content Placeholder 2">
            <a:extLst>
              <a:ext uri="{FF2B5EF4-FFF2-40B4-BE49-F238E27FC236}">
                <a16:creationId xmlns:a16="http://schemas.microsoft.com/office/drawing/2014/main" id="{A614E0DB-7E07-5109-F513-8635089C5EAC}"/>
              </a:ext>
            </a:extLst>
          </p:cNvPr>
          <p:cNvSpPr>
            <a:spLocks noGrp="1"/>
          </p:cNvSpPr>
          <p:nvPr>
            <p:ph idx="1"/>
          </p:nvPr>
        </p:nvSpPr>
        <p:spPr/>
        <p:txBody>
          <a:bodyPr/>
          <a:lstStyle/>
          <a:p>
            <a:pPr>
              <a:buNone/>
            </a:pPr>
            <a:r>
              <a:rPr lang="en-US" b="1" dirty="0"/>
              <a:t>🧩 Step 1: All Data is in Packets</a:t>
            </a:r>
          </a:p>
          <a:p>
            <a:pPr>
              <a:buNone/>
            </a:pPr>
            <a:r>
              <a:rPr lang="en-US" dirty="0"/>
              <a:t>When you use the internet, all information is sent in </a:t>
            </a:r>
            <a:r>
              <a:rPr lang="en-US" b="1" dirty="0"/>
              <a:t>tiny packets</a:t>
            </a:r>
            <a:r>
              <a:rPr lang="en-US" dirty="0"/>
              <a:t> — like digital envelopes.</a:t>
            </a:r>
          </a:p>
          <a:p>
            <a:pPr>
              <a:buNone/>
            </a:pPr>
            <a:r>
              <a:rPr lang="en-US" dirty="0"/>
              <a:t>Each packet has:</a:t>
            </a:r>
          </a:p>
          <a:p>
            <a:pPr>
              <a:buFont typeface="Arial" panose="020B0604020202020204" pitchFamily="34" charset="0"/>
              <a:buChar char="•"/>
            </a:pPr>
            <a:r>
              <a:rPr lang="en-US" b="1" dirty="0"/>
              <a:t>Source info</a:t>
            </a:r>
            <a:r>
              <a:rPr lang="en-US" dirty="0"/>
              <a:t> (where it's from)</a:t>
            </a:r>
          </a:p>
          <a:p>
            <a:pPr>
              <a:buFont typeface="Arial" panose="020B0604020202020204" pitchFamily="34" charset="0"/>
              <a:buChar char="•"/>
            </a:pPr>
            <a:r>
              <a:rPr lang="en-US" b="1" dirty="0"/>
              <a:t>Destination info</a:t>
            </a:r>
            <a:r>
              <a:rPr lang="en-US" dirty="0"/>
              <a:t> (where it's going)</a:t>
            </a:r>
          </a:p>
          <a:p>
            <a:pPr>
              <a:buFont typeface="Arial" panose="020B0604020202020204" pitchFamily="34" charset="0"/>
              <a:buChar char="•"/>
            </a:pPr>
            <a:r>
              <a:rPr lang="en-US" b="1" dirty="0"/>
              <a:t>Content</a:t>
            </a:r>
            <a:r>
              <a:rPr lang="en-US" dirty="0"/>
              <a:t> (what it's carrying)</a:t>
            </a:r>
          </a:p>
          <a:p>
            <a:endParaRPr lang="en-IN" dirty="0"/>
          </a:p>
        </p:txBody>
      </p:sp>
    </p:spTree>
    <p:extLst>
      <p:ext uri="{BB962C8B-B14F-4D97-AF65-F5344CB8AC3E}">
        <p14:creationId xmlns:p14="http://schemas.microsoft.com/office/powerpoint/2010/main" val="3613576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4184E-6D1E-7CE4-059D-A50ABAA2D0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2BA606D-7AB7-7027-0B7D-88ED8E701059}"/>
              </a:ext>
            </a:extLst>
          </p:cNvPr>
          <p:cNvSpPr>
            <a:spLocks noGrp="1"/>
          </p:cNvSpPr>
          <p:nvPr>
            <p:ph idx="1"/>
          </p:nvPr>
        </p:nvSpPr>
        <p:spPr/>
        <p:txBody>
          <a:bodyPr/>
          <a:lstStyle/>
          <a:p>
            <a:pPr>
              <a:buNone/>
            </a:pPr>
            <a:r>
              <a:rPr lang="en-US" b="1" dirty="0"/>
              <a:t>🚦 Step 2: Packet Reaches the Firewall</a:t>
            </a:r>
          </a:p>
          <a:p>
            <a:r>
              <a:rPr lang="en-US" dirty="0"/>
              <a:t>Before entering your system, each packet must go through the </a:t>
            </a:r>
            <a:r>
              <a:rPr lang="en-US" b="1" dirty="0"/>
              <a:t>firewall</a:t>
            </a:r>
            <a:r>
              <a:rPr lang="en-US" dirty="0"/>
              <a:t>.</a:t>
            </a:r>
          </a:p>
          <a:p>
            <a:endParaRPr lang="en-IN" dirty="0"/>
          </a:p>
        </p:txBody>
      </p:sp>
    </p:spTree>
    <p:extLst>
      <p:ext uri="{BB962C8B-B14F-4D97-AF65-F5344CB8AC3E}">
        <p14:creationId xmlns:p14="http://schemas.microsoft.com/office/powerpoint/2010/main" val="3840358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6690C-5F42-05B8-A557-8ACCB1DFB2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961BE52-E661-116D-89CC-BFF4E62152CD}"/>
              </a:ext>
            </a:extLst>
          </p:cNvPr>
          <p:cNvSpPr>
            <a:spLocks noGrp="1"/>
          </p:cNvSpPr>
          <p:nvPr>
            <p:ph idx="1"/>
          </p:nvPr>
        </p:nvSpPr>
        <p:spPr/>
        <p:txBody>
          <a:bodyPr>
            <a:normAutofit lnSpcReduction="10000"/>
          </a:bodyPr>
          <a:lstStyle/>
          <a:p>
            <a:pPr>
              <a:buNone/>
            </a:pPr>
            <a:r>
              <a:rPr lang="en-US" b="1" dirty="0"/>
              <a:t>📋 Step 3: Firewall Checks the Rules</a:t>
            </a:r>
          </a:p>
          <a:p>
            <a:pPr>
              <a:buNone/>
            </a:pPr>
            <a:r>
              <a:rPr lang="en-US" dirty="0"/>
              <a:t>The firewall checks:</a:t>
            </a:r>
          </a:p>
          <a:p>
            <a:pPr>
              <a:buFont typeface="Arial" panose="020B0604020202020204" pitchFamily="34" charset="0"/>
              <a:buChar char="•"/>
            </a:pPr>
            <a:r>
              <a:rPr lang="en-US" dirty="0"/>
              <a:t>Is the packet coming from a </a:t>
            </a:r>
            <a:r>
              <a:rPr lang="en-US" b="1" dirty="0"/>
              <a:t>trusted source</a:t>
            </a:r>
            <a:r>
              <a:rPr lang="en-US" dirty="0"/>
              <a:t>?</a:t>
            </a:r>
          </a:p>
          <a:p>
            <a:pPr>
              <a:buFont typeface="Arial" panose="020B0604020202020204" pitchFamily="34" charset="0"/>
              <a:buChar char="•"/>
            </a:pPr>
            <a:r>
              <a:rPr lang="en-US" dirty="0"/>
              <a:t>Is it going to an </a:t>
            </a:r>
            <a:r>
              <a:rPr lang="en-US" b="1" dirty="0"/>
              <a:t>allowed port</a:t>
            </a:r>
            <a:r>
              <a:rPr lang="en-US" dirty="0"/>
              <a:t>?</a:t>
            </a:r>
          </a:p>
          <a:p>
            <a:pPr>
              <a:buFont typeface="Arial" panose="020B0604020202020204" pitchFamily="34" charset="0"/>
              <a:buChar char="•"/>
            </a:pPr>
            <a:r>
              <a:rPr lang="en-US" dirty="0"/>
              <a:t>Does it match any </a:t>
            </a:r>
            <a:r>
              <a:rPr lang="en-US" b="1" dirty="0"/>
              <a:t>known attack patterns</a:t>
            </a:r>
            <a:r>
              <a:rPr lang="en-US" dirty="0"/>
              <a:t>?</a:t>
            </a:r>
          </a:p>
          <a:p>
            <a:pPr>
              <a:buNone/>
            </a:pPr>
            <a:r>
              <a:rPr lang="en-US" dirty="0"/>
              <a:t>It uses a set of rules like:</a:t>
            </a:r>
          </a:p>
          <a:p>
            <a:pPr>
              <a:buFont typeface="Arial" panose="020B0604020202020204" pitchFamily="34" charset="0"/>
              <a:buChar char="•"/>
            </a:pPr>
            <a:r>
              <a:rPr lang="en-US" dirty="0"/>
              <a:t>"Block everything from IP 123.456.789.0"</a:t>
            </a:r>
          </a:p>
          <a:p>
            <a:pPr>
              <a:buFont typeface="Arial" panose="020B0604020202020204" pitchFamily="34" charset="0"/>
              <a:buChar char="•"/>
            </a:pPr>
            <a:r>
              <a:rPr lang="en-US" dirty="0"/>
              <a:t>"Allow only web traffic on port 80/443"</a:t>
            </a:r>
          </a:p>
          <a:p>
            <a:pPr>
              <a:buFont typeface="Arial" panose="020B0604020202020204" pitchFamily="34" charset="0"/>
              <a:buChar char="•"/>
            </a:pPr>
            <a:r>
              <a:rPr lang="en-US" dirty="0"/>
              <a:t>"Block file downloads from unknown sites"</a:t>
            </a:r>
          </a:p>
          <a:p>
            <a:endParaRPr lang="en-IN" dirty="0"/>
          </a:p>
        </p:txBody>
      </p:sp>
    </p:spTree>
    <p:extLst>
      <p:ext uri="{BB962C8B-B14F-4D97-AF65-F5344CB8AC3E}">
        <p14:creationId xmlns:p14="http://schemas.microsoft.com/office/powerpoint/2010/main" val="3796840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791AE-14AE-CECF-A4CE-DE9BD4E9F58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A35EC1-D99A-8B22-0580-427C94F575E7}"/>
              </a:ext>
            </a:extLst>
          </p:cNvPr>
          <p:cNvSpPr>
            <a:spLocks noGrp="1"/>
          </p:cNvSpPr>
          <p:nvPr>
            <p:ph idx="1"/>
          </p:nvPr>
        </p:nvSpPr>
        <p:spPr/>
        <p:txBody>
          <a:bodyPr/>
          <a:lstStyle/>
          <a:p>
            <a:pPr>
              <a:buNone/>
            </a:pPr>
            <a:r>
              <a:rPr lang="en-US" b="1" dirty="0"/>
              <a:t>✅ Step 4A: If It's Safe — Allow</a:t>
            </a:r>
          </a:p>
          <a:p>
            <a:r>
              <a:rPr lang="en-US" dirty="0"/>
              <a:t>If the packet looks safe, it goes through.</a:t>
            </a:r>
            <a:br>
              <a:rPr lang="en-US" dirty="0"/>
            </a:br>
            <a:r>
              <a:rPr lang="en-US" dirty="0"/>
              <a:t>The data reaches your computer.</a:t>
            </a:r>
          </a:p>
          <a:p>
            <a:endParaRPr lang="en-IN" dirty="0"/>
          </a:p>
        </p:txBody>
      </p:sp>
    </p:spTree>
    <p:extLst>
      <p:ext uri="{BB962C8B-B14F-4D97-AF65-F5344CB8AC3E}">
        <p14:creationId xmlns:p14="http://schemas.microsoft.com/office/powerpoint/2010/main" val="9631189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EF176-8A1E-E6B1-65CD-72BDBB59CA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7C49D57-89D5-8A4E-D816-BCDC83D41124}"/>
              </a:ext>
            </a:extLst>
          </p:cNvPr>
          <p:cNvSpPr>
            <a:spLocks noGrp="1"/>
          </p:cNvSpPr>
          <p:nvPr>
            <p:ph idx="1"/>
          </p:nvPr>
        </p:nvSpPr>
        <p:spPr/>
        <p:txBody>
          <a:bodyPr/>
          <a:lstStyle/>
          <a:p>
            <a:pPr>
              <a:buNone/>
            </a:pPr>
            <a:r>
              <a:rPr lang="en-US" b="1" dirty="0"/>
              <a:t>❌ Step 4B: If It’s Suspicious — Block</a:t>
            </a:r>
          </a:p>
          <a:p>
            <a:pPr>
              <a:buNone/>
            </a:pPr>
            <a:r>
              <a:rPr lang="en-US" dirty="0"/>
              <a:t>If the packet is dangerous or breaks a rule, the firewall </a:t>
            </a:r>
            <a:r>
              <a:rPr lang="en-US" b="1" dirty="0"/>
              <a:t>stops it right there</a:t>
            </a:r>
            <a:r>
              <a:rPr lang="en-US" dirty="0"/>
              <a:t>.</a:t>
            </a:r>
          </a:p>
          <a:p>
            <a:r>
              <a:rPr lang="en-US" dirty="0"/>
              <a:t>The bad data never enters your system.</a:t>
            </a:r>
          </a:p>
          <a:p>
            <a:endParaRPr lang="en-IN" dirty="0"/>
          </a:p>
        </p:txBody>
      </p:sp>
    </p:spTree>
    <p:extLst>
      <p:ext uri="{BB962C8B-B14F-4D97-AF65-F5344CB8AC3E}">
        <p14:creationId xmlns:p14="http://schemas.microsoft.com/office/powerpoint/2010/main" val="1784841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FF08C-C0A0-124E-E79B-14BED8F7287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2AFD3A-26E5-C533-0F30-042FE2C5921A}"/>
              </a:ext>
            </a:extLst>
          </p:cNvPr>
          <p:cNvSpPr>
            <a:spLocks noGrp="1"/>
          </p:cNvSpPr>
          <p:nvPr>
            <p:ph idx="1"/>
          </p:nvPr>
        </p:nvSpPr>
        <p:spPr/>
        <p:txBody>
          <a:bodyPr/>
          <a:lstStyle/>
          <a:p>
            <a:pPr>
              <a:buNone/>
            </a:pPr>
            <a:r>
              <a:rPr lang="en-US" b="1" dirty="0"/>
              <a:t>🔄 Step 5: Same Happens for Outgoing Data</a:t>
            </a:r>
          </a:p>
          <a:p>
            <a:pPr>
              <a:buNone/>
            </a:pPr>
            <a:r>
              <a:rPr lang="en-US" dirty="0"/>
              <a:t>Firewalls also check </a:t>
            </a:r>
            <a:r>
              <a:rPr lang="en-US" b="1" dirty="0"/>
              <a:t>outgoing data</a:t>
            </a:r>
            <a:r>
              <a:rPr lang="en-US" dirty="0"/>
              <a:t> to prevent:</a:t>
            </a:r>
          </a:p>
          <a:p>
            <a:pPr>
              <a:buFont typeface="Arial" panose="020B0604020202020204" pitchFamily="34" charset="0"/>
              <a:buChar char="•"/>
            </a:pPr>
            <a:r>
              <a:rPr lang="en-US" dirty="0"/>
              <a:t>Sensitive information from leaking</a:t>
            </a:r>
          </a:p>
          <a:p>
            <a:pPr>
              <a:buFont typeface="Arial" panose="020B0604020202020204" pitchFamily="34" charset="0"/>
              <a:buChar char="•"/>
            </a:pPr>
            <a:r>
              <a:rPr lang="en-US" dirty="0"/>
              <a:t>Malicious software from connecting to hackers</a:t>
            </a:r>
          </a:p>
          <a:p>
            <a:endParaRPr lang="en-IN" dirty="0"/>
          </a:p>
        </p:txBody>
      </p:sp>
    </p:spTree>
    <p:extLst>
      <p:ext uri="{BB962C8B-B14F-4D97-AF65-F5344CB8AC3E}">
        <p14:creationId xmlns:p14="http://schemas.microsoft.com/office/powerpoint/2010/main" val="3094652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874F-5677-21EB-C386-085DFA40B5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B95E6F2-E1D7-CFC7-4C04-D1337AF62E11}"/>
              </a:ext>
            </a:extLst>
          </p:cNvPr>
          <p:cNvSpPr>
            <a:spLocks noGrp="1"/>
          </p:cNvSpPr>
          <p:nvPr>
            <p:ph idx="1"/>
          </p:nvPr>
        </p:nvSpPr>
        <p:spPr/>
        <p:txBody>
          <a:bodyPr>
            <a:normAutofit fontScale="92500" lnSpcReduction="20000"/>
          </a:bodyPr>
          <a:lstStyle/>
          <a:p>
            <a:pPr>
              <a:buNone/>
            </a:pPr>
            <a:r>
              <a:rPr lang="en-IN" b="1" dirty="0"/>
              <a:t>🔍 Types of Firewalls (Briefly)</a:t>
            </a:r>
          </a:p>
          <a:p>
            <a:pPr>
              <a:buFont typeface="+mj-lt"/>
              <a:buAutoNum type="arabicPeriod"/>
            </a:pPr>
            <a:r>
              <a:rPr lang="en-IN" b="1" dirty="0"/>
              <a:t>Hardware Firewall</a:t>
            </a:r>
            <a:endParaRPr lang="en-IN" dirty="0"/>
          </a:p>
          <a:p>
            <a:pPr marL="742950" lvl="1" indent="-285750">
              <a:buFont typeface="+mj-lt"/>
              <a:buAutoNum type="arabicPeriod"/>
            </a:pPr>
            <a:r>
              <a:rPr lang="en-IN" dirty="0"/>
              <a:t>A separate physical device.</a:t>
            </a:r>
          </a:p>
          <a:p>
            <a:pPr marL="742950" lvl="1" indent="-285750">
              <a:buFont typeface="+mj-lt"/>
              <a:buAutoNum type="arabicPeriod"/>
            </a:pPr>
            <a:r>
              <a:rPr lang="en-IN" dirty="0"/>
              <a:t>Protects entire network.</a:t>
            </a:r>
          </a:p>
          <a:p>
            <a:pPr marL="742950" lvl="1" indent="-285750">
              <a:buFont typeface="+mj-lt"/>
              <a:buAutoNum type="arabicPeriod"/>
            </a:pPr>
            <a:r>
              <a:rPr lang="en-IN" dirty="0"/>
              <a:t>Example: A firewall in your Wi-Fi router.</a:t>
            </a:r>
          </a:p>
          <a:p>
            <a:pPr>
              <a:buFont typeface="+mj-lt"/>
              <a:buAutoNum type="arabicPeriod"/>
            </a:pPr>
            <a:r>
              <a:rPr lang="en-IN" b="1" dirty="0"/>
              <a:t>Software Firewall</a:t>
            </a:r>
            <a:endParaRPr lang="en-IN" dirty="0"/>
          </a:p>
          <a:p>
            <a:pPr marL="742950" lvl="1" indent="-285750">
              <a:buFont typeface="+mj-lt"/>
              <a:buAutoNum type="arabicPeriod"/>
            </a:pPr>
            <a:r>
              <a:rPr lang="en-IN" dirty="0"/>
              <a:t>Installed on individual devices.</a:t>
            </a:r>
          </a:p>
          <a:p>
            <a:pPr marL="742950" lvl="1" indent="-285750">
              <a:buFont typeface="+mj-lt"/>
              <a:buAutoNum type="arabicPeriod"/>
            </a:pPr>
            <a:r>
              <a:rPr lang="en-IN" dirty="0"/>
              <a:t>Controls traffic for that device only.</a:t>
            </a:r>
          </a:p>
          <a:p>
            <a:pPr marL="742950" lvl="1" indent="-285750">
              <a:buFont typeface="+mj-lt"/>
              <a:buAutoNum type="arabicPeriod"/>
            </a:pPr>
            <a:r>
              <a:rPr lang="en-IN" dirty="0"/>
              <a:t>Example: Windows Defender Firewall.</a:t>
            </a:r>
          </a:p>
          <a:p>
            <a:pPr>
              <a:buFont typeface="+mj-lt"/>
              <a:buAutoNum type="arabicPeriod"/>
            </a:pPr>
            <a:r>
              <a:rPr lang="en-IN" b="1" dirty="0"/>
              <a:t>Cloud-Based / Next-Gen Firewall</a:t>
            </a:r>
            <a:endParaRPr lang="en-IN" dirty="0"/>
          </a:p>
          <a:p>
            <a:pPr marL="742950" lvl="1" indent="-285750">
              <a:buFont typeface="+mj-lt"/>
              <a:buAutoNum type="arabicPeriod"/>
            </a:pPr>
            <a:r>
              <a:rPr lang="en-IN" dirty="0"/>
              <a:t>Advanced firewalls with AI, </a:t>
            </a:r>
            <a:r>
              <a:rPr lang="en-IN" dirty="0" err="1"/>
              <a:t>behavior</a:t>
            </a:r>
            <a:r>
              <a:rPr lang="en-IN" dirty="0"/>
              <a:t> detection, etc.</a:t>
            </a:r>
          </a:p>
          <a:p>
            <a:pPr marL="742950" lvl="1" indent="-285750">
              <a:buFont typeface="+mj-lt"/>
              <a:buAutoNum type="arabicPeriod"/>
            </a:pPr>
            <a:r>
              <a:rPr lang="en-IN" dirty="0"/>
              <a:t>Often used by companies for high-level protection.</a:t>
            </a:r>
          </a:p>
          <a:p>
            <a:endParaRPr lang="en-IN" dirty="0"/>
          </a:p>
        </p:txBody>
      </p:sp>
    </p:spTree>
    <p:extLst>
      <p:ext uri="{BB962C8B-B14F-4D97-AF65-F5344CB8AC3E}">
        <p14:creationId xmlns:p14="http://schemas.microsoft.com/office/powerpoint/2010/main" val="39863215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166E-A81E-979D-7318-3E7AE223AFAA}"/>
              </a:ext>
            </a:extLst>
          </p:cNvPr>
          <p:cNvSpPr>
            <a:spLocks noGrp="1"/>
          </p:cNvSpPr>
          <p:nvPr>
            <p:ph type="title"/>
          </p:nvPr>
        </p:nvSpPr>
        <p:spPr/>
        <p:txBody>
          <a:bodyPr/>
          <a:lstStyle/>
          <a:p>
            <a:r>
              <a:rPr lang="en-US" b="1" dirty="0"/>
              <a:t>Proxy Server – </a:t>
            </a:r>
            <a:r>
              <a:rPr lang="en-US" b="1" i="1" dirty="0"/>
              <a:t>The smart assistant</a:t>
            </a:r>
            <a:br>
              <a:rPr lang="en-US" b="1" dirty="0"/>
            </a:br>
            <a:endParaRPr lang="en-IN" dirty="0"/>
          </a:p>
        </p:txBody>
      </p:sp>
      <p:sp>
        <p:nvSpPr>
          <p:cNvPr id="3" name="Content Placeholder 2">
            <a:extLst>
              <a:ext uri="{FF2B5EF4-FFF2-40B4-BE49-F238E27FC236}">
                <a16:creationId xmlns:a16="http://schemas.microsoft.com/office/drawing/2014/main" id="{0513E82F-8012-7002-C19A-32989296952C}"/>
              </a:ext>
            </a:extLst>
          </p:cNvPr>
          <p:cNvSpPr>
            <a:spLocks noGrp="1"/>
          </p:cNvSpPr>
          <p:nvPr>
            <p:ph idx="1"/>
          </p:nvPr>
        </p:nvSpPr>
        <p:spPr/>
        <p:txBody>
          <a:bodyPr>
            <a:normAutofit lnSpcReduction="10000"/>
          </a:bodyPr>
          <a:lstStyle/>
          <a:p>
            <a:pPr>
              <a:buNone/>
            </a:pPr>
            <a:r>
              <a:rPr lang="en-US" b="1" dirty="0"/>
              <a:t>📌 What it does:</a:t>
            </a:r>
          </a:p>
          <a:p>
            <a:pPr>
              <a:buFont typeface="Arial" panose="020B0604020202020204" pitchFamily="34" charset="0"/>
              <a:buChar char="•"/>
            </a:pPr>
            <a:r>
              <a:rPr lang="en-US" b="1" dirty="0"/>
              <a:t>Intermediary</a:t>
            </a:r>
            <a:r>
              <a:rPr lang="en-US" dirty="0"/>
              <a:t> between users and the internet</a:t>
            </a:r>
          </a:p>
          <a:p>
            <a:pPr>
              <a:buFont typeface="Arial" panose="020B0604020202020204" pitchFamily="34" charset="0"/>
              <a:buChar char="•"/>
            </a:pPr>
            <a:r>
              <a:rPr lang="en-US" dirty="0"/>
              <a:t>Can block websites, cache content, or anonymize users</a:t>
            </a:r>
          </a:p>
          <a:p>
            <a:pPr>
              <a:buNone/>
            </a:pPr>
            <a:r>
              <a:rPr lang="en-US" dirty="0"/>
              <a:t>📦 Analogy: A </a:t>
            </a:r>
            <a:r>
              <a:rPr lang="en-US" b="1" dirty="0"/>
              <a:t>PA (Personal Assistant)</a:t>
            </a:r>
            <a:r>
              <a:rPr lang="en-US" dirty="0"/>
              <a:t> who fetches things for you and filters content.</a:t>
            </a:r>
          </a:p>
          <a:p>
            <a:pPr>
              <a:buNone/>
            </a:pPr>
            <a:r>
              <a:rPr lang="en-US" b="1" dirty="0"/>
              <a:t>Setup:</a:t>
            </a:r>
          </a:p>
          <a:p>
            <a:pPr>
              <a:buFont typeface="Arial" panose="020B0604020202020204" pitchFamily="34" charset="0"/>
              <a:buChar char="•"/>
            </a:pPr>
            <a:r>
              <a:rPr lang="en-US" dirty="0"/>
              <a:t>Installed on a separate server in the office</a:t>
            </a:r>
          </a:p>
          <a:p>
            <a:pPr>
              <a:buFont typeface="Arial" panose="020B0604020202020204" pitchFamily="34" charset="0"/>
              <a:buChar char="•"/>
            </a:pPr>
            <a:r>
              <a:rPr lang="en-US" dirty="0"/>
              <a:t>Devices are configured to connect through the proxy</a:t>
            </a:r>
          </a:p>
          <a:p>
            <a:pPr>
              <a:buFont typeface="Arial" panose="020B0604020202020204" pitchFamily="34" charset="0"/>
              <a:buChar char="•"/>
            </a:pPr>
            <a:r>
              <a:rPr lang="en-US" dirty="0"/>
              <a:t>Admin controls website access, logging, and caching</a:t>
            </a:r>
          </a:p>
          <a:p>
            <a:endParaRPr lang="en-IN" dirty="0"/>
          </a:p>
        </p:txBody>
      </p:sp>
    </p:spTree>
    <p:extLst>
      <p:ext uri="{BB962C8B-B14F-4D97-AF65-F5344CB8AC3E}">
        <p14:creationId xmlns:p14="http://schemas.microsoft.com/office/powerpoint/2010/main" val="37991407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6361A-6E1D-0609-D7B4-DD9FEB9570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8AE9EC-07B1-4B36-A72B-0192BDDCD2F9}"/>
              </a:ext>
            </a:extLst>
          </p:cNvPr>
          <p:cNvSpPr>
            <a:spLocks noGrp="1"/>
          </p:cNvSpPr>
          <p:nvPr>
            <p:ph idx="1"/>
          </p:nvPr>
        </p:nvSpPr>
        <p:spPr/>
        <p:txBody>
          <a:bodyPr/>
          <a:lstStyle/>
          <a:p>
            <a:r>
              <a:rPr lang="en-US" dirty="0"/>
              <a:t>⚙️ How a Proxy Server Works (Step-by-Step) </a:t>
            </a:r>
          </a:p>
          <a:p>
            <a:r>
              <a:rPr lang="en-US" dirty="0"/>
              <a:t>🧍 Step 1: You Request Something You open your browser and ask for a website — like www.youtube.com. </a:t>
            </a:r>
          </a:p>
          <a:p>
            <a:r>
              <a:rPr lang="en-US" dirty="0"/>
              <a:t>🛰️ Step 2: Request Goes to the Proxy Instead of going straight to YouTube, the request first goes to the proxy server. </a:t>
            </a:r>
          </a:p>
          <a:p>
            <a:r>
              <a:rPr lang="en-US" dirty="0"/>
              <a:t>🌍 Step 3: Proxy Forwards the Request The proxy then sends the request to YouTube on your behalf.</a:t>
            </a:r>
            <a:endParaRPr lang="en-IN" dirty="0"/>
          </a:p>
        </p:txBody>
      </p:sp>
    </p:spTree>
    <p:extLst>
      <p:ext uri="{BB962C8B-B14F-4D97-AF65-F5344CB8AC3E}">
        <p14:creationId xmlns:p14="http://schemas.microsoft.com/office/powerpoint/2010/main" val="3828275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98864-8458-7712-5626-8A900AA3090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2866AE-8950-517B-5DDA-65B5F8E1B0BB}"/>
              </a:ext>
            </a:extLst>
          </p:cNvPr>
          <p:cNvSpPr>
            <a:spLocks noGrp="1"/>
          </p:cNvSpPr>
          <p:nvPr>
            <p:ph idx="1"/>
          </p:nvPr>
        </p:nvSpPr>
        <p:spPr/>
        <p:txBody>
          <a:bodyPr/>
          <a:lstStyle/>
          <a:p>
            <a:r>
              <a:rPr lang="en-US" dirty="0"/>
              <a:t>Now YouTube thinks the request is coming from the proxy, not from you directly. </a:t>
            </a:r>
          </a:p>
          <a:p>
            <a:r>
              <a:rPr lang="en-US" dirty="0"/>
              <a:t>📦 Step 4: Proxy Gets the Response YouTube sends the webpage or video back to the proxy server. </a:t>
            </a:r>
          </a:p>
          <a:p>
            <a:r>
              <a:rPr lang="en-US" dirty="0"/>
              <a:t>📥 Step 5: Proxy Sends it Back to You The proxy finally sends the result to your device.</a:t>
            </a:r>
            <a:endParaRPr lang="en-IN" dirty="0"/>
          </a:p>
        </p:txBody>
      </p:sp>
    </p:spTree>
    <p:extLst>
      <p:ext uri="{BB962C8B-B14F-4D97-AF65-F5344CB8AC3E}">
        <p14:creationId xmlns:p14="http://schemas.microsoft.com/office/powerpoint/2010/main" val="36807671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28A80-B56A-A5E3-B688-10710DC0E772}"/>
              </a:ext>
            </a:extLst>
          </p:cNvPr>
          <p:cNvSpPr>
            <a:spLocks noGrp="1"/>
          </p:cNvSpPr>
          <p:nvPr>
            <p:ph type="title"/>
          </p:nvPr>
        </p:nvSpPr>
        <p:spPr/>
        <p:txBody>
          <a:bodyPr>
            <a:normAutofit fontScale="90000"/>
          </a:bodyPr>
          <a:lstStyle/>
          <a:p>
            <a:r>
              <a:rPr lang="en-US" b="1" dirty="0"/>
              <a:t>VPN (Virtual Private Network) – </a:t>
            </a:r>
            <a:r>
              <a:rPr lang="en-US" b="1" i="1" dirty="0"/>
              <a:t>The secure tunnel</a:t>
            </a:r>
            <a:br>
              <a:rPr lang="en-US" b="1" dirty="0"/>
            </a:br>
            <a:endParaRPr lang="en-IN" dirty="0"/>
          </a:p>
        </p:txBody>
      </p:sp>
      <p:sp>
        <p:nvSpPr>
          <p:cNvPr id="3" name="Content Placeholder 2">
            <a:extLst>
              <a:ext uri="{FF2B5EF4-FFF2-40B4-BE49-F238E27FC236}">
                <a16:creationId xmlns:a16="http://schemas.microsoft.com/office/drawing/2014/main" id="{E042BA23-309B-8C63-AAC9-4F3B86623C9C}"/>
              </a:ext>
            </a:extLst>
          </p:cNvPr>
          <p:cNvSpPr>
            <a:spLocks noGrp="1"/>
          </p:cNvSpPr>
          <p:nvPr>
            <p:ph idx="1"/>
          </p:nvPr>
        </p:nvSpPr>
        <p:spPr/>
        <p:txBody>
          <a:bodyPr>
            <a:normAutofit/>
          </a:bodyPr>
          <a:lstStyle/>
          <a:p>
            <a:pPr>
              <a:buNone/>
            </a:pPr>
            <a:r>
              <a:rPr lang="en-US" b="1" dirty="0"/>
              <a:t>📌 What it does:</a:t>
            </a:r>
          </a:p>
          <a:p>
            <a:pPr>
              <a:buFont typeface="Arial" panose="020B0604020202020204" pitchFamily="34" charset="0"/>
              <a:buChar char="•"/>
            </a:pPr>
            <a:r>
              <a:rPr lang="en-US" b="1" dirty="0"/>
              <a:t>Encrypts</a:t>
            </a:r>
            <a:r>
              <a:rPr lang="en-US" dirty="0"/>
              <a:t> data between two networks or a user and the company</a:t>
            </a:r>
          </a:p>
          <a:p>
            <a:pPr>
              <a:buFont typeface="Arial" panose="020B0604020202020204" pitchFamily="34" charset="0"/>
              <a:buChar char="•"/>
            </a:pPr>
            <a:r>
              <a:rPr lang="en-US" dirty="0"/>
              <a:t>Allows remote workers or branch offices to securely connect to HQ</a:t>
            </a:r>
          </a:p>
          <a:p>
            <a:pPr>
              <a:buNone/>
            </a:pPr>
            <a:r>
              <a:rPr lang="en-US" dirty="0"/>
              <a:t>📦 Analogy: Like a </a:t>
            </a:r>
            <a:r>
              <a:rPr lang="en-US" b="1" dirty="0"/>
              <a:t>secret tunnel</a:t>
            </a:r>
            <a:r>
              <a:rPr lang="en-US" dirty="0"/>
              <a:t> under the internet that no one can spy on.</a:t>
            </a:r>
          </a:p>
          <a:p>
            <a:pPr>
              <a:buNone/>
            </a:pPr>
            <a:r>
              <a:rPr lang="en-US" b="1" dirty="0"/>
              <a:t>Setup:</a:t>
            </a:r>
          </a:p>
          <a:p>
            <a:pPr>
              <a:buFont typeface="Arial" panose="020B0604020202020204" pitchFamily="34" charset="0"/>
              <a:buChar char="•"/>
            </a:pPr>
            <a:r>
              <a:rPr lang="en-US" dirty="0"/>
              <a:t>VPN software or hardware gateway</a:t>
            </a:r>
          </a:p>
          <a:p>
            <a:pPr>
              <a:buFont typeface="Arial" panose="020B0604020202020204" pitchFamily="34" charset="0"/>
              <a:buChar char="•"/>
            </a:pPr>
            <a:r>
              <a:rPr lang="en-US" dirty="0"/>
              <a:t>Used between cities, countries, or remote employees</a:t>
            </a:r>
          </a:p>
          <a:p>
            <a:endParaRPr lang="en-IN" dirty="0"/>
          </a:p>
        </p:txBody>
      </p:sp>
    </p:spTree>
    <p:extLst>
      <p:ext uri="{BB962C8B-B14F-4D97-AF65-F5344CB8AC3E}">
        <p14:creationId xmlns:p14="http://schemas.microsoft.com/office/powerpoint/2010/main" val="4038164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E484B-3B21-B629-B02C-A65D4AD7DAF2}"/>
              </a:ext>
            </a:extLst>
          </p:cNvPr>
          <p:cNvSpPr>
            <a:spLocks noGrp="1"/>
          </p:cNvSpPr>
          <p:nvPr>
            <p:ph type="title"/>
          </p:nvPr>
        </p:nvSpPr>
        <p:spPr/>
        <p:txBody>
          <a:bodyPr/>
          <a:lstStyle/>
          <a:p>
            <a:r>
              <a:rPr lang="en-US" b="1" dirty="0"/>
              <a:t>Server – </a:t>
            </a:r>
            <a:r>
              <a:rPr lang="en-US" b="1" i="1" dirty="0"/>
              <a:t>The central brain</a:t>
            </a:r>
            <a:br>
              <a:rPr lang="en-US" b="1" dirty="0"/>
            </a:br>
            <a:endParaRPr lang="en-IN" dirty="0"/>
          </a:p>
        </p:txBody>
      </p:sp>
      <p:sp>
        <p:nvSpPr>
          <p:cNvPr id="3" name="Content Placeholder 2">
            <a:extLst>
              <a:ext uri="{FF2B5EF4-FFF2-40B4-BE49-F238E27FC236}">
                <a16:creationId xmlns:a16="http://schemas.microsoft.com/office/drawing/2014/main" id="{F881173D-E926-DF72-80F4-9980B8362873}"/>
              </a:ext>
            </a:extLst>
          </p:cNvPr>
          <p:cNvSpPr>
            <a:spLocks noGrp="1"/>
          </p:cNvSpPr>
          <p:nvPr>
            <p:ph idx="1"/>
          </p:nvPr>
        </p:nvSpPr>
        <p:spPr/>
        <p:txBody>
          <a:bodyPr>
            <a:normAutofit fontScale="85000" lnSpcReduction="20000"/>
          </a:bodyPr>
          <a:lstStyle/>
          <a:p>
            <a:pPr>
              <a:buNone/>
            </a:pPr>
            <a:r>
              <a:rPr lang="en-US" b="1" dirty="0"/>
              <a:t>📌 What it does:</a:t>
            </a:r>
          </a:p>
          <a:p>
            <a:pPr>
              <a:buFont typeface="Arial" panose="020B0604020202020204" pitchFamily="34" charset="0"/>
              <a:buChar char="•"/>
            </a:pPr>
            <a:r>
              <a:rPr lang="en-US" dirty="0"/>
              <a:t>Stores files, apps, websites, and more</a:t>
            </a:r>
          </a:p>
          <a:p>
            <a:pPr>
              <a:buFont typeface="Arial" panose="020B0604020202020204" pitchFamily="34" charset="0"/>
              <a:buChar char="•"/>
            </a:pPr>
            <a:r>
              <a:rPr lang="en-US" dirty="0"/>
              <a:t>Other devices (clients) request data from it</a:t>
            </a:r>
          </a:p>
          <a:p>
            <a:pPr>
              <a:buNone/>
            </a:pPr>
            <a:r>
              <a:rPr lang="en-US" dirty="0"/>
              <a:t>📦 Analogy: Like a </a:t>
            </a:r>
            <a:r>
              <a:rPr lang="en-US" b="1" dirty="0"/>
              <a:t>library</a:t>
            </a:r>
            <a:r>
              <a:rPr lang="en-US" dirty="0"/>
              <a:t>—you go there to get files or info.</a:t>
            </a:r>
          </a:p>
          <a:p>
            <a:pPr>
              <a:buNone/>
            </a:pPr>
            <a:r>
              <a:rPr lang="en-US" b="1" dirty="0"/>
              <a:t>Types of servers:</a:t>
            </a:r>
          </a:p>
          <a:p>
            <a:pPr>
              <a:buFont typeface="Arial" panose="020B0604020202020204" pitchFamily="34" charset="0"/>
              <a:buChar char="•"/>
            </a:pPr>
            <a:r>
              <a:rPr lang="en-US" dirty="0"/>
              <a:t>File server (for documents)</a:t>
            </a:r>
          </a:p>
          <a:p>
            <a:pPr>
              <a:buFont typeface="Arial" panose="020B0604020202020204" pitchFamily="34" charset="0"/>
              <a:buChar char="•"/>
            </a:pPr>
            <a:r>
              <a:rPr lang="en-US" dirty="0"/>
              <a:t>Web server (for websites)</a:t>
            </a:r>
          </a:p>
          <a:p>
            <a:pPr>
              <a:buFont typeface="Arial" panose="020B0604020202020204" pitchFamily="34" charset="0"/>
              <a:buChar char="•"/>
            </a:pPr>
            <a:r>
              <a:rPr lang="en-US" dirty="0"/>
              <a:t>Database server (for apps)</a:t>
            </a:r>
          </a:p>
          <a:p>
            <a:pPr>
              <a:buNone/>
            </a:pPr>
            <a:r>
              <a:rPr lang="en-US" b="1" dirty="0"/>
              <a:t>Setup:</a:t>
            </a:r>
          </a:p>
          <a:p>
            <a:pPr>
              <a:buFont typeface="Arial" panose="020B0604020202020204" pitchFamily="34" charset="0"/>
              <a:buChar char="•"/>
            </a:pPr>
            <a:r>
              <a:rPr lang="en-US" dirty="0"/>
              <a:t>Configured with an OS (like Windows Server or Linux)</a:t>
            </a:r>
          </a:p>
          <a:p>
            <a:pPr>
              <a:buFont typeface="Arial" panose="020B0604020202020204" pitchFamily="34" charset="0"/>
              <a:buChar char="•"/>
            </a:pPr>
            <a:r>
              <a:rPr lang="en-US" dirty="0"/>
              <a:t>Connected via switch and given a static IP</a:t>
            </a:r>
          </a:p>
          <a:p>
            <a:endParaRPr lang="en-IN" dirty="0"/>
          </a:p>
        </p:txBody>
      </p:sp>
    </p:spTree>
    <p:extLst>
      <p:ext uri="{BB962C8B-B14F-4D97-AF65-F5344CB8AC3E}">
        <p14:creationId xmlns:p14="http://schemas.microsoft.com/office/powerpoint/2010/main" val="3844895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1F3FB-AC6A-2C6F-DFBD-5C149110599B}"/>
              </a:ext>
            </a:extLst>
          </p:cNvPr>
          <p:cNvSpPr>
            <a:spLocks noGrp="1"/>
          </p:cNvSpPr>
          <p:nvPr>
            <p:ph type="title"/>
          </p:nvPr>
        </p:nvSpPr>
        <p:spPr/>
        <p:txBody>
          <a:bodyPr/>
          <a:lstStyle/>
          <a:p>
            <a:r>
              <a:rPr lang="en-IN" b="1" dirty="0"/>
              <a:t>Security in Networking</a:t>
            </a:r>
            <a:br>
              <a:rPr lang="en-IN" b="1" dirty="0"/>
            </a:br>
            <a:endParaRPr lang="en-IN" dirty="0"/>
          </a:p>
        </p:txBody>
      </p:sp>
      <p:sp>
        <p:nvSpPr>
          <p:cNvPr id="3" name="Content Placeholder 2">
            <a:extLst>
              <a:ext uri="{FF2B5EF4-FFF2-40B4-BE49-F238E27FC236}">
                <a16:creationId xmlns:a16="http://schemas.microsoft.com/office/drawing/2014/main" id="{ABC5171C-DD7E-A157-ED21-347792E8AF1F}"/>
              </a:ext>
            </a:extLst>
          </p:cNvPr>
          <p:cNvSpPr>
            <a:spLocks noGrp="1"/>
          </p:cNvSpPr>
          <p:nvPr>
            <p:ph idx="1"/>
          </p:nvPr>
        </p:nvSpPr>
        <p:spPr/>
        <p:txBody>
          <a:bodyPr/>
          <a:lstStyle/>
          <a:p>
            <a:pPr>
              <a:buFont typeface="Arial" panose="020B0604020202020204" pitchFamily="34" charset="0"/>
              <a:buChar char="•"/>
            </a:pPr>
            <a:r>
              <a:rPr lang="en-IN" b="1" dirty="0"/>
              <a:t>Encryption</a:t>
            </a:r>
            <a:r>
              <a:rPr lang="en-IN" dirty="0"/>
              <a:t>: Scrambles data so that only the intended receiver can read it.</a:t>
            </a:r>
          </a:p>
          <a:p>
            <a:pPr>
              <a:buFont typeface="Arial" panose="020B0604020202020204" pitchFamily="34" charset="0"/>
              <a:buChar char="•"/>
            </a:pPr>
            <a:r>
              <a:rPr lang="en-IN" b="1" dirty="0"/>
              <a:t>VPN (Virtual Private Network)</a:t>
            </a:r>
            <a:r>
              <a:rPr lang="en-IN" dirty="0"/>
              <a:t>: Creates a </a:t>
            </a:r>
            <a:r>
              <a:rPr lang="en-IN" b="1" dirty="0"/>
              <a:t>secure tunnel</a:t>
            </a:r>
            <a:r>
              <a:rPr lang="en-IN" dirty="0"/>
              <a:t> for data over the internet.</a:t>
            </a:r>
          </a:p>
          <a:p>
            <a:pPr>
              <a:buFont typeface="Arial" panose="020B0604020202020204" pitchFamily="34" charset="0"/>
              <a:buChar char="•"/>
            </a:pPr>
            <a:r>
              <a:rPr lang="en-IN" b="1" dirty="0"/>
              <a:t>Authentication</a:t>
            </a:r>
            <a:r>
              <a:rPr lang="en-IN" dirty="0"/>
              <a:t>: Verifies user identity (via username/password, biometrics, OTP).</a:t>
            </a:r>
          </a:p>
          <a:p>
            <a:endParaRPr lang="en-IN" dirty="0"/>
          </a:p>
        </p:txBody>
      </p:sp>
    </p:spTree>
    <p:extLst>
      <p:ext uri="{BB962C8B-B14F-4D97-AF65-F5344CB8AC3E}">
        <p14:creationId xmlns:p14="http://schemas.microsoft.com/office/powerpoint/2010/main" val="18769571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E70B0-E039-6740-0BB9-2A89311C1A10}"/>
              </a:ext>
            </a:extLst>
          </p:cNvPr>
          <p:cNvSpPr>
            <a:spLocks noGrp="1"/>
          </p:cNvSpPr>
          <p:nvPr>
            <p:ph type="title"/>
          </p:nvPr>
        </p:nvSpPr>
        <p:spPr/>
        <p:txBody>
          <a:bodyPr/>
          <a:lstStyle/>
          <a:p>
            <a:r>
              <a:rPr lang="en-US" b="1" dirty="0"/>
              <a:t>How Does a Firewall Work (Technically)?</a:t>
            </a:r>
            <a:br>
              <a:rPr lang="en-US" b="1" dirty="0"/>
            </a:br>
            <a:endParaRPr lang="en-IN" dirty="0"/>
          </a:p>
        </p:txBody>
      </p:sp>
      <p:sp>
        <p:nvSpPr>
          <p:cNvPr id="3" name="Content Placeholder 2">
            <a:extLst>
              <a:ext uri="{FF2B5EF4-FFF2-40B4-BE49-F238E27FC236}">
                <a16:creationId xmlns:a16="http://schemas.microsoft.com/office/drawing/2014/main" id="{2B5C6E7A-F9E7-B966-3D0B-F5AC3EFF95CE}"/>
              </a:ext>
            </a:extLst>
          </p:cNvPr>
          <p:cNvSpPr>
            <a:spLocks noGrp="1"/>
          </p:cNvSpPr>
          <p:nvPr>
            <p:ph idx="1"/>
          </p:nvPr>
        </p:nvSpPr>
        <p:spPr/>
        <p:txBody>
          <a:bodyPr>
            <a:normAutofit lnSpcReduction="10000"/>
          </a:bodyPr>
          <a:lstStyle/>
          <a:p>
            <a:pPr>
              <a:buNone/>
            </a:pPr>
            <a:r>
              <a:rPr lang="en-US" dirty="0"/>
              <a:t>A firewall sits </a:t>
            </a:r>
            <a:r>
              <a:rPr lang="en-US" b="1" dirty="0"/>
              <a:t>between the internal network (LAN)</a:t>
            </a:r>
            <a:r>
              <a:rPr lang="en-US" dirty="0"/>
              <a:t> and the </a:t>
            </a:r>
            <a:r>
              <a:rPr lang="en-US" b="1" dirty="0"/>
              <a:t>outside network (like the Internet)</a:t>
            </a:r>
            <a:r>
              <a:rPr lang="en-US" dirty="0"/>
              <a:t>. It analyzes every packet of data that tries to enter or leave and makes decisions based on rules.</a:t>
            </a:r>
          </a:p>
          <a:p>
            <a:pPr>
              <a:buFont typeface="Arial" panose="020B0604020202020204" pitchFamily="34" charset="0"/>
              <a:buChar char="•"/>
            </a:pPr>
            <a:r>
              <a:rPr lang="en-US" dirty="0"/>
              <a:t>🔍 </a:t>
            </a:r>
            <a:r>
              <a:rPr lang="en-US" b="1" dirty="0"/>
              <a:t>Packet Inspection:</a:t>
            </a:r>
            <a:r>
              <a:rPr lang="en-US" dirty="0"/>
              <a:t> It checks:</a:t>
            </a:r>
          </a:p>
          <a:p>
            <a:pPr marL="742950" lvl="1" indent="-285750">
              <a:buFont typeface="Arial" panose="020B0604020202020204" pitchFamily="34" charset="0"/>
              <a:buChar char="•"/>
            </a:pPr>
            <a:r>
              <a:rPr lang="en-US" b="1" dirty="0"/>
              <a:t>Source and destination IP address</a:t>
            </a:r>
            <a:endParaRPr lang="en-US" dirty="0"/>
          </a:p>
          <a:p>
            <a:pPr marL="742950" lvl="1" indent="-285750">
              <a:buFont typeface="Arial" panose="020B0604020202020204" pitchFamily="34" charset="0"/>
              <a:buChar char="•"/>
            </a:pPr>
            <a:r>
              <a:rPr lang="en-US" b="1" dirty="0"/>
              <a:t>Port number</a:t>
            </a:r>
            <a:r>
              <a:rPr lang="en-US" dirty="0"/>
              <a:t> (which app is using the data)</a:t>
            </a:r>
          </a:p>
          <a:p>
            <a:pPr marL="742950" lvl="1" indent="-285750">
              <a:buFont typeface="Arial" panose="020B0604020202020204" pitchFamily="34" charset="0"/>
              <a:buChar char="•"/>
            </a:pPr>
            <a:r>
              <a:rPr lang="en-US" b="1" dirty="0"/>
              <a:t>Protocol</a:t>
            </a:r>
            <a:r>
              <a:rPr lang="en-US" dirty="0"/>
              <a:t> (HTTP, FTP, etc.)</a:t>
            </a:r>
          </a:p>
          <a:p>
            <a:pPr>
              <a:buFont typeface="Arial" panose="020B0604020202020204" pitchFamily="34" charset="0"/>
              <a:buChar char="•"/>
            </a:pPr>
            <a:r>
              <a:rPr lang="en-US" dirty="0"/>
              <a:t>🚫 </a:t>
            </a:r>
            <a:r>
              <a:rPr lang="en-US" b="1" dirty="0"/>
              <a:t>Rules and Policies:</a:t>
            </a:r>
            <a:r>
              <a:rPr lang="en-US" dirty="0"/>
              <a:t> Admins set rules like:</a:t>
            </a:r>
          </a:p>
          <a:p>
            <a:pPr marL="742950" lvl="1" indent="-285750">
              <a:buFont typeface="Arial" panose="020B0604020202020204" pitchFamily="34" charset="0"/>
              <a:buChar char="•"/>
            </a:pPr>
            <a:r>
              <a:rPr lang="en-US" dirty="0"/>
              <a:t>Allow HTTP (port 80), block FTP (port 21)</a:t>
            </a:r>
          </a:p>
          <a:p>
            <a:pPr marL="742950" lvl="1" indent="-285750">
              <a:buFont typeface="Arial" panose="020B0604020202020204" pitchFamily="34" charset="0"/>
              <a:buChar char="•"/>
            </a:pPr>
            <a:r>
              <a:rPr lang="en-US" dirty="0"/>
              <a:t>Allow only internal IPs to access the server</a:t>
            </a:r>
          </a:p>
          <a:p>
            <a:pPr marL="742950" lvl="1" indent="-285750">
              <a:buFont typeface="Arial" panose="020B0604020202020204" pitchFamily="34" charset="0"/>
              <a:buChar char="•"/>
            </a:pPr>
            <a:r>
              <a:rPr lang="en-US" dirty="0"/>
              <a:t>Block all unknown incoming connections</a:t>
            </a:r>
          </a:p>
          <a:p>
            <a:endParaRPr lang="en-IN" dirty="0"/>
          </a:p>
        </p:txBody>
      </p:sp>
    </p:spTree>
    <p:extLst>
      <p:ext uri="{BB962C8B-B14F-4D97-AF65-F5344CB8AC3E}">
        <p14:creationId xmlns:p14="http://schemas.microsoft.com/office/powerpoint/2010/main" val="27818198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2" name="Group 11">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3" name="Rectangle 12">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6" name="Freeform: Shape 15">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0D0E9816-A1D2-7A4C-C55B-13D5D3EDA822}"/>
              </a:ext>
            </a:extLst>
          </p:cNvPr>
          <p:cNvSpPr>
            <a:spLocks noGrp="1"/>
          </p:cNvSpPr>
          <p:nvPr>
            <p:ph type="title"/>
          </p:nvPr>
        </p:nvSpPr>
        <p:spPr>
          <a:xfrm>
            <a:off x="1143000" y="990599"/>
            <a:ext cx="9906000" cy="685800"/>
          </a:xfrm>
        </p:spPr>
        <p:txBody>
          <a:bodyPr anchor="t">
            <a:normAutofit/>
          </a:bodyPr>
          <a:lstStyle/>
          <a:p>
            <a:pPr marL="0" marR="0" lvl="0" indent="0" defTabSz="914400" rtl="0" eaLnBrk="0" fontAlgn="base" latinLnBrk="0" hangingPunct="0">
              <a:spcBef>
                <a:spcPct val="0"/>
              </a:spcBef>
              <a:spcAft>
                <a:spcPct val="0"/>
              </a:spcAft>
              <a:buClrTx/>
              <a:buSzTx/>
              <a:buFontTx/>
              <a:buNone/>
              <a:tabLst/>
            </a:pPr>
            <a:r>
              <a:rPr kumimoji="0" lang="en-US" altLang="en-US" sz="4000" b="1" i="0" u="none" strike="noStrike" cap="none" normalizeH="0" baseline="0">
                <a:ln>
                  <a:noFill/>
                </a:ln>
                <a:effectLst/>
                <a:latin typeface="Arial" panose="020B0604020202020204" pitchFamily="34" charset="0"/>
              </a:rPr>
              <a:t>🧱 Types of Firewalls</a:t>
            </a:r>
          </a:p>
          <a:p>
            <a:pPr marL="0" marR="0" lvl="0" indent="0" defTabSz="914400" rtl="0" eaLnBrk="0" fontAlgn="base" latinLnBrk="0" hangingPunct="0">
              <a:spcBef>
                <a:spcPct val="0"/>
              </a:spcBef>
              <a:spcAft>
                <a:spcPct val="0"/>
              </a:spcAft>
              <a:buClrTx/>
              <a:buSzTx/>
              <a:buFontTx/>
              <a:buNone/>
              <a:tabLst/>
            </a:pPr>
            <a:endParaRPr kumimoji="0" lang="en-US" altLang="en-US" sz="4000" b="0" i="0" u="none" strike="noStrike" cap="none" normalizeH="0" baseline="0">
              <a:ln>
                <a:noFill/>
              </a:ln>
              <a:effectLst/>
              <a:latin typeface="Arial" panose="020B0604020202020204" pitchFamily="34" charset="0"/>
            </a:endParaRPr>
          </a:p>
        </p:txBody>
      </p:sp>
      <p:graphicFrame>
        <p:nvGraphicFramePr>
          <p:cNvPr id="4" name="Content Placeholder 3">
            <a:extLst>
              <a:ext uri="{FF2B5EF4-FFF2-40B4-BE49-F238E27FC236}">
                <a16:creationId xmlns:a16="http://schemas.microsoft.com/office/drawing/2014/main" id="{0E8D29B5-9EF7-35D3-C95B-40BC0BCD4D04}"/>
              </a:ext>
            </a:extLst>
          </p:cNvPr>
          <p:cNvGraphicFramePr>
            <a:graphicFrameLocks noGrp="1"/>
          </p:cNvGraphicFramePr>
          <p:nvPr>
            <p:ph idx="1"/>
            <p:extLst>
              <p:ext uri="{D42A27DB-BD31-4B8C-83A1-F6EECF244321}">
                <p14:modId xmlns:p14="http://schemas.microsoft.com/office/powerpoint/2010/main" val="1641055156"/>
              </p:ext>
            </p:extLst>
          </p:nvPr>
        </p:nvGraphicFramePr>
        <p:xfrm>
          <a:off x="685800" y="2423300"/>
          <a:ext cx="10820402" cy="3161656"/>
        </p:xfrm>
        <a:graphic>
          <a:graphicData uri="http://schemas.openxmlformats.org/drawingml/2006/table">
            <a:tbl>
              <a:tblPr/>
              <a:tblGrid>
                <a:gridCol w="3564611">
                  <a:extLst>
                    <a:ext uri="{9D8B030D-6E8A-4147-A177-3AD203B41FA5}">
                      <a16:colId xmlns:a16="http://schemas.microsoft.com/office/drawing/2014/main" val="1030297737"/>
                    </a:ext>
                  </a:extLst>
                </a:gridCol>
                <a:gridCol w="3691180">
                  <a:extLst>
                    <a:ext uri="{9D8B030D-6E8A-4147-A177-3AD203B41FA5}">
                      <a16:colId xmlns:a16="http://schemas.microsoft.com/office/drawing/2014/main" val="4041011078"/>
                    </a:ext>
                  </a:extLst>
                </a:gridCol>
                <a:gridCol w="3564611">
                  <a:extLst>
                    <a:ext uri="{9D8B030D-6E8A-4147-A177-3AD203B41FA5}">
                      <a16:colId xmlns:a16="http://schemas.microsoft.com/office/drawing/2014/main" val="78878651"/>
                    </a:ext>
                  </a:extLst>
                </a:gridCol>
              </a:tblGrid>
              <a:tr h="409156">
                <a:tc>
                  <a:txBody>
                    <a:bodyPr/>
                    <a:lstStyle/>
                    <a:p>
                      <a:pPr algn="l" fontAlgn="ctr">
                        <a:buNone/>
                      </a:pPr>
                      <a:r>
                        <a:rPr lang="en-IN" sz="1800" b="0" i="0" u="none" strike="noStrike">
                          <a:effectLst/>
                          <a:latin typeface="Arial" panose="020B0604020202020204" pitchFamily="34" charset="0"/>
                        </a:rPr>
                        <a:t>Type</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800" b="0" i="0" u="none" strike="noStrike">
                          <a:effectLst/>
                          <a:latin typeface="Arial" panose="020B0604020202020204" pitchFamily="34" charset="0"/>
                        </a:rPr>
                        <a:t>Description</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800" b="0" i="0" u="none" strike="noStrike">
                          <a:effectLst/>
                          <a:latin typeface="Arial" panose="020B0604020202020204" pitchFamily="34" charset="0"/>
                        </a:rPr>
                        <a:t>Layer</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2580031"/>
                  </a:ext>
                </a:extLst>
              </a:tr>
              <a:tr h="688125">
                <a:tc>
                  <a:txBody>
                    <a:bodyPr/>
                    <a:lstStyle/>
                    <a:p>
                      <a:pPr algn="l" fontAlgn="ctr">
                        <a:buNone/>
                      </a:pPr>
                      <a:r>
                        <a:rPr lang="en-IN" sz="1800" b="1" i="0" u="none" strike="noStrike">
                          <a:effectLst/>
                          <a:latin typeface="Arial" panose="020B0604020202020204" pitchFamily="34" charset="0"/>
                        </a:rPr>
                        <a:t>Packet Filtering Firewall</a:t>
                      </a:r>
                      <a:endParaRPr lang="en-IN" sz="1800" b="0" i="0" u="none" strike="noStrike">
                        <a:effectLst/>
                        <a:latin typeface="Arial" panose="020B0604020202020204" pitchFamily="34" charset="0"/>
                      </a:endParaRP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800" b="0" i="0" u="none" strike="noStrike">
                          <a:effectLst/>
                          <a:latin typeface="Arial" panose="020B0604020202020204" pitchFamily="34" charset="0"/>
                        </a:rPr>
                        <a:t>Basic firewall that checks each packet’s header info</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800" b="0" i="0" u="none" strike="noStrike">
                          <a:effectLst/>
                          <a:latin typeface="Arial" panose="020B0604020202020204" pitchFamily="34" charset="0"/>
                        </a:rPr>
                        <a:t>Layer 3 (Network)</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4200416"/>
                  </a:ext>
                </a:extLst>
              </a:tr>
              <a:tr h="688125">
                <a:tc>
                  <a:txBody>
                    <a:bodyPr/>
                    <a:lstStyle/>
                    <a:p>
                      <a:pPr algn="l" fontAlgn="ctr">
                        <a:buNone/>
                      </a:pPr>
                      <a:r>
                        <a:rPr lang="en-IN" sz="1800" b="1" i="0" u="none" strike="noStrike">
                          <a:effectLst/>
                          <a:latin typeface="Arial" panose="020B0604020202020204" pitchFamily="34" charset="0"/>
                        </a:rPr>
                        <a:t>Stateful Inspection Firewall</a:t>
                      </a:r>
                      <a:endParaRPr lang="en-IN" sz="1800" b="0" i="0" u="none" strike="noStrike">
                        <a:effectLst/>
                        <a:latin typeface="Arial" panose="020B0604020202020204" pitchFamily="34" charset="0"/>
                      </a:endParaRP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800" b="0" i="0" u="none" strike="noStrike">
                          <a:effectLst/>
                          <a:latin typeface="Arial" panose="020B0604020202020204" pitchFamily="34" charset="0"/>
                        </a:rPr>
                        <a:t>Tracks connection states (beginning, ongoing, end)</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800" b="0" i="0" u="none" strike="noStrike">
                          <a:effectLst/>
                          <a:latin typeface="Arial" panose="020B0604020202020204" pitchFamily="34" charset="0"/>
                        </a:rPr>
                        <a:t>Layer 4 (Transport)</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9881289"/>
                  </a:ext>
                </a:extLst>
              </a:tr>
              <a:tr h="688125">
                <a:tc>
                  <a:txBody>
                    <a:bodyPr/>
                    <a:lstStyle/>
                    <a:p>
                      <a:pPr algn="l" fontAlgn="ctr">
                        <a:buNone/>
                      </a:pPr>
                      <a:r>
                        <a:rPr lang="en-US" sz="1800" b="1" i="0" u="none" strike="noStrike">
                          <a:effectLst/>
                          <a:latin typeface="Arial" panose="020B0604020202020204" pitchFamily="34" charset="0"/>
                        </a:rPr>
                        <a:t>Application Layer Firewall (Proxy Firewall)</a:t>
                      </a:r>
                      <a:endParaRPr lang="en-US" sz="1800" b="0" i="0" u="none" strike="noStrike">
                        <a:effectLst/>
                        <a:latin typeface="Arial" panose="020B0604020202020204" pitchFamily="34" charset="0"/>
                      </a:endParaRP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800" b="0" i="0" u="none" strike="noStrike">
                          <a:effectLst/>
                          <a:latin typeface="Arial" panose="020B0604020202020204" pitchFamily="34" charset="0"/>
                        </a:rPr>
                        <a:t>Understands specific protocols like HTTP, FTP</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800" b="0" i="0" u="none" strike="noStrike">
                          <a:effectLst/>
                          <a:latin typeface="Arial" panose="020B0604020202020204" pitchFamily="34" charset="0"/>
                        </a:rPr>
                        <a:t>Layer 7 (Application)</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7602712"/>
                  </a:ext>
                </a:extLst>
              </a:tr>
              <a:tr h="688125">
                <a:tc>
                  <a:txBody>
                    <a:bodyPr/>
                    <a:lstStyle/>
                    <a:p>
                      <a:pPr algn="l" fontAlgn="ctr">
                        <a:buNone/>
                      </a:pPr>
                      <a:r>
                        <a:rPr lang="en-IN" sz="1800" b="1" i="0" u="none" strike="noStrike">
                          <a:effectLst/>
                          <a:latin typeface="Arial" panose="020B0604020202020204" pitchFamily="34" charset="0"/>
                        </a:rPr>
                        <a:t>Next-Gen Firewall (NGFW)</a:t>
                      </a:r>
                      <a:endParaRPr lang="en-IN" sz="1800" b="0" i="0" u="none" strike="noStrike">
                        <a:effectLst/>
                        <a:latin typeface="Arial" panose="020B0604020202020204" pitchFamily="34" charset="0"/>
                      </a:endParaRP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US" sz="1800" b="0" i="0" u="none" strike="noStrike">
                          <a:effectLst/>
                          <a:latin typeface="Arial" panose="020B0604020202020204" pitchFamily="34" charset="0"/>
                        </a:rPr>
                        <a:t>Includes deep packet inspection, IDS/IPS, app awareness</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r>
                        <a:rPr lang="en-IN" sz="1800" b="0" i="0" u="none" strike="noStrike" dirty="0">
                          <a:effectLst/>
                          <a:latin typeface="Arial" panose="020B0604020202020204" pitchFamily="34" charset="0"/>
                        </a:rPr>
                        <a:t>Multi-layer</a:t>
                      </a:r>
                    </a:p>
                  </a:txBody>
                  <a:tcPr marL="92990" marR="92990" marT="46495" marB="46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5211537"/>
                  </a:ext>
                </a:extLst>
              </a:tr>
            </a:tbl>
          </a:graphicData>
        </a:graphic>
      </p:graphicFrame>
    </p:spTree>
    <p:extLst>
      <p:ext uri="{BB962C8B-B14F-4D97-AF65-F5344CB8AC3E}">
        <p14:creationId xmlns:p14="http://schemas.microsoft.com/office/powerpoint/2010/main" val="15932467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4AC7-EA52-399F-FA4B-A0A578E81A1B}"/>
              </a:ext>
            </a:extLst>
          </p:cNvPr>
          <p:cNvSpPr>
            <a:spLocks noGrp="1"/>
          </p:cNvSpPr>
          <p:nvPr>
            <p:ph type="title"/>
          </p:nvPr>
        </p:nvSpPr>
        <p:spPr/>
        <p:txBody>
          <a:bodyPr/>
          <a:lstStyle/>
          <a:p>
            <a:r>
              <a:rPr lang="en-US" b="1" dirty="0"/>
              <a:t>Example in an IT Company</a:t>
            </a:r>
            <a:br>
              <a:rPr lang="en-US" b="1" dirty="0"/>
            </a:br>
            <a:endParaRPr lang="en-IN" dirty="0"/>
          </a:p>
        </p:txBody>
      </p:sp>
      <p:sp>
        <p:nvSpPr>
          <p:cNvPr id="3" name="Content Placeholder 2">
            <a:extLst>
              <a:ext uri="{FF2B5EF4-FFF2-40B4-BE49-F238E27FC236}">
                <a16:creationId xmlns:a16="http://schemas.microsoft.com/office/drawing/2014/main" id="{4CBD8B56-C0D0-910F-04F7-AE32B159C2F4}"/>
              </a:ext>
            </a:extLst>
          </p:cNvPr>
          <p:cNvSpPr>
            <a:spLocks noGrp="1"/>
          </p:cNvSpPr>
          <p:nvPr>
            <p:ph idx="1"/>
          </p:nvPr>
        </p:nvSpPr>
        <p:spPr/>
        <p:txBody>
          <a:bodyPr/>
          <a:lstStyle/>
          <a:p>
            <a:pPr>
              <a:buFont typeface="Arial" panose="020B0604020202020204" pitchFamily="34" charset="0"/>
              <a:buChar char="•"/>
            </a:pPr>
            <a:r>
              <a:rPr lang="en-US" dirty="0"/>
              <a:t>Block all access to social media sites during work hours.</a:t>
            </a:r>
          </a:p>
          <a:p>
            <a:pPr>
              <a:buFont typeface="Arial" panose="020B0604020202020204" pitchFamily="34" charset="0"/>
              <a:buChar char="•"/>
            </a:pPr>
            <a:r>
              <a:rPr lang="en-US" dirty="0"/>
              <a:t>Allow only developers’ IPs to access GitHub.</a:t>
            </a:r>
          </a:p>
          <a:p>
            <a:pPr>
              <a:buFont typeface="Arial" panose="020B0604020202020204" pitchFamily="34" charset="0"/>
              <a:buChar char="•"/>
            </a:pPr>
            <a:r>
              <a:rPr lang="en-US" dirty="0"/>
              <a:t>Block port 3389 (Remote Desktop Protocol) from outside to prevent remote attacks.</a:t>
            </a:r>
          </a:p>
          <a:p>
            <a:endParaRPr lang="en-IN" dirty="0"/>
          </a:p>
        </p:txBody>
      </p:sp>
    </p:spTree>
    <p:extLst>
      <p:ext uri="{BB962C8B-B14F-4D97-AF65-F5344CB8AC3E}">
        <p14:creationId xmlns:p14="http://schemas.microsoft.com/office/powerpoint/2010/main" val="41149584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07DE-4567-659E-61D7-1D7FEFB7599D}"/>
              </a:ext>
            </a:extLst>
          </p:cNvPr>
          <p:cNvSpPr>
            <a:spLocks noGrp="1"/>
          </p:cNvSpPr>
          <p:nvPr>
            <p:ph type="title"/>
          </p:nvPr>
        </p:nvSpPr>
        <p:spPr/>
        <p:txBody>
          <a:bodyPr/>
          <a:lstStyle/>
          <a:p>
            <a:r>
              <a:rPr lang="en-IN" b="1" dirty="0"/>
              <a:t>🛠️ Hardware vs Software Firewall</a:t>
            </a:r>
            <a:br>
              <a:rPr lang="en-IN" b="1" dirty="0"/>
            </a:br>
            <a:endParaRPr lang="en-IN" dirty="0"/>
          </a:p>
        </p:txBody>
      </p:sp>
      <p:sp>
        <p:nvSpPr>
          <p:cNvPr id="3" name="Content Placeholder 2">
            <a:extLst>
              <a:ext uri="{FF2B5EF4-FFF2-40B4-BE49-F238E27FC236}">
                <a16:creationId xmlns:a16="http://schemas.microsoft.com/office/drawing/2014/main" id="{52576327-D117-F006-B69A-B6D054AFBB14}"/>
              </a:ext>
            </a:extLst>
          </p:cNvPr>
          <p:cNvSpPr>
            <a:spLocks noGrp="1"/>
          </p:cNvSpPr>
          <p:nvPr>
            <p:ph idx="1"/>
          </p:nvPr>
        </p:nvSpPr>
        <p:spPr/>
        <p:txBody>
          <a:bodyPr/>
          <a:lstStyle/>
          <a:p>
            <a:pPr>
              <a:buFont typeface="Arial" panose="020B0604020202020204" pitchFamily="34" charset="0"/>
              <a:buChar char="•"/>
            </a:pPr>
            <a:r>
              <a:rPr lang="en-IN" b="1" dirty="0"/>
              <a:t>Hardware firewall:</a:t>
            </a:r>
            <a:r>
              <a:rPr lang="en-IN" dirty="0"/>
              <a:t> A physical device (e.g., Cisco ASA, FortiGate) at the network perimeter.</a:t>
            </a:r>
          </a:p>
          <a:p>
            <a:pPr>
              <a:buFont typeface="Arial" panose="020B0604020202020204" pitchFamily="34" charset="0"/>
              <a:buChar char="•"/>
            </a:pPr>
            <a:r>
              <a:rPr lang="en-IN" b="1" dirty="0"/>
              <a:t>Software firewall:</a:t>
            </a:r>
            <a:r>
              <a:rPr lang="en-IN" dirty="0"/>
              <a:t> Installed on individual machines (e.g., Windows Defender Firewall).</a:t>
            </a:r>
          </a:p>
          <a:p>
            <a:endParaRPr lang="en-IN" dirty="0"/>
          </a:p>
        </p:txBody>
      </p:sp>
    </p:spTree>
    <p:extLst>
      <p:ext uri="{BB962C8B-B14F-4D97-AF65-F5344CB8AC3E}">
        <p14:creationId xmlns:p14="http://schemas.microsoft.com/office/powerpoint/2010/main" val="13921361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896AD-6648-63F5-17FA-FE2EBDFBB7D8}"/>
              </a:ext>
            </a:extLst>
          </p:cNvPr>
          <p:cNvSpPr>
            <a:spLocks noGrp="1"/>
          </p:cNvSpPr>
          <p:nvPr>
            <p:ph type="title"/>
          </p:nvPr>
        </p:nvSpPr>
        <p:spPr/>
        <p:txBody>
          <a:bodyPr/>
          <a:lstStyle/>
          <a:p>
            <a:r>
              <a:rPr lang="en-US" b="1" dirty="0"/>
              <a:t>✅ What is a Proxy Server?</a:t>
            </a:r>
            <a:br>
              <a:rPr lang="en-US" b="1" dirty="0"/>
            </a:br>
            <a:endParaRPr lang="en-IN" dirty="0"/>
          </a:p>
        </p:txBody>
      </p:sp>
      <p:sp>
        <p:nvSpPr>
          <p:cNvPr id="3" name="Content Placeholder 2">
            <a:extLst>
              <a:ext uri="{FF2B5EF4-FFF2-40B4-BE49-F238E27FC236}">
                <a16:creationId xmlns:a16="http://schemas.microsoft.com/office/drawing/2014/main" id="{5CADF7A0-4460-5547-B313-B745C84F7E33}"/>
              </a:ext>
            </a:extLst>
          </p:cNvPr>
          <p:cNvSpPr>
            <a:spLocks noGrp="1"/>
          </p:cNvSpPr>
          <p:nvPr>
            <p:ph idx="1"/>
          </p:nvPr>
        </p:nvSpPr>
        <p:spPr/>
        <p:txBody>
          <a:bodyPr>
            <a:normAutofit/>
          </a:bodyPr>
          <a:lstStyle/>
          <a:p>
            <a:pPr>
              <a:buNone/>
            </a:pPr>
            <a:r>
              <a:rPr lang="en-US" dirty="0"/>
              <a:t>A </a:t>
            </a:r>
            <a:r>
              <a:rPr lang="en-US" b="1" dirty="0"/>
              <a:t>proxy server</a:t>
            </a:r>
            <a:r>
              <a:rPr lang="en-US" dirty="0"/>
              <a:t> is a system or application that </a:t>
            </a:r>
            <a:r>
              <a:rPr lang="en-US" b="1" dirty="0"/>
              <a:t>acts as an intermediary</a:t>
            </a:r>
            <a:r>
              <a:rPr lang="en-US" dirty="0"/>
              <a:t> between a client (your computer) and a destination server (like a website).</a:t>
            </a:r>
          </a:p>
          <a:p>
            <a:pPr>
              <a:buNone/>
            </a:pPr>
            <a:r>
              <a:rPr lang="en-US" dirty="0"/>
              <a:t>📦 </a:t>
            </a:r>
            <a:r>
              <a:rPr lang="en-US" b="1" dirty="0"/>
              <a:t>Purpose:</a:t>
            </a:r>
            <a:r>
              <a:rPr lang="en-US" dirty="0"/>
              <a:t> To </a:t>
            </a:r>
            <a:r>
              <a:rPr lang="en-US" b="1" dirty="0"/>
              <a:t>control, monitor, filter</a:t>
            </a:r>
            <a:r>
              <a:rPr lang="en-US" dirty="0"/>
              <a:t>, and </a:t>
            </a:r>
            <a:r>
              <a:rPr lang="en-US" b="1" dirty="0"/>
              <a:t>anonymize</a:t>
            </a:r>
            <a:r>
              <a:rPr lang="en-US" dirty="0"/>
              <a:t> internet access.</a:t>
            </a:r>
          </a:p>
          <a:p>
            <a:r>
              <a:rPr lang="en-US" dirty="0"/>
              <a:t>🧠 </a:t>
            </a:r>
            <a:r>
              <a:rPr lang="en-US" b="1" dirty="0"/>
              <a:t>Simple Analogy:</a:t>
            </a:r>
            <a:br>
              <a:rPr lang="en-US" dirty="0"/>
            </a:br>
            <a:r>
              <a:rPr lang="en-US" dirty="0"/>
              <a:t>Imagine you're talking to someone through a translator. You say something → the translator (proxy) forwards it → and brings the response back. The final person doesn’t know who you are—only the proxy does.</a:t>
            </a:r>
          </a:p>
          <a:p>
            <a:endParaRPr lang="en-IN" dirty="0"/>
          </a:p>
        </p:txBody>
      </p:sp>
    </p:spTree>
    <p:extLst>
      <p:ext uri="{BB962C8B-B14F-4D97-AF65-F5344CB8AC3E}">
        <p14:creationId xmlns:p14="http://schemas.microsoft.com/office/powerpoint/2010/main" val="30943278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ADE72-6538-8FB3-BEAC-5DA0D9824A4E}"/>
              </a:ext>
            </a:extLst>
          </p:cNvPr>
          <p:cNvSpPr>
            <a:spLocks noGrp="1"/>
          </p:cNvSpPr>
          <p:nvPr>
            <p:ph type="title"/>
          </p:nvPr>
        </p:nvSpPr>
        <p:spPr/>
        <p:txBody>
          <a:bodyPr/>
          <a:lstStyle/>
          <a:p>
            <a:r>
              <a:rPr lang="en-IN" b="1" dirty="0"/>
              <a:t>🧰 Functions of a Proxy Server</a:t>
            </a:r>
            <a:br>
              <a:rPr lang="en-IN" b="1" dirty="0"/>
            </a:br>
            <a:endParaRPr lang="en-IN" dirty="0"/>
          </a:p>
        </p:txBody>
      </p:sp>
      <p:sp>
        <p:nvSpPr>
          <p:cNvPr id="3" name="Content Placeholder 2">
            <a:extLst>
              <a:ext uri="{FF2B5EF4-FFF2-40B4-BE49-F238E27FC236}">
                <a16:creationId xmlns:a16="http://schemas.microsoft.com/office/drawing/2014/main" id="{955BA3CE-C8CD-AB7A-AA37-2E204EA27C87}"/>
              </a:ext>
            </a:extLst>
          </p:cNvPr>
          <p:cNvSpPr>
            <a:spLocks noGrp="1"/>
          </p:cNvSpPr>
          <p:nvPr>
            <p:ph idx="1"/>
          </p:nvPr>
        </p:nvSpPr>
        <p:spPr/>
        <p:txBody>
          <a:bodyPr>
            <a:normAutofit/>
          </a:bodyPr>
          <a:lstStyle/>
          <a:p>
            <a:pPr>
              <a:buFont typeface="+mj-lt"/>
              <a:buAutoNum type="arabicPeriod"/>
            </a:pPr>
            <a:r>
              <a:rPr lang="en-IN" dirty="0"/>
              <a:t>✅ </a:t>
            </a:r>
            <a:r>
              <a:rPr lang="en-IN" b="1" dirty="0"/>
              <a:t>Access Control:</a:t>
            </a:r>
            <a:endParaRPr lang="en-IN" dirty="0"/>
          </a:p>
          <a:p>
            <a:pPr marL="742950" lvl="1" indent="-285750">
              <a:buFont typeface="+mj-lt"/>
              <a:buAutoNum type="arabicPeriod"/>
            </a:pPr>
            <a:r>
              <a:rPr lang="en-IN" dirty="0"/>
              <a:t>Block specific websites or services.</a:t>
            </a:r>
          </a:p>
          <a:p>
            <a:pPr marL="742950" lvl="1" indent="-285750">
              <a:buFont typeface="+mj-lt"/>
              <a:buAutoNum type="arabicPeriod"/>
            </a:pPr>
            <a:r>
              <a:rPr lang="en-IN" dirty="0"/>
              <a:t>Allow browsing only during work hours.</a:t>
            </a:r>
          </a:p>
          <a:p>
            <a:pPr>
              <a:buFont typeface="+mj-lt"/>
              <a:buAutoNum type="arabicPeriod"/>
            </a:pPr>
            <a:r>
              <a:rPr lang="en-IN" dirty="0"/>
              <a:t>🧼 </a:t>
            </a:r>
            <a:r>
              <a:rPr lang="en-IN" b="1" dirty="0"/>
              <a:t>Content Filtering:</a:t>
            </a:r>
            <a:endParaRPr lang="en-IN" dirty="0"/>
          </a:p>
          <a:p>
            <a:pPr marL="742950" lvl="1" indent="-285750">
              <a:buFont typeface="+mj-lt"/>
              <a:buAutoNum type="arabicPeriod"/>
            </a:pPr>
            <a:r>
              <a:rPr lang="en-IN" dirty="0"/>
              <a:t>Block inappropriate content.</a:t>
            </a:r>
          </a:p>
          <a:p>
            <a:pPr marL="742950" lvl="1" indent="-285750">
              <a:buFont typeface="+mj-lt"/>
              <a:buAutoNum type="arabicPeriod"/>
            </a:pPr>
            <a:r>
              <a:rPr lang="en-IN" dirty="0"/>
              <a:t>Prevent users from accessing malicious websites.</a:t>
            </a:r>
          </a:p>
          <a:p>
            <a:pPr>
              <a:buFont typeface="+mj-lt"/>
              <a:buAutoNum type="arabicPeriod"/>
            </a:pPr>
            <a:r>
              <a:rPr lang="en-IN" dirty="0"/>
              <a:t>🕵️ </a:t>
            </a:r>
            <a:r>
              <a:rPr lang="en-IN" b="1" dirty="0"/>
              <a:t>Anonymity and Privacy:</a:t>
            </a:r>
            <a:endParaRPr lang="en-IN" dirty="0"/>
          </a:p>
          <a:p>
            <a:pPr marL="742950" lvl="1" indent="-285750">
              <a:buFont typeface="+mj-lt"/>
              <a:buAutoNum type="arabicPeriod"/>
            </a:pPr>
            <a:r>
              <a:rPr lang="en-IN" dirty="0"/>
              <a:t>Hides user’s real IP address.</a:t>
            </a:r>
          </a:p>
          <a:p>
            <a:pPr marL="742950" lvl="1" indent="-285750">
              <a:buFont typeface="+mj-lt"/>
              <a:buAutoNum type="arabicPeriod"/>
            </a:pPr>
            <a:r>
              <a:rPr lang="en-IN" dirty="0"/>
              <a:t>External websites see the proxy server’s IP.</a:t>
            </a:r>
          </a:p>
          <a:p>
            <a:endParaRPr lang="en-IN" dirty="0"/>
          </a:p>
        </p:txBody>
      </p:sp>
    </p:spTree>
    <p:extLst>
      <p:ext uri="{BB962C8B-B14F-4D97-AF65-F5344CB8AC3E}">
        <p14:creationId xmlns:p14="http://schemas.microsoft.com/office/powerpoint/2010/main" val="12683663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BAA27-6C40-0F06-7193-EAA01DF9615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CEC41F-55AA-472B-028E-FBFF21F4EC69}"/>
              </a:ext>
            </a:extLst>
          </p:cNvPr>
          <p:cNvSpPr>
            <a:spLocks noGrp="1"/>
          </p:cNvSpPr>
          <p:nvPr>
            <p:ph idx="1"/>
          </p:nvPr>
        </p:nvSpPr>
        <p:spPr/>
        <p:txBody>
          <a:bodyPr/>
          <a:lstStyle/>
          <a:p>
            <a:pPr>
              <a:buFont typeface="+mj-lt"/>
              <a:buAutoNum type="arabicPeriod"/>
            </a:pPr>
            <a:r>
              <a:rPr lang="en-IN" dirty="0"/>
              <a:t>🚀 </a:t>
            </a:r>
            <a:r>
              <a:rPr lang="en-IN" b="1" dirty="0"/>
              <a:t>Caching:</a:t>
            </a:r>
            <a:endParaRPr lang="en-IN" dirty="0"/>
          </a:p>
          <a:p>
            <a:pPr marL="742950" lvl="1" indent="-285750">
              <a:buFont typeface="+mj-lt"/>
              <a:buAutoNum type="arabicPeriod"/>
            </a:pPr>
            <a:r>
              <a:rPr lang="en-IN" dirty="0"/>
              <a:t>Stores copies of frequently visited sites.</a:t>
            </a:r>
          </a:p>
          <a:p>
            <a:pPr marL="742950" lvl="1" indent="-285750">
              <a:buFont typeface="+mj-lt"/>
              <a:buAutoNum type="arabicPeriod"/>
            </a:pPr>
            <a:r>
              <a:rPr lang="en-IN" dirty="0"/>
              <a:t>Speeds up access and saves bandwidth.</a:t>
            </a:r>
          </a:p>
          <a:p>
            <a:pPr>
              <a:buFont typeface="+mj-lt"/>
              <a:buAutoNum type="arabicPeriod"/>
            </a:pPr>
            <a:r>
              <a:rPr lang="en-IN" dirty="0"/>
              <a:t>📊 </a:t>
            </a:r>
            <a:r>
              <a:rPr lang="en-IN" b="1" dirty="0"/>
              <a:t>Monitoring and Logging:</a:t>
            </a:r>
            <a:endParaRPr lang="en-IN" dirty="0"/>
          </a:p>
          <a:p>
            <a:pPr marL="742950" lvl="1" indent="-285750">
              <a:buFont typeface="+mj-lt"/>
              <a:buAutoNum type="arabicPeriod"/>
            </a:pPr>
            <a:r>
              <a:rPr lang="en-IN" dirty="0"/>
              <a:t>Logs all user web activity.</a:t>
            </a:r>
          </a:p>
          <a:p>
            <a:pPr marL="742950" lvl="1" indent="-285750">
              <a:buFont typeface="+mj-lt"/>
              <a:buAutoNum type="arabicPeriod"/>
            </a:pPr>
            <a:r>
              <a:rPr lang="en-IN" dirty="0"/>
              <a:t>Useful for audits, security, and HR compliance.</a:t>
            </a:r>
          </a:p>
          <a:p>
            <a:endParaRPr lang="en-IN" dirty="0"/>
          </a:p>
        </p:txBody>
      </p:sp>
    </p:spTree>
    <p:extLst>
      <p:ext uri="{BB962C8B-B14F-4D97-AF65-F5344CB8AC3E}">
        <p14:creationId xmlns:p14="http://schemas.microsoft.com/office/powerpoint/2010/main" val="10568573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A183D-CB26-73F8-AC88-A6397C856A9D}"/>
              </a:ext>
            </a:extLst>
          </p:cNvPr>
          <p:cNvSpPr>
            <a:spLocks noGrp="1"/>
          </p:cNvSpPr>
          <p:nvPr>
            <p:ph type="title"/>
          </p:nvPr>
        </p:nvSpPr>
        <p:spPr/>
        <p:txBody>
          <a:bodyPr/>
          <a:lstStyle/>
          <a:p>
            <a:r>
              <a:rPr lang="en-US" b="1" dirty="0"/>
              <a:t>🔁 How Proxy Servers Work (Technically)</a:t>
            </a:r>
            <a:br>
              <a:rPr lang="en-US" b="1" dirty="0"/>
            </a:br>
            <a:endParaRPr lang="en-IN" dirty="0"/>
          </a:p>
        </p:txBody>
      </p:sp>
      <p:sp>
        <p:nvSpPr>
          <p:cNvPr id="3" name="Content Placeholder 2">
            <a:extLst>
              <a:ext uri="{FF2B5EF4-FFF2-40B4-BE49-F238E27FC236}">
                <a16:creationId xmlns:a16="http://schemas.microsoft.com/office/drawing/2014/main" id="{ACDE6D88-6BA2-A0BC-8850-1E85A5821D59}"/>
              </a:ext>
            </a:extLst>
          </p:cNvPr>
          <p:cNvSpPr>
            <a:spLocks noGrp="1"/>
          </p:cNvSpPr>
          <p:nvPr>
            <p:ph idx="1"/>
          </p:nvPr>
        </p:nvSpPr>
        <p:spPr/>
        <p:txBody>
          <a:bodyPr/>
          <a:lstStyle/>
          <a:p>
            <a:pPr>
              <a:buFont typeface="+mj-lt"/>
              <a:buAutoNum type="arabicPeriod"/>
            </a:pPr>
            <a:r>
              <a:rPr lang="en-US" dirty="0"/>
              <a:t>User sends a web request to the proxy server.</a:t>
            </a:r>
          </a:p>
          <a:p>
            <a:pPr>
              <a:buFont typeface="+mj-lt"/>
              <a:buAutoNum type="arabicPeriod"/>
            </a:pPr>
            <a:r>
              <a:rPr lang="en-US" dirty="0"/>
              <a:t>Proxy server evaluates the request.</a:t>
            </a:r>
          </a:p>
          <a:p>
            <a:pPr>
              <a:buFont typeface="+mj-lt"/>
              <a:buAutoNum type="arabicPeriod"/>
            </a:pPr>
            <a:r>
              <a:rPr lang="en-US" dirty="0"/>
              <a:t>If allowed, it sends the request to the destination server.</a:t>
            </a:r>
          </a:p>
          <a:p>
            <a:pPr>
              <a:buFont typeface="+mj-lt"/>
              <a:buAutoNum type="arabicPeriod"/>
            </a:pPr>
            <a:r>
              <a:rPr lang="en-US" dirty="0"/>
              <a:t>The server sends data back to the proxy.</a:t>
            </a:r>
          </a:p>
          <a:p>
            <a:pPr>
              <a:buFont typeface="+mj-lt"/>
              <a:buAutoNum type="arabicPeriod"/>
            </a:pPr>
            <a:r>
              <a:rPr lang="en-US" dirty="0"/>
              <a:t>Proxy forwards the data to the user.</a:t>
            </a:r>
          </a:p>
          <a:p>
            <a:endParaRPr lang="en-IN" dirty="0"/>
          </a:p>
        </p:txBody>
      </p:sp>
    </p:spTree>
    <p:extLst>
      <p:ext uri="{BB962C8B-B14F-4D97-AF65-F5344CB8AC3E}">
        <p14:creationId xmlns:p14="http://schemas.microsoft.com/office/powerpoint/2010/main" val="33378492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2" name="Group 11">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3" name="Rectangle 12">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6" name="Freeform: Shape 15">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B2757898-2468-0E3C-A5A2-48AE5F11266B}"/>
              </a:ext>
            </a:extLst>
          </p:cNvPr>
          <p:cNvSpPr>
            <a:spLocks noGrp="1"/>
          </p:cNvSpPr>
          <p:nvPr>
            <p:ph type="title"/>
          </p:nvPr>
        </p:nvSpPr>
        <p:spPr>
          <a:xfrm>
            <a:off x="1143000" y="990599"/>
            <a:ext cx="9906000" cy="685800"/>
          </a:xfrm>
        </p:spPr>
        <p:txBody>
          <a:bodyPr anchor="t">
            <a:normAutofit/>
          </a:bodyPr>
          <a:lstStyle/>
          <a:p>
            <a:pPr marL="0" marR="0" lvl="0" indent="0" defTabSz="914400" rtl="0" eaLnBrk="0" fontAlgn="base" latinLnBrk="0" hangingPunct="0">
              <a:spcBef>
                <a:spcPct val="0"/>
              </a:spcBef>
              <a:spcAft>
                <a:spcPct val="0"/>
              </a:spcAft>
              <a:buClrTx/>
              <a:buSzTx/>
              <a:buFontTx/>
              <a:buNone/>
              <a:tabLst/>
            </a:pPr>
            <a:r>
              <a:rPr kumimoji="0" lang="en-US" altLang="en-US" sz="4000" b="1" i="0" u="none" strike="noStrike" cap="none" normalizeH="0" baseline="0">
                <a:ln>
                  <a:noFill/>
                </a:ln>
                <a:effectLst/>
                <a:latin typeface="Arial" panose="020B0604020202020204" pitchFamily="34" charset="0"/>
              </a:rPr>
              <a:t>📦 Types of Proxies</a:t>
            </a:r>
          </a:p>
          <a:p>
            <a:pPr marL="0" marR="0" lvl="0" indent="0" defTabSz="914400" rtl="0" eaLnBrk="0" fontAlgn="base" latinLnBrk="0" hangingPunct="0">
              <a:spcBef>
                <a:spcPct val="0"/>
              </a:spcBef>
              <a:spcAft>
                <a:spcPct val="0"/>
              </a:spcAft>
              <a:buClrTx/>
              <a:buSzTx/>
              <a:buFontTx/>
              <a:buNone/>
              <a:tabLst/>
            </a:pPr>
            <a:endParaRPr kumimoji="0" lang="en-US" altLang="en-US" sz="4000" b="0" i="0" u="none" strike="noStrike" cap="none" normalizeH="0" baseline="0">
              <a:ln>
                <a:noFill/>
              </a:ln>
              <a:effectLst/>
              <a:latin typeface="Arial" panose="020B0604020202020204" pitchFamily="34" charset="0"/>
            </a:endParaRPr>
          </a:p>
        </p:txBody>
      </p:sp>
      <p:graphicFrame>
        <p:nvGraphicFramePr>
          <p:cNvPr id="4" name="Content Placeholder 3">
            <a:extLst>
              <a:ext uri="{FF2B5EF4-FFF2-40B4-BE49-F238E27FC236}">
                <a16:creationId xmlns:a16="http://schemas.microsoft.com/office/drawing/2014/main" id="{549214C4-765E-EE67-7A34-EB80437D7525}"/>
              </a:ext>
            </a:extLst>
          </p:cNvPr>
          <p:cNvGraphicFramePr>
            <a:graphicFrameLocks noGrp="1"/>
          </p:cNvGraphicFramePr>
          <p:nvPr>
            <p:ph idx="1"/>
            <p:extLst>
              <p:ext uri="{D42A27DB-BD31-4B8C-83A1-F6EECF244321}">
                <p14:modId xmlns:p14="http://schemas.microsoft.com/office/powerpoint/2010/main" val="2552224319"/>
              </p:ext>
            </p:extLst>
          </p:nvPr>
        </p:nvGraphicFramePr>
        <p:xfrm>
          <a:off x="1586992" y="2137228"/>
          <a:ext cx="9018015" cy="3733803"/>
        </p:xfrm>
        <a:graphic>
          <a:graphicData uri="http://schemas.openxmlformats.org/drawingml/2006/table">
            <a:tbl>
              <a:tblPr/>
              <a:tblGrid>
                <a:gridCol w="3931659">
                  <a:extLst>
                    <a:ext uri="{9D8B030D-6E8A-4147-A177-3AD203B41FA5}">
                      <a16:colId xmlns:a16="http://schemas.microsoft.com/office/drawing/2014/main" val="3274392182"/>
                    </a:ext>
                  </a:extLst>
                </a:gridCol>
                <a:gridCol w="5086356">
                  <a:extLst>
                    <a:ext uri="{9D8B030D-6E8A-4147-A177-3AD203B41FA5}">
                      <a16:colId xmlns:a16="http://schemas.microsoft.com/office/drawing/2014/main" val="941880575"/>
                    </a:ext>
                  </a:extLst>
                </a:gridCol>
              </a:tblGrid>
              <a:tr h="383849">
                <a:tc>
                  <a:txBody>
                    <a:bodyPr/>
                    <a:lstStyle/>
                    <a:p>
                      <a:r>
                        <a:rPr lang="en-IN" sz="1700"/>
                        <a:t>Type</a:t>
                      </a:r>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700"/>
                        <a:t>Description</a:t>
                      </a:r>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2833326"/>
                  </a:ext>
                </a:extLst>
              </a:tr>
              <a:tr h="645564">
                <a:tc>
                  <a:txBody>
                    <a:bodyPr/>
                    <a:lstStyle/>
                    <a:p>
                      <a:r>
                        <a:rPr lang="en-IN" sz="1700" b="1"/>
                        <a:t>Forward Proxy</a:t>
                      </a:r>
                      <a:endParaRPr lang="en-IN" sz="1700"/>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700"/>
                        <a:t>Sits between internal network and internet; controls what users access</a:t>
                      </a:r>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7397504"/>
                  </a:ext>
                </a:extLst>
              </a:tr>
              <a:tr h="645564">
                <a:tc>
                  <a:txBody>
                    <a:bodyPr/>
                    <a:lstStyle/>
                    <a:p>
                      <a:r>
                        <a:rPr lang="en-IN" sz="1700" b="1"/>
                        <a:t>Reverse Proxy</a:t>
                      </a:r>
                      <a:endParaRPr lang="en-IN" sz="1700"/>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700"/>
                        <a:t>Sits in front of web servers; protects and manages incoming requests</a:t>
                      </a:r>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059326"/>
                  </a:ext>
                </a:extLst>
              </a:tr>
              <a:tr h="645564">
                <a:tc>
                  <a:txBody>
                    <a:bodyPr/>
                    <a:lstStyle/>
                    <a:p>
                      <a:r>
                        <a:rPr lang="en-IN" sz="1700" b="1"/>
                        <a:t>Transparent Proxy</a:t>
                      </a:r>
                      <a:endParaRPr lang="en-IN" sz="1700"/>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700" dirty="0"/>
                        <a:t>User doesn’t know it's there; no configuration needed</a:t>
                      </a:r>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49530"/>
                  </a:ext>
                </a:extLst>
              </a:tr>
              <a:tr h="383849">
                <a:tc>
                  <a:txBody>
                    <a:bodyPr/>
                    <a:lstStyle/>
                    <a:p>
                      <a:r>
                        <a:rPr lang="en-IN" sz="1700" b="1"/>
                        <a:t>Anonymous Proxy</a:t>
                      </a:r>
                      <a:endParaRPr lang="en-IN" sz="1700"/>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700"/>
                        <a:t>Hides user’s IP but reveals it’s using a proxy</a:t>
                      </a:r>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2694670"/>
                  </a:ext>
                </a:extLst>
              </a:tr>
              <a:tr h="383849">
                <a:tc>
                  <a:txBody>
                    <a:bodyPr/>
                    <a:lstStyle/>
                    <a:p>
                      <a:r>
                        <a:rPr lang="en-IN" sz="1700" b="1"/>
                        <a:t>High Anonymity Proxy</a:t>
                      </a:r>
                      <a:endParaRPr lang="en-IN" sz="1700"/>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700"/>
                        <a:t>Hides both user identity and the fact it's a proxy</a:t>
                      </a:r>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0915527"/>
                  </a:ext>
                </a:extLst>
              </a:tr>
              <a:tr h="645564">
                <a:tc>
                  <a:txBody>
                    <a:bodyPr/>
                    <a:lstStyle/>
                    <a:p>
                      <a:r>
                        <a:rPr lang="en-IN" sz="1700" b="1"/>
                        <a:t>Caching Proxy</a:t>
                      </a:r>
                      <a:endParaRPr lang="en-IN" sz="1700"/>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700" dirty="0"/>
                        <a:t>Saves copies of visited websites to reduce load and improve speed</a:t>
                      </a:r>
                    </a:p>
                  </a:txBody>
                  <a:tcPr marL="87238" marR="87238" marT="43619" marB="436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7534475"/>
                  </a:ext>
                </a:extLst>
              </a:tr>
            </a:tbl>
          </a:graphicData>
        </a:graphic>
      </p:graphicFrame>
    </p:spTree>
    <p:extLst>
      <p:ext uri="{BB962C8B-B14F-4D97-AF65-F5344CB8AC3E}">
        <p14:creationId xmlns:p14="http://schemas.microsoft.com/office/powerpoint/2010/main" val="24748495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56D5-D7EE-6875-EB45-289D27310127}"/>
              </a:ext>
            </a:extLst>
          </p:cNvPr>
          <p:cNvSpPr>
            <a:spLocks noGrp="1"/>
          </p:cNvSpPr>
          <p:nvPr>
            <p:ph type="title"/>
          </p:nvPr>
        </p:nvSpPr>
        <p:spPr/>
        <p:txBody>
          <a:bodyPr/>
          <a:lstStyle/>
          <a:p>
            <a:r>
              <a:rPr lang="en-US" b="1" dirty="0"/>
              <a:t>🧠 Example in an IT Company</a:t>
            </a:r>
            <a:br>
              <a:rPr lang="en-US" b="1" dirty="0"/>
            </a:br>
            <a:endParaRPr lang="en-IN" dirty="0"/>
          </a:p>
        </p:txBody>
      </p:sp>
      <p:sp>
        <p:nvSpPr>
          <p:cNvPr id="3" name="Content Placeholder 2">
            <a:extLst>
              <a:ext uri="{FF2B5EF4-FFF2-40B4-BE49-F238E27FC236}">
                <a16:creationId xmlns:a16="http://schemas.microsoft.com/office/drawing/2014/main" id="{65C7F48B-0955-58A5-5D45-C81DAA6DBED4}"/>
              </a:ext>
            </a:extLst>
          </p:cNvPr>
          <p:cNvSpPr>
            <a:spLocks noGrp="1"/>
          </p:cNvSpPr>
          <p:nvPr>
            <p:ph idx="1"/>
          </p:nvPr>
        </p:nvSpPr>
        <p:spPr/>
        <p:txBody>
          <a:bodyPr/>
          <a:lstStyle/>
          <a:p>
            <a:pPr>
              <a:buFont typeface="Arial" panose="020B0604020202020204" pitchFamily="34" charset="0"/>
              <a:buChar char="•"/>
            </a:pPr>
            <a:r>
              <a:rPr lang="en-US" dirty="0"/>
              <a:t>Employees access websites through a </a:t>
            </a:r>
            <a:r>
              <a:rPr lang="en-US" b="1" dirty="0"/>
              <a:t>forward proxy</a:t>
            </a:r>
            <a:r>
              <a:rPr lang="en-US" dirty="0"/>
              <a:t>.</a:t>
            </a:r>
          </a:p>
          <a:p>
            <a:pPr>
              <a:buFont typeface="Arial" panose="020B0604020202020204" pitchFamily="34" charset="0"/>
              <a:buChar char="•"/>
            </a:pPr>
            <a:r>
              <a:rPr lang="en-US" dirty="0"/>
              <a:t>The proxy blocks YouTube, Facebook, and personal email domains.</a:t>
            </a:r>
          </a:p>
          <a:p>
            <a:pPr>
              <a:buFont typeface="Arial" panose="020B0604020202020204" pitchFamily="34" charset="0"/>
              <a:buChar char="•"/>
            </a:pPr>
            <a:r>
              <a:rPr lang="en-US" dirty="0"/>
              <a:t>All traffic is logged and cached.</a:t>
            </a:r>
          </a:p>
          <a:p>
            <a:pPr>
              <a:buFont typeface="Arial" panose="020B0604020202020204" pitchFamily="34" charset="0"/>
              <a:buChar char="•"/>
            </a:pPr>
            <a:r>
              <a:rPr lang="en-US" dirty="0"/>
              <a:t>The company's public website is protected by a </a:t>
            </a:r>
            <a:r>
              <a:rPr lang="en-US" b="1" dirty="0"/>
              <a:t>reverse proxy</a:t>
            </a:r>
            <a:r>
              <a:rPr lang="en-US" dirty="0"/>
              <a:t> (like NGINX or Cloudflare) to filter traffic and handle load balancing.</a:t>
            </a:r>
          </a:p>
          <a:p>
            <a:endParaRPr lang="en-IN" dirty="0"/>
          </a:p>
        </p:txBody>
      </p:sp>
    </p:spTree>
    <p:extLst>
      <p:ext uri="{BB962C8B-B14F-4D97-AF65-F5344CB8AC3E}">
        <p14:creationId xmlns:p14="http://schemas.microsoft.com/office/powerpoint/2010/main" val="19970177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2" name="Group 11">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13" name="Rectangle 12">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6" name="Freeform: Shape 15">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8" name="Rectangle 17">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6C9A76C0-60A3-4A96-8952-7B162684B6B7}"/>
              </a:ext>
            </a:extLst>
          </p:cNvPr>
          <p:cNvSpPr>
            <a:spLocks noGrp="1"/>
          </p:cNvSpPr>
          <p:nvPr>
            <p:ph type="title"/>
          </p:nvPr>
        </p:nvSpPr>
        <p:spPr>
          <a:xfrm>
            <a:off x="1143000" y="990599"/>
            <a:ext cx="9906000" cy="685800"/>
          </a:xfrm>
        </p:spPr>
        <p:txBody>
          <a:bodyPr anchor="t">
            <a:normAutofit/>
          </a:bodyPr>
          <a:lstStyle/>
          <a:p>
            <a:pPr marL="0" marR="0" lvl="0" indent="0" defTabSz="914400" rtl="0" eaLnBrk="0" fontAlgn="base" latinLnBrk="0" hangingPunct="0">
              <a:spcBef>
                <a:spcPct val="0"/>
              </a:spcBef>
              <a:spcAft>
                <a:spcPct val="0"/>
              </a:spcAft>
              <a:buClrTx/>
              <a:buSzTx/>
              <a:buFontTx/>
              <a:buNone/>
              <a:tabLst/>
            </a:pPr>
            <a:r>
              <a:rPr kumimoji="0" lang="en-US" altLang="en-US" sz="2800" b="1" i="0" u="none" strike="noStrike" cap="none" normalizeH="0" baseline="0">
                <a:ln>
                  <a:noFill/>
                </a:ln>
                <a:effectLst/>
                <a:latin typeface="Arial" panose="020B0604020202020204" pitchFamily="34" charset="0"/>
              </a:rPr>
              <a:t>🛡️ Firewall vs Proxy Server – What’s the Difference?</a:t>
            </a:r>
          </a:p>
          <a:p>
            <a:pPr marL="0" marR="0" lvl="0" indent="0" defTabSz="914400" rtl="0" eaLnBrk="0" fontAlgn="base" latinLnBrk="0" hangingPunct="0">
              <a:spcBef>
                <a:spcPct val="0"/>
              </a:spcBef>
              <a:spcAft>
                <a:spcPct val="0"/>
              </a:spcAft>
              <a:buClrTx/>
              <a:buSzTx/>
              <a:buFontTx/>
              <a:buNone/>
              <a:tabLst/>
            </a:pPr>
            <a:endParaRPr kumimoji="0" lang="en-US" altLang="en-US" sz="2800" b="0" i="0" u="none" strike="noStrike" cap="none" normalizeH="0" baseline="0">
              <a:ln>
                <a:noFill/>
              </a:ln>
              <a:effectLst/>
              <a:latin typeface="Arial" panose="020B0604020202020204" pitchFamily="34" charset="0"/>
            </a:endParaRPr>
          </a:p>
        </p:txBody>
      </p:sp>
      <p:graphicFrame>
        <p:nvGraphicFramePr>
          <p:cNvPr id="4" name="Content Placeholder 3">
            <a:extLst>
              <a:ext uri="{FF2B5EF4-FFF2-40B4-BE49-F238E27FC236}">
                <a16:creationId xmlns:a16="http://schemas.microsoft.com/office/drawing/2014/main" id="{08DF0EFA-A16B-DEC5-1158-28A19EEC6CC6}"/>
              </a:ext>
            </a:extLst>
          </p:cNvPr>
          <p:cNvGraphicFramePr>
            <a:graphicFrameLocks noGrp="1"/>
          </p:cNvGraphicFramePr>
          <p:nvPr>
            <p:ph idx="1"/>
            <p:extLst>
              <p:ext uri="{D42A27DB-BD31-4B8C-83A1-F6EECF244321}">
                <p14:modId xmlns:p14="http://schemas.microsoft.com/office/powerpoint/2010/main" val="1098874576"/>
              </p:ext>
            </p:extLst>
          </p:nvPr>
        </p:nvGraphicFramePr>
        <p:xfrm>
          <a:off x="798539" y="2137228"/>
          <a:ext cx="10594922" cy="3733800"/>
        </p:xfrm>
        <a:graphic>
          <a:graphicData uri="http://schemas.openxmlformats.org/drawingml/2006/table">
            <a:tbl>
              <a:tblPr>
                <a:tableStyleId>{8EC20E35-A176-4012-BC5E-935CFFF8708E}</a:tableStyleId>
              </a:tblPr>
              <a:tblGrid>
                <a:gridCol w="2384826">
                  <a:extLst>
                    <a:ext uri="{9D8B030D-6E8A-4147-A177-3AD203B41FA5}">
                      <a16:colId xmlns:a16="http://schemas.microsoft.com/office/drawing/2014/main" val="1692382017"/>
                    </a:ext>
                  </a:extLst>
                </a:gridCol>
                <a:gridCol w="4043191">
                  <a:extLst>
                    <a:ext uri="{9D8B030D-6E8A-4147-A177-3AD203B41FA5}">
                      <a16:colId xmlns:a16="http://schemas.microsoft.com/office/drawing/2014/main" val="3987420483"/>
                    </a:ext>
                  </a:extLst>
                </a:gridCol>
                <a:gridCol w="4166905">
                  <a:extLst>
                    <a:ext uri="{9D8B030D-6E8A-4147-A177-3AD203B41FA5}">
                      <a16:colId xmlns:a16="http://schemas.microsoft.com/office/drawing/2014/main" val="3881287926"/>
                    </a:ext>
                  </a:extLst>
                </a:gridCol>
              </a:tblGrid>
              <a:tr h="464088">
                <a:tc>
                  <a:txBody>
                    <a:bodyPr/>
                    <a:lstStyle/>
                    <a:p>
                      <a:r>
                        <a:rPr lang="en-IN" sz="2100"/>
                        <a:t>Feature</a:t>
                      </a:r>
                    </a:p>
                  </a:txBody>
                  <a:tcPr marL="105475" marR="105475" marT="52737" marB="52737" anchor="ctr"/>
                </a:tc>
                <a:tc>
                  <a:txBody>
                    <a:bodyPr/>
                    <a:lstStyle/>
                    <a:p>
                      <a:r>
                        <a:rPr lang="en-IN" sz="2100"/>
                        <a:t>Firewall</a:t>
                      </a:r>
                    </a:p>
                  </a:txBody>
                  <a:tcPr marL="105475" marR="105475" marT="52737" marB="52737" anchor="ctr"/>
                </a:tc>
                <a:tc>
                  <a:txBody>
                    <a:bodyPr/>
                    <a:lstStyle/>
                    <a:p>
                      <a:r>
                        <a:rPr lang="en-IN" sz="2100"/>
                        <a:t>Proxy Server</a:t>
                      </a:r>
                    </a:p>
                  </a:txBody>
                  <a:tcPr marL="105475" marR="105475" marT="52737" marB="52737" anchor="ctr"/>
                </a:tc>
                <a:extLst>
                  <a:ext uri="{0D108BD9-81ED-4DB2-BD59-A6C34878D82A}">
                    <a16:rowId xmlns:a16="http://schemas.microsoft.com/office/drawing/2014/main" val="2586402227"/>
                  </a:ext>
                </a:extLst>
              </a:tr>
              <a:tr h="780512">
                <a:tc>
                  <a:txBody>
                    <a:bodyPr/>
                    <a:lstStyle/>
                    <a:p>
                      <a:r>
                        <a:rPr lang="en-IN" sz="2100" b="1"/>
                        <a:t>Purpose</a:t>
                      </a:r>
                      <a:endParaRPr lang="en-IN" sz="2100"/>
                    </a:p>
                  </a:txBody>
                  <a:tcPr marL="105475" marR="105475" marT="52737" marB="52737" anchor="ctr"/>
                </a:tc>
                <a:tc>
                  <a:txBody>
                    <a:bodyPr/>
                    <a:lstStyle/>
                    <a:p>
                      <a:r>
                        <a:rPr lang="en-US" sz="2100"/>
                        <a:t>Protects network from external threats</a:t>
                      </a:r>
                    </a:p>
                  </a:txBody>
                  <a:tcPr marL="105475" marR="105475" marT="52737" marB="52737" anchor="ctr"/>
                </a:tc>
                <a:tc>
                  <a:txBody>
                    <a:bodyPr/>
                    <a:lstStyle/>
                    <a:p>
                      <a:r>
                        <a:rPr lang="en-US" sz="2100"/>
                        <a:t>Controls and filters internet usage</a:t>
                      </a:r>
                    </a:p>
                  </a:txBody>
                  <a:tcPr marL="105475" marR="105475" marT="52737" marB="52737" anchor="ctr"/>
                </a:tc>
                <a:extLst>
                  <a:ext uri="{0D108BD9-81ED-4DB2-BD59-A6C34878D82A}">
                    <a16:rowId xmlns:a16="http://schemas.microsoft.com/office/drawing/2014/main" val="3287281003"/>
                  </a:ext>
                </a:extLst>
              </a:tr>
              <a:tr h="464088">
                <a:tc>
                  <a:txBody>
                    <a:bodyPr/>
                    <a:lstStyle/>
                    <a:p>
                      <a:r>
                        <a:rPr lang="en-IN" sz="2100" b="1"/>
                        <a:t>Layer</a:t>
                      </a:r>
                      <a:endParaRPr lang="en-IN" sz="2100"/>
                    </a:p>
                  </a:txBody>
                  <a:tcPr marL="105475" marR="105475" marT="52737" marB="52737" anchor="ctr"/>
                </a:tc>
                <a:tc>
                  <a:txBody>
                    <a:bodyPr/>
                    <a:lstStyle/>
                    <a:p>
                      <a:r>
                        <a:rPr lang="en-IN" sz="2100"/>
                        <a:t>Network/Transport Layer</a:t>
                      </a:r>
                    </a:p>
                  </a:txBody>
                  <a:tcPr marL="105475" marR="105475" marT="52737" marB="52737" anchor="ctr"/>
                </a:tc>
                <a:tc>
                  <a:txBody>
                    <a:bodyPr/>
                    <a:lstStyle/>
                    <a:p>
                      <a:r>
                        <a:rPr lang="en-IN" sz="2100"/>
                        <a:t>Application Layer</a:t>
                      </a:r>
                    </a:p>
                  </a:txBody>
                  <a:tcPr marL="105475" marR="105475" marT="52737" marB="52737" anchor="ctr"/>
                </a:tc>
                <a:extLst>
                  <a:ext uri="{0D108BD9-81ED-4DB2-BD59-A6C34878D82A}">
                    <a16:rowId xmlns:a16="http://schemas.microsoft.com/office/drawing/2014/main" val="3727025489"/>
                  </a:ext>
                </a:extLst>
              </a:tr>
              <a:tr h="780512">
                <a:tc>
                  <a:txBody>
                    <a:bodyPr/>
                    <a:lstStyle/>
                    <a:p>
                      <a:r>
                        <a:rPr lang="en-IN" sz="2100" b="1"/>
                        <a:t>Security</a:t>
                      </a:r>
                      <a:endParaRPr lang="en-IN" sz="2100"/>
                    </a:p>
                  </a:txBody>
                  <a:tcPr marL="105475" marR="105475" marT="52737" marB="52737" anchor="ctr"/>
                </a:tc>
                <a:tc>
                  <a:txBody>
                    <a:bodyPr/>
                    <a:lstStyle/>
                    <a:p>
                      <a:r>
                        <a:rPr lang="en-US" sz="2100"/>
                        <a:t>Blocks/Allows traffic based on rules</a:t>
                      </a:r>
                    </a:p>
                  </a:txBody>
                  <a:tcPr marL="105475" marR="105475" marT="52737" marB="52737" anchor="ctr"/>
                </a:tc>
                <a:tc>
                  <a:txBody>
                    <a:bodyPr/>
                    <a:lstStyle/>
                    <a:p>
                      <a:r>
                        <a:rPr lang="en-IN" sz="2100"/>
                        <a:t>Hides internal network, filters content</a:t>
                      </a:r>
                    </a:p>
                  </a:txBody>
                  <a:tcPr marL="105475" marR="105475" marT="52737" marB="52737" anchor="ctr"/>
                </a:tc>
                <a:extLst>
                  <a:ext uri="{0D108BD9-81ED-4DB2-BD59-A6C34878D82A}">
                    <a16:rowId xmlns:a16="http://schemas.microsoft.com/office/drawing/2014/main" val="2906830625"/>
                  </a:ext>
                </a:extLst>
              </a:tr>
              <a:tr h="780512">
                <a:tc>
                  <a:txBody>
                    <a:bodyPr/>
                    <a:lstStyle/>
                    <a:p>
                      <a:r>
                        <a:rPr lang="en-IN" sz="2100" b="1"/>
                        <a:t>Visibility</a:t>
                      </a:r>
                      <a:endParaRPr lang="en-IN" sz="2100"/>
                    </a:p>
                  </a:txBody>
                  <a:tcPr marL="105475" marR="105475" marT="52737" marB="52737" anchor="ctr"/>
                </a:tc>
                <a:tc>
                  <a:txBody>
                    <a:bodyPr/>
                    <a:lstStyle/>
                    <a:p>
                      <a:r>
                        <a:rPr lang="en-IN" sz="2100"/>
                        <a:t>Sees data packets</a:t>
                      </a:r>
                    </a:p>
                  </a:txBody>
                  <a:tcPr marL="105475" marR="105475" marT="52737" marB="52737" anchor="ctr"/>
                </a:tc>
                <a:tc>
                  <a:txBody>
                    <a:bodyPr/>
                    <a:lstStyle/>
                    <a:p>
                      <a:r>
                        <a:rPr lang="en-IN" sz="2100"/>
                        <a:t>Sees actual user requests (URLs, data)</a:t>
                      </a:r>
                    </a:p>
                  </a:txBody>
                  <a:tcPr marL="105475" marR="105475" marT="52737" marB="52737" anchor="ctr"/>
                </a:tc>
                <a:extLst>
                  <a:ext uri="{0D108BD9-81ED-4DB2-BD59-A6C34878D82A}">
                    <a16:rowId xmlns:a16="http://schemas.microsoft.com/office/drawing/2014/main" val="2562381998"/>
                  </a:ext>
                </a:extLst>
              </a:tr>
              <a:tr h="464088">
                <a:tc>
                  <a:txBody>
                    <a:bodyPr/>
                    <a:lstStyle/>
                    <a:p>
                      <a:r>
                        <a:rPr lang="en-IN" sz="2100" b="1"/>
                        <a:t>Use Case</a:t>
                      </a:r>
                      <a:endParaRPr lang="en-IN" sz="2100"/>
                    </a:p>
                  </a:txBody>
                  <a:tcPr marL="105475" marR="105475" marT="52737" marB="52737" anchor="ctr"/>
                </a:tc>
                <a:tc>
                  <a:txBody>
                    <a:bodyPr/>
                    <a:lstStyle/>
                    <a:p>
                      <a:r>
                        <a:rPr lang="en-IN" sz="2100"/>
                        <a:t>Prevent unauthorized access</a:t>
                      </a:r>
                    </a:p>
                  </a:txBody>
                  <a:tcPr marL="105475" marR="105475" marT="52737" marB="52737" anchor="ctr"/>
                </a:tc>
                <a:tc>
                  <a:txBody>
                    <a:bodyPr/>
                    <a:lstStyle/>
                    <a:p>
                      <a:r>
                        <a:rPr lang="en-US" sz="2100"/>
                        <a:t>Monitor and control user behavior</a:t>
                      </a:r>
                    </a:p>
                  </a:txBody>
                  <a:tcPr marL="105475" marR="105475" marT="52737" marB="52737" anchor="ctr"/>
                </a:tc>
                <a:extLst>
                  <a:ext uri="{0D108BD9-81ED-4DB2-BD59-A6C34878D82A}">
                    <a16:rowId xmlns:a16="http://schemas.microsoft.com/office/drawing/2014/main" val="615211871"/>
                  </a:ext>
                </a:extLst>
              </a:tr>
            </a:tbl>
          </a:graphicData>
        </a:graphic>
      </p:graphicFrame>
    </p:spTree>
    <p:extLst>
      <p:ext uri="{BB962C8B-B14F-4D97-AF65-F5344CB8AC3E}">
        <p14:creationId xmlns:p14="http://schemas.microsoft.com/office/powerpoint/2010/main" val="601116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70B5B-62A4-4767-2CAB-CF31B5416EE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6E41C6-354B-B245-2C79-630FB9E7D151}"/>
              </a:ext>
            </a:extLst>
          </p:cNvPr>
          <p:cNvSpPr>
            <a:spLocks noGrp="1"/>
          </p:cNvSpPr>
          <p:nvPr>
            <p:ph idx="1"/>
          </p:nvPr>
        </p:nvSpPr>
        <p:spPr/>
        <p:txBody>
          <a:bodyPr/>
          <a:lstStyle/>
          <a:p>
            <a:pPr>
              <a:buNone/>
            </a:pPr>
            <a:r>
              <a:rPr lang="en-US" b="1" dirty="0"/>
              <a:t>✅ Final Takeaway</a:t>
            </a:r>
          </a:p>
          <a:p>
            <a:pPr>
              <a:buFont typeface="Arial" panose="020B0604020202020204" pitchFamily="34" charset="0"/>
              <a:buChar char="•"/>
            </a:pPr>
            <a:r>
              <a:rPr lang="en-US" dirty="0"/>
              <a:t>A </a:t>
            </a:r>
            <a:r>
              <a:rPr lang="en-US" b="1" dirty="0"/>
              <a:t>firewall</a:t>
            </a:r>
            <a:r>
              <a:rPr lang="en-US" dirty="0"/>
              <a:t> is like a </a:t>
            </a:r>
            <a:r>
              <a:rPr lang="en-US" b="1" dirty="0"/>
              <a:t>security guard</a:t>
            </a:r>
            <a:r>
              <a:rPr lang="en-US" dirty="0"/>
              <a:t> checking if data is safe before it enters or leaves.</a:t>
            </a:r>
          </a:p>
          <a:p>
            <a:pPr>
              <a:buFont typeface="Arial" panose="020B0604020202020204" pitchFamily="34" charset="0"/>
              <a:buChar char="•"/>
            </a:pPr>
            <a:r>
              <a:rPr lang="en-US" dirty="0"/>
              <a:t>A </a:t>
            </a:r>
            <a:r>
              <a:rPr lang="en-US" b="1" dirty="0"/>
              <a:t>proxy server</a:t>
            </a:r>
            <a:r>
              <a:rPr lang="en-US" dirty="0"/>
              <a:t> is like a </a:t>
            </a:r>
            <a:r>
              <a:rPr lang="en-US" b="1" dirty="0"/>
              <a:t>gatekeeper or translator</a:t>
            </a:r>
            <a:r>
              <a:rPr lang="en-US" dirty="0"/>
              <a:t> that controls what users access and keeps their identity hidden.</a:t>
            </a:r>
          </a:p>
          <a:p>
            <a:pPr>
              <a:buFont typeface="Arial" panose="020B0604020202020204" pitchFamily="34" charset="0"/>
              <a:buChar char="•"/>
            </a:pPr>
            <a:r>
              <a:rPr lang="en-US" dirty="0"/>
              <a:t>Both can </a:t>
            </a:r>
            <a:r>
              <a:rPr lang="en-US" b="1" dirty="0"/>
              <a:t>co-exist</a:t>
            </a:r>
            <a:r>
              <a:rPr lang="en-US" dirty="0"/>
              <a:t> and are crucial in </a:t>
            </a:r>
            <a:r>
              <a:rPr lang="en-US" b="1" dirty="0"/>
              <a:t>enterprise IT setups</a:t>
            </a:r>
            <a:r>
              <a:rPr lang="en-US" dirty="0"/>
              <a:t> for security, performance, and policy enforcement.</a:t>
            </a:r>
          </a:p>
          <a:p>
            <a:endParaRPr lang="en-IN" dirty="0"/>
          </a:p>
        </p:txBody>
      </p:sp>
    </p:spTree>
    <p:extLst>
      <p:ext uri="{BB962C8B-B14F-4D97-AF65-F5344CB8AC3E}">
        <p14:creationId xmlns:p14="http://schemas.microsoft.com/office/powerpoint/2010/main" val="37667125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701E60FA-1A23-561F-7976-DBC5AB400C76}"/>
              </a:ext>
            </a:extLst>
          </p:cNvPr>
          <p:cNvSpPr>
            <a:spLocks noGrp="1" noChangeArrowheads="1"/>
          </p:cNvSpPr>
          <p:nvPr>
            <p:ph idx="1"/>
          </p:nvPr>
        </p:nvSpPr>
        <p:spPr bwMode="auto">
          <a:xfrm>
            <a:off x="193010" y="2444563"/>
            <a:ext cx="1135673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IP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 IP Address (Internet Protocol Address)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An IP address is a </a:t>
            </a:r>
            <a:r>
              <a:rPr kumimoji="0" lang="en-US" altLang="en-US" sz="2000" b="1" i="0" u="none" strike="noStrike" cap="none" normalizeH="0" baseline="0" dirty="0">
                <a:ln>
                  <a:noFill/>
                </a:ln>
                <a:solidFill>
                  <a:schemeClr val="tx1"/>
                </a:solidFill>
                <a:effectLst/>
                <a:latin typeface="Arial" panose="020B0604020202020204" pitchFamily="34" charset="0"/>
              </a:rPr>
              <a:t>unique number assigned to each device</a:t>
            </a:r>
            <a:r>
              <a:rPr kumimoji="0" lang="en-US" altLang="en-US" sz="2000" b="0" i="0" u="none" strike="noStrike" cap="none" normalizeH="0" baseline="0" dirty="0">
                <a:ln>
                  <a:noFill/>
                </a:ln>
                <a:solidFill>
                  <a:schemeClr val="tx1"/>
                </a:solidFill>
                <a:effectLst/>
                <a:latin typeface="Arial" panose="020B0604020202020204" pitchFamily="34" charset="0"/>
              </a:rPr>
              <a:t> on a network, so data knows where to go.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IPv4</a:t>
            </a:r>
            <a:r>
              <a:rPr kumimoji="0" lang="en-US" altLang="en-US" sz="2000" b="0" i="0" u="none" strike="noStrike" cap="none" normalizeH="0" baseline="0" dirty="0">
                <a:ln>
                  <a:noFill/>
                </a:ln>
                <a:solidFill>
                  <a:schemeClr val="tx1"/>
                </a:solidFill>
                <a:effectLst/>
                <a:latin typeface="Arial" panose="020B0604020202020204" pitchFamily="34" charset="0"/>
              </a:rPr>
              <a:t> – 32-bit, e.g., </a:t>
            </a:r>
            <a:r>
              <a:rPr kumimoji="0" lang="en-US" altLang="en-US" sz="2000" b="0" i="0" u="none" strike="noStrike" cap="none" normalizeH="0" baseline="0" dirty="0">
                <a:ln>
                  <a:noFill/>
                </a:ln>
                <a:solidFill>
                  <a:schemeClr val="tx1"/>
                </a:solidFill>
                <a:effectLst/>
                <a:latin typeface="Arial Unicode MS"/>
              </a:rPr>
              <a:t>192.168.1.10</a:t>
            </a:r>
            <a:r>
              <a:rPr kumimoji="0" lang="en-US" altLang="en-US" sz="2000" b="0" i="0" u="none" strike="noStrike" cap="none" normalizeH="0" baseline="0" dirty="0">
                <a:ln>
                  <a:noFill/>
                </a:ln>
                <a:solidFill>
                  <a:schemeClr val="tx1"/>
                </a:solidFill>
                <a:effectLst/>
              </a:rPr>
              <a:t> (most common, but limited)</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IPv6</a:t>
            </a:r>
            <a:r>
              <a:rPr kumimoji="0" lang="en-US" altLang="en-US" sz="2000" b="0" i="0" u="none" strike="noStrike" cap="none" normalizeH="0" baseline="0" dirty="0">
                <a:ln>
                  <a:noFill/>
                </a:ln>
                <a:solidFill>
                  <a:schemeClr val="tx1"/>
                </a:solidFill>
                <a:effectLst/>
                <a:latin typeface="Arial" panose="020B0604020202020204" pitchFamily="34" charset="0"/>
              </a:rPr>
              <a:t> – 128-bit, e.g., </a:t>
            </a:r>
            <a:r>
              <a:rPr kumimoji="0" lang="en-US" altLang="en-US" sz="2000" b="0" i="0" u="none" strike="noStrike" cap="none" normalizeH="0" baseline="0" dirty="0">
                <a:ln>
                  <a:noFill/>
                </a:ln>
                <a:solidFill>
                  <a:schemeClr val="tx1"/>
                </a:solidFill>
                <a:effectLst/>
                <a:latin typeface="Arial Unicode MS"/>
              </a:rPr>
              <a:t>2001:0db8:85a3:0000:0000:8a2e:0370:7334</a:t>
            </a:r>
            <a:r>
              <a:rPr kumimoji="0" lang="en-US" altLang="en-US" sz="2000" b="0" i="0" u="none" strike="noStrike" cap="none" normalizeH="0" baseline="0" dirty="0">
                <a:ln>
                  <a:noFill/>
                </a:ln>
                <a:solidFill>
                  <a:schemeClr val="tx1"/>
                </a:solidFill>
                <a:effectLst/>
              </a:rPr>
              <a:t> (newer, for more devices)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871191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4940F-18D3-9451-D8C5-202B59C7142E}"/>
              </a:ext>
            </a:extLst>
          </p:cNvPr>
          <p:cNvSpPr>
            <a:spLocks noGrp="1"/>
          </p:cNvSpPr>
          <p:nvPr>
            <p:ph type="title"/>
          </p:nvPr>
        </p:nvSpPr>
        <p:spPr/>
        <p:txBody>
          <a:bodyPr/>
          <a:lstStyle/>
          <a:p>
            <a:r>
              <a:rPr lang="en-US" b="1" dirty="0"/>
              <a:t>IoT (Internet of Things)</a:t>
            </a:r>
            <a:br>
              <a:rPr lang="en-US" b="1" dirty="0"/>
            </a:br>
            <a:endParaRPr lang="en-IN" dirty="0"/>
          </a:p>
        </p:txBody>
      </p:sp>
      <p:sp>
        <p:nvSpPr>
          <p:cNvPr id="3" name="Content Placeholder 2">
            <a:extLst>
              <a:ext uri="{FF2B5EF4-FFF2-40B4-BE49-F238E27FC236}">
                <a16:creationId xmlns:a16="http://schemas.microsoft.com/office/drawing/2014/main" id="{EBD5EA68-19C5-4A5E-5833-D6E34B39B8E1}"/>
              </a:ext>
            </a:extLst>
          </p:cNvPr>
          <p:cNvSpPr>
            <a:spLocks noGrp="1"/>
          </p:cNvSpPr>
          <p:nvPr>
            <p:ph idx="1"/>
          </p:nvPr>
        </p:nvSpPr>
        <p:spPr>
          <a:xfrm>
            <a:off x="838200" y="1959429"/>
            <a:ext cx="10515600" cy="4217534"/>
          </a:xfrm>
        </p:spPr>
        <p:txBody>
          <a:bodyPr>
            <a:normAutofit/>
          </a:bodyPr>
          <a:lstStyle/>
          <a:p>
            <a:pPr>
              <a:buNone/>
            </a:pPr>
            <a:r>
              <a:rPr lang="en-US" b="1" dirty="0"/>
              <a:t>IoT</a:t>
            </a:r>
            <a:r>
              <a:rPr lang="en-US" dirty="0"/>
              <a:t> is a system where </a:t>
            </a:r>
            <a:r>
              <a:rPr lang="en-US" b="1" dirty="0"/>
              <a:t>smart devices are connected to the internet</a:t>
            </a:r>
            <a:r>
              <a:rPr lang="en-US" dirty="0"/>
              <a:t> to collect data and communicate.</a:t>
            </a:r>
          </a:p>
          <a:p>
            <a:pPr>
              <a:buFont typeface="Arial" panose="020B0604020202020204" pitchFamily="34" charset="0"/>
              <a:buChar char="•"/>
            </a:pPr>
            <a:r>
              <a:rPr lang="en-US" dirty="0"/>
              <a:t>Uses </a:t>
            </a:r>
            <a:r>
              <a:rPr lang="en-US" b="1" dirty="0"/>
              <a:t>sensors, actuators, and controllers</a:t>
            </a:r>
            <a:r>
              <a:rPr lang="en-US" dirty="0"/>
              <a:t>.</a:t>
            </a:r>
          </a:p>
          <a:p>
            <a:pPr>
              <a:buFont typeface="Arial" panose="020B0604020202020204" pitchFamily="34" charset="0"/>
              <a:buChar char="•"/>
            </a:pPr>
            <a:r>
              <a:rPr lang="en-US" dirty="0"/>
              <a:t>Communicates over </a:t>
            </a:r>
            <a:r>
              <a:rPr lang="en-US" b="1" dirty="0"/>
              <a:t>Wi-Fi, Zigbee, </a:t>
            </a:r>
            <a:r>
              <a:rPr lang="en-US" b="1" dirty="0" err="1"/>
              <a:t>LoRaWAN</a:t>
            </a:r>
            <a:r>
              <a:rPr lang="en-US" dirty="0"/>
              <a:t>, etc.</a:t>
            </a:r>
          </a:p>
          <a:p>
            <a:pPr>
              <a:buNone/>
            </a:pPr>
            <a:r>
              <a:rPr lang="en-US" dirty="0"/>
              <a:t>🧠 </a:t>
            </a:r>
            <a:r>
              <a:rPr lang="en-US" b="1" dirty="0"/>
              <a:t>Technical Example in IT Company:</a:t>
            </a:r>
            <a:endParaRPr lang="en-US" dirty="0"/>
          </a:p>
          <a:p>
            <a:pPr>
              <a:buFont typeface="Arial" panose="020B0604020202020204" pitchFamily="34" charset="0"/>
              <a:buChar char="•"/>
            </a:pPr>
            <a:r>
              <a:rPr lang="en-US" dirty="0"/>
              <a:t>Smart </a:t>
            </a:r>
            <a:r>
              <a:rPr lang="en-US" b="1" dirty="0"/>
              <a:t>meeting room sensors</a:t>
            </a:r>
            <a:r>
              <a:rPr lang="en-US" dirty="0"/>
              <a:t> detect availability.</a:t>
            </a:r>
          </a:p>
          <a:p>
            <a:pPr>
              <a:buFont typeface="Arial" panose="020B0604020202020204" pitchFamily="34" charset="0"/>
              <a:buChar char="•"/>
            </a:pPr>
            <a:r>
              <a:rPr lang="en-US" b="1" dirty="0"/>
              <a:t>Access control</a:t>
            </a:r>
            <a:r>
              <a:rPr lang="en-US" dirty="0"/>
              <a:t> via biometric devices connected to LAN.</a:t>
            </a:r>
          </a:p>
          <a:p>
            <a:pPr>
              <a:buFont typeface="Arial" panose="020B0604020202020204" pitchFamily="34" charset="0"/>
              <a:buChar char="•"/>
            </a:pPr>
            <a:r>
              <a:rPr lang="en-US" b="1" dirty="0"/>
              <a:t>CCTV cameras</a:t>
            </a:r>
            <a:r>
              <a:rPr lang="en-US" dirty="0"/>
              <a:t> stream footage to cloud servers.</a:t>
            </a:r>
          </a:p>
          <a:p>
            <a:endParaRPr lang="en-IN" dirty="0"/>
          </a:p>
        </p:txBody>
      </p:sp>
    </p:spTree>
    <p:extLst>
      <p:ext uri="{BB962C8B-B14F-4D97-AF65-F5344CB8AC3E}">
        <p14:creationId xmlns:p14="http://schemas.microsoft.com/office/powerpoint/2010/main" val="9955612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09500-5A7F-9D58-EED4-7772D58855D1}"/>
              </a:ext>
            </a:extLst>
          </p:cNvPr>
          <p:cNvSpPr>
            <a:spLocks noGrp="1"/>
          </p:cNvSpPr>
          <p:nvPr>
            <p:ph type="title"/>
          </p:nvPr>
        </p:nvSpPr>
        <p:spPr/>
        <p:txBody>
          <a:bodyPr/>
          <a:lstStyle/>
          <a:p>
            <a:r>
              <a:rPr lang="en-US" b="1" i="0" dirty="0">
                <a:solidFill>
                  <a:srgbClr val="273239"/>
                </a:solidFill>
                <a:effectLst/>
                <a:highlight>
                  <a:srgbClr val="FFFFFF"/>
                </a:highlight>
                <a:latin typeface="Times New Roman" panose="02020603050405020304" pitchFamily="18" charset="0"/>
                <a:cs typeface="Times New Roman" panose="02020603050405020304" pitchFamily="18" charset="0"/>
              </a:rPr>
              <a:t>Cloud Computing</a:t>
            </a:r>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 </a:t>
            </a:r>
            <a:endParaRPr lang="en-IN" dirty="0"/>
          </a:p>
        </p:txBody>
      </p:sp>
      <p:sp>
        <p:nvSpPr>
          <p:cNvPr id="3" name="Content Placeholder 2">
            <a:extLst>
              <a:ext uri="{FF2B5EF4-FFF2-40B4-BE49-F238E27FC236}">
                <a16:creationId xmlns:a16="http://schemas.microsoft.com/office/drawing/2014/main" id="{3A62C7E2-6F19-B766-D075-EF7AC6D8C86D}"/>
              </a:ext>
            </a:extLst>
          </p:cNvPr>
          <p:cNvSpPr>
            <a:spLocks noGrp="1"/>
          </p:cNvSpPr>
          <p:nvPr>
            <p:ph idx="1"/>
          </p:nvPr>
        </p:nvSpPr>
        <p:spPr/>
        <p:txBody>
          <a:bodyPr/>
          <a:lstStyle/>
          <a:p>
            <a:r>
              <a:rPr lang="en-US" b="1" i="0" dirty="0">
                <a:solidFill>
                  <a:srgbClr val="273239"/>
                </a:solidFill>
                <a:effectLst/>
                <a:highlight>
                  <a:srgbClr val="FFFFFF"/>
                </a:highlight>
                <a:latin typeface="Times New Roman" panose="02020603050405020304" pitchFamily="18" charset="0"/>
                <a:cs typeface="Times New Roman" panose="02020603050405020304" pitchFamily="18" charset="0"/>
              </a:rPr>
              <a:t>Cloud Computing</a:t>
            </a:r>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 means storing and accessing the data and programs on remote servers that are hosted on the internet instead of the computer’s hard drive or local server.</a:t>
            </a:r>
          </a:p>
          <a:p>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Cloud computing is also referred to as Internet-based computing, it is a technology where the resource is provided as a service through the Internet to the user. </a:t>
            </a:r>
            <a:endParaRPr lang="en-US" dirty="0">
              <a:solidFill>
                <a:srgbClr val="273239"/>
              </a:solidFill>
              <a:highlight>
                <a:srgbClr val="FFFFFF"/>
              </a:highlight>
              <a:latin typeface="Times New Roman" panose="02020603050405020304" pitchFamily="18" charset="0"/>
              <a:cs typeface="Times New Roman" panose="02020603050405020304" pitchFamily="18" charset="0"/>
            </a:endParaRPr>
          </a:p>
          <a:p>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The data that is stored can be files, images, documents, or any other storable document.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76325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2A143-260D-7EF3-8DD7-A638F2EC42C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6C060D6-DD99-40FD-9915-70341245F315}"/>
              </a:ext>
            </a:extLst>
          </p:cNvPr>
          <p:cNvSpPr>
            <a:spLocks noGrp="1"/>
          </p:cNvSpPr>
          <p:nvPr>
            <p:ph idx="1"/>
          </p:nvPr>
        </p:nvSpPr>
        <p:spPr/>
        <p:txBody>
          <a:bodyPr>
            <a:normAutofit fontScale="92500" lnSpcReduction="20000"/>
          </a:bodyPr>
          <a:lstStyle/>
          <a:p>
            <a:pPr marL="0" indent="0" algn="l" fontAlgn="base">
              <a:buNone/>
            </a:pPr>
            <a:endParaRPr lang="en-US" b="1" i="0" dirty="0">
              <a:solidFill>
                <a:srgbClr val="273239"/>
              </a:solidFill>
              <a:effectLst/>
              <a:highlight>
                <a:srgbClr val="FFFFFF"/>
              </a:highlight>
              <a:latin typeface="Times New Roman" panose="02020603050405020304" pitchFamily="18" charset="0"/>
              <a:cs typeface="Times New Roman" panose="02020603050405020304" pitchFamily="18" charset="0"/>
            </a:endParaRPr>
          </a:p>
          <a:p>
            <a:pPr algn="l" rtl="0" fontAlgn="base"/>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Cloud computing helps users in easily accessing computing resources like storage, and processing over internet rather than local </a:t>
            </a:r>
            <a:r>
              <a:rPr lang="en-US" b="0" i="0" dirty="0" err="1">
                <a:solidFill>
                  <a:srgbClr val="273239"/>
                </a:solidFill>
                <a:effectLst/>
                <a:highlight>
                  <a:srgbClr val="FFFFFF"/>
                </a:highlight>
                <a:latin typeface="Times New Roman" panose="02020603050405020304" pitchFamily="18" charset="0"/>
                <a:cs typeface="Times New Roman" panose="02020603050405020304" pitchFamily="18" charset="0"/>
              </a:rPr>
              <a:t>hardwares</a:t>
            </a:r>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 Here we discussing how it works in nutshell:</a:t>
            </a:r>
          </a:p>
          <a:p>
            <a:pPr algn="l" fontAlgn="base">
              <a:buFont typeface="Arial" panose="020B0604020202020204" pitchFamily="34" charset="0"/>
              <a:buChar char="•"/>
            </a:pPr>
            <a:r>
              <a:rPr lang="en-US" b="1" i="0" dirty="0">
                <a:solidFill>
                  <a:srgbClr val="273239"/>
                </a:solidFill>
                <a:effectLst/>
                <a:highlight>
                  <a:srgbClr val="FFFFFF"/>
                </a:highlight>
                <a:latin typeface="Times New Roman" panose="02020603050405020304" pitchFamily="18" charset="0"/>
                <a:cs typeface="Times New Roman" panose="02020603050405020304" pitchFamily="18" charset="0"/>
              </a:rPr>
              <a:t>Infrastructure: </a:t>
            </a:r>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Cloud computing depends on remote network servers hosted on internet for store, manage, and process the data.</a:t>
            </a:r>
          </a:p>
          <a:p>
            <a:pPr algn="l" fontAlgn="base">
              <a:buFont typeface="Arial" panose="020B0604020202020204" pitchFamily="34" charset="0"/>
              <a:buChar char="•"/>
            </a:pPr>
            <a:r>
              <a:rPr lang="en-US" b="1" i="0" dirty="0">
                <a:solidFill>
                  <a:srgbClr val="273239"/>
                </a:solidFill>
                <a:effectLst/>
                <a:highlight>
                  <a:srgbClr val="FFFFFF"/>
                </a:highlight>
                <a:latin typeface="Times New Roman" panose="02020603050405020304" pitchFamily="18" charset="0"/>
                <a:cs typeface="Times New Roman" panose="02020603050405020304" pitchFamily="18" charset="0"/>
              </a:rPr>
              <a:t>On-Demand </a:t>
            </a:r>
            <a:r>
              <a:rPr lang="en-US" b="1" i="0" dirty="0" err="1">
                <a:solidFill>
                  <a:srgbClr val="273239"/>
                </a:solidFill>
                <a:effectLst/>
                <a:highlight>
                  <a:srgbClr val="FFFFFF"/>
                </a:highlight>
                <a:latin typeface="Times New Roman" panose="02020603050405020304" pitchFamily="18" charset="0"/>
                <a:cs typeface="Times New Roman" panose="02020603050405020304" pitchFamily="18" charset="0"/>
              </a:rPr>
              <a:t>Acess</a:t>
            </a:r>
            <a:r>
              <a:rPr lang="en-US" b="1" i="0" dirty="0">
                <a:solidFill>
                  <a:srgbClr val="273239"/>
                </a:solidFill>
                <a:effectLst/>
                <a:highlight>
                  <a:srgbClr val="FFFFFF"/>
                </a:highlight>
                <a:latin typeface="Times New Roman" panose="02020603050405020304" pitchFamily="18" charset="0"/>
                <a:cs typeface="Times New Roman" panose="02020603050405020304" pitchFamily="18" charset="0"/>
              </a:rPr>
              <a:t>:</a:t>
            </a:r>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 Users can access cloud services and resources based on-demand they can scale up or down the without having to invest for physical hardware.</a:t>
            </a:r>
          </a:p>
          <a:p>
            <a:pPr algn="l" fontAlgn="base">
              <a:buFont typeface="Arial" panose="020B0604020202020204" pitchFamily="34" charset="0"/>
              <a:buChar char="•"/>
            </a:pPr>
            <a:r>
              <a:rPr lang="en-US" b="1" i="0" dirty="0">
                <a:solidFill>
                  <a:srgbClr val="273239"/>
                </a:solidFill>
                <a:effectLst/>
                <a:highlight>
                  <a:srgbClr val="FFFFFF"/>
                </a:highlight>
                <a:latin typeface="Times New Roman" panose="02020603050405020304" pitchFamily="18" charset="0"/>
                <a:cs typeface="Times New Roman" panose="02020603050405020304" pitchFamily="18" charset="0"/>
              </a:rPr>
              <a:t>Types of Services: </a:t>
            </a:r>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Cloud computing offers various benefits such as cost saving, scalability, reliability and </a:t>
            </a:r>
            <a:r>
              <a:rPr lang="en-US" b="0" i="0" dirty="0" err="1">
                <a:solidFill>
                  <a:srgbClr val="273239"/>
                </a:solidFill>
                <a:effectLst/>
                <a:highlight>
                  <a:srgbClr val="FFFFFF"/>
                </a:highlight>
                <a:latin typeface="Times New Roman" panose="02020603050405020304" pitchFamily="18" charset="0"/>
                <a:cs typeface="Times New Roman" panose="02020603050405020304" pitchFamily="18" charset="0"/>
              </a:rPr>
              <a:t>acessibility</a:t>
            </a:r>
            <a:r>
              <a:rPr lang="en-US" b="0" i="0" dirty="0">
                <a:solidFill>
                  <a:srgbClr val="273239"/>
                </a:solidFill>
                <a:effectLst/>
                <a:highlight>
                  <a:srgbClr val="FFFFFF"/>
                </a:highlight>
                <a:latin typeface="Times New Roman" panose="02020603050405020304" pitchFamily="18" charset="0"/>
                <a:cs typeface="Times New Roman" panose="02020603050405020304" pitchFamily="18" charset="0"/>
              </a:rPr>
              <a:t> it reduces capital expenditures, improves efficiency.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85085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A1434-DEB7-0107-2ED1-3F892F63EDF2}"/>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Origins Of Cloud Computing</a:t>
            </a:r>
            <a:br>
              <a:rPr lang="en-US" b="1" i="0" dirty="0">
                <a:solidFill>
                  <a:srgbClr val="273239"/>
                </a:solidFill>
                <a:effectLst/>
                <a:highlight>
                  <a:srgbClr val="FFFFFF"/>
                </a:highlight>
                <a:latin typeface="Nunito" pitchFamily="2" charset="0"/>
              </a:rPr>
            </a:br>
            <a:endParaRPr lang="en-IN" dirty="0"/>
          </a:p>
        </p:txBody>
      </p:sp>
      <p:sp>
        <p:nvSpPr>
          <p:cNvPr id="3" name="Content Placeholder 2">
            <a:extLst>
              <a:ext uri="{FF2B5EF4-FFF2-40B4-BE49-F238E27FC236}">
                <a16:creationId xmlns:a16="http://schemas.microsoft.com/office/drawing/2014/main" id="{A997840F-6611-D845-4708-EC4E9ABE7B91}"/>
              </a:ext>
            </a:extLst>
          </p:cNvPr>
          <p:cNvSpPr>
            <a:spLocks noGrp="1"/>
          </p:cNvSpPr>
          <p:nvPr>
            <p:ph idx="1"/>
          </p:nvPr>
        </p:nvSpPr>
        <p:spPr/>
        <p:txBody>
          <a:bodyPr/>
          <a:lstStyle/>
          <a:p>
            <a:pPr algn="just" rtl="0" fontAlgn="base"/>
            <a:r>
              <a:rPr lang="en-US" b="0" i="0" dirty="0">
                <a:solidFill>
                  <a:srgbClr val="273239"/>
                </a:solidFill>
                <a:effectLst/>
                <a:highlight>
                  <a:srgbClr val="FFFFFF"/>
                </a:highlight>
                <a:latin typeface="Nunito" pitchFamily="2" charset="0"/>
              </a:rPr>
              <a:t>Mainframe computing in the 1950s and the internet explosion in the 1990s came together to give rise to cloud computing. Since businesses like Amazon, Google, and Salesforce started providing web-based services in the early 2000s.</a:t>
            </a:r>
          </a:p>
          <a:p>
            <a:endParaRPr lang="en-IN" dirty="0"/>
          </a:p>
        </p:txBody>
      </p:sp>
    </p:spTree>
    <p:extLst>
      <p:ext uri="{BB962C8B-B14F-4D97-AF65-F5344CB8AC3E}">
        <p14:creationId xmlns:p14="http://schemas.microsoft.com/office/powerpoint/2010/main" val="35202454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9BF5B-EE8D-AC6F-DE21-6586B4D2AAC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2DCBC2-1A81-B0E0-C0A0-9BE7A1A02AC1}"/>
              </a:ext>
            </a:extLst>
          </p:cNvPr>
          <p:cNvSpPr>
            <a:spLocks noGrp="1"/>
          </p:cNvSpPr>
          <p:nvPr>
            <p:ph idx="1"/>
          </p:nvPr>
        </p:nvSpPr>
        <p:spPr/>
        <p:txBody>
          <a:bodyPr/>
          <a:lstStyle/>
          <a:p>
            <a:pPr algn="l" fontAlgn="base">
              <a:buFont typeface="+mj-lt"/>
              <a:buAutoNum type="arabicPeriod"/>
            </a:pPr>
            <a:r>
              <a:rPr lang="en-US" b="0" i="0" dirty="0">
                <a:solidFill>
                  <a:srgbClr val="273239"/>
                </a:solidFill>
                <a:effectLst/>
                <a:highlight>
                  <a:srgbClr val="FFFFFF"/>
                </a:highlight>
                <a:latin typeface="Nunito" pitchFamily="2" charset="0"/>
              </a:rPr>
              <a:t>Front end ( Fat client, Thin client)</a:t>
            </a:r>
          </a:p>
          <a:p>
            <a:pPr algn="l" fontAlgn="base">
              <a:buFont typeface="+mj-lt"/>
              <a:buAutoNum type="arabicPeriod" startAt="2"/>
            </a:pPr>
            <a:r>
              <a:rPr lang="en-US" b="0" i="0" dirty="0">
                <a:solidFill>
                  <a:srgbClr val="273239"/>
                </a:solidFill>
                <a:effectLst/>
                <a:highlight>
                  <a:srgbClr val="FFFFFF"/>
                </a:highlight>
                <a:latin typeface="Nunito" pitchFamily="2" charset="0"/>
              </a:rPr>
              <a:t>Back-end platforms ( Servers, Storage )</a:t>
            </a:r>
          </a:p>
          <a:p>
            <a:pPr algn="l" fontAlgn="base">
              <a:buFont typeface="+mj-lt"/>
              <a:buAutoNum type="arabicPeriod" startAt="3"/>
            </a:pPr>
            <a:r>
              <a:rPr lang="en-US" b="0" i="0" dirty="0">
                <a:solidFill>
                  <a:srgbClr val="273239"/>
                </a:solidFill>
                <a:effectLst/>
                <a:highlight>
                  <a:srgbClr val="FFFFFF"/>
                </a:highlight>
                <a:latin typeface="Nunito" pitchFamily="2" charset="0"/>
              </a:rPr>
              <a:t>Cloud-based delivery and a network ( Internet, Intranet, Intercloud )</a:t>
            </a:r>
          </a:p>
          <a:p>
            <a:endParaRPr lang="en-IN" dirty="0"/>
          </a:p>
        </p:txBody>
      </p:sp>
    </p:spTree>
    <p:extLst>
      <p:ext uri="{BB962C8B-B14F-4D97-AF65-F5344CB8AC3E}">
        <p14:creationId xmlns:p14="http://schemas.microsoft.com/office/powerpoint/2010/main" val="11513894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88BCF-7D07-047F-0684-C8403FDBD352}"/>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A14D8A60-E858-6A62-552C-E4C501704A7A}"/>
              </a:ext>
            </a:extLst>
          </p:cNvPr>
          <p:cNvPicPr>
            <a:picLocks noGrp="1" noChangeAspect="1"/>
          </p:cNvPicPr>
          <p:nvPr>
            <p:ph idx="1"/>
          </p:nvPr>
        </p:nvPicPr>
        <p:blipFill>
          <a:blip r:embed="rId2"/>
          <a:stretch>
            <a:fillRect/>
          </a:stretch>
        </p:blipFill>
        <p:spPr bwMode="auto">
          <a:xfrm>
            <a:off x="3216353" y="1825625"/>
            <a:ext cx="575929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12772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50D1-0B9E-5B12-EBC4-F976C78ED9A0}"/>
              </a:ext>
            </a:extLst>
          </p:cNvPr>
          <p:cNvSpPr>
            <a:spLocks noGrp="1"/>
          </p:cNvSpPr>
          <p:nvPr>
            <p:ph type="title"/>
          </p:nvPr>
        </p:nvSpPr>
        <p:spPr/>
        <p:txBody>
          <a:bodyPr>
            <a:normAutofit fontScale="90000"/>
          </a:bodyPr>
          <a:lstStyle/>
          <a:p>
            <a:r>
              <a:rPr lang="en-US" b="1" i="0" dirty="0">
                <a:solidFill>
                  <a:srgbClr val="273239"/>
                </a:solidFill>
                <a:effectLst/>
                <a:highlight>
                  <a:srgbClr val="FFFFFF"/>
                </a:highlight>
                <a:latin typeface="Nunito" pitchFamily="2" charset="0"/>
              </a:rPr>
              <a:t> Front End ( User Interaction Enhancement )</a:t>
            </a:r>
            <a:br>
              <a:rPr lang="en-US" b="1" i="0" dirty="0">
                <a:solidFill>
                  <a:srgbClr val="273239"/>
                </a:solidFill>
                <a:effectLst/>
                <a:highlight>
                  <a:srgbClr val="FFFFFF"/>
                </a:highlight>
                <a:latin typeface="Nunito" pitchFamily="2" charset="0"/>
              </a:rPr>
            </a:br>
            <a:endParaRPr lang="en-IN" dirty="0"/>
          </a:p>
        </p:txBody>
      </p:sp>
      <p:sp>
        <p:nvSpPr>
          <p:cNvPr id="3" name="Content Placeholder 2">
            <a:extLst>
              <a:ext uri="{FF2B5EF4-FFF2-40B4-BE49-F238E27FC236}">
                <a16:creationId xmlns:a16="http://schemas.microsoft.com/office/drawing/2014/main" id="{AD83BEE9-9C4E-2CCE-568F-55470A882D93}"/>
              </a:ext>
            </a:extLst>
          </p:cNvPr>
          <p:cNvSpPr>
            <a:spLocks noGrp="1"/>
          </p:cNvSpPr>
          <p:nvPr>
            <p:ph idx="1"/>
          </p:nvPr>
        </p:nvSpPr>
        <p:spPr/>
        <p:txBody>
          <a:bodyPr/>
          <a:lstStyle/>
          <a:p>
            <a:pPr marL="0" indent="0" algn="just" rtl="0" fontAlgn="base">
              <a:buNone/>
            </a:pPr>
            <a:r>
              <a:rPr lang="en-US" b="0" i="0" dirty="0">
                <a:solidFill>
                  <a:srgbClr val="273239"/>
                </a:solidFill>
                <a:effectLst/>
                <a:highlight>
                  <a:srgbClr val="FFFFFF"/>
                </a:highlight>
                <a:latin typeface="Nunito" pitchFamily="2" charset="0"/>
              </a:rPr>
              <a:t>The User Interface of Cloud Computing consists of 2 sections of clients. The Thin clients are the ones that use web browsers facilitating portable and lightweight accessibilities and others are known as Fat Clients that use many functionalities for offering a strong user experience.</a:t>
            </a:r>
          </a:p>
          <a:p>
            <a:endParaRPr lang="en-IN" dirty="0"/>
          </a:p>
        </p:txBody>
      </p:sp>
    </p:spTree>
    <p:extLst>
      <p:ext uri="{BB962C8B-B14F-4D97-AF65-F5344CB8AC3E}">
        <p14:creationId xmlns:p14="http://schemas.microsoft.com/office/powerpoint/2010/main" val="35403582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A9AA4-F04C-97AA-2CA5-E0951F479D28}"/>
              </a:ext>
            </a:extLst>
          </p:cNvPr>
          <p:cNvSpPr>
            <a:spLocks noGrp="1"/>
          </p:cNvSpPr>
          <p:nvPr>
            <p:ph type="title"/>
          </p:nvPr>
        </p:nvSpPr>
        <p:spPr/>
        <p:txBody>
          <a:bodyPr>
            <a:normAutofit fontScale="90000"/>
          </a:bodyPr>
          <a:lstStyle/>
          <a:p>
            <a:r>
              <a:rPr lang="en-US" b="1" i="0" dirty="0">
                <a:solidFill>
                  <a:srgbClr val="273239"/>
                </a:solidFill>
                <a:effectLst/>
                <a:highlight>
                  <a:srgbClr val="FFFFFF"/>
                </a:highlight>
                <a:latin typeface="Nunito" pitchFamily="2" charset="0"/>
              </a:rPr>
              <a:t>Back-end Platforms ( Cloud Computing Engine )</a:t>
            </a:r>
            <a:br>
              <a:rPr lang="en-US" b="1" i="0" dirty="0">
                <a:solidFill>
                  <a:srgbClr val="273239"/>
                </a:solidFill>
                <a:effectLst/>
                <a:highlight>
                  <a:srgbClr val="FFFFFF"/>
                </a:highlight>
                <a:latin typeface="Nunito" pitchFamily="2" charset="0"/>
              </a:rPr>
            </a:br>
            <a:endParaRPr lang="en-IN" dirty="0"/>
          </a:p>
        </p:txBody>
      </p:sp>
      <p:sp>
        <p:nvSpPr>
          <p:cNvPr id="3" name="Content Placeholder 2">
            <a:extLst>
              <a:ext uri="{FF2B5EF4-FFF2-40B4-BE49-F238E27FC236}">
                <a16:creationId xmlns:a16="http://schemas.microsoft.com/office/drawing/2014/main" id="{945D1694-0BF2-7B2B-C09D-A9AD0FA641CB}"/>
              </a:ext>
            </a:extLst>
          </p:cNvPr>
          <p:cNvSpPr>
            <a:spLocks noGrp="1"/>
          </p:cNvSpPr>
          <p:nvPr>
            <p:ph idx="1"/>
          </p:nvPr>
        </p:nvSpPr>
        <p:spPr/>
        <p:txBody>
          <a:bodyPr/>
          <a:lstStyle/>
          <a:p>
            <a:pPr algn="just" rtl="0" fontAlgn="base"/>
            <a:r>
              <a:rPr lang="en-US" b="0" i="0" dirty="0">
                <a:solidFill>
                  <a:srgbClr val="273239"/>
                </a:solidFill>
                <a:effectLst/>
                <a:highlight>
                  <a:srgbClr val="FFFFFF"/>
                </a:highlight>
                <a:latin typeface="Nunito" pitchFamily="2" charset="0"/>
              </a:rPr>
              <a:t>The core of cloud computing is made at back-end platforms with several servers for storage and processing computing. Management of Applications logic is managed through servers and effective data handling is provided by storage. The combination of these platforms at the backend offers the processing power, and capacity to manage and store data behind the cloud.</a:t>
            </a:r>
          </a:p>
          <a:p>
            <a:endParaRPr lang="en-IN" dirty="0"/>
          </a:p>
        </p:txBody>
      </p:sp>
    </p:spTree>
    <p:extLst>
      <p:ext uri="{BB962C8B-B14F-4D97-AF65-F5344CB8AC3E}">
        <p14:creationId xmlns:p14="http://schemas.microsoft.com/office/powerpoint/2010/main" val="29240371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51A6C-F6BB-8390-809D-69EEF99524B1}"/>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Cloud-Based Delivery and Network</a:t>
            </a:r>
            <a:br>
              <a:rPr lang="en-US" b="1" i="0" dirty="0">
                <a:solidFill>
                  <a:srgbClr val="273239"/>
                </a:solidFill>
                <a:effectLst/>
                <a:highlight>
                  <a:srgbClr val="FFFFFF"/>
                </a:highlight>
                <a:latin typeface="Nunito" pitchFamily="2" charset="0"/>
              </a:rPr>
            </a:br>
            <a:endParaRPr lang="en-IN" dirty="0"/>
          </a:p>
        </p:txBody>
      </p:sp>
      <p:sp>
        <p:nvSpPr>
          <p:cNvPr id="3" name="Content Placeholder 2">
            <a:extLst>
              <a:ext uri="{FF2B5EF4-FFF2-40B4-BE49-F238E27FC236}">
                <a16:creationId xmlns:a16="http://schemas.microsoft.com/office/drawing/2014/main" id="{B39A1890-F0FB-6ABA-A6C8-3B44D834C93C}"/>
              </a:ext>
            </a:extLst>
          </p:cNvPr>
          <p:cNvSpPr>
            <a:spLocks noGrp="1"/>
          </p:cNvSpPr>
          <p:nvPr>
            <p:ph idx="1"/>
          </p:nvPr>
        </p:nvSpPr>
        <p:spPr/>
        <p:txBody>
          <a:bodyPr/>
          <a:lstStyle/>
          <a:p>
            <a:pPr marL="0" indent="0" algn="l" fontAlgn="base">
              <a:buNone/>
            </a:pPr>
            <a:r>
              <a:rPr lang="en-US" b="1" i="0" dirty="0">
                <a:solidFill>
                  <a:srgbClr val="273239"/>
                </a:solidFill>
                <a:effectLst/>
                <a:highlight>
                  <a:srgbClr val="FFFFFF"/>
                </a:highlight>
                <a:latin typeface="Nunito" pitchFamily="2" charset="0"/>
              </a:rPr>
              <a:t>3. </a:t>
            </a:r>
            <a:r>
              <a:rPr lang="en-US" b="0" i="0" dirty="0">
                <a:solidFill>
                  <a:srgbClr val="273239"/>
                </a:solidFill>
                <a:effectLst/>
                <a:highlight>
                  <a:srgbClr val="FFFFFF"/>
                </a:highlight>
                <a:latin typeface="Nunito" pitchFamily="2" charset="0"/>
              </a:rPr>
              <a:t>On-demand access to the computer and resources is provided over the Internet, Intranet, and Intercloud. The Internet comes with global accessibility, the</a:t>
            </a:r>
            <a:r>
              <a:rPr lang="en-US" b="0" i="0" u="sng" dirty="0">
                <a:solidFill>
                  <a:srgbClr val="273239"/>
                </a:solidFill>
                <a:effectLst/>
                <a:highlight>
                  <a:srgbClr val="FFFFFF"/>
                </a:highlight>
                <a:latin typeface="Nunito" pitchFamily="2" charset="0"/>
                <a:hlinkClick r:id="rId2"/>
              </a:rPr>
              <a:t> Intranet </a:t>
            </a:r>
            <a:r>
              <a:rPr lang="en-US" b="0" i="0" dirty="0">
                <a:solidFill>
                  <a:srgbClr val="273239"/>
                </a:solidFill>
                <a:effectLst/>
                <a:highlight>
                  <a:srgbClr val="FFFFFF"/>
                </a:highlight>
                <a:latin typeface="Nunito" pitchFamily="2" charset="0"/>
              </a:rPr>
              <a:t>helps in internal communications of the services within the organization and the </a:t>
            </a:r>
            <a:r>
              <a:rPr lang="en-US" b="0" i="0" u="sng" dirty="0">
                <a:solidFill>
                  <a:srgbClr val="273239"/>
                </a:solidFill>
                <a:effectLst/>
                <a:highlight>
                  <a:srgbClr val="FFFFFF"/>
                </a:highlight>
                <a:latin typeface="Nunito" pitchFamily="2" charset="0"/>
                <a:hlinkClick r:id="rId3"/>
              </a:rPr>
              <a:t>Intercloud</a:t>
            </a:r>
            <a:r>
              <a:rPr lang="en-US" b="0" i="0" dirty="0">
                <a:solidFill>
                  <a:srgbClr val="273239"/>
                </a:solidFill>
                <a:effectLst/>
                <a:highlight>
                  <a:srgbClr val="FFFFFF"/>
                </a:highlight>
                <a:latin typeface="Nunito" pitchFamily="2" charset="0"/>
              </a:rPr>
              <a:t> enables interoperability across various cloud services. This dynamic network connectivity ensures an essential component of cloud computing architecture on guaranteeing easy access and data transfer.</a:t>
            </a:r>
          </a:p>
          <a:p>
            <a:pPr marL="0" indent="0">
              <a:buNone/>
            </a:pPr>
            <a:endParaRPr lang="en-IN" dirty="0"/>
          </a:p>
        </p:txBody>
      </p:sp>
    </p:spTree>
    <p:extLst>
      <p:ext uri="{BB962C8B-B14F-4D97-AF65-F5344CB8AC3E}">
        <p14:creationId xmlns:p14="http://schemas.microsoft.com/office/powerpoint/2010/main" val="39493665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AA3F6-B9D2-2A98-3B8B-93F19C1D5796}"/>
              </a:ext>
            </a:extLst>
          </p:cNvPr>
          <p:cNvSpPr>
            <a:spLocks noGrp="1"/>
          </p:cNvSpPr>
          <p:nvPr>
            <p:ph type="title"/>
          </p:nvPr>
        </p:nvSpPr>
        <p:spPr/>
        <p:txBody>
          <a:bodyPr>
            <a:normAutofit fontScale="90000"/>
          </a:bodyPr>
          <a:lstStyle/>
          <a:p>
            <a:r>
              <a:rPr lang="en-US" b="1" i="0" dirty="0">
                <a:solidFill>
                  <a:srgbClr val="273239"/>
                </a:solidFill>
                <a:effectLst/>
                <a:highlight>
                  <a:srgbClr val="FFFFFF"/>
                </a:highlight>
                <a:latin typeface="Nunito" pitchFamily="2" charset="0"/>
              </a:rPr>
              <a:t>What Are The Types of Cloud Computing Services?</a:t>
            </a:r>
            <a:br>
              <a:rPr lang="en-US" b="1" i="0" dirty="0">
                <a:solidFill>
                  <a:srgbClr val="273239"/>
                </a:solidFill>
                <a:effectLst/>
                <a:highlight>
                  <a:srgbClr val="FFFFFF"/>
                </a:highlight>
                <a:latin typeface="Nunito" pitchFamily="2" charset="0"/>
              </a:rPr>
            </a:br>
            <a:endParaRPr lang="en-IN" dirty="0"/>
          </a:p>
        </p:txBody>
      </p:sp>
      <p:sp>
        <p:nvSpPr>
          <p:cNvPr id="3" name="Content Placeholder 2">
            <a:extLst>
              <a:ext uri="{FF2B5EF4-FFF2-40B4-BE49-F238E27FC236}">
                <a16:creationId xmlns:a16="http://schemas.microsoft.com/office/drawing/2014/main" id="{021ADA81-BF75-FFBF-EDE6-40BF0D28C877}"/>
              </a:ext>
            </a:extLst>
          </p:cNvPr>
          <p:cNvSpPr>
            <a:spLocks noGrp="1"/>
          </p:cNvSpPr>
          <p:nvPr>
            <p:ph idx="1"/>
          </p:nvPr>
        </p:nvSpPr>
        <p:spPr/>
        <p:txBody>
          <a:bodyPr/>
          <a:lstStyle/>
          <a:p>
            <a:pPr algn="l" rtl="0" fontAlgn="base"/>
            <a:r>
              <a:rPr lang="en-US" b="0" i="0" dirty="0">
                <a:solidFill>
                  <a:srgbClr val="273239"/>
                </a:solidFill>
                <a:effectLst/>
                <a:highlight>
                  <a:srgbClr val="FFFFFF"/>
                </a:highlight>
                <a:latin typeface="Nunito" pitchFamily="2" charset="0"/>
              </a:rPr>
              <a:t>The following are the types of Cloud Computing:</a:t>
            </a:r>
          </a:p>
          <a:p>
            <a:pPr algn="l" fontAlgn="base">
              <a:buFont typeface="+mj-lt"/>
              <a:buAutoNum type="arabicPeriod"/>
            </a:pPr>
            <a:r>
              <a:rPr lang="en-US" b="0" i="0" u="sng" dirty="0">
                <a:solidFill>
                  <a:srgbClr val="273239"/>
                </a:solidFill>
                <a:effectLst/>
                <a:highlight>
                  <a:srgbClr val="FFFFFF"/>
                </a:highlight>
                <a:latin typeface="Nunito" pitchFamily="2" charset="0"/>
                <a:hlinkClick r:id="rId2"/>
              </a:rPr>
              <a:t>Infrastructure as a Service (IaaS)</a:t>
            </a:r>
            <a:endParaRPr lang="en-US" b="0" i="0" dirty="0">
              <a:solidFill>
                <a:srgbClr val="273239"/>
              </a:solidFill>
              <a:effectLst/>
              <a:highlight>
                <a:srgbClr val="FFFFFF"/>
              </a:highlight>
              <a:latin typeface="Nunito" pitchFamily="2" charset="0"/>
            </a:endParaRPr>
          </a:p>
          <a:p>
            <a:pPr algn="l" fontAlgn="base">
              <a:buFont typeface="+mj-lt"/>
              <a:buAutoNum type="arabicPeriod" startAt="2"/>
            </a:pPr>
            <a:r>
              <a:rPr lang="en-US" b="0" i="0" u="sng" dirty="0">
                <a:solidFill>
                  <a:srgbClr val="273239"/>
                </a:solidFill>
                <a:effectLst/>
                <a:highlight>
                  <a:srgbClr val="FFFFFF"/>
                </a:highlight>
                <a:latin typeface="Nunito" pitchFamily="2" charset="0"/>
                <a:hlinkClick r:id="rId3"/>
              </a:rPr>
              <a:t>Platform as a Service (PaaS)</a:t>
            </a:r>
            <a:endParaRPr lang="en-US" b="0" i="0" dirty="0">
              <a:solidFill>
                <a:srgbClr val="273239"/>
              </a:solidFill>
              <a:effectLst/>
              <a:highlight>
                <a:srgbClr val="FFFFFF"/>
              </a:highlight>
              <a:latin typeface="Nunito" pitchFamily="2" charset="0"/>
            </a:endParaRPr>
          </a:p>
          <a:p>
            <a:pPr algn="l" fontAlgn="base">
              <a:buFont typeface="+mj-lt"/>
              <a:buAutoNum type="arabicPeriod" startAt="3"/>
            </a:pPr>
            <a:r>
              <a:rPr lang="en-US" b="0" i="0" u="sng" dirty="0">
                <a:solidFill>
                  <a:srgbClr val="273239"/>
                </a:solidFill>
                <a:effectLst/>
                <a:highlight>
                  <a:srgbClr val="FFFFFF"/>
                </a:highlight>
                <a:latin typeface="Nunito" pitchFamily="2" charset="0"/>
                <a:hlinkClick r:id="rId4"/>
              </a:rPr>
              <a:t>Software as a Service (SaaS)</a:t>
            </a:r>
            <a:endParaRPr lang="en-US" b="0" i="0" dirty="0">
              <a:solidFill>
                <a:srgbClr val="273239"/>
              </a:solidFill>
              <a:effectLst/>
              <a:highlight>
                <a:srgbClr val="FFFFFF"/>
              </a:highlight>
              <a:latin typeface="Nunito" pitchFamily="2" charset="0"/>
            </a:endParaRPr>
          </a:p>
          <a:p>
            <a:pPr algn="l" fontAlgn="base">
              <a:buFont typeface="+mj-lt"/>
              <a:buAutoNum type="arabicPeriod" startAt="4"/>
            </a:pPr>
            <a:r>
              <a:rPr lang="en-US" b="0" i="0" u="sng" dirty="0">
                <a:solidFill>
                  <a:srgbClr val="273239"/>
                </a:solidFill>
                <a:effectLst/>
                <a:highlight>
                  <a:srgbClr val="FFFFFF"/>
                </a:highlight>
                <a:latin typeface="Nunito" pitchFamily="2" charset="0"/>
                <a:hlinkClick r:id="rId5"/>
              </a:rPr>
              <a:t>Function as </a:t>
            </a:r>
            <a:r>
              <a:rPr lang="en-US" b="0" i="0" u="sng" dirty="0" err="1">
                <a:solidFill>
                  <a:srgbClr val="273239"/>
                </a:solidFill>
                <a:effectLst/>
                <a:highlight>
                  <a:srgbClr val="FFFFFF"/>
                </a:highlight>
                <a:latin typeface="Nunito" pitchFamily="2" charset="0"/>
                <a:hlinkClick r:id="rId5"/>
              </a:rPr>
              <a:t>as</a:t>
            </a:r>
            <a:r>
              <a:rPr lang="en-US" b="0" i="0" u="sng" dirty="0">
                <a:solidFill>
                  <a:srgbClr val="273239"/>
                </a:solidFill>
                <a:effectLst/>
                <a:highlight>
                  <a:srgbClr val="FFFFFF"/>
                </a:highlight>
                <a:latin typeface="Nunito" pitchFamily="2" charset="0"/>
                <a:hlinkClick r:id="rId5"/>
              </a:rPr>
              <a:t> Service (</a:t>
            </a:r>
            <a:r>
              <a:rPr lang="en-US" b="0" i="0" u="sng" dirty="0" err="1">
                <a:solidFill>
                  <a:srgbClr val="273239"/>
                </a:solidFill>
                <a:effectLst/>
                <a:highlight>
                  <a:srgbClr val="FFFFFF"/>
                </a:highlight>
                <a:latin typeface="Nunito" pitchFamily="2" charset="0"/>
                <a:hlinkClick r:id="rId5"/>
              </a:rPr>
              <a:t>FaaS</a:t>
            </a:r>
            <a:r>
              <a:rPr lang="en-US" b="0" i="0" u="sng" dirty="0">
                <a:solidFill>
                  <a:srgbClr val="273239"/>
                </a:solidFill>
                <a:effectLst/>
                <a:highlight>
                  <a:srgbClr val="FFFFFF"/>
                </a:highlight>
                <a:latin typeface="Nunito" pitchFamily="2" charset="0"/>
                <a:hlinkClick r:id="rId5"/>
              </a:rPr>
              <a:t>)</a:t>
            </a:r>
            <a:endParaRPr lang="en-US" b="0" i="0" dirty="0">
              <a:solidFill>
                <a:srgbClr val="273239"/>
              </a:solidFill>
              <a:effectLst/>
              <a:highlight>
                <a:srgbClr val="FFFFFF"/>
              </a:highlight>
              <a:latin typeface="Nunito" pitchFamily="2" charset="0"/>
            </a:endParaRPr>
          </a:p>
          <a:p>
            <a:endParaRPr lang="en-IN" dirty="0"/>
          </a:p>
        </p:txBody>
      </p:sp>
    </p:spTree>
    <p:extLst>
      <p:ext uri="{BB962C8B-B14F-4D97-AF65-F5344CB8AC3E}">
        <p14:creationId xmlns:p14="http://schemas.microsoft.com/office/powerpoint/2010/main" val="35277103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C3BBC-4C02-BC45-4F9F-AE938C5A617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847DDED-C300-8D02-1DCA-35A09308C84C}"/>
              </a:ext>
            </a:extLst>
          </p:cNvPr>
          <p:cNvPicPr>
            <a:picLocks noGrp="1" noChangeAspect="1"/>
          </p:cNvPicPr>
          <p:nvPr>
            <p:ph idx="1"/>
          </p:nvPr>
        </p:nvPicPr>
        <p:blipFill>
          <a:blip r:embed="rId2"/>
          <a:stretch>
            <a:fillRect/>
          </a:stretch>
        </p:blipFill>
        <p:spPr>
          <a:xfrm>
            <a:off x="2064105" y="1825625"/>
            <a:ext cx="8063789" cy="4351338"/>
          </a:xfrm>
        </p:spPr>
      </p:pic>
    </p:spTree>
    <p:extLst>
      <p:ext uri="{BB962C8B-B14F-4D97-AF65-F5344CB8AC3E}">
        <p14:creationId xmlns:p14="http://schemas.microsoft.com/office/powerpoint/2010/main" val="21949980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E37F-0283-FFB1-866D-44C6F2BFC9F2}"/>
              </a:ext>
            </a:extLst>
          </p:cNvPr>
          <p:cNvSpPr>
            <a:spLocks noGrp="1"/>
          </p:cNvSpPr>
          <p:nvPr>
            <p:ph type="title"/>
          </p:nvPr>
        </p:nvSpPr>
        <p:spPr/>
        <p:txBody>
          <a:bodyPr/>
          <a:lstStyle/>
          <a:p>
            <a:endParaRPr lang="en-IN"/>
          </a:p>
        </p:txBody>
      </p:sp>
      <p:pic>
        <p:nvPicPr>
          <p:cNvPr id="4098" name="Picture 2" descr="Infrastructure as a Service">
            <a:extLst>
              <a:ext uri="{FF2B5EF4-FFF2-40B4-BE49-F238E27FC236}">
                <a16:creationId xmlns:a16="http://schemas.microsoft.com/office/drawing/2014/main" id="{6EC28FBA-50DC-133B-8864-BFD72852B6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27559" y="1825625"/>
            <a:ext cx="4336881"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6022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1BA57-4869-351F-DA92-6179A3FCCA7C}"/>
              </a:ext>
            </a:extLst>
          </p:cNvPr>
          <p:cNvSpPr>
            <a:spLocks noGrp="1"/>
          </p:cNvSpPr>
          <p:nvPr>
            <p:ph type="title"/>
          </p:nvPr>
        </p:nvSpPr>
        <p:spPr/>
        <p:txBody>
          <a:bodyPr/>
          <a:lstStyle/>
          <a:p>
            <a:r>
              <a:rPr lang="en-US" b="1" i="0" dirty="0">
                <a:solidFill>
                  <a:srgbClr val="273239"/>
                </a:solidFill>
                <a:effectLst/>
                <a:highlight>
                  <a:srgbClr val="FFFFFF"/>
                </a:highlight>
                <a:latin typeface="Nunito" pitchFamily="2" charset="0"/>
              </a:rPr>
              <a:t>Example of IAAS (Infrastructure As A Service)</a:t>
            </a:r>
            <a:endParaRPr lang="en-IN" dirty="0"/>
          </a:p>
        </p:txBody>
      </p:sp>
      <p:sp>
        <p:nvSpPr>
          <p:cNvPr id="3" name="Content Placeholder 2">
            <a:extLst>
              <a:ext uri="{FF2B5EF4-FFF2-40B4-BE49-F238E27FC236}">
                <a16:creationId xmlns:a16="http://schemas.microsoft.com/office/drawing/2014/main" id="{F8C3B2C2-5E90-5B9B-A487-A00C9B32CEA1}"/>
              </a:ext>
            </a:extLst>
          </p:cNvPr>
          <p:cNvSpPr>
            <a:spLocks noGrp="1"/>
          </p:cNvSpPr>
          <p:nvPr>
            <p:ph idx="1"/>
          </p:nvPr>
        </p:nvSpPr>
        <p:spPr/>
        <p:txBody>
          <a:bodyPr/>
          <a:lstStyle/>
          <a:p>
            <a:pPr algn="l" fontAlgn="base"/>
            <a:endParaRPr lang="en-US" b="1"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Amazon Web Services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Microsoft Azure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Google Compute Engine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Digital Ocean</a:t>
            </a:r>
          </a:p>
          <a:p>
            <a:endParaRPr lang="en-IN" dirty="0"/>
          </a:p>
        </p:txBody>
      </p:sp>
    </p:spTree>
    <p:extLst>
      <p:ext uri="{BB962C8B-B14F-4D97-AF65-F5344CB8AC3E}">
        <p14:creationId xmlns:p14="http://schemas.microsoft.com/office/powerpoint/2010/main" val="11380035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DBD9C-519D-85E0-BCE9-9DE2F569C5EA}"/>
              </a:ext>
            </a:extLst>
          </p:cNvPr>
          <p:cNvSpPr>
            <a:spLocks noGrp="1"/>
          </p:cNvSpPr>
          <p:nvPr>
            <p:ph type="title"/>
          </p:nvPr>
        </p:nvSpPr>
        <p:spPr/>
        <p:txBody>
          <a:bodyPr/>
          <a:lstStyle/>
          <a:p>
            <a:r>
              <a:rPr lang="en-US" dirty="0"/>
              <a:t>Features of IAAS</a:t>
            </a:r>
            <a:endParaRPr lang="en-IN" dirty="0"/>
          </a:p>
        </p:txBody>
      </p:sp>
      <p:sp>
        <p:nvSpPr>
          <p:cNvPr id="3" name="Content Placeholder 2">
            <a:extLst>
              <a:ext uri="{FF2B5EF4-FFF2-40B4-BE49-F238E27FC236}">
                <a16:creationId xmlns:a16="http://schemas.microsoft.com/office/drawing/2014/main" id="{ED8296DA-65FC-FADD-95C4-CB65E90F1088}"/>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b="1" i="0" dirty="0">
                <a:solidFill>
                  <a:srgbClr val="000000"/>
                </a:solidFill>
                <a:effectLst/>
                <a:highlight>
                  <a:srgbClr val="FFFFFF"/>
                </a:highlight>
                <a:latin typeface="inter-bold"/>
              </a:rPr>
              <a:t>Scalability:</a:t>
            </a:r>
            <a:r>
              <a:rPr lang="en-US" b="0" i="0" dirty="0">
                <a:solidFill>
                  <a:srgbClr val="000000"/>
                </a:solidFill>
                <a:effectLst/>
                <a:highlight>
                  <a:srgbClr val="FFFFFF"/>
                </a:highlight>
                <a:latin typeface="inter-regular"/>
              </a:rPr>
              <a:t> IaaS enables users to adjust computing capacity according to their demands without requiring long lead times or up-front hardware purchases.</a:t>
            </a:r>
          </a:p>
          <a:p>
            <a:pPr algn="just">
              <a:buFont typeface="Arial" panose="020B0604020202020204" pitchFamily="34" charset="0"/>
              <a:buChar char="•"/>
            </a:pPr>
            <a:r>
              <a:rPr lang="en-US" b="1" i="0" dirty="0">
                <a:solidFill>
                  <a:srgbClr val="000000"/>
                </a:solidFill>
                <a:effectLst/>
                <a:highlight>
                  <a:srgbClr val="FFFFFF"/>
                </a:highlight>
                <a:latin typeface="inter-bold"/>
              </a:rPr>
              <a:t>Virtualization:</a:t>
            </a:r>
            <a:r>
              <a:rPr lang="en-US" b="0" i="0" dirty="0">
                <a:solidFill>
                  <a:srgbClr val="000000"/>
                </a:solidFill>
                <a:effectLst/>
                <a:highlight>
                  <a:srgbClr val="FFFFFF"/>
                </a:highlight>
                <a:latin typeface="inter-regular"/>
              </a:rPr>
              <a:t> IaaS uses virtualization technology to generate virtualized instances that can be managed and delivered on-demand by abstracting physical computer resources.</a:t>
            </a:r>
          </a:p>
          <a:p>
            <a:pPr algn="just">
              <a:buFont typeface="Arial" panose="020B0604020202020204" pitchFamily="34" charset="0"/>
              <a:buChar char="•"/>
            </a:pPr>
            <a:r>
              <a:rPr lang="en-US" b="1" i="0" dirty="0">
                <a:solidFill>
                  <a:srgbClr val="000000"/>
                </a:solidFill>
                <a:effectLst/>
                <a:highlight>
                  <a:srgbClr val="FFFFFF"/>
                </a:highlight>
                <a:latin typeface="inter-bold"/>
              </a:rPr>
              <a:t>Resource Pooling:</a:t>
            </a:r>
            <a:r>
              <a:rPr lang="en-US" b="0" i="0" dirty="0">
                <a:solidFill>
                  <a:srgbClr val="000000"/>
                </a:solidFill>
                <a:effectLst/>
                <a:highlight>
                  <a:srgbClr val="FFFFFF"/>
                </a:highlight>
                <a:latin typeface="inter-regular"/>
              </a:rPr>
              <a:t> This feature enables users to share computer resources, such as networking and storage, among a number of users, maximizing resource utilization and cutting costs.</a:t>
            </a:r>
          </a:p>
          <a:p>
            <a:pPr algn="just">
              <a:buFont typeface="Arial" panose="020B0604020202020204" pitchFamily="34" charset="0"/>
              <a:buChar char="•"/>
            </a:pPr>
            <a:r>
              <a:rPr lang="en-US" b="1" i="0" dirty="0">
                <a:solidFill>
                  <a:srgbClr val="000000"/>
                </a:solidFill>
                <a:effectLst/>
                <a:highlight>
                  <a:srgbClr val="FFFFFF"/>
                </a:highlight>
                <a:latin typeface="inter-bold"/>
              </a:rPr>
              <a:t>Elasticity:</a:t>
            </a:r>
            <a:r>
              <a:rPr lang="en-US" b="0" i="0" dirty="0">
                <a:solidFill>
                  <a:srgbClr val="000000"/>
                </a:solidFill>
                <a:effectLst/>
                <a:highlight>
                  <a:srgbClr val="FFFFFF"/>
                </a:highlight>
                <a:latin typeface="inter-regular"/>
              </a:rPr>
              <a:t> IaaS allows users to dynamically modify their computing resources in response to shifting demand, ensuring optimum performance and financial viability.</a:t>
            </a:r>
          </a:p>
          <a:p>
            <a:endParaRPr lang="en-IN" dirty="0"/>
          </a:p>
        </p:txBody>
      </p:sp>
    </p:spTree>
    <p:extLst>
      <p:ext uri="{BB962C8B-B14F-4D97-AF65-F5344CB8AC3E}">
        <p14:creationId xmlns:p14="http://schemas.microsoft.com/office/powerpoint/2010/main" val="39810469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4A34F-3065-4C75-428B-EAA6FCD4C4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A87680-F41B-E9DD-6CD1-B0C886258A92}"/>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b="1" i="0" dirty="0">
                <a:solidFill>
                  <a:srgbClr val="000000"/>
                </a:solidFill>
                <a:effectLst/>
                <a:highlight>
                  <a:srgbClr val="FFFFFF"/>
                </a:highlight>
                <a:latin typeface="inter-bold"/>
              </a:rPr>
              <a:t>Self-Service:</a:t>
            </a:r>
            <a:r>
              <a:rPr lang="en-US" b="0" i="0" dirty="0">
                <a:solidFill>
                  <a:srgbClr val="000000"/>
                </a:solidFill>
                <a:effectLst/>
                <a:highlight>
                  <a:srgbClr val="FFFFFF"/>
                </a:highlight>
                <a:latin typeface="inter-regular"/>
              </a:rPr>
              <a:t> IaaS offers consumers "self-service" portals that let them independently deploy, administer, and monitor their computing resources without the assistance of IT employees.</a:t>
            </a:r>
          </a:p>
          <a:p>
            <a:pPr algn="just">
              <a:buFont typeface="Arial" panose="020B0604020202020204" pitchFamily="34" charset="0"/>
              <a:buChar char="•"/>
            </a:pPr>
            <a:r>
              <a:rPr lang="en-US" b="1" i="0" dirty="0">
                <a:solidFill>
                  <a:srgbClr val="000000"/>
                </a:solidFill>
                <a:effectLst/>
                <a:highlight>
                  <a:srgbClr val="FFFFFF"/>
                </a:highlight>
                <a:latin typeface="inter-bold"/>
              </a:rPr>
              <a:t>Availability:</a:t>
            </a:r>
            <a:r>
              <a:rPr lang="en-US" b="0" i="0" dirty="0">
                <a:solidFill>
                  <a:srgbClr val="000000"/>
                </a:solidFill>
                <a:effectLst/>
                <a:highlight>
                  <a:srgbClr val="FFFFFF"/>
                </a:highlight>
                <a:latin typeface="inter-regular"/>
              </a:rPr>
              <a:t> To ensure the high availability and reliability of services, IaaS providers often run redundant and geographically dispersed data centers.</a:t>
            </a:r>
          </a:p>
          <a:p>
            <a:pPr algn="just">
              <a:buFont typeface="Arial" panose="020B0604020202020204" pitchFamily="34" charset="0"/>
              <a:buChar char="•"/>
            </a:pPr>
            <a:r>
              <a:rPr lang="en-US" b="1" i="0" dirty="0">
                <a:solidFill>
                  <a:srgbClr val="000000"/>
                </a:solidFill>
                <a:effectLst/>
                <a:highlight>
                  <a:srgbClr val="FFFFFF"/>
                </a:highlight>
                <a:latin typeface="inter-bold"/>
              </a:rPr>
              <a:t>Security:</a:t>
            </a:r>
            <a:r>
              <a:rPr lang="en-US" b="0" i="0" dirty="0">
                <a:solidFill>
                  <a:srgbClr val="000000"/>
                </a:solidFill>
                <a:effectLst/>
                <a:highlight>
                  <a:srgbClr val="FFFFFF"/>
                </a:highlight>
                <a:latin typeface="inter-regular"/>
              </a:rPr>
              <a:t> To safeguard their infrastructure and client data, IaaS companies adopt security measures, including data encryption, firewalls, access controls, and threat detection.</a:t>
            </a:r>
          </a:p>
          <a:p>
            <a:pPr algn="just">
              <a:buFont typeface="Arial" panose="020B0604020202020204" pitchFamily="34" charset="0"/>
              <a:buChar char="•"/>
            </a:pPr>
            <a:r>
              <a:rPr lang="en-US" b="1" i="0" dirty="0">
                <a:solidFill>
                  <a:srgbClr val="000000"/>
                </a:solidFill>
                <a:effectLst/>
                <a:highlight>
                  <a:srgbClr val="FFFFFF"/>
                </a:highlight>
                <a:latin typeface="inter-bold"/>
              </a:rPr>
              <a:t>Customization:</a:t>
            </a:r>
            <a:r>
              <a:rPr lang="en-US" b="0" i="0" dirty="0">
                <a:solidFill>
                  <a:srgbClr val="000000"/>
                </a:solidFill>
                <a:effectLst/>
                <a:highlight>
                  <a:srgbClr val="FFFFFF"/>
                </a:highlight>
                <a:latin typeface="inter-regular"/>
              </a:rPr>
              <a:t> IaaS enables users to alter the operating systems, application stacks, and security settings of their virtualized instances to suit their unique requirements.</a:t>
            </a:r>
          </a:p>
          <a:p>
            <a:endParaRPr lang="en-IN" dirty="0"/>
          </a:p>
        </p:txBody>
      </p:sp>
    </p:spTree>
    <p:extLst>
      <p:ext uri="{BB962C8B-B14F-4D97-AF65-F5344CB8AC3E}">
        <p14:creationId xmlns:p14="http://schemas.microsoft.com/office/powerpoint/2010/main" val="36792886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9F27E-D29F-A29E-B296-F8FCC98E854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4A5D90F-7326-DCE9-1A43-BAEE5E761945}"/>
              </a:ext>
            </a:extLst>
          </p:cNvPr>
          <p:cNvSpPr>
            <a:spLocks noGrp="1"/>
          </p:cNvSpPr>
          <p:nvPr>
            <p:ph idx="1"/>
          </p:nvPr>
        </p:nvSpPr>
        <p:spPr/>
        <p:txBody>
          <a:bodyPr/>
          <a:lstStyle/>
          <a:p>
            <a:r>
              <a:rPr lang="en-US" b="0" i="0" dirty="0">
                <a:solidFill>
                  <a:srgbClr val="333333"/>
                </a:solidFill>
                <a:effectLst/>
                <a:highlight>
                  <a:srgbClr val="FFFFFF"/>
                </a:highlight>
                <a:latin typeface="inter-regular"/>
              </a:rPr>
              <a:t>IaaS is offered in three models: public, private, and hybrid cloud. The private cloud implies that the infrastructure resides at the customer's premise.</a:t>
            </a:r>
          </a:p>
          <a:p>
            <a:r>
              <a:rPr lang="en-US" b="0" i="0" dirty="0">
                <a:solidFill>
                  <a:srgbClr val="333333"/>
                </a:solidFill>
                <a:effectLst/>
                <a:highlight>
                  <a:srgbClr val="FFFFFF"/>
                </a:highlight>
                <a:latin typeface="inter-regular"/>
              </a:rPr>
              <a:t> In the case of the public cloud, it is located at the cloud computing platform vendor's data center, and the hybrid cloud is a combination of the two in which the customer selects the best of both public cloud and private cloud.</a:t>
            </a:r>
            <a:endParaRPr lang="en-IN" dirty="0"/>
          </a:p>
        </p:txBody>
      </p:sp>
    </p:spTree>
    <p:extLst>
      <p:ext uri="{BB962C8B-B14F-4D97-AF65-F5344CB8AC3E}">
        <p14:creationId xmlns:p14="http://schemas.microsoft.com/office/powerpoint/2010/main" val="42151416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07208-89D9-41E8-5107-2840E769977C}"/>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03BEE153-2C96-4FCC-A623-C36A4C72804B}"/>
              </a:ext>
            </a:extLst>
          </p:cNvPr>
          <p:cNvPicPr>
            <a:picLocks noGrp="1" noChangeAspect="1"/>
          </p:cNvPicPr>
          <p:nvPr>
            <p:ph idx="1"/>
          </p:nvPr>
        </p:nvPicPr>
        <p:blipFill>
          <a:blip r:embed="rId2"/>
          <a:stretch>
            <a:fillRect/>
          </a:stretch>
        </p:blipFill>
        <p:spPr bwMode="auto">
          <a:xfrm>
            <a:off x="1861546" y="2100791"/>
            <a:ext cx="8468907" cy="38010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843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C9775-7B9C-02BB-EB16-E07E2E9AA7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AF14EDA-0CB5-CCD3-9B69-F4BD07A73590}"/>
              </a:ext>
            </a:extLst>
          </p:cNvPr>
          <p:cNvSpPr>
            <a:spLocks noGrp="1"/>
          </p:cNvSpPr>
          <p:nvPr>
            <p:ph idx="1"/>
          </p:nvPr>
        </p:nvSpPr>
        <p:spPr/>
        <p:txBody>
          <a:bodyPr/>
          <a:lstStyle/>
          <a:p>
            <a:pPr algn="just"/>
            <a:r>
              <a:rPr lang="en-US" b="0" i="0" dirty="0">
                <a:solidFill>
                  <a:srgbClr val="610B38"/>
                </a:solidFill>
                <a:effectLst/>
                <a:highlight>
                  <a:srgbClr val="FFFFFF"/>
                </a:highlight>
                <a:latin typeface="erdana"/>
              </a:rPr>
              <a:t>Platform as a Service | PaaS</a:t>
            </a:r>
          </a:p>
          <a:p>
            <a:pPr algn="just"/>
            <a:r>
              <a:rPr lang="en-US" b="0" i="0" dirty="0">
                <a:solidFill>
                  <a:srgbClr val="333333"/>
                </a:solidFill>
                <a:effectLst/>
                <a:highlight>
                  <a:srgbClr val="FFFFFF"/>
                </a:highlight>
                <a:latin typeface="inter-regular"/>
              </a:rPr>
              <a:t>Platform as a Service (PaaS) provides a runtime environment. It allows programmers to easily create, test, run, and deploy web applications. You can purchase these applications from a cloud service provider on a pay-as-per-use basis and access them using an Internet connection. In PaaS, back-end scalability is managed by the cloud service provider, so end-users do not need to worry about managing the infrastructure.</a:t>
            </a:r>
          </a:p>
          <a:p>
            <a:endParaRPr lang="en-IN" dirty="0"/>
          </a:p>
        </p:txBody>
      </p:sp>
    </p:spTree>
    <p:extLst>
      <p:ext uri="{BB962C8B-B14F-4D97-AF65-F5344CB8AC3E}">
        <p14:creationId xmlns:p14="http://schemas.microsoft.com/office/powerpoint/2010/main" val="38435522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C14E9-E395-A5A6-AB51-E7423CBAAB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A91CB92-5CCD-E01F-A4D4-08C8A0750FCC}"/>
              </a:ext>
            </a:extLst>
          </p:cNvPr>
          <p:cNvSpPr>
            <a:spLocks noGrp="1"/>
          </p:cNvSpPr>
          <p:nvPr>
            <p:ph idx="1"/>
          </p:nvPr>
        </p:nvSpPr>
        <p:spPr/>
        <p:txBody>
          <a:bodyPr/>
          <a:lstStyle/>
          <a:p>
            <a:pPr algn="l" fontAlgn="base"/>
            <a:r>
              <a:rPr lang="en-US" b="1" i="0" dirty="0">
                <a:solidFill>
                  <a:srgbClr val="273239"/>
                </a:solidFill>
                <a:effectLst/>
                <a:highlight>
                  <a:srgbClr val="FFFFFF"/>
                </a:highlight>
                <a:latin typeface="Nunito" pitchFamily="2" charset="0"/>
              </a:rPr>
              <a:t>Examples of PAAS (Platform as a Service)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AWS Lambda</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Google App Engine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Google Cloud</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IBM Cloud</a:t>
            </a:r>
          </a:p>
          <a:p>
            <a:endParaRPr lang="en-IN" dirty="0"/>
          </a:p>
        </p:txBody>
      </p:sp>
    </p:spTree>
    <p:extLst>
      <p:ext uri="{BB962C8B-B14F-4D97-AF65-F5344CB8AC3E}">
        <p14:creationId xmlns:p14="http://schemas.microsoft.com/office/powerpoint/2010/main" val="166698410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90D4B-69EB-2536-ADB5-32E0418E705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2C492D4-C317-6891-D4BE-A83FB4D442A9}"/>
              </a:ext>
            </a:extLst>
          </p:cNvPr>
          <p:cNvPicPr>
            <a:picLocks noGrp="1" noChangeAspect="1"/>
          </p:cNvPicPr>
          <p:nvPr>
            <p:ph idx="1"/>
          </p:nvPr>
        </p:nvPicPr>
        <p:blipFill>
          <a:blip r:embed="rId2"/>
          <a:stretch>
            <a:fillRect/>
          </a:stretch>
        </p:blipFill>
        <p:spPr>
          <a:xfrm>
            <a:off x="3829333" y="1825625"/>
            <a:ext cx="4533333" cy="4351338"/>
          </a:xfrm>
        </p:spPr>
      </p:pic>
    </p:spTree>
    <p:extLst>
      <p:ext uri="{BB962C8B-B14F-4D97-AF65-F5344CB8AC3E}">
        <p14:creationId xmlns:p14="http://schemas.microsoft.com/office/powerpoint/2010/main" val="17755505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61455-0684-FA74-4CC5-4C9AD8601B70}"/>
              </a:ext>
            </a:extLst>
          </p:cNvPr>
          <p:cNvSpPr>
            <a:spLocks noGrp="1"/>
          </p:cNvSpPr>
          <p:nvPr>
            <p:ph type="title"/>
          </p:nvPr>
        </p:nvSpPr>
        <p:spPr/>
        <p:txBody>
          <a:bodyPr/>
          <a:lstStyle/>
          <a:p>
            <a:endParaRPr lang="en-IN"/>
          </a:p>
        </p:txBody>
      </p:sp>
      <p:pic>
        <p:nvPicPr>
          <p:cNvPr id="3074" name="Picture 2" descr="Software as a Service">
            <a:extLst>
              <a:ext uri="{FF2B5EF4-FFF2-40B4-BE49-F238E27FC236}">
                <a16:creationId xmlns:a16="http://schemas.microsoft.com/office/drawing/2014/main" id="{499C81CF-2B6D-9B11-02C1-1C9586E98DA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365035" y="1825625"/>
            <a:ext cx="546193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8785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542A1-ABA9-3EBD-4571-310ECDD0E7D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374057-FFF1-311F-2E1A-05F6988024A2}"/>
              </a:ext>
            </a:extLst>
          </p:cNvPr>
          <p:cNvSpPr>
            <a:spLocks noGrp="1"/>
          </p:cNvSpPr>
          <p:nvPr>
            <p:ph idx="1"/>
          </p:nvPr>
        </p:nvSpPr>
        <p:spPr/>
        <p:txBody>
          <a:bodyPr/>
          <a:lstStyle/>
          <a:p>
            <a:pPr algn="just"/>
            <a:r>
              <a:rPr lang="en-US" b="0" i="0" dirty="0">
                <a:solidFill>
                  <a:srgbClr val="610B38"/>
                </a:solidFill>
                <a:effectLst/>
                <a:highlight>
                  <a:srgbClr val="FFFFFF"/>
                </a:highlight>
                <a:latin typeface="erdana"/>
              </a:rPr>
              <a:t>Software as a Service | SaaS</a:t>
            </a:r>
          </a:p>
          <a:p>
            <a:pPr algn="just"/>
            <a:r>
              <a:rPr lang="en-US" b="0" i="0" dirty="0">
                <a:solidFill>
                  <a:srgbClr val="333333"/>
                </a:solidFill>
                <a:effectLst/>
                <a:highlight>
                  <a:srgbClr val="FFFFFF"/>
                </a:highlight>
                <a:latin typeface="inter-regular"/>
              </a:rPr>
              <a:t>SaaS is also known as "On-Demand Software." It is a software distribution model in which services are hosted by a cloud service provider. These services are available to end-users over the internet, so the end-users do not need to install any software on their devices to access these services.</a:t>
            </a:r>
          </a:p>
          <a:p>
            <a:endParaRPr lang="en-IN" dirty="0"/>
          </a:p>
        </p:txBody>
      </p:sp>
    </p:spTree>
    <p:extLst>
      <p:ext uri="{BB962C8B-B14F-4D97-AF65-F5344CB8AC3E}">
        <p14:creationId xmlns:p14="http://schemas.microsoft.com/office/powerpoint/2010/main" val="16784951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BA3AB-D788-C177-C030-5528CA4B13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2D359A-9D6F-EFD3-7500-CE589939A151}"/>
              </a:ext>
            </a:extLst>
          </p:cNvPr>
          <p:cNvSpPr>
            <a:spLocks noGrp="1"/>
          </p:cNvSpPr>
          <p:nvPr>
            <p:ph idx="1"/>
          </p:nvPr>
        </p:nvSpPr>
        <p:spPr/>
        <p:txBody>
          <a:bodyPr>
            <a:normAutofit fontScale="92500" lnSpcReduction="10000"/>
          </a:bodyPr>
          <a:lstStyle/>
          <a:p>
            <a:pPr algn="just">
              <a:buFont typeface="Arial" panose="020B0604020202020204" pitchFamily="34" charset="0"/>
              <a:buChar char="•"/>
            </a:pPr>
            <a:r>
              <a:rPr lang="en-US" b="1" i="0" dirty="0">
                <a:solidFill>
                  <a:srgbClr val="000000"/>
                </a:solidFill>
                <a:effectLst/>
                <a:highlight>
                  <a:srgbClr val="FFFFFF"/>
                </a:highlight>
                <a:latin typeface="inter-bold"/>
              </a:rPr>
              <a:t>Web-based Delivery:</a:t>
            </a:r>
            <a:r>
              <a:rPr lang="en-US" b="0" i="0" dirty="0">
                <a:solidFill>
                  <a:srgbClr val="000000"/>
                </a:solidFill>
                <a:effectLst/>
                <a:highlight>
                  <a:srgbClr val="FFFFFF"/>
                </a:highlight>
                <a:latin typeface="inter-regular"/>
              </a:rPr>
              <a:t> SaaS apps can be accessed from anywhere with an internet connection because they are supplied over the internet, often through a web browser. Users no longer need to install and maintain software programs on their local machines as a result.</a:t>
            </a:r>
          </a:p>
          <a:p>
            <a:pPr algn="just">
              <a:buFont typeface="Arial" panose="020B0604020202020204" pitchFamily="34" charset="0"/>
              <a:buChar char="•"/>
            </a:pPr>
            <a:r>
              <a:rPr lang="en-US" b="1" i="0" dirty="0">
                <a:solidFill>
                  <a:srgbClr val="000000"/>
                </a:solidFill>
                <a:effectLst/>
                <a:highlight>
                  <a:srgbClr val="FFFFFF"/>
                </a:highlight>
                <a:latin typeface="inter-bold"/>
              </a:rPr>
              <a:t>Multiple Users</a:t>
            </a:r>
            <a:r>
              <a:rPr lang="en-US" b="0" i="0" dirty="0">
                <a:solidFill>
                  <a:srgbClr val="000000"/>
                </a:solidFill>
                <a:effectLst/>
                <a:highlight>
                  <a:srgbClr val="FFFFFF"/>
                </a:highlight>
                <a:latin typeface="inter-regular"/>
              </a:rPr>
              <a:t> or "tenants" can access SaaS applications from a single instance of the program thanks to the concept of multi-tenancy. As a result, the provider can serve several clients with the same application without administering unique program instances for every client.</a:t>
            </a:r>
          </a:p>
          <a:p>
            <a:pPr algn="just">
              <a:buFont typeface="Arial" panose="020B0604020202020204" pitchFamily="34" charset="0"/>
              <a:buChar char="•"/>
            </a:pPr>
            <a:r>
              <a:rPr lang="en-US" b="1" i="0" dirty="0">
                <a:solidFill>
                  <a:srgbClr val="000000"/>
                </a:solidFill>
                <a:effectLst/>
                <a:highlight>
                  <a:srgbClr val="FFFFFF"/>
                </a:highlight>
                <a:latin typeface="inter-bold"/>
              </a:rPr>
              <a:t>Automatic Updates:</a:t>
            </a:r>
            <a:r>
              <a:rPr lang="en-US" b="0" i="0" dirty="0">
                <a:solidFill>
                  <a:srgbClr val="000000"/>
                </a:solidFill>
                <a:effectLst/>
                <a:highlight>
                  <a:srgbClr val="FFFFFF"/>
                </a:highlight>
                <a:latin typeface="inter-regular"/>
              </a:rPr>
              <a:t> SaaS providers are in charge of keeping the software up to date and making sure that everyone has access to the newest features and security patches. Users are no longer required to manually install updates or fixes as a result.</a:t>
            </a:r>
          </a:p>
          <a:p>
            <a:endParaRPr lang="en-IN" dirty="0"/>
          </a:p>
        </p:txBody>
      </p:sp>
    </p:spTree>
    <p:extLst>
      <p:ext uri="{BB962C8B-B14F-4D97-AF65-F5344CB8AC3E}">
        <p14:creationId xmlns:p14="http://schemas.microsoft.com/office/powerpoint/2010/main" val="4384375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9810-F0BF-C8E7-4385-69514854370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CA2FA29-E217-2617-BDE0-A0CB38CAD6CE}"/>
              </a:ext>
            </a:extLst>
          </p:cNvPr>
          <p:cNvSpPr>
            <a:spLocks noGrp="1"/>
          </p:cNvSpPr>
          <p:nvPr>
            <p:ph idx="1"/>
          </p:nvPr>
        </p:nvSpPr>
        <p:spPr/>
        <p:txBody>
          <a:bodyPr>
            <a:normAutofit lnSpcReduction="10000"/>
          </a:bodyPr>
          <a:lstStyle/>
          <a:p>
            <a:pPr algn="just">
              <a:buFont typeface="Arial" panose="020B0604020202020204" pitchFamily="34" charset="0"/>
              <a:buChar char="•"/>
            </a:pPr>
            <a:r>
              <a:rPr lang="en-US" b="1" i="0" dirty="0">
                <a:solidFill>
                  <a:srgbClr val="000000"/>
                </a:solidFill>
                <a:effectLst/>
                <a:highlight>
                  <a:srgbClr val="FFFFFF"/>
                </a:highlight>
                <a:latin typeface="inter-bold"/>
              </a:rPr>
              <a:t>Scalable:</a:t>
            </a:r>
            <a:r>
              <a:rPr lang="en-US" b="0" i="0" dirty="0">
                <a:solidFill>
                  <a:srgbClr val="000000"/>
                </a:solidFill>
                <a:effectLst/>
                <a:highlight>
                  <a:srgbClr val="FFFFFF"/>
                </a:highlight>
                <a:latin typeface="inter-regular"/>
              </a:rPr>
              <a:t> SaaS systems are scalable, which can readily grow or shrink in response to user demand. This frees up enterprises from worrying about infrastructure or licensing fees and lets them add or remove users as needed.</a:t>
            </a:r>
          </a:p>
          <a:p>
            <a:pPr algn="just">
              <a:buFont typeface="Arial" panose="020B0604020202020204" pitchFamily="34" charset="0"/>
              <a:buChar char="•"/>
            </a:pPr>
            <a:r>
              <a:rPr lang="en-US" b="1" i="0" dirty="0">
                <a:solidFill>
                  <a:srgbClr val="000000"/>
                </a:solidFill>
                <a:effectLst/>
                <a:highlight>
                  <a:srgbClr val="FFFFFF"/>
                </a:highlight>
                <a:latin typeface="inter-bold"/>
              </a:rPr>
              <a:t>Pricing on a Subscription Basis:</a:t>
            </a:r>
            <a:r>
              <a:rPr lang="en-US" b="0" i="0" dirty="0">
                <a:solidFill>
                  <a:srgbClr val="000000"/>
                </a:solidFill>
                <a:effectLst/>
                <a:highlight>
                  <a:srgbClr val="FFFFFF"/>
                </a:highlight>
                <a:latin typeface="inter-regular"/>
              </a:rPr>
              <a:t> SaaS programs are frequently sold using a subscription-based pricing model, in which customers pay a monthly or yearly price to access the program. As a result, companies won't need to invest significantly in software licenses upfront.</a:t>
            </a:r>
          </a:p>
          <a:p>
            <a:pPr algn="just">
              <a:buFont typeface="Arial" panose="020B0604020202020204" pitchFamily="34" charset="0"/>
              <a:buChar char="•"/>
            </a:pPr>
            <a:r>
              <a:rPr lang="en-US" b="1" i="0" dirty="0">
                <a:solidFill>
                  <a:srgbClr val="000000"/>
                </a:solidFill>
                <a:effectLst/>
                <a:highlight>
                  <a:srgbClr val="FFFFFF"/>
                </a:highlight>
                <a:latin typeface="inter-bold"/>
              </a:rPr>
              <a:t>Data Security</a:t>
            </a:r>
            <a:r>
              <a:rPr lang="en-US" b="0" i="0" dirty="0">
                <a:solidFill>
                  <a:srgbClr val="000000"/>
                </a:solidFill>
                <a:effectLst/>
                <a:highlight>
                  <a:srgbClr val="FFFFFF"/>
                </a:highlight>
                <a:latin typeface="inter-regular"/>
              </a:rPr>
              <a:t>, including data encryption, access restrictions, and backups, is the responsibility of SaaS providers. Users no longer need to handle their own data security because of this.</a:t>
            </a:r>
          </a:p>
          <a:p>
            <a:endParaRPr lang="en-IN" dirty="0"/>
          </a:p>
        </p:txBody>
      </p:sp>
    </p:spTree>
    <p:extLst>
      <p:ext uri="{BB962C8B-B14F-4D97-AF65-F5344CB8AC3E}">
        <p14:creationId xmlns:p14="http://schemas.microsoft.com/office/powerpoint/2010/main" val="30051868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AADB9-C21C-4D59-5F93-AEF7D238605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8CF742C-A2DD-B395-43B8-5D2B942DD3CB}"/>
              </a:ext>
            </a:extLst>
          </p:cNvPr>
          <p:cNvPicPr>
            <a:picLocks noGrp="1" noChangeAspect="1"/>
          </p:cNvPicPr>
          <p:nvPr>
            <p:ph idx="1"/>
          </p:nvPr>
        </p:nvPicPr>
        <p:blipFill>
          <a:blip r:embed="rId2"/>
          <a:stretch>
            <a:fillRect/>
          </a:stretch>
        </p:blipFill>
        <p:spPr>
          <a:xfrm>
            <a:off x="2358968" y="1825625"/>
            <a:ext cx="7474063" cy="4351338"/>
          </a:xfrm>
        </p:spPr>
      </p:pic>
    </p:spTree>
    <p:extLst>
      <p:ext uri="{BB962C8B-B14F-4D97-AF65-F5344CB8AC3E}">
        <p14:creationId xmlns:p14="http://schemas.microsoft.com/office/powerpoint/2010/main" val="491201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D9FFC-FDFB-23FD-DDD4-45CBDD36AA0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6DE1B92-63B2-B835-F7DB-CC64FB4767E2}"/>
              </a:ext>
            </a:extLst>
          </p:cNvPr>
          <p:cNvSpPr>
            <a:spLocks noGrp="1"/>
          </p:cNvSpPr>
          <p:nvPr>
            <p:ph idx="1"/>
          </p:nvPr>
        </p:nvSpPr>
        <p:spPr/>
        <p:txBody>
          <a:bodyPr/>
          <a:lstStyle/>
          <a:p>
            <a:pPr algn="l" fontAlgn="base"/>
            <a:r>
              <a:rPr lang="en-US" b="1" i="0" dirty="0">
                <a:solidFill>
                  <a:srgbClr val="273239"/>
                </a:solidFill>
                <a:effectLst/>
                <a:highlight>
                  <a:srgbClr val="FFFFFF"/>
                </a:highlight>
                <a:latin typeface="Nunito" pitchFamily="2" charset="0"/>
              </a:rPr>
              <a:t>Example of SAAS (Software as a Service)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Salesforce</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Google Workspace apps</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Microsoft 365</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Trello</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Zoom</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Slack</a:t>
            </a:r>
          </a:p>
          <a:p>
            <a:pPr algn="l" fontAlgn="base">
              <a:buFont typeface="Arial" panose="020B0604020202020204" pitchFamily="34" charset="0"/>
              <a:buChar char="•"/>
            </a:pPr>
            <a:r>
              <a:rPr lang="en-US" b="0" i="0" dirty="0">
                <a:solidFill>
                  <a:srgbClr val="273239"/>
                </a:solidFill>
                <a:effectLst/>
                <a:highlight>
                  <a:srgbClr val="FFFFFF"/>
                </a:highlight>
                <a:latin typeface="Nunito" pitchFamily="2" charset="0"/>
              </a:rPr>
              <a:t>Adobe Creative Cloud</a:t>
            </a:r>
          </a:p>
          <a:p>
            <a:endParaRPr lang="en-IN" dirty="0"/>
          </a:p>
        </p:txBody>
      </p:sp>
    </p:spTree>
    <p:extLst>
      <p:ext uri="{BB962C8B-B14F-4D97-AF65-F5344CB8AC3E}">
        <p14:creationId xmlns:p14="http://schemas.microsoft.com/office/powerpoint/2010/main" val="13644525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0C297-34C5-1184-F2F7-AC5B7B8DC0B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6F7FD87-70F4-1480-B275-24B4A59B6060}"/>
              </a:ext>
            </a:extLst>
          </p:cNvPr>
          <p:cNvSpPr>
            <a:spLocks noGrp="1"/>
          </p:cNvSpPr>
          <p:nvPr>
            <p:ph idx="1"/>
          </p:nvPr>
        </p:nvSpPr>
        <p:spPr/>
        <p:txBody>
          <a:bodyPr/>
          <a:lstStyle/>
          <a:p>
            <a:r>
              <a:rPr lang="en-US" b="0" i="0" dirty="0">
                <a:solidFill>
                  <a:srgbClr val="161616"/>
                </a:solidFill>
                <a:effectLst/>
                <a:highlight>
                  <a:srgbClr val="FFFFFF"/>
                </a:highlight>
                <a:latin typeface="IBM Plex Sans" panose="020B0503050203000203" pitchFamily="34" charset="0"/>
              </a:rPr>
              <a:t>Function as a service (</a:t>
            </a:r>
            <a:r>
              <a:rPr lang="en-US" b="0" i="0" dirty="0" err="1">
                <a:solidFill>
                  <a:srgbClr val="161616"/>
                </a:solidFill>
                <a:effectLst/>
                <a:highlight>
                  <a:srgbClr val="FFFFFF"/>
                </a:highlight>
                <a:latin typeface="IBM Plex Sans" panose="020B0503050203000203" pitchFamily="34" charset="0"/>
              </a:rPr>
              <a:t>FaaS</a:t>
            </a:r>
            <a:r>
              <a:rPr lang="en-US" b="0" i="0" dirty="0">
                <a:solidFill>
                  <a:srgbClr val="161616"/>
                </a:solidFill>
                <a:effectLst/>
                <a:highlight>
                  <a:srgbClr val="FFFFFF"/>
                </a:highlight>
                <a:latin typeface="IBM Plex Sans" panose="020B0503050203000203" pitchFamily="34" charset="0"/>
              </a:rPr>
              <a:t>) is a </a:t>
            </a:r>
            <a:r>
              <a:rPr lang="en-US" b="0" i="0" u="none" strike="noStrike" dirty="0">
                <a:solidFill>
                  <a:srgbClr val="0062FE"/>
                </a:solidFill>
                <a:effectLst/>
                <a:highlight>
                  <a:srgbClr val="FFFFFF"/>
                </a:highlight>
                <a:latin typeface="IBM Plex Sans" panose="020B0503050203000203" pitchFamily="34" charset="0"/>
                <a:hlinkClick r:id="rId2"/>
              </a:rPr>
              <a:t>cloud-computing</a:t>
            </a:r>
            <a:r>
              <a:rPr lang="en-US" b="0" i="0" dirty="0">
                <a:solidFill>
                  <a:srgbClr val="161616"/>
                </a:solidFill>
                <a:effectLst/>
                <a:highlight>
                  <a:srgbClr val="FFFFFF"/>
                </a:highlight>
                <a:latin typeface="IBM Plex Sans" panose="020B0503050203000203" pitchFamily="34" charset="0"/>
              </a:rPr>
              <a:t> service that allows customers to run code in response to events, without managing the complex infrastructure typically associated with building and launching </a:t>
            </a:r>
            <a:r>
              <a:rPr lang="en-US" b="0" i="0" u="none" strike="noStrike" dirty="0">
                <a:solidFill>
                  <a:srgbClr val="0062FE"/>
                </a:solidFill>
                <a:effectLst/>
                <a:highlight>
                  <a:srgbClr val="FFFFFF"/>
                </a:highlight>
                <a:latin typeface="IBM Plex Sans" panose="020B0503050203000203" pitchFamily="34" charset="0"/>
                <a:hlinkClick r:id="rId3"/>
              </a:rPr>
              <a:t>microservices</a:t>
            </a:r>
            <a:r>
              <a:rPr lang="en-US" b="0" i="0" dirty="0">
                <a:solidFill>
                  <a:srgbClr val="161616"/>
                </a:solidFill>
                <a:effectLst/>
                <a:highlight>
                  <a:srgbClr val="FFFFFF"/>
                </a:highlight>
                <a:latin typeface="IBM Plex Sans" panose="020B0503050203000203" pitchFamily="34" charset="0"/>
              </a:rPr>
              <a:t> applications.</a:t>
            </a:r>
            <a:endParaRPr lang="en-IN" dirty="0"/>
          </a:p>
        </p:txBody>
      </p:sp>
    </p:spTree>
    <p:extLst>
      <p:ext uri="{BB962C8B-B14F-4D97-AF65-F5344CB8AC3E}">
        <p14:creationId xmlns:p14="http://schemas.microsoft.com/office/powerpoint/2010/main" val="410889471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4DB0B-E851-D1C0-1B4D-D0E907493A79}"/>
              </a:ext>
            </a:extLst>
          </p:cNvPr>
          <p:cNvSpPr>
            <a:spLocks noGrp="1"/>
          </p:cNvSpPr>
          <p:nvPr>
            <p:ph type="title"/>
          </p:nvPr>
        </p:nvSpPr>
        <p:spPr/>
        <p:txBody>
          <a:bodyPr/>
          <a:lstStyle/>
          <a:p>
            <a:r>
              <a:rPr lang="en-US" dirty="0"/>
              <a:t> </a:t>
            </a:r>
            <a:endParaRPr lang="en-IN" dirty="0"/>
          </a:p>
        </p:txBody>
      </p:sp>
      <p:sp>
        <p:nvSpPr>
          <p:cNvPr id="3" name="Content Placeholder 2">
            <a:extLst>
              <a:ext uri="{FF2B5EF4-FFF2-40B4-BE49-F238E27FC236}">
                <a16:creationId xmlns:a16="http://schemas.microsoft.com/office/drawing/2014/main" id="{18EEB3B6-1172-D4A4-2185-1C6948974427}"/>
              </a:ext>
            </a:extLst>
          </p:cNvPr>
          <p:cNvSpPr>
            <a:spLocks noGrp="1"/>
          </p:cNvSpPr>
          <p:nvPr>
            <p:ph idx="1"/>
          </p:nvPr>
        </p:nvSpPr>
        <p:spPr/>
        <p:txBody>
          <a:bodyPr/>
          <a:lstStyle/>
          <a:p>
            <a:pPr algn="l"/>
            <a:r>
              <a:rPr lang="en-IN" b="1" i="0" dirty="0">
                <a:effectLst/>
                <a:highlight>
                  <a:srgbClr val="FAFBFC"/>
                </a:highlight>
                <a:latin typeface="__Source_Sans_Pro_fa6df0"/>
              </a:rPr>
              <a:t>Some Popular Examples of </a:t>
            </a:r>
            <a:r>
              <a:rPr lang="en-IN" b="1" i="0" dirty="0" err="1">
                <a:effectLst/>
                <a:highlight>
                  <a:srgbClr val="FAFBFC"/>
                </a:highlight>
                <a:latin typeface="__Source_Sans_Pro_fa6df0"/>
              </a:rPr>
              <a:t>FaaS</a:t>
            </a:r>
            <a:r>
              <a:rPr lang="en-IN" b="1" i="0" dirty="0">
                <a:effectLst/>
                <a:highlight>
                  <a:srgbClr val="FAFBFC"/>
                </a:highlight>
                <a:latin typeface="__Source_Sans_Pro_fa6df0"/>
              </a:rPr>
              <a:t> Platforms Include</a:t>
            </a:r>
          </a:p>
          <a:p>
            <a:pPr algn="l">
              <a:buFont typeface="Arial" panose="020B0604020202020204" pitchFamily="34" charset="0"/>
              <a:buChar char="•"/>
            </a:pPr>
            <a:r>
              <a:rPr lang="en-IN" b="0" i="0" dirty="0">
                <a:solidFill>
                  <a:srgbClr val="61738E"/>
                </a:solidFill>
                <a:effectLst/>
                <a:highlight>
                  <a:srgbClr val="FAFBFC"/>
                </a:highlight>
                <a:latin typeface="__Source_Sans_Pro_fa6df0"/>
              </a:rPr>
              <a:t>IBM Cloud Functions</a:t>
            </a:r>
          </a:p>
          <a:p>
            <a:pPr algn="l">
              <a:buFont typeface="Arial" panose="020B0604020202020204" pitchFamily="34" charset="0"/>
              <a:buChar char="•"/>
            </a:pPr>
            <a:r>
              <a:rPr lang="en-IN" b="0" i="0" dirty="0">
                <a:solidFill>
                  <a:srgbClr val="61738E"/>
                </a:solidFill>
                <a:effectLst/>
                <a:highlight>
                  <a:srgbClr val="FAFBFC"/>
                </a:highlight>
                <a:latin typeface="__Source_Sans_Pro_fa6df0"/>
              </a:rPr>
              <a:t>Amazon's AWS Lambda</a:t>
            </a:r>
          </a:p>
          <a:p>
            <a:pPr algn="l">
              <a:buFont typeface="Arial" panose="020B0604020202020204" pitchFamily="34" charset="0"/>
              <a:buChar char="•"/>
            </a:pPr>
            <a:r>
              <a:rPr lang="en-IN" b="0" i="0" dirty="0">
                <a:solidFill>
                  <a:srgbClr val="61738E"/>
                </a:solidFill>
                <a:effectLst/>
                <a:highlight>
                  <a:srgbClr val="FAFBFC"/>
                </a:highlight>
                <a:latin typeface="__Source_Sans_Pro_fa6df0"/>
              </a:rPr>
              <a:t>Google Cloud Functions</a:t>
            </a:r>
          </a:p>
          <a:p>
            <a:pPr algn="l">
              <a:buFont typeface="Arial" panose="020B0604020202020204" pitchFamily="34" charset="0"/>
              <a:buChar char="•"/>
            </a:pPr>
            <a:r>
              <a:rPr lang="en-IN" b="0" i="0" dirty="0">
                <a:solidFill>
                  <a:srgbClr val="61738E"/>
                </a:solidFill>
                <a:effectLst/>
                <a:highlight>
                  <a:srgbClr val="FAFBFC"/>
                </a:highlight>
                <a:latin typeface="__Source_Sans_Pro_fa6df0"/>
              </a:rPr>
              <a:t>Microsoft Azure Functions (Open Source)</a:t>
            </a:r>
          </a:p>
          <a:p>
            <a:pPr algn="l">
              <a:buFont typeface="Arial" panose="020B0604020202020204" pitchFamily="34" charset="0"/>
              <a:buChar char="•"/>
            </a:pPr>
            <a:r>
              <a:rPr lang="en-IN" b="0" i="0" dirty="0" err="1">
                <a:solidFill>
                  <a:srgbClr val="61738E"/>
                </a:solidFill>
                <a:effectLst/>
                <a:highlight>
                  <a:srgbClr val="FAFBFC"/>
                </a:highlight>
                <a:latin typeface="__Source_Sans_Pro_fa6df0"/>
              </a:rPr>
              <a:t>OpenFaaS</a:t>
            </a:r>
            <a:r>
              <a:rPr lang="en-IN" b="0" i="0" dirty="0">
                <a:solidFill>
                  <a:srgbClr val="61738E"/>
                </a:solidFill>
                <a:effectLst/>
                <a:highlight>
                  <a:srgbClr val="FAFBFC"/>
                </a:highlight>
                <a:latin typeface="__Source_Sans_Pro_fa6df0"/>
              </a:rPr>
              <a:t> (Open Source)</a:t>
            </a:r>
          </a:p>
          <a:p>
            <a:endParaRPr lang="en-IN" dirty="0"/>
          </a:p>
        </p:txBody>
      </p:sp>
    </p:spTree>
    <p:extLst>
      <p:ext uri="{BB962C8B-B14F-4D97-AF65-F5344CB8AC3E}">
        <p14:creationId xmlns:p14="http://schemas.microsoft.com/office/powerpoint/2010/main" val="9193946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386</TotalTime>
  <Words>5408</Words>
  <Application>Microsoft Office PowerPoint</Application>
  <PresentationFormat>Widescreen</PresentationFormat>
  <Paragraphs>514</Paragraphs>
  <Slides>89</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89</vt:i4>
      </vt:variant>
    </vt:vector>
  </HeadingPairs>
  <TitlesOfParts>
    <vt:vector size="102" baseType="lpstr">
      <vt:lpstr>__Source_Sans_Pro_fa6df0</vt:lpstr>
      <vt:lpstr>Aptos</vt:lpstr>
      <vt:lpstr>Aptos Display</vt:lpstr>
      <vt:lpstr>Arial</vt:lpstr>
      <vt:lpstr>Arial Unicode MS</vt:lpstr>
      <vt:lpstr>Calibri</vt:lpstr>
      <vt:lpstr>erdana</vt:lpstr>
      <vt:lpstr>IBM Plex Sans</vt:lpstr>
      <vt:lpstr>inter-bold</vt:lpstr>
      <vt:lpstr>inter-regular</vt:lpstr>
      <vt:lpstr>Nunito</vt:lpstr>
      <vt:lpstr>Times New Roman</vt:lpstr>
      <vt:lpstr>Office Theme</vt:lpstr>
      <vt:lpstr>Unit 4</vt:lpstr>
      <vt:lpstr>Computer Network</vt:lpstr>
      <vt:lpstr>PowerPoint Presentation</vt:lpstr>
      <vt:lpstr>PowerPoint Presentation</vt:lpstr>
      <vt:lpstr>PowerPoint Presentation</vt:lpstr>
      <vt:lpstr>PowerPoint Presentation</vt:lpstr>
      <vt:lpstr>⚙️ How It Works (Step-by-Step): </vt:lpstr>
      <vt:lpstr>PowerPoint Presentation</vt:lpstr>
      <vt:lpstr>🔧 What is a Router?</vt:lpstr>
      <vt:lpstr>Routing Packets: </vt:lpstr>
      <vt:lpstr>PowerPoint Presentation</vt:lpstr>
      <vt:lpstr>🧱 Key Components of a Router: </vt:lpstr>
      <vt:lpstr>PowerPoint Presentation</vt:lpstr>
      <vt:lpstr>PowerPoint Presentation</vt:lpstr>
      <vt:lpstr>Router </vt:lpstr>
      <vt:lpstr>PowerPoint Presentation</vt:lpstr>
      <vt:lpstr>PowerPoint Presentation</vt:lpstr>
      <vt:lpstr>PowerPoint Presentation</vt:lpstr>
      <vt:lpstr>💡 What It Does: </vt:lpstr>
      <vt:lpstr>What a Modem Does (Step-by-Step): </vt:lpstr>
      <vt:lpstr>Example: </vt:lpstr>
      <vt:lpstr>📌 Important Note: </vt:lpstr>
      <vt:lpstr>PowerPoint Presentation</vt:lpstr>
      <vt:lpstr>🧠 Real-World Example: </vt:lpstr>
      <vt:lpstr>⚙️ How It’s Established: </vt:lpstr>
      <vt:lpstr>MAN (Metropolitan Area Network) </vt:lpstr>
      <vt:lpstr>🧠 Real-World Example: </vt:lpstr>
      <vt:lpstr>How It’s Established: </vt:lpstr>
      <vt:lpstr>C. WAN (Wide Area Network) </vt:lpstr>
      <vt:lpstr>Real-World Example: </vt:lpstr>
      <vt:lpstr>How It’s Established: </vt:lpstr>
      <vt:lpstr>PowerPoint Presentation</vt:lpstr>
      <vt:lpstr>1. End Devices (Clients) – The users </vt:lpstr>
      <vt:lpstr>PowerPoint Presentation</vt:lpstr>
      <vt:lpstr>🛑 6. Firewall – The security gate </vt:lpstr>
      <vt:lpstr>⚙️ How a Firewall Works (Step-by-Step)</vt:lpstr>
      <vt:lpstr>PowerPoint Presentation</vt:lpstr>
      <vt:lpstr>PowerPoint Presentation</vt:lpstr>
      <vt:lpstr>PowerPoint Presentation</vt:lpstr>
      <vt:lpstr>PowerPoint Presentation</vt:lpstr>
      <vt:lpstr>PowerPoint Presentation</vt:lpstr>
      <vt:lpstr>PowerPoint Presentation</vt:lpstr>
      <vt:lpstr>Proxy Server – The smart assistant </vt:lpstr>
      <vt:lpstr>PowerPoint Presentation</vt:lpstr>
      <vt:lpstr>PowerPoint Presentation</vt:lpstr>
      <vt:lpstr>VPN (Virtual Private Network) – The secure tunnel </vt:lpstr>
      <vt:lpstr>Server – The central brain </vt:lpstr>
      <vt:lpstr>Security in Networking </vt:lpstr>
      <vt:lpstr>How Does a Firewall Work (Technically)? </vt:lpstr>
      <vt:lpstr>🧱 Types of Firewalls </vt:lpstr>
      <vt:lpstr>Example in an IT Company </vt:lpstr>
      <vt:lpstr>🛠️ Hardware vs Software Firewall </vt:lpstr>
      <vt:lpstr>✅ What is a Proxy Server? </vt:lpstr>
      <vt:lpstr>🧰 Functions of a Proxy Server </vt:lpstr>
      <vt:lpstr>PowerPoint Presentation</vt:lpstr>
      <vt:lpstr>🔁 How Proxy Servers Work (Technically) </vt:lpstr>
      <vt:lpstr>📦 Types of Proxies </vt:lpstr>
      <vt:lpstr>🧠 Example in an IT Company </vt:lpstr>
      <vt:lpstr>🛡️ Firewall vs Proxy Server – What’s the Difference? </vt:lpstr>
      <vt:lpstr>PowerPoint Presentation</vt:lpstr>
      <vt:lpstr>PowerPoint Presentation</vt:lpstr>
      <vt:lpstr>IoT (Internet of Things) </vt:lpstr>
      <vt:lpstr>Cloud Computing </vt:lpstr>
      <vt:lpstr>PowerPoint Presentation</vt:lpstr>
      <vt:lpstr>Origins Of Cloud Computing </vt:lpstr>
      <vt:lpstr>PowerPoint Presentation</vt:lpstr>
      <vt:lpstr>PowerPoint Presentation</vt:lpstr>
      <vt:lpstr> Front End ( User Interaction Enhancement ) </vt:lpstr>
      <vt:lpstr>Back-end Platforms ( Cloud Computing Engine ) </vt:lpstr>
      <vt:lpstr>Cloud-Based Delivery and Network </vt:lpstr>
      <vt:lpstr>What Are The Types of Cloud Computing Services? </vt:lpstr>
      <vt:lpstr>PowerPoint Presentation</vt:lpstr>
      <vt:lpstr>PowerPoint Presentation</vt:lpstr>
      <vt:lpstr>Example of IAAS (Infrastructure As A Service)</vt:lpstr>
      <vt:lpstr>Features of IAAS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Arshpreet  Kaur</dc:creator>
  <cp:lastModifiedBy>Dr. Arshpreet  Kaur</cp:lastModifiedBy>
  <cp:revision>10</cp:revision>
  <dcterms:created xsi:type="dcterms:W3CDTF">2025-04-12T13:51:11Z</dcterms:created>
  <dcterms:modified xsi:type="dcterms:W3CDTF">2025-04-15T10:35:01Z</dcterms:modified>
</cp:coreProperties>
</file>