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1" r:id="rId3"/>
    <p:sldId id="259" r:id="rId4"/>
    <p:sldId id="257" r:id="rId5"/>
    <p:sldId id="258" r:id="rId6"/>
    <p:sldId id="303" r:id="rId7"/>
    <p:sldId id="266" r:id="rId8"/>
    <p:sldId id="265" r:id="rId9"/>
    <p:sldId id="262" r:id="rId10"/>
    <p:sldId id="263" r:id="rId11"/>
    <p:sldId id="264" r:id="rId12"/>
    <p:sldId id="267" r:id="rId13"/>
    <p:sldId id="268" r:id="rId14"/>
    <p:sldId id="269" r:id="rId15"/>
    <p:sldId id="270" r:id="rId16"/>
    <p:sldId id="271" r:id="rId17"/>
    <p:sldId id="272" r:id="rId18"/>
    <p:sldId id="279" r:id="rId19"/>
    <p:sldId id="273" r:id="rId20"/>
    <p:sldId id="274" r:id="rId21"/>
    <p:sldId id="335" r:id="rId22"/>
    <p:sldId id="275" r:id="rId23"/>
    <p:sldId id="276" r:id="rId24"/>
    <p:sldId id="282" r:id="rId25"/>
    <p:sldId id="283" r:id="rId26"/>
    <p:sldId id="336" r:id="rId27"/>
    <p:sldId id="284" r:id="rId28"/>
    <p:sldId id="277" r:id="rId29"/>
    <p:sldId id="278" r:id="rId30"/>
    <p:sldId id="285" r:id="rId31"/>
    <p:sldId id="286" r:id="rId32"/>
    <p:sldId id="287" r:id="rId33"/>
    <p:sldId id="288" r:id="rId34"/>
    <p:sldId id="290" r:id="rId35"/>
    <p:sldId id="289" r:id="rId36"/>
    <p:sldId id="291" r:id="rId37"/>
    <p:sldId id="292" r:id="rId38"/>
    <p:sldId id="293" r:id="rId39"/>
    <p:sldId id="295" r:id="rId40"/>
    <p:sldId id="296" r:id="rId41"/>
    <p:sldId id="294" r:id="rId42"/>
    <p:sldId id="297" r:id="rId43"/>
    <p:sldId id="298" r:id="rId44"/>
    <p:sldId id="299" r:id="rId45"/>
    <p:sldId id="300" r:id="rId46"/>
    <p:sldId id="301" r:id="rId47"/>
    <p:sldId id="302" r:id="rId48"/>
    <p:sldId id="331" r:id="rId49"/>
    <p:sldId id="332" r:id="rId50"/>
    <p:sldId id="333" r:id="rId51"/>
    <p:sldId id="334"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63" d="100"/>
          <a:sy n="63" d="100"/>
        </p:scale>
        <p:origin x="80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887B3-B11D-3339-1086-86F4133478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EFC2795-B209-307B-E6DC-24EA6FD299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AFAC301-6C26-3DF5-619C-8209D1DB4267}"/>
              </a:ext>
            </a:extLst>
          </p:cNvPr>
          <p:cNvSpPr>
            <a:spLocks noGrp="1"/>
          </p:cNvSpPr>
          <p:nvPr>
            <p:ph type="dt" sz="half" idx="10"/>
          </p:nvPr>
        </p:nvSpPr>
        <p:spPr/>
        <p:txBody>
          <a:bodyPr/>
          <a:lstStyle/>
          <a:p>
            <a:fld id="{8D34A1BF-4998-48E0-8FC0-215C006AE1EA}" type="datetimeFigureOut">
              <a:rPr lang="en-IN" smtClean="0"/>
              <a:t>25-03-2025</a:t>
            </a:fld>
            <a:endParaRPr lang="en-IN"/>
          </a:p>
        </p:txBody>
      </p:sp>
      <p:sp>
        <p:nvSpPr>
          <p:cNvPr id="5" name="Footer Placeholder 4">
            <a:extLst>
              <a:ext uri="{FF2B5EF4-FFF2-40B4-BE49-F238E27FC236}">
                <a16:creationId xmlns:a16="http://schemas.microsoft.com/office/drawing/2014/main" id="{AA09C2E0-DA0D-5C78-E7EE-283BDB428C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4B62A1-323A-F25F-9F78-F9471143573D}"/>
              </a:ext>
            </a:extLst>
          </p:cNvPr>
          <p:cNvSpPr>
            <a:spLocks noGrp="1"/>
          </p:cNvSpPr>
          <p:nvPr>
            <p:ph type="sldNum" sz="quarter" idx="12"/>
          </p:nvPr>
        </p:nvSpPr>
        <p:spPr/>
        <p:txBody>
          <a:bodyPr/>
          <a:lstStyle/>
          <a:p>
            <a:fld id="{4131EB37-693F-4E5E-A714-E7C49419C1E1}" type="slidenum">
              <a:rPr lang="en-IN" smtClean="0"/>
              <a:t>‹#›</a:t>
            </a:fld>
            <a:endParaRPr lang="en-IN"/>
          </a:p>
        </p:txBody>
      </p:sp>
    </p:spTree>
    <p:extLst>
      <p:ext uri="{BB962C8B-B14F-4D97-AF65-F5344CB8AC3E}">
        <p14:creationId xmlns:p14="http://schemas.microsoft.com/office/powerpoint/2010/main" val="2456947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B43C6-D4C8-A3C6-AD18-D8B3AF209A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A70B88-3684-0573-D505-233BBD3DE1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99F862-729F-B4F7-1641-B8D7AFE05B3D}"/>
              </a:ext>
            </a:extLst>
          </p:cNvPr>
          <p:cNvSpPr>
            <a:spLocks noGrp="1"/>
          </p:cNvSpPr>
          <p:nvPr>
            <p:ph type="dt" sz="half" idx="10"/>
          </p:nvPr>
        </p:nvSpPr>
        <p:spPr/>
        <p:txBody>
          <a:bodyPr/>
          <a:lstStyle/>
          <a:p>
            <a:fld id="{8D34A1BF-4998-48E0-8FC0-215C006AE1EA}" type="datetimeFigureOut">
              <a:rPr lang="en-IN" smtClean="0"/>
              <a:t>25-03-2025</a:t>
            </a:fld>
            <a:endParaRPr lang="en-IN"/>
          </a:p>
        </p:txBody>
      </p:sp>
      <p:sp>
        <p:nvSpPr>
          <p:cNvPr id="5" name="Footer Placeholder 4">
            <a:extLst>
              <a:ext uri="{FF2B5EF4-FFF2-40B4-BE49-F238E27FC236}">
                <a16:creationId xmlns:a16="http://schemas.microsoft.com/office/drawing/2014/main" id="{9994542C-3871-AE40-8834-42168E8DE7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28D729-23FE-7032-663F-A863962B85F5}"/>
              </a:ext>
            </a:extLst>
          </p:cNvPr>
          <p:cNvSpPr>
            <a:spLocks noGrp="1"/>
          </p:cNvSpPr>
          <p:nvPr>
            <p:ph type="sldNum" sz="quarter" idx="12"/>
          </p:nvPr>
        </p:nvSpPr>
        <p:spPr/>
        <p:txBody>
          <a:bodyPr/>
          <a:lstStyle/>
          <a:p>
            <a:fld id="{4131EB37-693F-4E5E-A714-E7C49419C1E1}" type="slidenum">
              <a:rPr lang="en-IN" smtClean="0"/>
              <a:t>‹#›</a:t>
            </a:fld>
            <a:endParaRPr lang="en-IN"/>
          </a:p>
        </p:txBody>
      </p:sp>
    </p:spTree>
    <p:extLst>
      <p:ext uri="{BB962C8B-B14F-4D97-AF65-F5344CB8AC3E}">
        <p14:creationId xmlns:p14="http://schemas.microsoft.com/office/powerpoint/2010/main" val="4158763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C6DB4-934C-FF04-377D-AA05DBEBCD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EB27FB2-46B2-F7AD-741D-93EAD5ACBF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D5476A-A0E8-4F5D-C8A8-2F69F4916581}"/>
              </a:ext>
            </a:extLst>
          </p:cNvPr>
          <p:cNvSpPr>
            <a:spLocks noGrp="1"/>
          </p:cNvSpPr>
          <p:nvPr>
            <p:ph type="dt" sz="half" idx="10"/>
          </p:nvPr>
        </p:nvSpPr>
        <p:spPr/>
        <p:txBody>
          <a:bodyPr/>
          <a:lstStyle/>
          <a:p>
            <a:fld id="{8D34A1BF-4998-48E0-8FC0-215C006AE1EA}" type="datetimeFigureOut">
              <a:rPr lang="en-IN" smtClean="0"/>
              <a:t>25-03-2025</a:t>
            </a:fld>
            <a:endParaRPr lang="en-IN"/>
          </a:p>
        </p:txBody>
      </p:sp>
      <p:sp>
        <p:nvSpPr>
          <p:cNvPr id="5" name="Footer Placeholder 4">
            <a:extLst>
              <a:ext uri="{FF2B5EF4-FFF2-40B4-BE49-F238E27FC236}">
                <a16:creationId xmlns:a16="http://schemas.microsoft.com/office/drawing/2014/main" id="{6A975759-EE85-A963-9C0C-32AE490618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1F6BB9-0243-5D27-9545-D02DF3C381AF}"/>
              </a:ext>
            </a:extLst>
          </p:cNvPr>
          <p:cNvSpPr>
            <a:spLocks noGrp="1"/>
          </p:cNvSpPr>
          <p:nvPr>
            <p:ph type="sldNum" sz="quarter" idx="12"/>
          </p:nvPr>
        </p:nvSpPr>
        <p:spPr/>
        <p:txBody>
          <a:bodyPr/>
          <a:lstStyle/>
          <a:p>
            <a:fld id="{4131EB37-693F-4E5E-A714-E7C49419C1E1}" type="slidenum">
              <a:rPr lang="en-IN" smtClean="0"/>
              <a:t>‹#›</a:t>
            </a:fld>
            <a:endParaRPr lang="en-IN"/>
          </a:p>
        </p:txBody>
      </p:sp>
    </p:spTree>
    <p:extLst>
      <p:ext uri="{BB962C8B-B14F-4D97-AF65-F5344CB8AC3E}">
        <p14:creationId xmlns:p14="http://schemas.microsoft.com/office/powerpoint/2010/main" val="2828008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3325E-F1F6-F0E9-162A-9CE39E02D2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5F1C2C-3B29-1B2D-9453-B9666796D0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2B25436-019A-EB7E-4F93-ADC3952349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883EFEB-0A7D-A86D-C25E-75CDFB20224E}"/>
              </a:ext>
            </a:extLst>
          </p:cNvPr>
          <p:cNvSpPr>
            <a:spLocks noGrp="1"/>
          </p:cNvSpPr>
          <p:nvPr>
            <p:ph type="dt" sz="half" idx="10"/>
          </p:nvPr>
        </p:nvSpPr>
        <p:spPr/>
        <p:txBody>
          <a:bodyPr/>
          <a:lstStyle/>
          <a:p>
            <a:fld id="{8D34A1BF-4998-48E0-8FC0-215C006AE1EA}" type="datetimeFigureOut">
              <a:rPr lang="en-IN" smtClean="0"/>
              <a:t>25-03-2025</a:t>
            </a:fld>
            <a:endParaRPr lang="en-IN"/>
          </a:p>
        </p:txBody>
      </p:sp>
      <p:sp>
        <p:nvSpPr>
          <p:cNvPr id="6" name="Footer Placeholder 5">
            <a:extLst>
              <a:ext uri="{FF2B5EF4-FFF2-40B4-BE49-F238E27FC236}">
                <a16:creationId xmlns:a16="http://schemas.microsoft.com/office/drawing/2014/main" id="{04B25099-7F52-16D8-A92B-6ACE865569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996DDA-7035-C589-8E8B-B086138C4A8C}"/>
              </a:ext>
            </a:extLst>
          </p:cNvPr>
          <p:cNvSpPr>
            <a:spLocks noGrp="1"/>
          </p:cNvSpPr>
          <p:nvPr>
            <p:ph type="sldNum" sz="quarter" idx="12"/>
          </p:nvPr>
        </p:nvSpPr>
        <p:spPr/>
        <p:txBody>
          <a:bodyPr/>
          <a:lstStyle/>
          <a:p>
            <a:fld id="{4131EB37-693F-4E5E-A714-E7C49419C1E1}" type="slidenum">
              <a:rPr lang="en-IN" smtClean="0"/>
              <a:t>‹#›</a:t>
            </a:fld>
            <a:endParaRPr lang="en-IN"/>
          </a:p>
        </p:txBody>
      </p:sp>
    </p:spTree>
    <p:extLst>
      <p:ext uri="{BB962C8B-B14F-4D97-AF65-F5344CB8AC3E}">
        <p14:creationId xmlns:p14="http://schemas.microsoft.com/office/powerpoint/2010/main" val="2006360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A01AA-16D4-D7C4-6C0C-7DB57022C3A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59DA17-57A3-8A38-12EE-74EDC38DE1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A029B3-D439-BB07-DD3A-4833477BEB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D5A5EA8-8668-E541-8D20-435467FA0A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F934D7-BE42-8D66-0522-E86C282E37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A696744-EA09-BEBF-6E13-A440D7A51DE7}"/>
              </a:ext>
            </a:extLst>
          </p:cNvPr>
          <p:cNvSpPr>
            <a:spLocks noGrp="1"/>
          </p:cNvSpPr>
          <p:nvPr>
            <p:ph type="dt" sz="half" idx="10"/>
          </p:nvPr>
        </p:nvSpPr>
        <p:spPr/>
        <p:txBody>
          <a:bodyPr/>
          <a:lstStyle/>
          <a:p>
            <a:fld id="{8D34A1BF-4998-48E0-8FC0-215C006AE1EA}" type="datetimeFigureOut">
              <a:rPr lang="en-IN" smtClean="0"/>
              <a:t>25-03-2025</a:t>
            </a:fld>
            <a:endParaRPr lang="en-IN"/>
          </a:p>
        </p:txBody>
      </p:sp>
      <p:sp>
        <p:nvSpPr>
          <p:cNvPr id="8" name="Footer Placeholder 7">
            <a:extLst>
              <a:ext uri="{FF2B5EF4-FFF2-40B4-BE49-F238E27FC236}">
                <a16:creationId xmlns:a16="http://schemas.microsoft.com/office/drawing/2014/main" id="{DB4FE2FC-6635-B339-F2A5-4EBE0AD2E5D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ADBD11D-41BB-3C98-587C-7AB36EDB8CA1}"/>
              </a:ext>
            </a:extLst>
          </p:cNvPr>
          <p:cNvSpPr>
            <a:spLocks noGrp="1"/>
          </p:cNvSpPr>
          <p:nvPr>
            <p:ph type="sldNum" sz="quarter" idx="12"/>
          </p:nvPr>
        </p:nvSpPr>
        <p:spPr/>
        <p:txBody>
          <a:bodyPr/>
          <a:lstStyle/>
          <a:p>
            <a:fld id="{4131EB37-693F-4E5E-A714-E7C49419C1E1}" type="slidenum">
              <a:rPr lang="en-IN" smtClean="0"/>
              <a:t>‹#›</a:t>
            </a:fld>
            <a:endParaRPr lang="en-IN"/>
          </a:p>
        </p:txBody>
      </p:sp>
    </p:spTree>
    <p:extLst>
      <p:ext uri="{BB962C8B-B14F-4D97-AF65-F5344CB8AC3E}">
        <p14:creationId xmlns:p14="http://schemas.microsoft.com/office/powerpoint/2010/main" val="992971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0AA54-2949-47F2-7A62-CA94DE9462A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A6ABC6D-2265-1599-592F-4BBE477517AA}"/>
              </a:ext>
            </a:extLst>
          </p:cNvPr>
          <p:cNvSpPr>
            <a:spLocks noGrp="1"/>
          </p:cNvSpPr>
          <p:nvPr>
            <p:ph type="dt" sz="half" idx="10"/>
          </p:nvPr>
        </p:nvSpPr>
        <p:spPr/>
        <p:txBody>
          <a:bodyPr/>
          <a:lstStyle/>
          <a:p>
            <a:fld id="{8D34A1BF-4998-48E0-8FC0-215C006AE1EA}" type="datetimeFigureOut">
              <a:rPr lang="en-IN" smtClean="0"/>
              <a:t>25-03-2025</a:t>
            </a:fld>
            <a:endParaRPr lang="en-IN"/>
          </a:p>
        </p:txBody>
      </p:sp>
      <p:sp>
        <p:nvSpPr>
          <p:cNvPr id="4" name="Footer Placeholder 3">
            <a:extLst>
              <a:ext uri="{FF2B5EF4-FFF2-40B4-BE49-F238E27FC236}">
                <a16:creationId xmlns:a16="http://schemas.microsoft.com/office/drawing/2014/main" id="{D0BE59D7-61F6-0F09-455E-D943B9A72C6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84110B8-AFAE-61F6-44E5-D55E0C94F52A}"/>
              </a:ext>
            </a:extLst>
          </p:cNvPr>
          <p:cNvSpPr>
            <a:spLocks noGrp="1"/>
          </p:cNvSpPr>
          <p:nvPr>
            <p:ph type="sldNum" sz="quarter" idx="12"/>
          </p:nvPr>
        </p:nvSpPr>
        <p:spPr/>
        <p:txBody>
          <a:bodyPr/>
          <a:lstStyle/>
          <a:p>
            <a:fld id="{4131EB37-693F-4E5E-A714-E7C49419C1E1}" type="slidenum">
              <a:rPr lang="en-IN" smtClean="0"/>
              <a:t>‹#›</a:t>
            </a:fld>
            <a:endParaRPr lang="en-IN"/>
          </a:p>
        </p:txBody>
      </p:sp>
    </p:spTree>
    <p:extLst>
      <p:ext uri="{BB962C8B-B14F-4D97-AF65-F5344CB8AC3E}">
        <p14:creationId xmlns:p14="http://schemas.microsoft.com/office/powerpoint/2010/main" val="3530298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A9F199-BA50-E42C-5E0C-91C5408DCCE4}"/>
              </a:ext>
            </a:extLst>
          </p:cNvPr>
          <p:cNvSpPr>
            <a:spLocks noGrp="1"/>
          </p:cNvSpPr>
          <p:nvPr>
            <p:ph type="dt" sz="half" idx="10"/>
          </p:nvPr>
        </p:nvSpPr>
        <p:spPr/>
        <p:txBody>
          <a:bodyPr/>
          <a:lstStyle/>
          <a:p>
            <a:fld id="{8D34A1BF-4998-48E0-8FC0-215C006AE1EA}" type="datetimeFigureOut">
              <a:rPr lang="en-IN" smtClean="0"/>
              <a:t>25-03-2025</a:t>
            </a:fld>
            <a:endParaRPr lang="en-IN"/>
          </a:p>
        </p:txBody>
      </p:sp>
      <p:sp>
        <p:nvSpPr>
          <p:cNvPr id="3" name="Footer Placeholder 2">
            <a:extLst>
              <a:ext uri="{FF2B5EF4-FFF2-40B4-BE49-F238E27FC236}">
                <a16:creationId xmlns:a16="http://schemas.microsoft.com/office/drawing/2014/main" id="{46C1904A-DD85-EF52-360A-AF9AAD5EED1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90C8F46-3483-F859-6814-19525574AEA8}"/>
              </a:ext>
            </a:extLst>
          </p:cNvPr>
          <p:cNvSpPr>
            <a:spLocks noGrp="1"/>
          </p:cNvSpPr>
          <p:nvPr>
            <p:ph type="sldNum" sz="quarter" idx="12"/>
          </p:nvPr>
        </p:nvSpPr>
        <p:spPr/>
        <p:txBody>
          <a:bodyPr/>
          <a:lstStyle/>
          <a:p>
            <a:fld id="{4131EB37-693F-4E5E-A714-E7C49419C1E1}" type="slidenum">
              <a:rPr lang="en-IN" smtClean="0"/>
              <a:t>‹#›</a:t>
            </a:fld>
            <a:endParaRPr lang="en-IN"/>
          </a:p>
        </p:txBody>
      </p:sp>
    </p:spTree>
    <p:extLst>
      <p:ext uri="{BB962C8B-B14F-4D97-AF65-F5344CB8AC3E}">
        <p14:creationId xmlns:p14="http://schemas.microsoft.com/office/powerpoint/2010/main" val="148602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B2BEA-5FB3-C784-084A-64F20848CC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06EEF27-E99A-7A3E-3E03-E32496DE3C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2CC0B4E-7AE6-4D1A-AC86-F9EA343027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2566BF-0949-E0FA-9B82-A8FA8D74732B}"/>
              </a:ext>
            </a:extLst>
          </p:cNvPr>
          <p:cNvSpPr>
            <a:spLocks noGrp="1"/>
          </p:cNvSpPr>
          <p:nvPr>
            <p:ph type="dt" sz="half" idx="10"/>
          </p:nvPr>
        </p:nvSpPr>
        <p:spPr/>
        <p:txBody>
          <a:bodyPr/>
          <a:lstStyle/>
          <a:p>
            <a:fld id="{8D34A1BF-4998-48E0-8FC0-215C006AE1EA}" type="datetimeFigureOut">
              <a:rPr lang="en-IN" smtClean="0"/>
              <a:t>25-03-2025</a:t>
            </a:fld>
            <a:endParaRPr lang="en-IN"/>
          </a:p>
        </p:txBody>
      </p:sp>
      <p:sp>
        <p:nvSpPr>
          <p:cNvPr id="6" name="Footer Placeholder 5">
            <a:extLst>
              <a:ext uri="{FF2B5EF4-FFF2-40B4-BE49-F238E27FC236}">
                <a16:creationId xmlns:a16="http://schemas.microsoft.com/office/drawing/2014/main" id="{1FAEA989-3465-1ED6-5C67-38A2767C9B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146C6A-6668-3723-7336-0B0A9F8289E1}"/>
              </a:ext>
            </a:extLst>
          </p:cNvPr>
          <p:cNvSpPr>
            <a:spLocks noGrp="1"/>
          </p:cNvSpPr>
          <p:nvPr>
            <p:ph type="sldNum" sz="quarter" idx="12"/>
          </p:nvPr>
        </p:nvSpPr>
        <p:spPr/>
        <p:txBody>
          <a:bodyPr/>
          <a:lstStyle/>
          <a:p>
            <a:fld id="{4131EB37-693F-4E5E-A714-E7C49419C1E1}" type="slidenum">
              <a:rPr lang="en-IN" smtClean="0"/>
              <a:t>‹#›</a:t>
            </a:fld>
            <a:endParaRPr lang="en-IN"/>
          </a:p>
        </p:txBody>
      </p:sp>
    </p:spTree>
    <p:extLst>
      <p:ext uri="{BB962C8B-B14F-4D97-AF65-F5344CB8AC3E}">
        <p14:creationId xmlns:p14="http://schemas.microsoft.com/office/powerpoint/2010/main" val="307050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7544A-A2DF-EE74-9B89-AC141FAE60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6042805-2AE9-99CB-D3AF-BBBA866261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A2E4D77-39E3-0FA9-7E62-EA4EE5F361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BFD24A-7688-4A69-A855-C22E68B95B30}"/>
              </a:ext>
            </a:extLst>
          </p:cNvPr>
          <p:cNvSpPr>
            <a:spLocks noGrp="1"/>
          </p:cNvSpPr>
          <p:nvPr>
            <p:ph type="dt" sz="half" idx="10"/>
          </p:nvPr>
        </p:nvSpPr>
        <p:spPr/>
        <p:txBody>
          <a:bodyPr/>
          <a:lstStyle/>
          <a:p>
            <a:fld id="{8D34A1BF-4998-48E0-8FC0-215C006AE1EA}" type="datetimeFigureOut">
              <a:rPr lang="en-IN" smtClean="0"/>
              <a:t>25-03-2025</a:t>
            </a:fld>
            <a:endParaRPr lang="en-IN"/>
          </a:p>
        </p:txBody>
      </p:sp>
      <p:sp>
        <p:nvSpPr>
          <p:cNvPr id="6" name="Footer Placeholder 5">
            <a:extLst>
              <a:ext uri="{FF2B5EF4-FFF2-40B4-BE49-F238E27FC236}">
                <a16:creationId xmlns:a16="http://schemas.microsoft.com/office/drawing/2014/main" id="{42BA0A56-DF33-2A02-25A9-9D0FE00AD9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7F165B-72E9-AD05-83DE-4CC95283C9DA}"/>
              </a:ext>
            </a:extLst>
          </p:cNvPr>
          <p:cNvSpPr>
            <a:spLocks noGrp="1"/>
          </p:cNvSpPr>
          <p:nvPr>
            <p:ph type="sldNum" sz="quarter" idx="12"/>
          </p:nvPr>
        </p:nvSpPr>
        <p:spPr/>
        <p:txBody>
          <a:bodyPr/>
          <a:lstStyle/>
          <a:p>
            <a:fld id="{4131EB37-693F-4E5E-A714-E7C49419C1E1}" type="slidenum">
              <a:rPr lang="en-IN" smtClean="0"/>
              <a:t>‹#›</a:t>
            </a:fld>
            <a:endParaRPr lang="en-IN"/>
          </a:p>
        </p:txBody>
      </p:sp>
    </p:spTree>
    <p:extLst>
      <p:ext uri="{BB962C8B-B14F-4D97-AF65-F5344CB8AC3E}">
        <p14:creationId xmlns:p14="http://schemas.microsoft.com/office/powerpoint/2010/main" val="1813279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6391A-2415-3570-C46C-9F997B5B1AD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2B6D114-6CA7-9663-14C7-CAC984B99E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4ADA34-FA64-9BAA-1022-AB5FE81FDF78}"/>
              </a:ext>
            </a:extLst>
          </p:cNvPr>
          <p:cNvSpPr>
            <a:spLocks noGrp="1"/>
          </p:cNvSpPr>
          <p:nvPr>
            <p:ph type="dt" sz="half" idx="10"/>
          </p:nvPr>
        </p:nvSpPr>
        <p:spPr/>
        <p:txBody>
          <a:bodyPr/>
          <a:lstStyle/>
          <a:p>
            <a:fld id="{8D34A1BF-4998-48E0-8FC0-215C006AE1EA}" type="datetimeFigureOut">
              <a:rPr lang="en-IN" smtClean="0"/>
              <a:t>25-03-2025</a:t>
            </a:fld>
            <a:endParaRPr lang="en-IN"/>
          </a:p>
        </p:txBody>
      </p:sp>
      <p:sp>
        <p:nvSpPr>
          <p:cNvPr id="5" name="Footer Placeholder 4">
            <a:extLst>
              <a:ext uri="{FF2B5EF4-FFF2-40B4-BE49-F238E27FC236}">
                <a16:creationId xmlns:a16="http://schemas.microsoft.com/office/drawing/2014/main" id="{FA141EE9-EC30-028F-CD91-D4146FC0E4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8EDF9A-0972-8419-5997-C1E0F77E45FC}"/>
              </a:ext>
            </a:extLst>
          </p:cNvPr>
          <p:cNvSpPr>
            <a:spLocks noGrp="1"/>
          </p:cNvSpPr>
          <p:nvPr>
            <p:ph type="sldNum" sz="quarter" idx="12"/>
          </p:nvPr>
        </p:nvSpPr>
        <p:spPr/>
        <p:txBody>
          <a:bodyPr/>
          <a:lstStyle/>
          <a:p>
            <a:fld id="{4131EB37-693F-4E5E-A714-E7C49419C1E1}" type="slidenum">
              <a:rPr lang="en-IN" smtClean="0"/>
              <a:t>‹#›</a:t>
            </a:fld>
            <a:endParaRPr lang="en-IN"/>
          </a:p>
        </p:txBody>
      </p:sp>
    </p:spTree>
    <p:extLst>
      <p:ext uri="{BB962C8B-B14F-4D97-AF65-F5344CB8AC3E}">
        <p14:creationId xmlns:p14="http://schemas.microsoft.com/office/powerpoint/2010/main" val="2775363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926F34-4837-0E36-D3F2-5CABDD737ED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E4CB18-7039-04C2-7AA3-9D204E2AF5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EA905F-CEC9-CB81-7C61-5C84DEB8D21F}"/>
              </a:ext>
            </a:extLst>
          </p:cNvPr>
          <p:cNvSpPr>
            <a:spLocks noGrp="1"/>
          </p:cNvSpPr>
          <p:nvPr>
            <p:ph type="dt" sz="half" idx="10"/>
          </p:nvPr>
        </p:nvSpPr>
        <p:spPr/>
        <p:txBody>
          <a:bodyPr/>
          <a:lstStyle/>
          <a:p>
            <a:fld id="{8D34A1BF-4998-48E0-8FC0-215C006AE1EA}" type="datetimeFigureOut">
              <a:rPr lang="en-IN" smtClean="0"/>
              <a:t>25-03-2025</a:t>
            </a:fld>
            <a:endParaRPr lang="en-IN"/>
          </a:p>
        </p:txBody>
      </p:sp>
      <p:sp>
        <p:nvSpPr>
          <p:cNvPr id="5" name="Footer Placeholder 4">
            <a:extLst>
              <a:ext uri="{FF2B5EF4-FFF2-40B4-BE49-F238E27FC236}">
                <a16:creationId xmlns:a16="http://schemas.microsoft.com/office/drawing/2014/main" id="{6610158C-919C-C16A-40C2-93A167B432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8B7229-CB2D-C057-47D7-2F7D85A950BC}"/>
              </a:ext>
            </a:extLst>
          </p:cNvPr>
          <p:cNvSpPr>
            <a:spLocks noGrp="1"/>
          </p:cNvSpPr>
          <p:nvPr>
            <p:ph type="sldNum" sz="quarter" idx="12"/>
          </p:nvPr>
        </p:nvSpPr>
        <p:spPr/>
        <p:txBody>
          <a:bodyPr/>
          <a:lstStyle/>
          <a:p>
            <a:fld id="{4131EB37-693F-4E5E-A714-E7C49419C1E1}" type="slidenum">
              <a:rPr lang="en-IN" smtClean="0"/>
              <a:t>‹#›</a:t>
            </a:fld>
            <a:endParaRPr lang="en-IN"/>
          </a:p>
        </p:txBody>
      </p:sp>
    </p:spTree>
    <p:extLst>
      <p:ext uri="{BB962C8B-B14F-4D97-AF65-F5344CB8AC3E}">
        <p14:creationId xmlns:p14="http://schemas.microsoft.com/office/powerpoint/2010/main" val="2404776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A84238-7EC5-42DD-8F64-D4F0957BDE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8E7293-36E3-E7D1-42B8-D0DAE9252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4B57BB-4C7C-126D-4252-D5AA838D64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34A1BF-4998-48E0-8FC0-215C006AE1EA}" type="datetimeFigureOut">
              <a:rPr lang="en-IN" smtClean="0"/>
              <a:t>25-03-2025</a:t>
            </a:fld>
            <a:endParaRPr lang="en-IN"/>
          </a:p>
        </p:txBody>
      </p:sp>
      <p:sp>
        <p:nvSpPr>
          <p:cNvPr id="5" name="Footer Placeholder 4">
            <a:extLst>
              <a:ext uri="{FF2B5EF4-FFF2-40B4-BE49-F238E27FC236}">
                <a16:creationId xmlns:a16="http://schemas.microsoft.com/office/drawing/2014/main" id="{5390FD70-DC8C-A27D-E0B6-BE135355EA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798D9C8-5F43-CAF0-2AF4-A088E28A45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31EB37-693F-4E5E-A714-E7C49419C1E1}" type="slidenum">
              <a:rPr lang="en-IN" smtClean="0"/>
              <a:t>‹#›</a:t>
            </a:fld>
            <a:endParaRPr lang="en-IN"/>
          </a:p>
        </p:txBody>
      </p:sp>
    </p:spTree>
    <p:extLst>
      <p:ext uri="{BB962C8B-B14F-4D97-AF65-F5344CB8AC3E}">
        <p14:creationId xmlns:p14="http://schemas.microsoft.com/office/powerpoint/2010/main" val="4168068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w3schools.com/cssref/tryit.php?filename=trycss_color"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DA2F3-AB87-364A-1BDD-6477C8049CE3}"/>
              </a:ext>
            </a:extLst>
          </p:cNvPr>
          <p:cNvSpPr>
            <a:spLocks noGrp="1"/>
          </p:cNvSpPr>
          <p:nvPr>
            <p:ph type="ctrTitle"/>
          </p:nvPr>
        </p:nvSpPr>
        <p:spPr/>
        <p:txBody>
          <a:bodyPr/>
          <a:lstStyle/>
          <a:p>
            <a:r>
              <a:rPr lang="en-IN" dirty="0"/>
              <a:t>Unit 3</a:t>
            </a:r>
          </a:p>
        </p:txBody>
      </p:sp>
      <p:sp>
        <p:nvSpPr>
          <p:cNvPr id="3" name="Subtitle 2">
            <a:extLst>
              <a:ext uri="{FF2B5EF4-FFF2-40B4-BE49-F238E27FC236}">
                <a16:creationId xmlns:a16="http://schemas.microsoft.com/office/drawing/2014/main" id="{D19447A6-93C2-24CA-FD51-78D297108145}"/>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70356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07EF3-4E61-77B5-15AA-70A4EDC29B8C}"/>
              </a:ext>
            </a:extLst>
          </p:cNvPr>
          <p:cNvSpPr>
            <a:spLocks noGrp="1"/>
          </p:cNvSpPr>
          <p:nvPr>
            <p:ph type="title"/>
          </p:nvPr>
        </p:nvSpPr>
        <p:spPr/>
        <p:txBody>
          <a:bodyPr/>
          <a:lstStyle/>
          <a:p>
            <a:r>
              <a:rPr lang="en-IN" dirty="0"/>
              <a:t>Unit 3</a:t>
            </a:r>
          </a:p>
        </p:txBody>
      </p:sp>
      <p:sp>
        <p:nvSpPr>
          <p:cNvPr id="3" name="Content Placeholder 2">
            <a:extLst>
              <a:ext uri="{FF2B5EF4-FFF2-40B4-BE49-F238E27FC236}">
                <a16:creationId xmlns:a16="http://schemas.microsoft.com/office/drawing/2014/main" id="{9BAD78B6-97E2-8A05-1916-3B078A902464}"/>
              </a:ext>
            </a:extLst>
          </p:cNvPr>
          <p:cNvSpPr>
            <a:spLocks noGrp="1"/>
          </p:cNvSpPr>
          <p:nvPr>
            <p:ph idx="1"/>
          </p:nvPr>
        </p:nvSpPr>
        <p:spPr/>
        <p:txBody>
          <a:bodyPr/>
          <a:lstStyle/>
          <a:p>
            <a:pPr marL="0" indent="0">
              <a:buNone/>
            </a:pPr>
            <a:r>
              <a:rPr lang="en-IN" b="1" dirty="0">
                <a:latin typeface="Times New Roman" panose="02020603050405020304" pitchFamily="18" charset="0"/>
                <a:cs typeface="Times New Roman" panose="02020603050405020304" pitchFamily="18" charset="0"/>
              </a:rPr>
              <a:t>Cascading Style Sheets (CSS-3): CSS Overview - CSS Rules, CSS Syntax and Style </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Class Selectors</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ID Selectors, span and div Elements - Cascading, style Attribute</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style Container, External CSS </a:t>
            </a:r>
            <a:r>
              <a:rPr lang="en-IN" dirty="0">
                <a:latin typeface="Times New Roman" panose="02020603050405020304" pitchFamily="18" charset="0"/>
                <a:cs typeface="Times New Roman" panose="02020603050405020304" pitchFamily="18" charset="0"/>
              </a:rPr>
              <a:t>Files –</a:t>
            </a:r>
          </a:p>
          <a:p>
            <a:pPr marL="0" indent="0">
              <a:buNone/>
            </a:pPr>
            <a:r>
              <a:rPr lang="en-IN" dirty="0">
                <a:latin typeface="Times New Roman" panose="02020603050405020304" pitchFamily="18" charset="0"/>
                <a:cs typeface="Times New Roman" panose="02020603050405020304" pitchFamily="18" charset="0"/>
              </a:rPr>
              <a:t> CSS Properties: </a:t>
            </a:r>
            <a:r>
              <a:rPr lang="en-IN" b="1" dirty="0" err="1">
                <a:latin typeface="Times New Roman" panose="02020603050405020304" pitchFamily="18" charset="0"/>
                <a:cs typeface="Times New Roman" panose="02020603050405020304" pitchFamily="18" charset="0"/>
              </a:rPr>
              <a:t>Color</a:t>
            </a:r>
            <a:r>
              <a:rPr lang="en-IN" b="1" dirty="0">
                <a:latin typeface="Times New Roman" panose="02020603050405020304" pitchFamily="18" charset="0"/>
                <a:cs typeface="Times New Roman" panose="02020603050405020304" pitchFamily="18" charset="0"/>
              </a:rPr>
              <a:t> Properties</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Font Properties, line-height Property</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Text Properties</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Border Properties</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Element Box, padding Property,</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margin Property </a:t>
            </a:r>
            <a:r>
              <a:rPr lang="en-IN" dirty="0">
                <a:latin typeface="Times New Roman" panose="02020603050405020304" pitchFamily="18" charset="0"/>
                <a:cs typeface="Times New Roman" panose="02020603050405020304" pitchFamily="18" charset="0"/>
              </a:rPr>
              <a:t>- Hosting a Website and GIT.</a:t>
            </a:r>
          </a:p>
        </p:txBody>
      </p:sp>
    </p:spTree>
    <p:extLst>
      <p:ext uri="{BB962C8B-B14F-4D97-AF65-F5344CB8AC3E}">
        <p14:creationId xmlns:p14="http://schemas.microsoft.com/office/powerpoint/2010/main" val="3293085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F3D6E-69D5-B2FB-D511-2EF7D0D492CB}"/>
              </a:ext>
            </a:extLst>
          </p:cNvPr>
          <p:cNvSpPr>
            <a:spLocks noGrp="1"/>
          </p:cNvSpPr>
          <p:nvPr>
            <p:ph type="title"/>
          </p:nvPr>
        </p:nvSpPr>
        <p:spPr/>
        <p:txBody>
          <a:bodyPr/>
          <a:lstStyle/>
          <a:p>
            <a:r>
              <a:rPr lang="en-US" b="0" i="0" dirty="0">
                <a:solidFill>
                  <a:srgbClr val="000000"/>
                </a:solidFill>
                <a:effectLst/>
                <a:latin typeface="Segoe UI" panose="020B0502040204020203" pitchFamily="34" charset="0"/>
              </a:rPr>
              <a:t>What is CSS?</a:t>
            </a:r>
            <a:br>
              <a:rPr lang="en-US" b="0" i="0" dirty="0">
                <a:solidFill>
                  <a:srgbClr val="000000"/>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id="{9400CEED-3C7A-DBE2-8296-B3ABE091024D}"/>
              </a:ext>
            </a:extLst>
          </p:cNvPr>
          <p:cNvSpPr>
            <a:spLocks noGrp="1"/>
          </p:cNvSpPr>
          <p:nvPr>
            <p:ph idx="1"/>
          </p:nvPr>
        </p:nvSpPr>
        <p:spPr/>
        <p:txBody>
          <a:bodyPr/>
          <a:lstStyle/>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CSS stands for Cascading Style Sheets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CSS describes how HTML elements are to be displayed on screen, paper, or in other media</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CSS saves a lot of work. It can control the layout of multiple web pages all at once</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External stylesheets are stored in CSS files</a:t>
            </a:r>
          </a:p>
          <a:p>
            <a:pPr marL="0" indent="0">
              <a:buNone/>
            </a:pPr>
            <a:br>
              <a:rPr lang="en-US" dirty="0"/>
            </a:br>
            <a:endParaRPr lang="en-IN" dirty="0"/>
          </a:p>
        </p:txBody>
      </p:sp>
    </p:spTree>
    <p:extLst>
      <p:ext uri="{BB962C8B-B14F-4D97-AF65-F5344CB8AC3E}">
        <p14:creationId xmlns:p14="http://schemas.microsoft.com/office/powerpoint/2010/main" val="1618674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852455E-3E0A-FC37-25F0-D0F6A2F45B5A}"/>
              </a:ext>
            </a:extLst>
          </p:cNvPr>
          <p:cNvSpPr>
            <a:spLocks noGrp="1"/>
          </p:cNvSpPr>
          <p:nvPr>
            <p:ph type="title"/>
          </p:nvPr>
        </p:nvSpPr>
        <p:spPr>
          <a:xfrm>
            <a:off x="1115568" y="548640"/>
            <a:ext cx="10168128" cy="1179576"/>
          </a:xfrm>
        </p:spPr>
        <p:txBody>
          <a:bodyPr>
            <a:normAutofit/>
          </a:bodyPr>
          <a:lstStyle/>
          <a:p>
            <a:endParaRPr lang="en-IN" sz="4000"/>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
            <a:extLst>
              <a:ext uri="{FF2B5EF4-FFF2-40B4-BE49-F238E27FC236}">
                <a16:creationId xmlns:a16="http://schemas.microsoft.com/office/drawing/2014/main" id="{0E27B23D-3622-8AEF-B36F-C48D8FB07371}"/>
              </a:ext>
            </a:extLst>
          </p:cNvPr>
          <p:cNvSpPr>
            <a:spLocks noGrp="1" noChangeArrowheads="1"/>
          </p:cNvSpPr>
          <p:nvPr>
            <p:ph idx="1"/>
          </p:nvPr>
        </p:nvSpPr>
        <p:spPr bwMode="auto">
          <a:xfrm>
            <a:off x="1115568" y="2481943"/>
            <a:ext cx="10168128" cy="369502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rPr>
              <a:t>CSS can be added to HTML documents in 3 ways:</a:t>
            </a:r>
          </a:p>
          <a:p>
            <a:pPr marL="0" marR="0" lvl="0" indent="0" defTabSz="914400" rtl="0" eaLnBrk="0" fontAlgn="base" latinLnBrk="0" hangingPunct="0">
              <a:spcBef>
                <a:spcPct val="0"/>
              </a:spcBef>
              <a:spcAft>
                <a:spcPts val="600"/>
              </a:spcAft>
              <a:buClrTx/>
              <a:buSzTx/>
              <a:buFontTx/>
              <a:buChar char="•"/>
              <a:tabLst/>
            </a:pPr>
            <a:r>
              <a:rPr kumimoji="0" lang="en-US" altLang="en-US" sz="2200" b="1" i="0" u="none" strike="noStrike" cap="none" normalizeH="0" baseline="0">
                <a:ln>
                  <a:noFill/>
                </a:ln>
                <a:effectLst/>
                <a:latin typeface="Times New Roman" panose="02020603050405020304" pitchFamily="18" charset="0"/>
                <a:cs typeface="Times New Roman" panose="02020603050405020304" pitchFamily="18" charset="0"/>
              </a:rPr>
              <a:t>Inline</a:t>
            </a:r>
            <a:r>
              <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rPr>
              <a:t> - by using the style attribute inside HTML elements</a:t>
            </a:r>
          </a:p>
          <a:p>
            <a:pPr marL="0" marR="0" lvl="0" indent="0" defTabSz="914400" rtl="0" eaLnBrk="0" fontAlgn="base" latinLnBrk="0" hangingPunct="0">
              <a:spcBef>
                <a:spcPct val="0"/>
              </a:spcBef>
              <a:spcAft>
                <a:spcPts val="600"/>
              </a:spcAft>
              <a:buClrTx/>
              <a:buSzTx/>
              <a:buFontTx/>
              <a:buChar char="•"/>
              <a:tabLst/>
            </a:pPr>
            <a:r>
              <a:rPr kumimoji="0" lang="en-US" altLang="en-US" sz="2200" b="1" i="0" u="none" strike="noStrike" cap="none" normalizeH="0" baseline="0">
                <a:ln>
                  <a:noFill/>
                </a:ln>
                <a:effectLst/>
                <a:latin typeface="Times New Roman" panose="02020603050405020304" pitchFamily="18" charset="0"/>
                <a:cs typeface="Times New Roman" panose="02020603050405020304" pitchFamily="18" charset="0"/>
              </a:rPr>
              <a:t>Internal</a:t>
            </a:r>
            <a:r>
              <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rPr>
              <a:t> - by using a &lt;style&gt; element in the &lt;head&gt; section</a:t>
            </a:r>
          </a:p>
          <a:p>
            <a:pPr marL="0" marR="0" lvl="0" indent="0" defTabSz="914400" rtl="0" eaLnBrk="0" fontAlgn="base" latinLnBrk="0" hangingPunct="0">
              <a:spcBef>
                <a:spcPct val="0"/>
              </a:spcBef>
              <a:spcAft>
                <a:spcPts val="600"/>
              </a:spcAft>
              <a:buClrTx/>
              <a:buSzTx/>
              <a:buFontTx/>
              <a:buChar char="•"/>
              <a:tabLst/>
            </a:pPr>
            <a:r>
              <a:rPr kumimoji="0" lang="en-US" altLang="en-US" sz="2200" b="1" i="0" u="none" strike="noStrike" cap="none" normalizeH="0" baseline="0">
                <a:ln>
                  <a:noFill/>
                </a:ln>
                <a:effectLst/>
                <a:latin typeface="Times New Roman" panose="02020603050405020304" pitchFamily="18" charset="0"/>
                <a:cs typeface="Times New Roman" panose="02020603050405020304" pitchFamily="18" charset="0"/>
              </a:rPr>
              <a:t>External</a:t>
            </a:r>
            <a:r>
              <a:rPr kumimoji="0" lang="en-US" altLang="en-US" sz="2200" b="0" i="0" u="none" strike="noStrike" cap="none" normalizeH="0" baseline="0">
                <a:ln>
                  <a:noFill/>
                </a:ln>
                <a:effectLst/>
                <a:latin typeface="Times New Roman" panose="02020603050405020304" pitchFamily="18" charset="0"/>
                <a:cs typeface="Times New Roman" panose="02020603050405020304" pitchFamily="18" charset="0"/>
              </a:rPr>
              <a:t> - by using a &lt;link&gt; element to link to an external CSS file</a:t>
            </a:r>
          </a:p>
          <a:p>
            <a:pPr marL="0" marR="0" lvl="0" indent="0" defTabSz="914400" rtl="0" eaLnBrk="0" fontAlgn="base" latinLnBrk="0" hangingPunct="0">
              <a:spcBef>
                <a:spcPct val="0"/>
              </a:spcBef>
              <a:spcAft>
                <a:spcPts val="600"/>
              </a:spcAft>
              <a:buClrTx/>
              <a:buSzTx/>
              <a:buFontTx/>
              <a:buNone/>
              <a:tabLst/>
            </a:pPr>
            <a:endParaRPr kumimoji="0" lang="en-US" altLang="en-US" sz="22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764775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ED727B-10F3-DF05-81FD-FF9FAE20E56F}"/>
              </a:ext>
            </a:extLst>
          </p:cNvPr>
          <p:cNvSpPr>
            <a:spLocks noGrp="1"/>
          </p:cNvSpPr>
          <p:nvPr>
            <p:ph type="title"/>
          </p:nvPr>
        </p:nvSpPr>
        <p:spPr>
          <a:xfrm>
            <a:off x="1285240" y="1050595"/>
            <a:ext cx="8074815" cy="1618489"/>
          </a:xfrm>
        </p:spPr>
        <p:txBody>
          <a:bodyPr anchor="ctr">
            <a:normAutofit/>
          </a:bodyPr>
          <a:lstStyle/>
          <a:p>
            <a:endParaRPr lang="en-IN" sz="7200"/>
          </a:p>
        </p:txBody>
      </p:sp>
      <p:sp>
        <p:nvSpPr>
          <p:cNvPr id="4" name="Rectangle 1">
            <a:extLst>
              <a:ext uri="{FF2B5EF4-FFF2-40B4-BE49-F238E27FC236}">
                <a16:creationId xmlns:a16="http://schemas.microsoft.com/office/drawing/2014/main" id="{3E367B79-8704-9A8B-3BFA-FFF4035EDFA1}"/>
              </a:ext>
            </a:extLst>
          </p:cNvPr>
          <p:cNvSpPr>
            <a:spLocks noGrp="1" noChangeArrowheads="1"/>
          </p:cNvSpPr>
          <p:nvPr>
            <p:ph idx="1"/>
          </p:nvPr>
        </p:nvSpPr>
        <p:spPr bwMode="auto">
          <a:xfrm>
            <a:off x="1285240" y="2969469"/>
            <a:ext cx="8074815" cy="2800395"/>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63480" rIns="0" bIns="63480" numCol="1"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spcBef>
                <a:spcPct val="0"/>
              </a:spcBef>
              <a:spcAft>
                <a:spcPts val="600"/>
              </a:spcAft>
              <a:buClrTx/>
              <a:buSzTx/>
              <a:buFontTx/>
              <a:buNone/>
              <a:tabLst/>
            </a:pPr>
            <a: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t>Inline CSS</a:t>
            </a:r>
          </a:p>
          <a:p>
            <a:pPr marL="0" marR="0" lvl="0" indent="0" defTabSz="914400" rtl="0" eaLnBrk="0" fontAlgn="base" latinLnBrk="0" hangingPunct="0">
              <a:spcBef>
                <a:spcPct val="0"/>
              </a:spcBef>
              <a:spcAft>
                <a:spcPts val="600"/>
              </a:spcAft>
              <a:buClrTx/>
              <a:buSzTx/>
              <a:buFontTx/>
              <a:buNone/>
              <a:tabLst/>
            </a:pPr>
            <a: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t>An inline CSS is used to apply a unique style to a single HTML element.</a:t>
            </a:r>
          </a:p>
          <a:p>
            <a:pPr marL="0" marR="0" lvl="0" indent="0" defTabSz="914400" rtl="0" eaLnBrk="0" fontAlgn="base" latinLnBrk="0" hangingPunct="0">
              <a:spcBef>
                <a:spcPct val="0"/>
              </a:spcBef>
              <a:spcAft>
                <a:spcPts val="600"/>
              </a:spcAft>
              <a:buClrTx/>
              <a:buSzTx/>
              <a:buFontTx/>
              <a:buNone/>
              <a:tabLst/>
            </a:pPr>
            <a: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t>An inline CSS uses the style attribute of an HTML element.</a:t>
            </a:r>
          </a:p>
          <a:p>
            <a:pPr marL="0" marR="0" lvl="0" indent="0" defTabSz="914400" rtl="0" eaLnBrk="0" fontAlgn="base" latinLnBrk="0" hangingPunct="0">
              <a:spcBef>
                <a:spcPct val="0"/>
              </a:spcBef>
              <a:spcAft>
                <a:spcPts val="600"/>
              </a:spcAft>
              <a:buClrTx/>
              <a:buSzTx/>
              <a:buFontTx/>
              <a:buNone/>
              <a:tabLst/>
            </a:pPr>
            <a: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t>The following example sets the text color of the &lt;h1&gt; element to blue, and the text color of the &lt;p&gt; element to red:</a:t>
            </a:r>
          </a:p>
          <a:p>
            <a:pPr marL="0" marR="0" lvl="0" indent="0" defTabSz="914400" rtl="0" eaLnBrk="0" fontAlgn="base" latinLnBrk="0" hangingPunct="0">
              <a:spcBef>
                <a:spcPct val="0"/>
              </a:spcBef>
              <a:spcAft>
                <a:spcPts val="600"/>
              </a:spcAft>
              <a:buClrTx/>
              <a:buSzTx/>
              <a:buFontTx/>
              <a:buNone/>
              <a:tabLst/>
            </a:pPr>
            <a:endPar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spcBef>
                <a:spcPct val="0"/>
              </a:spcBef>
              <a:spcAft>
                <a:spcPts val="600"/>
              </a:spcAft>
              <a:buClrTx/>
              <a:buSzTx/>
              <a:buFontTx/>
              <a:buNone/>
              <a:tabLst/>
            </a:pPr>
            <a: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t>Example</a:t>
            </a:r>
          </a:p>
          <a:p>
            <a:pPr marL="0" marR="0" lvl="0" indent="0" defTabSz="914400" rtl="0" eaLnBrk="0" fontAlgn="base" latinLnBrk="0" hangingPunct="0">
              <a:spcBef>
                <a:spcPct val="0"/>
              </a:spcBef>
              <a:spcAft>
                <a:spcPts val="600"/>
              </a:spcAft>
              <a:buClrTx/>
              <a:buSzTx/>
              <a:buFontTx/>
              <a:buNone/>
              <a:tabLst/>
            </a:pPr>
            <a: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t>&lt;h1 style="</a:t>
            </a:r>
            <a:r>
              <a:rPr kumimoji="0" lang="en-US" altLang="en-US" sz="1500" b="0" i="0" u="none" strike="noStrike" cap="none" normalizeH="0" baseline="0" dirty="0" err="1">
                <a:ln>
                  <a:noFill/>
                </a:ln>
                <a:effectLst/>
                <a:latin typeface="Times New Roman" panose="02020603050405020304" pitchFamily="18" charset="0"/>
                <a:cs typeface="Times New Roman" panose="02020603050405020304" pitchFamily="18" charset="0"/>
              </a:rPr>
              <a:t>color:blue</a:t>
            </a:r>
            <a: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t>;"&gt;A Blue Heading&lt;/h1&gt;</a:t>
            </a:r>
            <a:b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br>
            <a:b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t>&lt;p style="</a:t>
            </a:r>
            <a:r>
              <a:rPr kumimoji="0" lang="en-US" altLang="en-US" sz="1500" b="0" i="0" u="none" strike="noStrike" cap="none" normalizeH="0" baseline="0" dirty="0" err="1">
                <a:ln>
                  <a:noFill/>
                </a:ln>
                <a:effectLst/>
                <a:latin typeface="Times New Roman" panose="02020603050405020304" pitchFamily="18" charset="0"/>
                <a:cs typeface="Times New Roman" panose="02020603050405020304" pitchFamily="18" charset="0"/>
              </a:rPr>
              <a:t>color:red</a:t>
            </a:r>
            <a: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t>;"&gt;A red paragraph.&lt;/p&gt;</a:t>
            </a:r>
          </a:p>
        </p:txBody>
      </p:sp>
    </p:spTree>
    <p:extLst>
      <p:ext uri="{BB962C8B-B14F-4D97-AF65-F5344CB8AC3E}">
        <p14:creationId xmlns:p14="http://schemas.microsoft.com/office/powerpoint/2010/main" val="2923500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27F56-D48A-726D-DB54-955B4DF39E8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9A455DF-EA17-F676-4BFD-71185E7E015D}"/>
              </a:ext>
            </a:extLst>
          </p:cNvPr>
          <p:cNvSpPr>
            <a:spLocks noGrp="1"/>
          </p:cNvSpPr>
          <p:nvPr>
            <p:ph idx="1"/>
          </p:nvPr>
        </p:nvSpPr>
        <p:spPr/>
        <p:txBody>
          <a:bodyPr>
            <a:normAutofit lnSpcReduction="10000"/>
          </a:bodyPr>
          <a:lstStyle/>
          <a:p>
            <a:pPr marL="0" indent="0">
              <a:buNone/>
            </a:pPr>
            <a:r>
              <a:rPr lang="en-US" dirty="0"/>
              <a:t>h1 &lt; style=“</a:t>
            </a:r>
          </a:p>
          <a:p>
            <a:pPr marL="0" indent="0">
              <a:buNone/>
            </a:pPr>
            <a:r>
              <a:rPr lang="en-US" dirty="0"/>
              <a:t>  display: block;</a:t>
            </a:r>
          </a:p>
          <a:p>
            <a:pPr marL="0" indent="0">
              <a:buNone/>
            </a:pPr>
            <a:r>
              <a:rPr lang="en-US" dirty="0"/>
              <a:t>  margin-top: 5cm;</a:t>
            </a:r>
          </a:p>
          <a:p>
            <a:pPr marL="0" indent="0">
              <a:buNone/>
            </a:pPr>
            <a:r>
              <a:rPr lang="en-US" dirty="0"/>
              <a:t>  margin-bottom: 0.67cm;</a:t>
            </a:r>
          </a:p>
          <a:p>
            <a:pPr marL="0" indent="0">
              <a:buNone/>
            </a:pPr>
            <a:r>
              <a:rPr lang="en-US" dirty="0"/>
              <a:t>  margin-left: 0;</a:t>
            </a:r>
          </a:p>
          <a:p>
            <a:pPr marL="0" indent="0">
              <a:buNone/>
            </a:pPr>
            <a:r>
              <a:rPr lang="en-US" dirty="0"/>
              <a:t>  margin-right: 0;</a:t>
            </a:r>
          </a:p>
          <a:p>
            <a:pPr marL="0" indent="0">
              <a:buNone/>
            </a:pPr>
            <a:r>
              <a:rPr lang="en-US" dirty="0"/>
              <a:t>  font-weight: bold;</a:t>
            </a:r>
            <a:br>
              <a:rPr lang="en-US" dirty="0"/>
            </a:br>
            <a:r>
              <a:rPr lang="en-US" dirty="0"/>
              <a:t>“</a:t>
            </a:r>
          </a:p>
          <a:p>
            <a:pPr marL="0" indent="0">
              <a:buNone/>
            </a:pPr>
            <a:r>
              <a:rPr lang="en-IN"/>
              <a:t>&gt;</a:t>
            </a:r>
            <a:endParaRPr lang="en-IN" dirty="0"/>
          </a:p>
        </p:txBody>
      </p:sp>
    </p:spTree>
    <p:extLst>
      <p:ext uri="{BB962C8B-B14F-4D97-AF65-F5344CB8AC3E}">
        <p14:creationId xmlns:p14="http://schemas.microsoft.com/office/powerpoint/2010/main" val="268154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0DE60-DA0F-FE1C-16FB-91766A848A26}"/>
              </a:ext>
            </a:extLst>
          </p:cNvPr>
          <p:cNvSpPr>
            <a:spLocks noGrp="1"/>
          </p:cNvSpPr>
          <p:nvPr>
            <p:ph type="title"/>
          </p:nvPr>
        </p:nvSpPr>
        <p:spPr/>
        <p:txBody>
          <a:bodyPr/>
          <a:lstStyle/>
          <a:p>
            <a:r>
              <a:rPr lang="en-IN" b="0" i="0" dirty="0">
                <a:solidFill>
                  <a:srgbClr val="000000"/>
                </a:solidFill>
                <a:effectLst/>
                <a:latin typeface="Segoe UI" panose="020B0502040204020203" pitchFamily="34" charset="0"/>
              </a:rPr>
              <a:t>Inline CSS</a:t>
            </a:r>
            <a:br>
              <a:rPr lang="en-IN" b="0" i="0" dirty="0">
                <a:solidFill>
                  <a:srgbClr val="000000"/>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id="{5F0DB77B-34D7-BC18-995F-73C4AA9C757A}"/>
              </a:ext>
            </a:extLst>
          </p:cNvPr>
          <p:cNvSpPr>
            <a:spLocks noGrp="1"/>
          </p:cNvSpPr>
          <p:nvPr>
            <p:ph idx="1"/>
          </p:nvPr>
        </p:nvSpPr>
        <p:spPr/>
        <p:txBody>
          <a:bodyPr/>
          <a:lstStyle/>
          <a:p>
            <a:pPr marL="0" indent="0">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!DOCTYPE</a:t>
            </a:r>
            <a:r>
              <a:rPr lang="en-US" b="0" i="0" dirty="0">
                <a:solidFill>
                  <a:srgbClr val="FF0000"/>
                </a:solidFill>
                <a:effectLst/>
                <a:latin typeface="Consolas" panose="020B0609020204030204" pitchFamily="49" charset="0"/>
              </a:rPr>
              <a:t> html</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html</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body</a:t>
            </a:r>
            <a:r>
              <a:rPr lang="en-US" b="0" i="0" dirty="0">
                <a:solidFill>
                  <a:srgbClr val="0000CD"/>
                </a:solidFill>
                <a:effectLst/>
                <a:latin typeface="Consolas" panose="020B0609020204030204" pitchFamily="49" charset="0"/>
              </a:rPr>
              <a:t>&gt;</a:t>
            </a:r>
            <a:br>
              <a:rPr lang="en-US" dirty="0"/>
            </a:b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FF0000"/>
                </a:solidFill>
                <a:effectLst/>
                <a:latin typeface="Consolas" panose="020B0609020204030204" pitchFamily="49" charset="0"/>
              </a:rPr>
              <a:t> style</a:t>
            </a:r>
            <a:r>
              <a:rPr lang="en-US" b="0" i="0" dirty="0">
                <a:solidFill>
                  <a:srgbClr val="0000CD"/>
                </a:solidFill>
                <a:effectLst/>
                <a:latin typeface="Consolas" panose="020B0609020204030204" pitchFamily="49" charset="0"/>
              </a:rPr>
              <a:t>="</a:t>
            </a:r>
            <a:r>
              <a:rPr lang="en-US" b="0" i="0" dirty="0" err="1">
                <a:solidFill>
                  <a:srgbClr val="0000CD"/>
                </a:solidFill>
                <a:effectLst/>
                <a:latin typeface="Consolas" panose="020B0609020204030204" pitchFamily="49" charset="0"/>
              </a:rPr>
              <a:t>color:blue;text-align:center</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This is a heading</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FF0000"/>
                </a:solidFill>
                <a:effectLst/>
                <a:latin typeface="Consolas" panose="020B0609020204030204" pitchFamily="49" charset="0"/>
              </a:rPr>
              <a:t> style</a:t>
            </a:r>
            <a:r>
              <a:rPr lang="en-US" b="0" i="0" dirty="0">
                <a:solidFill>
                  <a:srgbClr val="0000CD"/>
                </a:solidFill>
                <a:effectLst/>
                <a:latin typeface="Consolas" panose="020B0609020204030204" pitchFamily="49" charset="0"/>
              </a:rPr>
              <a:t>="</a:t>
            </a:r>
            <a:r>
              <a:rPr lang="en-US" b="0" i="0" dirty="0" err="1">
                <a:solidFill>
                  <a:srgbClr val="0000CD"/>
                </a:solidFill>
                <a:effectLst/>
                <a:latin typeface="Consolas" panose="020B0609020204030204" pitchFamily="49" charset="0"/>
              </a:rPr>
              <a:t>color:red</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This is a paragraph.</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br>
              <a:rPr lang="en-US" dirty="0"/>
            </a:b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/body</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/html</a:t>
            </a:r>
            <a:r>
              <a:rPr lang="en-US" b="0" i="0" dirty="0">
                <a:solidFill>
                  <a:srgbClr val="0000CD"/>
                </a:solidFill>
                <a:effectLst/>
                <a:latin typeface="Consolas" panose="020B0609020204030204" pitchFamily="49" charset="0"/>
              </a:rPr>
              <a:t>&gt;</a:t>
            </a:r>
            <a:endParaRPr lang="en-IN" dirty="0"/>
          </a:p>
        </p:txBody>
      </p:sp>
    </p:spTree>
    <p:extLst>
      <p:ext uri="{BB962C8B-B14F-4D97-AF65-F5344CB8AC3E}">
        <p14:creationId xmlns:p14="http://schemas.microsoft.com/office/powerpoint/2010/main" val="3318165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690DC-0B17-D0CF-ED56-4F092EA7261C}"/>
              </a:ext>
            </a:extLst>
          </p:cNvPr>
          <p:cNvSpPr>
            <a:spLocks noGrp="1"/>
          </p:cNvSpPr>
          <p:nvPr>
            <p:ph type="title"/>
          </p:nvPr>
        </p:nvSpPr>
        <p:spPr/>
        <p:txBody>
          <a:bodyPr/>
          <a:lstStyle/>
          <a:p>
            <a:r>
              <a:rPr lang="en-IN" b="0" i="0" dirty="0">
                <a:solidFill>
                  <a:srgbClr val="000000"/>
                </a:solidFill>
                <a:effectLst/>
                <a:latin typeface="Segoe UI" panose="020B0502040204020203" pitchFamily="34" charset="0"/>
              </a:rPr>
              <a:t>Internal CSS</a:t>
            </a:r>
            <a:br>
              <a:rPr lang="en-IN" b="0" i="0" dirty="0">
                <a:solidFill>
                  <a:srgbClr val="000000"/>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id="{8308A980-8955-B17E-58D2-B0297374AB13}"/>
              </a:ext>
            </a:extLst>
          </p:cNvPr>
          <p:cNvSpPr>
            <a:spLocks noGrp="1"/>
          </p:cNvSpPr>
          <p:nvPr>
            <p:ph idx="1"/>
          </p:nvPr>
        </p:nvSpPr>
        <p:spPr/>
        <p:txBody>
          <a:bodyPr>
            <a:normAutofit fontScale="62500" lnSpcReduction="20000"/>
          </a:bodyPr>
          <a:lstStyle/>
          <a:p>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!DOCTYPE</a:t>
            </a:r>
            <a:r>
              <a:rPr lang="en-US" b="0" i="0" dirty="0">
                <a:solidFill>
                  <a:srgbClr val="FF0000"/>
                </a:solidFill>
                <a:effectLst/>
                <a:latin typeface="Consolas" panose="020B0609020204030204" pitchFamily="49" charset="0"/>
              </a:rPr>
              <a:t> html</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html</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head</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style</a:t>
            </a:r>
            <a:r>
              <a:rPr lang="en-US" b="0" i="0" dirty="0">
                <a:solidFill>
                  <a:srgbClr val="0000CD"/>
                </a:solidFill>
                <a:effectLst/>
                <a:latin typeface="Consolas" panose="020B0609020204030204" pitchFamily="49" charset="0"/>
              </a:rPr>
              <a:t>&gt;</a:t>
            </a:r>
            <a:br>
              <a:rPr lang="en-US" b="0" i="0" dirty="0">
                <a:solidFill>
                  <a:srgbClr val="A52A2A"/>
                </a:solidFill>
                <a:effectLst/>
                <a:latin typeface="Consolas" panose="020B0609020204030204" pitchFamily="49" charset="0"/>
              </a:rPr>
            </a:br>
            <a:r>
              <a:rPr lang="en-US" b="0" i="0" dirty="0">
                <a:solidFill>
                  <a:srgbClr val="A52A2A"/>
                </a:solidFill>
                <a:effectLst/>
                <a:latin typeface="Consolas" panose="020B0609020204030204" pitchFamily="49" charset="0"/>
              </a:rPr>
              <a:t>body </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background-color</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linen</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br>
              <a:rPr lang="en-US" b="0" i="0" dirty="0">
                <a:solidFill>
                  <a:srgbClr val="A52A2A"/>
                </a:solidFill>
                <a:effectLst/>
                <a:latin typeface="Consolas" panose="020B0609020204030204" pitchFamily="49" charset="0"/>
              </a:rPr>
            </a:br>
            <a:br>
              <a:rPr lang="en-US" b="0" i="0" dirty="0">
                <a:solidFill>
                  <a:srgbClr val="A52A2A"/>
                </a:solidFill>
                <a:effectLst/>
                <a:latin typeface="Consolas" panose="020B0609020204030204" pitchFamily="49" charset="0"/>
              </a:rPr>
            </a:br>
            <a:r>
              <a:rPr lang="en-US" b="0" i="0" dirty="0">
                <a:solidFill>
                  <a:srgbClr val="A52A2A"/>
                </a:solidFill>
                <a:effectLst/>
                <a:latin typeface="Consolas" panose="020B0609020204030204" pitchFamily="49" charset="0"/>
              </a:rPr>
              <a:t>h1 </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color</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maroon</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margin-left</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40px</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br>
              <a:rPr lang="en-US" b="0" i="0" dirty="0">
                <a:solidFill>
                  <a:srgbClr val="A52A2A"/>
                </a:solidFill>
                <a:effectLst/>
                <a:latin typeface="Consolas" panose="020B0609020204030204" pitchFamily="49" charset="0"/>
              </a:rPr>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/style</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/head</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body</a:t>
            </a:r>
            <a:r>
              <a:rPr lang="en-US" b="0" i="0" dirty="0">
                <a:solidFill>
                  <a:srgbClr val="0000CD"/>
                </a:solidFill>
                <a:effectLst/>
                <a:latin typeface="Consolas" panose="020B0609020204030204" pitchFamily="49" charset="0"/>
              </a:rPr>
              <a:t>&gt;</a:t>
            </a:r>
            <a:br>
              <a:rPr lang="en-US" dirty="0"/>
            </a:b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This is a heading</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This is a paragraph.</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br>
              <a:rPr lang="en-US" dirty="0"/>
            </a:b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/body</a:t>
            </a:r>
            <a:r>
              <a:rPr lang="en-US" b="0" i="0" dirty="0">
                <a:solidFill>
                  <a:srgbClr val="0000CD"/>
                </a:solidFill>
                <a:effectLst/>
                <a:latin typeface="Consolas" panose="020B0609020204030204" pitchFamily="49" charset="0"/>
              </a:rPr>
              <a:t>&gt;</a:t>
            </a:r>
            <a:endParaRPr lang="en-IN" dirty="0"/>
          </a:p>
        </p:txBody>
      </p:sp>
    </p:spTree>
    <p:extLst>
      <p:ext uri="{BB962C8B-B14F-4D97-AF65-F5344CB8AC3E}">
        <p14:creationId xmlns:p14="http://schemas.microsoft.com/office/powerpoint/2010/main" val="523163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7D602-FD77-22D2-EB9D-9D50CD55AB2C}"/>
              </a:ext>
            </a:extLst>
          </p:cNvPr>
          <p:cNvSpPr>
            <a:spLocks noGrp="1"/>
          </p:cNvSpPr>
          <p:nvPr>
            <p:ph type="title"/>
          </p:nvPr>
        </p:nvSpPr>
        <p:spPr/>
        <p:txBody>
          <a:bodyPr/>
          <a:lstStyle/>
          <a:p>
            <a:r>
              <a:rPr lang="en-IN" dirty="0"/>
              <a:t>External CSS</a:t>
            </a:r>
          </a:p>
        </p:txBody>
      </p:sp>
      <p:sp>
        <p:nvSpPr>
          <p:cNvPr id="3" name="Content Placeholder 2">
            <a:extLst>
              <a:ext uri="{FF2B5EF4-FFF2-40B4-BE49-F238E27FC236}">
                <a16:creationId xmlns:a16="http://schemas.microsoft.com/office/drawing/2014/main" id="{6AD0BBDD-0E03-36F6-8E93-BBFEA082A54A}"/>
              </a:ext>
            </a:extLst>
          </p:cNvPr>
          <p:cNvSpPr>
            <a:spLocks noGrp="1"/>
          </p:cNvSpPr>
          <p:nvPr>
            <p:ph idx="1"/>
          </p:nvPr>
        </p:nvSpPr>
        <p:spPr/>
        <p:txBody>
          <a:bodyPr>
            <a:normAutofit lnSpcReduction="10000"/>
          </a:bodyPr>
          <a:lstStyle/>
          <a:p>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!DOCTYPE</a:t>
            </a:r>
            <a:r>
              <a:rPr lang="en-US" b="0" i="0" dirty="0">
                <a:solidFill>
                  <a:srgbClr val="FF0000"/>
                </a:solidFill>
                <a:effectLst/>
                <a:latin typeface="Consolas" panose="020B0609020204030204" pitchFamily="49" charset="0"/>
              </a:rPr>
              <a:t> html</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html</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head</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link</a:t>
            </a:r>
            <a:r>
              <a:rPr lang="en-US" b="0" i="0" dirty="0">
                <a:solidFill>
                  <a:srgbClr val="FF0000"/>
                </a:solidFill>
                <a:effectLst/>
                <a:latin typeface="Consolas" panose="020B0609020204030204" pitchFamily="49" charset="0"/>
              </a:rPr>
              <a:t> </a:t>
            </a:r>
            <a:r>
              <a:rPr lang="en-US" b="0" i="0" dirty="0" err="1">
                <a:solidFill>
                  <a:srgbClr val="FF0000"/>
                </a:solidFill>
                <a:effectLst/>
                <a:latin typeface="Consolas" panose="020B0609020204030204" pitchFamily="49" charset="0"/>
              </a:rPr>
              <a:t>rel</a:t>
            </a:r>
            <a:r>
              <a:rPr lang="en-US" b="0" i="0" dirty="0">
                <a:solidFill>
                  <a:srgbClr val="0000CD"/>
                </a:solidFill>
                <a:effectLst/>
                <a:latin typeface="Consolas" panose="020B0609020204030204" pitchFamily="49" charset="0"/>
              </a:rPr>
              <a:t>="stylesheet"</a:t>
            </a:r>
            <a:r>
              <a:rPr lang="en-US" b="0" i="0" dirty="0">
                <a:solidFill>
                  <a:srgbClr val="FF0000"/>
                </a:solidFill>
                <a:effectLst/>
                <a:latin typeface="Consolas" panose="020B0609020204030204" pitchFamily="49" charset="0"/>
              </a:rPr>
              <a:t> </a:t>
            </a:r>
            <a:r>
              <a:rPr lang="en-US" b="0" i="0" dirty="0" err="1">
                <a:solidFill>
                  <a:srgbClr val="FF0000"/>
                </a:solidFill>
                <a:effectLst/>
                <a:latin typeface="Consolas" panose="020B0609020204030204" pitchFamily="49" charset="0"/>
              </a:rPr>
              <a:t>href</a:t>
            </a:r>
            <a:r>
              <a:rPr lang="en-US" b="0" i="0" dirty="0">
                <a:solidFill>
                  <a:srgbClr val="0000CD"/>
                </a:solidFill>
                <a:effectLst/>
                <a:latin typeface="Consolas" panose="020B0609020204030204" pitchFamily="49" charset="0"/>
              </a:rPr>
              <a:t>="mystyle.css"&gt;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/head</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body</a:t>
            </a:r>
            <a:r>
              <a:rPr lang="en-US" b="0" i="0" dirty="0">
                <a:solidFill>
                  <a:srgbClr val="0000CD"/>
                </a:solidFill>
                <a:effectLst/>
                <a:latin typeface="Consolas" panose="020B0609020204030204" pitchFamily="49" charset="0"/>
              </a:rPr>
              <a:t>&gt;</a:t>
            </a:r>
            <a:br>
              <a:rPr lang="en-US" dirty="0"/>
            </a:b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This is a heading</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This is a paragraph.</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br>
              <a:rPr lang="en-US" dirty="0"/>
            </a:b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/body</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/html</a:t>
            </a:r>
            <a:r>
              <a:rPr lang="en-US" b="0" i="0" dirty="0">
                <a:solidFill>
                  <a:srgbClr val="0000CD"/>
                </a:solidFill>
                <a:effectLst/>
                <a:latin typeface="Consolas" panose="020B0609020204030204" pitchFamily="49" charset="0"/>
              </a:rPr>
              <a:t>&gt;</a:t>
            </a:r>
            <a:endParaRPr lang="en-IN" dirty="0"/>
          </a:p>
        </p:txBody>
      </p:sp>
    </p:spTree>
    <p:extLst>
      <p:ext uri="{BB962C8B-B14F-4D97-AF65-F5344CB8AC3E}">
        <p14:creationId xmlns:p14="http://schemas.microsoft.com/office/powerpoint/2010/main" val="2737719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53D13C7-15AE-7AE1-5745-BBBA85EC8115}"/>
              </a:ext>
            </a:extLst>
          </p:cNvPr>
          <p:cNvPicPr>
            <a:picLocks noGrp="1" noChangeAspect="1"/>
          </p:cNvPicPr>
          <p:nvPr>
            <p:ph idx="1"/>
          </p:nvPr>
        </p:nvPicPr>
        <p:blipFill>
          <a:blip r:embed="rId2"/>
          <a:stretch>
            <a:fillRect/>
          </a:stretch>
        </p:blipFill>
        <p:spPr>
          <a:xfrm>
            <a:off x="1496931" y="2400955"/>
            <a:ext cx="9198137" cy="3200677"/>
          </a:xfrm>
        </p:spPr>
      </p:pic>
    </p:spTree>
    <p:extLst>
      <p:ext uri="{BB962C8B-B14F-4D97-AF65-F5344CB8AC3E}">
        <p14:creationId xmlns:p14="http://schemas.microsoft.com/office/powerpoint/2010/main" val="1251895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Yellow paper ship leading among white ships">
            <a:extLst>
              <a:ext uri="{FF2B5EF4-FFF2-40B4-BE49-F238E27FC236}">
                <a16:creationId xmlns:a16="http://schemas.microsoft.com/office/drawing/2014/main" id="{12841B3C-AD1A-952A-AD81-06471719B36E}"/>
              </a:ext>
            </a:extLst>
          </p:cNvPr>
          <p:cNvPicPr>
            <a:picLocks noChangeAspect="1"/>
          </p:cNvPicPr>
          <p:nvPr/>
        </p:nvPicPr>
        <p:blipFill rotWithShape="1">
          <a:blip r:embed="rId2"/>
          <a:srcRect l="45375" r="1966" b="-2"/>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35BAC1-FC9E-5ACC-0CF3-7DA956B68880}"/>
              </a:ext>
            </a:extLst>
          </p:cNvPr>
          <p:cNvSpPr>
            <a:spLocks noGrp="1"/>
          </p:cNvSpPr>
          <p:nvPr>
            <p:ph type="title"/>
          </p:nvPr>
        </p:nvSpPr>
        <p:spPr>
          <a:xfrm>
            <a:off x="6115317" y="405685"/>
            <a:ext cx="5464968" cy="1559301"/>
          </a:xfrm>
        </p:spPr>
        <p:txBody>
          <a:bodyPr>
            <a:normAutofit/>
          </a:bodyPr>
          <a:lstStyle/>
          <a:p>
            <a:r>
              <a:rPr lang="en-US" sz="4000" b="0" i="0">
                <a:effectLst/>
                <a:latin typeface="Segoe UI" panose="020B0502040204020203" pitchFamily="34" charset="0"/>
              </a:rPr>
              <a:t>Cascading Order</a:t>
            </a:r>
            <a:br>
              <a:rPr lang="en-US" sz="4000" b="0" i="0">
                <a:effectLst/>
                <a:latin typeface="Segoe UI" panose="020B0502040204020203" pitchFamily="34" charset="0"/>
              </a:rPr>
            </a:br>
            <a:endParaRPr lang="en-IN" sz="4000"/>
          </a:p>
        </p:txBody>
      </p:sp>
      <p:sp>
        <p:nvSpPr>
          <p:cNvPr id="3" name="Content Placeholder 2">
            <a:extLst>
              <a:ext uri="{FF2B5EF4-FFF2-40B4-BE49-F238E27FC236}">
                <a16:creationId xmlns:a16="http://schemas.microsoft.com/office/drawing/2014/main" id="{7F12EF4F-9928-C7CD-62D4-0BB12A08CC1C}"/>
              </a:ext>
            </a:extLst>
          </p:cNvPr>
          <p:cNvSpPr>
            <a:spLocks noGrp="1"/>
          </p:cNvSpPr>
          <p:nvPr>
            <p:ph idx="1"/>
          </p:nvPr>
        </p:nvSpPr>
        <p:spPr>
          <a:xfrm>
            <a:off x="6115317" y="2743200"/>
            <a:ext cx="5247340" cy="3496878"/>
          </a:xfrm>
        </p:spPr>
        <p:txBody>
          <a:bodyPr anchor="ctr">
            <a:normAutofit/>
          </a:bodyPr>
          <a:lstStyle/>
          <a:p>
            <a:r>
              <a:rPr lang="en-US" sz="1600" b="0" i="0" dirty="0">
                <a:effectLst/>
                <a:latin typeface="Times New Roman" panose="02020603050405020304" pitchFamily="18" charset="0"/>
                <a:cs typeface="Times New Roman" panose="02020603050405020304" pitchFamily="18" charset="0"/>
              </a:rPr>
              <a:t>What style will be used when there is more than one style specified for an HTML element?</a:t>
            </a:r>
          </a:p>
          <a:p>
            <a:r>
              <a:rPr lang="en-US" sz="1600" b="0" i="0" dirty="0">
                <a:effectLst/>
                <a:latin typeface="Times New Roman" panose="02020603050405020304" pitchFamily="18" charset="0"/>
                <a:cs typeface="Times New Roman" panose="02020603050405020304" pitchFamily="18" charset="0"/>
              </a:rPr>
              <a:t>All the styles in a page will "cascade" into a new "virtual" style sheet by the following rules, where number one has the highest priority:</a:t>
            </a:r>
          </a:p>
          <a:p>
            <a:pPr>
              <a:buFont typeface="+mj-lt"/>
              <a:buAutoNum type="arabicPeriod"/>
            </a:pPr>
            <a:r>
              <a:rPr lang="en-US" sz="1600" b="0" i="0" dirty="0">
                <a:effectLst/>
                <a:latin typeface="Times New Roman" panose="02020603050405020304" pitchFamily="18" charset="0"/>
                <a:cs typeface="Times New Roman" panose="02020603050405020304" pitchFamily="18" charset="0"/>
              </a:rPr>
              <a:t>Inline style (inside an HTML element)</a:t>
            </a:r>
          </a:p>
          <a:p>
            <a:pPr>
              <a:buFont typeface="+mj-lt"/>
              <a:buAutoNum type="arabicPeriod"/>
            </a:pPr>
            <a:r>
              <a:rPr lang="en-US" sz="1600" b="0" i="0" dirty="0">
                <a:effectLst/>
                <a:latin typeface="Times New Roman" panose="02020603050405020304" pitchFamily="18" charset="0"/>
                <a:cs typeface="Times New Roman" panose="02020603050405020304" pitchFamily="18" charset="0"/>
              </a:rPr>
              <a:t>External and internal style sheets (in the head section)</a:t>
            </a:r>
          </a:p>
          <a:p>
            <a:pPr>
              <a:buFont typeface="+mj-lt"/>
              <a:buAutoNum type="arabicPeriod"/>
            </a:pPr>
            <a:r>
              <a:rPr lang="en-US" sz="1600" b="0" i="0" dirty="0">
                <a:effectLst/>
                <a:latin typeface="Times New Roman" panose="02020603050405020304" pitchFamily="18" charset="0"/>
                <a:cs typeface="Times New Roman" panose="02020603050405020304" pitchFamily="18" charset="0"/>
              </a:rPr>
              <a:t>Browser default</a:t>
            </a:r>
          </a:p>
          <a:p>
            <a:r>
              <a:rPr lang="en-US" sz="1600" b="0" i="0" dirty="0">
                <a:effectLst/>
                <a:latin typeface="Times New Roman" panose="02020603050405020304" pitchFamily="18" charset="0"/>
                <a:cs typeface="Times New Roman" panose="02020603050405020304" pitchFamily="18" charset="0"/>
              </a:rPr>
              <a:t>So, an inline style has the highest priority, and will override external and internal styles and browser defaults.</a:t>
            </a:r>
          </a:p>
          <a:p>
            <a:pPr marL="0" indent="0">
              <a:buNone/>
            </a:pPr>
            <a:br>
              <a:rPr lang="en-US" sz="1600" b="0" i="0" dirty="0">
                <a:effectLst/>
                <a:latin typeface="Verdana" panose="020B0604030504040204" pitchFamily="34" charset="0"/>
              </a:rPr>
            </a:br>
            <a:endParaRPr lang="en-IN" sz="1600" dirty="0"/>
          </a:p>
        </p:txBody>
      </p:sp>
    </p:spTree>
    <p:extLst>
      <p:ext uri="{BB962C8B-B14F-4D97-AF65-F5344CB8AC3E}">
        <p14:creationId xmlns:p14="http://schemas.microsoft.com/office/powerpoint/2010/main" val="2119565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3871A-C764-9AB4-760D-1B7EADD30AFE}"/>
              </a:ext>
            </a:extLst>
          </p:cNvPr>
          <p:cNvSpPr>
            <a:spLocks noGrp="1"/>
          </p:cNvSpPr>
          <p:nvPr>
            <p:ph type="title"/>
          </p:nvPr>
        </p:nvSpPr>
        <p:spPr/>
        <p:txBody>
          <a:bodyPr/>
          <a:lstStyle/>
          <a:p>
            <a:r>
              <a:rPr lang="en-US" dirty="0"/>
              <a:t>CSS Comments</a:t>
            </a:r>
            <a:br>
              <a:rPr lang="en-US" dirty="0"/>
            </a:br>
            <a:endParaRPr lang="en-IN" dirty="0"/>
          </a:p>
        </p:txBody>
      </p:sp>
      <p:sp>
        <p:nvSpPr>
          <p:cNvPr id="3" name="Content Placeholder 2">
            <a:extLst>
              <a:ext uri="{FF2B5EF4-FFF2-40B4-BE49-F238E27FC236}">
                <a16:creationId xmlns:a16="http://schemas.microsoft.com/office/drawing/2014/main" id="{38B13614-6CAA-9A54-2E4D-C2D90403904E}"/>
              </a:ext>
            </a:extLst>
          </p:cNvPr>
          <p:cNvSpPr>
            <a:spLocks noGrp="1"/>
          </p:cNvSpPr>
          <p:nvPr>
            <p:ph idx="1"/>
          </p:nvPr>
        </p:nvSpPr>
        <p:spPr/>
        <p:txBody>
          <a:bodyPr/>
          <a:lstStyle/>
          <a:p>
            <a:r>
              <a:rPr lang="en-US" dirty="0"/>
              <a:t>Comments are used to explain the code, and may help when you edit the </a:t>
            </a:r>
            <a:r>
              <a:rPr lang="en-US" dirty="0" err="1"/>
              <a:t>sourc</a:t>
            </a:r>
            <a:endParaRPr lang="en-US" dirty="0"/>
          </a:p>
          <a:p>
            <a:r>
              <a:rPr lang="en-US" b="0" i="0" dirty="0">
                <a:solidFill>
                  <a:srgbClr val="008000"/>
                </a:solidFill>
                <a:effectLst/>
                <a:latin typeface="Consolas" panose="020B0609020204030204" pitchFamily="49" charset="0"/>
              </a:rPr>
              <a:t>/* This is a single-line comment */</a:t>
            </a:r>
            <a:br>
              <a:rPr lang="en-US" dirty="0"/>
            </a:br>
            <a:r>
              <a:rPr lang="en-US" b="0" i="0" dirty="0">
                <a:solidFill>
                  <a:srgbClr val="A52A2A"/>
                </a:solidFill>
                <a:effectLst/>
                <a:latin typeface="Consolas" panose="020B0609020204030204" pitchFamily="49" charset="0"/>
              </a:rPr>
              <a:t>p </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color</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red</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r>
              <a:rPr lang="en-US" dirty="0"/>
              <a:t>e code at a later date.</a:t>
            </a:r>
            <a:endParaRPr lang="en-IN" dirty="0"/>
          </a:p>
        </p:txBody>
      </p:sp>
    </p:spTree>
    <p:extLst>
      <p:ext uri="{BB962C8B-B14F-4D97-AF65-F5344CB8AC3E}">
        <p14:creationId xmlns:p14="http://schemas.microsoft.com/office/powerpoint/2010/main" val="2363863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41B4E-5597-F5F0-81A3-5CEA9E896D5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FE57704-FFC6-4D96-7D3D-EE4DEE41140A}"/>
              </a:ext>
            </a:extLst>
          </p:cNvPr>
          <p:cNvPicPr>
            <a:picLocks noGrp="1" noChangeAspect="1"/>
          </p:cNvPicPr>
          <p:nvPr>
            <p:ph idx="1"/>
          </p:nvPr>
        </p:nvPicPr>
        <p:blipFill>
          <a:blip r:embed="rId2"/>
          <a:stretch>
            <a:fillRect/>
          </a:stretch>
        </p:blipFill>
        <p:spPr>
          <a:xfrm>
            <a:off x="1458828" y="2267594"/>
            <a:ext cx="9274344" cy="3467400"/>
          </a:xfrm>
        </p:spPr>
      </p:pic>
    </p:spTree>
    <p:extLst>
      <p:ext uri="{BB962C8B-B14F-4D97-AF65-F5344CB8AC3E}">
        <p14:creationId xmlns:p14="http://schemas.microsoft.com/office/powerpoint/2010/main" val="2848978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685B1-B1A6-0940-0FCD-F71F2ACD008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0F6CF16-0F97-2243-46B9-F48A8E160927}"/>
              </a:ext>
            </a:extLst>
          </p:cNvPr>
          <p:cNvPicPr>
            <a:picLocks noGrp="1" noChangeAspect="1"/>
          </p:cNvPicPr>
          <p:nvPr>
            <p:ph idx="1"/>
          </p:nvPr>
        </p:nvPicPr>
        <p:blipFill>
          <a:blip r:embed="rId2"/>
          <a:stretch>
            <a:fillRect/>
          </a:stretch>
        </p:blipFill>
        <p:spPr>
          <a:xfrm>
            <a:off x="1712189" y="1825625"/>
            <a:ext cx="8767621" cy="4351338"/>
          </a:xfrm>
        </p:spPr>
      </p:pic>
    </p:spTree>
    <p:extLst>
      <p:ext uri="{BB962C8B-B14F-4D97-AF65-F5344CB8AC3E}">
        <p14:creationId xmlns:p14="http://schemas.microsoft.com/office/powerpoint/2010/main" val="3119258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448C5-1B23-F9FD-902D-50DA7D818E0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370EAD0-4323-1C7B-49DB-421A90CF2B26}"/>
              </a:ext>
            </a:extLst>
          </p:cNvPr>
          <p:cNvPicPr>
            <a:picLocks noGrp="1" noChangeAspect="1"/>
          </p:cNvPicPr>
          <p:nvPr>
            <p:ph idx="1"/>
          </p:nvPr>
        </p:nvPicPr>
        <p:blipFill>
          <a:blip r:embed="rId2"/>
          <a:stretch>
            <a:fillRect/>
          </a:stretch>
        </p:blipFill>
        <p:spPr>
          <a:xfrm>
            <a:off x="1493121" y="2183766"/>
            <a:ext cx="9205758" cy="3635055"/>
          </a:xfrm>
        </p:spPr>
      </p:pic>
    </p:spTree>
    <p:extLst>
      <p:ext uri="{BB962C8B-B14F-4D97-AF65-F5344CB8AC3E}">
        <p14:creationId xmlns:p14="http://schemas.microsoft.com/office/powerpoint/2010/main" val="1144492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7F7EF-F2D7-43D5-7E7C-DDB529A3BAC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A1A73A8-79B8-CA76-960E-07C9B260FA02}"/>
              </a:ext>
            </a:extLst>
          </p:cNvPr>
          <p:cNvPicPr>
            <a:picLocks noGrp="1" noChangeAspect="1"/>
          </p:cNvPicPr>
          <p:nvPr>
            <p:ph idx="1"/>
          </p:nvPr>
        </p:nvPicPr>
        <p:blipFill>
          <a:blip r:embed="rId2"/>
          <a:stretch>
            <a:fillRect/>
          </a:stretch>
        </p:blipFill>
        <p:spPr>
          <a:xfrm>
            <a:off x="1535035" y="2092318"/>
            <a:ext cx="9121930" cy="3817951"/>
          </a:xfrm>
        </p:spPr>
      </p:pic>
    </p:spTree>
    <p:extLst>
      <p:ext uri="{BB962C8B-B14F-4D97-AF65-F5344CB8AC3E}">
        <p14:creationId xmlns:p14="http://schemas.microsoft.com/office/powerpoint/2010/main" val="1606440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5FFC-8F1D-E105-242F-99375CEE341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14CEF10-7DE0-2A3D-53C5-CE56FC242485}"/>
              </a:ext>
            </a:extLst>
          </p:cNvPr>
          <p:cNvPicPr>
            <a:picLocks noGrp="1" noChangeAspect="1"/>
          </p:cNvPicPr>
          <p:nvPr>
            <p:ph idx="1"/>
          </p:nvPr>
        </p:nvPicPr>
        <p:blipFill>
          <a:blip r:embed="rId2"/>
          <a:stretch>
            <a:fillRect/>
          </a:stretch>
        </p:blipFill>
        <p:spPr>
          <a:xfrm>
            <a:off x="2068481" y="1875130"/>
            <a:ext cx="8055038" cy="4252328"/>
          </a:xfrm>
        </p:spPr>
      </p:pic>
    </p:spTree>
    <p:extLst>
      <p:ext uri="{BB962C8B-B14F-4D97-AF65-F5344CB8AC3E}">
        <p14:creationId xmlns:p14="http://schemas.microsoft.com/office/powerpoint/2010/main" val="27057063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6CDD2B-C9C7-AA98-2780-9AAFC4575A3D}"/>
              </a:ext>
            </a:extLst>
          </p:cNvPr>
          <p:cNvSpPr>
            <a:spLocks noGrp="1"/>
          </p:cNvSpPr>
          <p:nvPr>
            <p:ph type="title"/>
          </p:nvPr>
        </p:nvSpPr>
        <p:spPr/>
        <p:txBody>
          <a:bodyPr/>
          <a:lstStyle/>
          <a:p>
            <a:r>
              <a:rPr lang="en-IN" dirty="0"/>
              <a:t>CSS Class Selector</a:t>
            </a:r>
          </a:p>
        </p:txBody>
      </p:sp>
      <p:sp>
        <p:nvSpPr>
          <p:cNvPr id="5" name="Text Placeholder 4">
            <a:extLst>
              <a:ext uri="{FF2B5EF4-FFF2-40B4-BE49-F238E27FC236}">
                <a16:creationId xmlns:a16="http://schemas.microsoft.com/office/drawing/2014/main" id="{C666314F-184A-CBC7-4D5C-189975FD5AB2}"/>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948338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577C3-6267-0267-F4CA-84BCB5A9BCB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34F779D-1C39-DDC6-09E8-D7C146C2FE5F}"/>
              </a:ext>
            </a:extLst>
          </p:cNvPr>
          <p:cNvPicPr>
            <a:picLocks noGrp="1" noChangeAspect="1"/>
          </p:cNvPicPr>
          <p:nvPr>
            <p:ph idx="1"/>
          </p:nvPr>
        </p:nvPicPr>
        <p:blipFill>
          <a:blip r:embed="rId2"/>
          <a:stretch>
            <a:fillRect/>
          </a:stretch>
        </p:blipFill>
        <p:spPr>
          <a:xfrm>
            <a:off x="1828430" y="2591472"/>
            <a:ext cx="8535140" cy="2819644"/>
          </a:xfrm>
        </p:spPr>
      </p:pic>
    </p:spTree>
    <p:extLst>
      <p:ext uri="{BB962C8B-B14F-4D97-AF65-F5344CB8AC3E}">
        <p14:creationId xmlns:p14="http://schemas.microsoft.com/office/powerpoint/2010/main" val="4271484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89693D-3297-CA65-1148-A8C297B15D6F}"/>
              </a:ext>
            </a:extLst>
          </p:cNvPr>
          <p:cNvSpPr>
            <a:spLocks noGrp="1"/>
          </p:cNvSpPr>
          <p:nvPr>
            <p:ph idx="1"/>
          </p:nvPr>
        </p:nvSpPr>
        <p:spPr>
          <a:xfrm>
            <a:off x="838200" y="559837"/>
            <a:ext cx="10515600" cy="5617126"/>
          </a:xfrm>
        </p:spPr>
        <p:txBody>
          <a:bodyPr>
            <a:normAutofit fontScale="77500" lnSpcReduction="20000"/>
          </a:bodyPr>
          <a:lstStyle/>
          <a:p>
            <a:pPr marL="0" indent="0">
              <a:buNone/>
            </a:pPr>
            <a:r>
              <a:rPr lang="en-IN" dirty="0"/>
              <a:t>&lt;!DOCTYPE html&gt;</a:t>
            </a:r>
          </a:p>
          <a:p>
            <a:pPr marL="0" indent="0">
              <a:buNone/>
            </a:pPr>
            <a:r>
              <a:rPr lang="en-IN" dirty="0"/>
              <a:t>&lt;html&gt;</a:t>
            </a:r>
          </a:p>
          <a:p>
            <a:pPr marL="0" indent="0">
              <a:buNone/>
            </a:pPr>
            <a:r>
              <a:rPr lang="en-IN" dirty="0"/>
              <a:t>&lt;head&gt;</a:t>
            </a:r>
          </a:p>
          <a:p>
            <a:pPr marL="0" indent="0">
              <a:buNone/>
            </a:pPr>
            <a:r>
              <a:rPr lang="en-IN" dirty="0"/>
              <a:t>&lt;style&gt;</a:t>
            </a:r>
          </a:p>
          <a:p>
            <a:pPr marL="0" indent="0">
              <a:buNone/>
            </a:pPr>
            <a:r>
              <a:rPr lang="en-IN" dirty="0" err="1"/>
              <a:t>p.dotted</a:t>
            </a:r>
            <a:r>
              <a:rPr lang="en-IN" dirty="0"/>
              <a:t> {border-style: dotted;}</a:t>
            </a:r>
          </a:p>
          <a:p>
            <a:pPr marL="0" indent="0">
              <a:buNone/>
            </a:pPr>
            <a:r>
              <a:rPr lang="en-IN" dirty="0" err="1"/>
              <a:t>p.dashed</a:t>
            </a:r>
            <a:r>
              <a:rPr lang="en-IN" dirty="0"/>
              <a:t> {border-style: dashed;}</a:t>
            </a:r>
          </a:p>
          <a:p>
            <a:pPr marL="0" indent="0">
              <a:buNone/>
            </a:pPr>
            <a:r>
              <a:rPr lang="en-IN" dirty="0"/>
              <a:t>&lt;/style&gt;</a:t>
            </a:r>
          </a:p>
          <a:p>
            <a:pPr marL="0" indent="0">
              <a:buNone/>
            </a:pPr>
            <a:r>
              <a:rPr lang="en-IN" dirty="0"/>
              <a:t>&lt;/head&gt;</a:t>
            </a:r>
          </a:p>
          <a:p>
            <a:pPr marL="0" indent="0">
              <a:buNone/>
            </a:pPr>
            <a:r>
              <a:rPr lang="en-IN" dirty="0"/>
              <a:t>&lt;body&gt;</a:t>
            </a:r>
          </a:p>
          <a:p>
            <a:pPr marL="0" indent="0">
              <a:buNone/>
            </a:pPr>
            <a:r>
              <a:rPr lang="en-IN" dirty="0"/>
              <a:t>&lt;h2&gt;The border-style Property&lt;/h2&gt;</a:t>
            </a:r>
          </a:p>
          <a:p>
            <a:pPr marL="0" indent="0">
              <a:buNone/>
            </a:pPr>
            <a:r>
              <a:rPr lang="en-IN" dirty="0"/>
              <a:t>&lt;p&gt;This property specifies what kind of border to display:&lt;/p&gt;</a:t>
            </a:r>
          </a:p>
          <a:p>
            <a:pPr marL="0" indent="0">
              <a:buNone/>
            </a:pPr>
            <a:r>
              <a:rPr lang="en-IN" dirty="0"/>
              <a:t>&lt;p class="dotted"&gt;A dotted border.&lt;/p&gt;</a:t>
            </a:r>
          </a:p>
          <a:p>
            <a:pPr marL="0" indent="0">
              <a:buNone/>
            </a:pPr>
            <a:r>
              <a:rPr lang="en-IN" dirty="0"/>
              <a:t>&lt;p class="dashed"&gt;A dashed border.&lt;/p&gt;</a:t>
            </a:r>
          </a:p>
          <a:p>
            <a:pPr marL="0" indent="0">
              <a:buNone/>
            </a:pPr>
            <a:r>
              <a:rPr lang="en-IN" dirty="0"/>
              <a:t>&lt;/body&gt;</a:t>
            </a:r>
          </a:p>
          <a:p>
            <a:pPr marL="0" indent="0">
              <a:buNone/>
            </a:pPr>
            <a:r>
              <a:rPr lang="en-IN" dirty="0"/>
              <a:t>&lt;/html&gt;</a:t>
            </a:r>
          </a:p>
          <a:p>
            <a:endParaRPr lang="en-IN" dirty="0"/>
          </a:p>
        </p:txBody>
      </p:sp>
    </p:spTree>
    <p:extLst>
      <p:ext uri="{BB962C8B-B14F-4D97-AF65-F5344CB8AC3E}">
        <p14:creationId xmlns:p14="http://schemas.microsoft.com/office/powerpoint/2010/main" val="2558689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7B4F22-27D3-0751-A9AC-5BFC224B77F5}"/>
              </a:ext>
            </a:extLst>
          </p:cNvPr>
          <p:cNvSpPr>
            <a:spLocks noGrp="1"/>
          </p:cNvSpPr>
          <p:nvPr>
            <p:ph idx="1"/>
          </p:nvPr>
        </p:nvSpPr>
        <p:spPr>
          <a:xfrm>
            <a:off x="838200" y="223520"/>
            <a:ext cx="10515600" cy="5953443"/>
          </a:xfrm>
        </p:spPr>
        <p:txBody>
          <a:bodyPr>
            <a:normAutofit fontScale="92500" lnSpcReduction="10000"/>
          </a:bodyPr>
          <a:lstStyle/>
          <a:p>
            <a:pPr marL="0" indent="0">
              <a:buNone/>
            </a:pPr>
            <a:r>
              <a:rPr lang="en-IN" dirty="0"/>
              <a:t>&lt;!DOCTYPE html&gt;</a:t>
            </a:r>
          </a:p>
          <a:p>
            <a:pPr marL="0" indent="0">
              <a:buNone/>
            </a:pPr>
            <a:r>
              <a:rPr lang="en-IN" dirty="0"/>
              <a:t>&lt;html&gt;</a:t>
            </a:r>
          </a:p>
          <a:p>
            <a:pPr marL="0" indent="0">
              <a:buNone/>
            </a:pPr>
            <a:r>
              <a:rPr lang="en-IN" dirty="0"/>
              <a:t>&lt;head&gt;</a:t>
            </a:r>
          </a:p>
          <a:p>
            <a:pPr marL="0" indent="0">
              <a:buNone/>
            </a:pPr>
            <a:r>
              <a:rPr lang="en-IN" dirty="0"/>
              <a:t>&lt;style&gt;</a:t>
            </a:r>
          </a:p>
          <a:p>
            <a:pPr marL="0" indent="0">
              <a:buNone/>
            </a:pPr>
            <a:r>
              <a:rPr lang="en-IN" dirty="0"/>
              <a:t>h1.a{border-style: dotted;}</a:t>
            </a:r>
          </a:p>
          <a:p>
            <a:pPr marL="0" indent="0">
              <a:buNone/>
            </a:pPr>
            <a:r>
              <a:rPr lang="en-IN" dirty="0"/>
              <a:t>h1.b{border-style: dashed;}</a:t>
            </a:r>
          </a:p>
          <a:p>
            <a:pPr marL="0" indent="0">
              <a:buNone/>
            </a:pPr>
            <a:r>
              <a:rPr lang="en-IN" dirty="0"/>
              <a:t>h3.c{border-style: dashed;}</a:t>
            </a:r>
          </a:p>
          <a:p>
            <a:pPr marL="0" indent="0">
              <a:buNone/>
            </a:pPr>
            <a:r>
              <a:rPr lang="en-IN" dirty="0"/>
              <a:t>h3.d{border-style: dashed;}</a:t>
            </a:r>
          </a:p>
          <a:p>
            <a:pPr marL="0" indent="0">
              <a:buNone/>
            </a:pPr>
            <a:r>
              <a:rPr lang="en-IN" dirty="0"/>
              <a:t>h5.e{border-style: dashed;}</a:t>
            </a:r>
          </a:p>
          <a:p>
            <a:pPr marL="0" indent="0">
              <a:buNone/>
            </a:pPr>
            <a:r>
              <a:rPr lang="en-IN" dirty="0"/>
              <a:t>h5.f{border-style: dashed;}</a:t>
            </a:r>
          </a:p>
          <a:p>
            <a:pPr marL="0" indent="0">
              <a:buNone/>
            </a:pPr>
            <a:endParaRPr lang="en-IN" dirty="0"/>
          </a:p>
          <a:p>
            <a:pPr marL="0" indent="0">
              <a:buNone/>
            </a:pPr>
            <a:r>
              <a:rPr lang="en-IN" dirty="0"/>
              <a:t>&lt;/style&gt;</a:t>
            </a:r>
          </a:p>
          <a:p>
            <a:pPr marL="0" indent="0">
              <a:buNone/>
            </a:pPr>
            <a:r>
              <a:rPr lang="en-IN" dirty="0"/>
              <a:t>&lt;/head&gt;</a:t>
            </a:r>
          </a:p>
          <a:p>
            <a:endParaRPr lang="en-IN" dirty="0"/>
          </a:p>
          <a:p>
            <a:endParaRPr lang="en-IN" dirty="0"/>
          </a:p>
        </p:txBody>
      </p:sp>
    </p:spTree>
    <p:extLst>
      <p:ext uri="{BB962C8B-B14F-4D97-AF65-F5344CB8AC3E}">
        <p14:creationId xmlns:p14="http://schemas.microsoft.com/office/powerpoint/2010/main" val="10235555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54B94-7B29-F04D-30E5-E28D04C02A2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E29C7B2-4B59-E3B4-B8CF-96D686519656}"/>
              </a:ext>
            </a:extLst>
          </p:cNvPr>
          <p:cNvPicPr>
            <a:picLocks noGrp="1" noChangeAspect="1"/>
          </p:cNvPicPr>
          <p:nvPr>
            <p:ph idx="1"/>
          </p:nvPr>
        </p:nvPicPr>
        <p:blipFill>
          <a:blip r:embed="rId2"/>
          <a:stretch>
            <a:fillRect/>
          </a:stretch>
        </p:blipFill>
        <p:spPr>
          <a:xfrm>
            <a:off x="2124876" y="1825625"/>
            <a:ext cx="7942248" cy="4351338"/>
          </a:xfrm>
        </p:spPr>
      </p:pic>
    </p:spTree>
    <p:extLst>
      <p:ext uri="{BB962C8B-B14F-4D97-AF65-F5344CB8AC3E}">
        <p14:creationId xmlns:p14="http://schemas.microsoft.com/office/powerpoint/2010/main" val="6419412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622136-C8BA-5A22-1162-CFB19C5988F0}"/>
              </a:ext>
            </a:extLst>
          </p:cNvPr>
          <p:cNvSpPr>
            <a:spLocks noGrp="1"/>
          </p:cNvSpPr>
          <p:nvPr>
            <p:ph idx="1"/>
          </p:nvPr>
        </p:nvSpPr>
        <p:spPr>
          <a:xfrm>
            <a:off x="838200" y="307910"/>
            <a:ext cx="10515600" cy="5869053"/>
          </a:xfrm>
        </p:spPr>
        <p:txBody>
          <a:bodyPr>
            <a:normAutofit fontScale="62500" lnSpcReduction="20000"/>
          </a:bodyPr>
          <a:lstStyle/>
          <a:p>
            <a:pPr marL="0" indent="0">
              <a:buNone/>
            </a:pPr>
            <a:r>
              <a:rPr lang="en-IN" dirty="0"/>
              <a:t>&lt;!DOCTYPE html&gt;</a:t>
            </a:r>
          </a:p>
          <a:p>
            <a:pPr marL="0" indent="0">
              <a:buNone/>
            </a:pPr>
            <a:r>
              <a:rPr lang="en-IN" dirty="0"/>
              <a:t>&lt;html&gt;</a:t>
            </a:r>
          </a:p>
          <a:p>
            <a:pPr marL="0" indent="0">
              <a:buNone/>
            </a:pPr>
            <a:r>
              <a:rPr lang="en-IN" dirty="0"/>
              <a:t>&lt;head&gt;</a:t>
            </a:r>
          </a:p>
          <a:p>
            <a:pPr marL="0" indent="0">
              <a:buNone/>
            </a:pPr>
            <a:r>
              <a:rPr lang="en-IN" dirty="0"/>
              <a:t>&lt;style&gt;</a:t>
            </a:r>
          </a:p>
          <a:p>
            <a:pPr marL="0" indent="0">
              <a:buNone/>
            </a:pPr>
            <a:r>
              <a:rPr lang="en-IN" dirty="0"/>
              <a:t>p.one {</a:t>
            </a:r>
          </a:p>
          <a:p>
            <a:pPr marL="0" indent="0">
              <a:buNone/>
            </a:pPr>
            <a:r>
              <a:rPr lang="en-IN" dirty="0"/>
              <a:t>  border-style: solid;</a:t>
            </a:r>
          </a:p>
          <a:p>
            <a:pPr marL="0" indent="0">
              <a:buNone/>
            </a:pPr>
            <a:r>
              <a:rPr lang="en-IN" dirty="0"/>
              <a:t>  border-width: 5px;</a:t>
            </a:r>
          </a:p>
          <a:p>
            <a:pPr marL="0" indent="0">
              <a:buNone/>
            </a:pPr>
            <a:r>
              <a:rPr lang="en-IN" dirty="0"/>
              <a:t>}</a:t>
            </a:r>
          </a:p>
          <a:p>
            <a:pPr marL="0" indent="0">
              <a:buNone/>
            </a:pPr>
            <a:r>
              <a:rPr lang="en-IN" dirty="0"/>
              <a:t>&lt;/style&gt;</a:t>
            </a:r>
          </a:p>
          <a:p>
            <a:pPr marL="0" indent="0">
              <a:buNone/>
            </a:pPr>
            <a:r>
              <a:rPr lang="en-IN" dirty="0"/>
              <a:t>&lt;/head&gt;</a:t>
            </a:r>
          </a:p>
          <a:p>
            <a:pPr marL="0" indent="0">
              <a:buNone/>
            </a:pPr>
            <a:r>
              <a:rPr lang="en-IN" dirty="0"/>
              <a:t>&lt;body&gt;</a:t>
            </a:r>
          </a:p>
          <a:p>
            <a:pPr marL="0" indent="0">
              <a:buNone/>
            </a:pPr>
            <a:r>
              <a:rPr lang="en-IN" dirty="0"/>
              <a:t>&lt;h2&gt;The border-width Property&lt;/h2&gt;</a:t>
            </a:r>
          </a:p>
          <a:p>
            <a:pPr marL="0" indent="0">
              <a:buNone/>
            </a:pPr>
            <a:r>
              <a:rPr lang="en-IN" dirty="0"/>
              <a:t>&lt;p&gt;This property specifies the width of the four borders:&lt;/p&gt;</a:t>
            </a:r>
          </a:p>
          <a:p>
            <a:pPr marL="0" indent="0">
              <a:buNone/>
            </a:pPr>
            <a:r>
              <a:rPr lang="en-IN" dirty="0"/>
              <a:t>&lt;p class="one"&gt;Some text.&lt;/p&gt;</a:t>
            </a:r>
          </a:p>
          <a:p>
            <a:pPr marL="0" indent="0">
              <a:buNone/>
            </a:pPr>
            <a:r>
              <a:rPr lang="en-IN" dirty="0"/>
              <a:t>&lt;p&gt;&lt;b&gt;Note:&lt;/b&gt; The "border-width" property does not work if it is used alone. </a:t>
            </a:r>
          </a:p>
          <a:p>
            <a:pPr marL="0" indent="0">
              <a:buNone/>
            </a:pPr>
            <a:r>
              <a:rPr lang="en-IN" dirty="0"/>
              <a:t>Always specify the "border-style" property to set the borders first.&lt;/p&gt;</a:t>
            </a:r>
          </a:p>
          <a:p>
            <a:pPr marL="0" indent="0">
              <a:buNone/>
            </a:pPr>
            <a:r>
              <a:rPr lang="en-IN" dirty="0"/>
              <a:t>&lt;/body&gt;</a:t>
            </a:r>
          </a:p>
          <a:p>
            <a:pPr marL="0" indent="0">
              <a:buNone/>
            </a:pPr>
            <a:r>
              <a:rPr lang="en-IN" dirty="0"/>
              <a:t>&lt;/html&gt;</a:t>
            </a:r>
          </a:p>
          <a:p>
            <a:endParaRPr lang="en-IN" dirty="0"/>
          </a:p>
          <a:p>
            <a:endParaRPr lang="en-IN" dirty="0"/>
          </a:p>
          <a:p>
            <a:endParaRPr lang="en-IN" dirty="0"/>
          </a:p>
        </p:txBody>
      </p:sp>
    </p:spTree>
    <p:extLst>
      <p:ext uri="{BB962C8B-B14F-4D97-AF65-F5344CB8AC3E}">
        <p14:creationId xmlns:p14="http://schemas.microsoft.com/office/powerpoint/2010/main" val="38651547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B73FB3-FE42-3C7E-E5CC-4BB3BD71E34C}"/>
              </a:ext>
            </a:extLst>
          </p:cNvPr>
          <p:cNvSpPr>
            <a:spLocks noGrp="1"/>
          </p:cNvSpPr>
          <p:nvPr>
            <p:ph type="ctrTitle"/>
          </p:nvPr>
        </p:nvSpPr>
        <p:spPr/>
        <p:txBody>
          <a:bodyPr/>
          <a:lstStyle/>
          <a:p>
            <a:r>
              <a:rPr lang="en-IN" dirty="0"/>
              <a:t>ID Selector</a:t>
            </a:r>
          </a:p>
        </p:txBody>
      </p:sp>
      <p:sp>
        <p:nvSpPr>
          <p:cNvPr id="5" name="Subtitle 4">
            <a:extLst>
              <a:ext uri="{FF2B5EF4-FFF2-40B4-BE49-F238E27FC236}">
                <a16:creationId xmlns:a16="http://schemas.microsoft.com/office/drawing/2014/main" id="{09FC1A90-8968-E6E3-F12F-BC686E111E0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163428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D92422-911F-C573-582D-B416C405BFA7}"/>
              </a:ext>
            </a:extLst>
          </p:cNvPr>
          <p:cNvSpPr>
            <a:spLocks noGrp="1"/>
          </p:cNvSpPr>
          <p:nvPr>
            <p:ph idx="1"/>
          </p:nvPr>
        </p:nvSpPr>
        <p:spPr>
          <a:xfrm>
            <a:off x="315686" y="276743"/>
            <a:ext cx="10515600" cy="5405599"/>
          </a:xfrm>
        </p:spPr>
        <p:txBody>
          <a:bodyPr>
            <a:noAutofit/>
          </a:bodyPr>
          <a:lstStyle/>
          <a:p>
            <a:pPr marL="0" indent="0">
              <a:buNone/>
            </a:pPr>
            <a:r>
              <a:rPr lang="en-IN" sz="1600" dirty="0"/>
              <a:t>&lt;!DOCTYPE html&gt;</a:t>
            </a:r>
          </a:p>
          <a:p>
            <a:pPr marL="0" indent="0">
              <a:buNone/>
            </a:pPr>
            <a:r>
              <a:rPr lang="en-IN" sz="1600" dirty="0"/>
              <a:t>&lt;html&gt;</a:t>
            </a:r>
          </a:p>
          <a:p>
            <a:pPr marL="0" indent="0">
              <a:buNone/>
            </a:pPr>
            <a:r>
              <a:rPr lang="en-IN" sz="1600" dirty="0"/>
              <a:t>&lt;head&gt;</a:t>
            </a:r>
          </a:p>
          <a:p>
            <a:pPr marL="0" indent="0">
              <a:buNone/>
            </a:pPr>
            <a:r>
              <a:rPr lang="en-IN" sz="1600" dirty="0"/>
              <a:t>&lt;style&gt;</a:t>
            </a:r>
          </a:p>
          <a:p>
            <a:pPr marL="0" indent="0">
              <a:buNone/>
            </a:pPr>
            <a:r>
              <a:rPr lang="en-IN" sz="1600" dirty="0"/>
              <a:t>#para1 {</a:t>
            </a:r>
          </a:p>
          <a:p>
            <a:pPr marL="0" indent="0">
              <a:buNone/>
            </a:pPr>
            <a:r>
              <a:rPr lang="en-IN" sz="1600" dirty="0"/>
              <a:t>  text-align: </a:t>
            </a:r>
            <a:r>
              <a:rPr lang="en-IN" sz="1600" dirty="0" err="1"/>
              <a:t>center</a:t>
            </a:r>
            <a:r>
              <a:rPr lang="en-IN" sz="1600" dirty="0"/>
              <a:t>;</a:t>
            </a:r>
          </a:p>
          <a:p>
            <a:pPr marL="0" indent="0">
              <a:buNone/>
            </a:pPr>
            <a:r>
              <a:rPr lang="en-IN" sz="1600" dirty="0"/>
              <a:t>  </a:t>
            </a:r>
            <a:r>
              <a:rPr lang="en-IN" sz="1600" dirty="0" err="1"/>
              <a:t>color</a:t>
            </a:r>
            <a:r>
              <a:rPr lang="en-IN" sz="1600" dirty="0"/>
              <a:t>: red;</a:t>
            </a:r>
          </a:p>
          <a:p>
            <a:pPr marL="0" indent="0">
              <a:buNone/>
            </a:pPr>
            <a:r>
              <a:rPr lang="en-IN" sz="1600" dirty="0"/>
              <a:t>}</a:t>
            </a:r>
          </a:p>
          <a:p>
            <a:pPr marL="0" indent="0">
              <a:buNone/>
            </a:pPr>
            <a:r>
              <a:rPr lang="en-IN" sz="1600" dirty="0"/>
              <a:t>&lt;/style&gt;</a:t>
            </a:r>
          </a:p>
          <a:p>
            <a:pPr marL="0" indent="0">
              <a:buNone/>
            </a:pPr>
            <a:r>
              <a:rPr lang="en-IN" sz="1600" dirty="0"/>
              <a:t>&lt;/head&gt;</a:t>
            </a:r>
          </a:p>
          <a:p>
            <a:pPr marL="0" indent="0">
              <a:buNone/>
            </a:pPr>
            <a:r>
              <a:rPr lang="en-IN" sz="1600" dirty="0"/>
              <a:t>&lt;body&gt;</a:t>
            </a:r>
          </a:p>
          <a:p>
            <a:pPr marL="0" indent="0">
              <a:buNone/>
            </a:pPr>
            <a:r>
              <a:rPr lang="en-IN" sz="1600" dirty="0"/>
              <a:t>&lt;p id="para1"&gt;Hello World!&lt;/p&gt;</a:t>
            </a:r>
          </a:p>
          <a:p>
            <a:pPr marL="0" indent="0">
              <a:buNone/>
            </a:pPr>
            <a:r>
              <a:rPr lang="en-IN" sz="1600" dirty="0"/>
              <a:t>&lt;p&gt;This paragraph is not affected by the style.&lt;/p&gt;</a:t>
            </a:r>
          </a:p>
          <a:p>
            <a:pPr marL="0" indent="0">
              <a:buNone/>
            </a:pPr>
            <a:endParaRPr lang="en-IN" sz="1600" dirty="0"/>
          </a:p>
          <a:p>
            <a:pPr marL="0" indent="0">
              <a:buNone/>
            </a:pPr>
            <a:r>
              <a:rPr lang="en-IN" sz="1600" dirty="0"/>
              <a:t>&lt;/body&gt;</a:t>
            </a:r>
          </a:p>
          <a:p>
            <a:pPr marL="0" indent="0">
              <a:buNone/>
            </a:pPr>
            <a:r>
              <a:rPr lang="en-IN" sz="1600" dirty="0"/>
              <a:t>&lt;/html&gt;</a:t>
            </a:r>
          </a:p>
          <a:p>
            <a:endParaRPr lang="en-IN" sz="1600" dirty="0"/>
          </a:p>
          <a:p>
            <a:endParaRPr lang="en-IN" sz="1600" dirty="0"/>
          </a:p>
        </p:txBody>
      </p:sp>
    </p:spTree>
    <p:extLst>
      <p:ext uri="{BB962C8B-B14F-4D97-AF65-F5344CB8AC3E}">
        <p14:creationId xmlns:p14="http://schemas.microsoft.com/office/powerpoint/2010/main" val="20393115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2284E4-DCA4-B084-B5B5-25C171A815B3}"/>
              </a:ext>
            </a:extLst>
          </p:cNvPr>
          <p:cNvSpPr>
            <a:spLocks noGrp="1"/>
          </p:cNvSpPr>
          <p:nvPr>
            <p:ph idx="1"/>
          </p:nvPr>
        </p:nvSpPr>
        <p:spPr>
          <a:xfrm>
            <a:off x="838200" y="243840"/>
            <a:ext cx="10515600" cy="5933123"/>
          </a:xfrm>
        </p:spPr>
        <p:txBody>
          <a:bodyPr>
            <a:normAutofit fontScale="62500" lnSpcReduction="20000"/>
          </a:bodyPr>
          <a:lstStyle/>
          <a:p>
            <a:pPr marL="0" indent="0">
              <a:buNone/>
            </a:pPr>
            <a:r>
              <a:rPr lang="en-IN" sz="2800" dirty="0"/>
              <a:t>&lt;!DOCTYPE html&gt;</a:t>
            </a:r>
          </a:p>
          <a:p>
            <a:pPr marL="0" indent="0">
              <a:buNone/>
            </a:pPr>
            <a:r>
              <a:rPr lang="en-IN" sz="2800" dirty="0"/>
              <a:t>&lt;html&gt;</a:t>
            </a:r>
          </a:p>
          <a:p>
            <a:pPr marL="0" indent="0">
              <a:buNone/>
            </a:pPr>
            <a:r>
              <a:rPr lang="en-IN" sz="2800" dirty="0"/>
              <a:t>&lt;head&gt;</a:t>
            </a:r>
          </a:p>
          <a:p>
            <a:pPr marL="0" indent="0">
              <a:buNone/>
            </a:pPr>
            <a:r>
              <a:rPr lang="en-IN" sz="2800" dirty="0"/>
              <a:t>&lt;style&gt;</a:t>
            </a:r>
          </a:p>
          <a:p>
            <a:pPr marL="0" indent="0">
              <a:buNone/>
            </a:pPr>
            <a:r>
              <a:rPr lang="en-IN" sz="2800" dirty="0"/>
              <a:t>#header {</a:t>
            </a:r>
          </a:p>
          <a:p>
            <a:pPr marL="0" indent="0">
              <a:buNone/>
            </a:pPr>
            <a:r>
              <a:rPr lang="en-IN" sz="2800" dirty="0"/>
              <a:t>  text-align: </a:t>
            </a:r>
            <a:r>
              <a:rPr lang="en-IN" sz="2800" dirty="0" err="1"/>
              <a:t>center</a:t>
            </a:r>
            <a:r>
              <a:rPr lang="en-IN" sz="2800" dirty="0"/>
              <a:t>;</a:t>
            </a:r>
          </a:p>
          <a:p>
            <a:pPr marL="0" indent="0">
              <a:buNone/>
            </a:pPr>
            <a:r>
              <a:rPr lang="en-IN" sz="2800" dirty="0"/>
              <a:t>  </a:t>
            </a:r>
            <a:r>
              <a:rPr lang="en-IN" sz="2800" dirty="0" err="1"/>
              <a:t>color</a:t>
            </a:r>
            <a:r>
              <a:rPr lang="en-IN" sz="2800" dirty="0"/>
              <a:t>: red;</a:t>
            </a:r>
          </a:p>
          <a:p>
            <a:pPr marL="0" indent="0">
              <a:buNone/>
            </a:pPr>
            <a:r>
              <a:rPr lang="en-IN" sz="2800" dirty="0"/>
              <a:t>}</a:t>
            </a:r>
          </a:p>
          <a:p>
            <a:pPr marL="0" indent="0">
              <a:buNone/>
            </a:pPr>
            <a:r>
              <a:rPr lang="en-IN" sz="2800" dirty="0"/>
              <a:t>#footer {</a:t>
            </a:r>
          </a:p>
          <a:p>
            <a:pPr marL="0" indent="0">
              <a:buNone/>
            </a:pPr>
            <a:r>
              <a:rPr lang="en-IN" sz="2800" dirty="0"/>
              <a:t>  text-align: </a:t>
            </a:r>
            <a:r>
              <a:rPr lang="en-IN" sz="2800" dirty="0" err="1"/>
              <a:t>center</a:t>
            </a:r>
            <a:r>
              <a:rPr lang="en-IN" sz="2800" dirty="0"/>
              <a:t>;</a:t>
            </a:r>
          </a:p>
          <a:p>
            <a:pPr marL="0" indent="0">
              <a:buNone/>
            </a:pPr>
            <a:r>
              <a:rPr lang="en-IN" sz="2800" dirty="0"/>
              <a:t>  </a:t>
            </a:r>
            <a:r>
              <a:rPr lang="en-IN" sz="2800" dirty="0" err="1"/>
              <a:t>color</a:t>
            </a:r>
            <a:r>
              <a:rPr lang="en-IN" sz="2800" dirty="0"/>
              <a:t>: red;</a:t>
            </a:r>
          </a:p>
          <a:p>
            <a:pPr marL="0" indent="0">
              <a:buNone/>
            </a:pPr>
            <a:r>
              <a:rPr lang="en-IN" sz="2800" dirty="0"/>
              <a:t>}</a:t>
            </a:r>
          </a:p>
          <a:p>
            <a:pPr marL="0" indent="0">
              <a:buNone/>
            </a:pPr>
            <a:r>
              <a:rPr lang="en-IN" sz="2800"/>
              <a:t>#main </a:t>
            </a:r>
            <a:r>
              <a:rPr lang="en-IN" sz="2800" dirty="0"/>
              <a:t>{</a:t>
            </a:r>
          </a:p>
          <a:p>
            <a:pPr marL="0" indent="0">
              <a:buNone/>
            </a:pPr>
            <a:r>
              <a:rPr lang="en-IN" sz="2800" dirty="0"/>
              <a:t>  text-align: </a:t>
            </a:r>
            <a:r>
              <a:rPr lang="en-IN" sz="2800" dirty="0" err="1"/>
              <a:t>center</a:t>
            </a:r>
            <a:r>
              <a:rPr lang="en-IN" sz="2800" dirty="0"/>
              <a:t>;</a:t>
            </a:r>
          </a:p>
          <a:p>
            <a:pPr marL="0" indent="0">
              <a:buNone/>
            </a:pPr>
            <a:r>
              <a:rPr lang="en-IN" sz="2800" dirty="0"/>
              <a:t>  </a:t>
            </a:r>
            <a:r>
              <a:rPr lang="en-IN" sz="2800" dirty="0" err="1"/>
              <a:t>color</a:t>
            </a:r>
            <a:r>
              <a:rPr lang="en-IN" sz="2800" dirty="0"/>
              <a:t>: red;</a:t>
            </a:r>
          </a:p>
          <a:p>
            <a:pPr marL="0" indent="0">
              <a:buNone/>
            </a:pPr>
            <a:r>
              <a:rPr lang="en-IN" sz="2800" dirty="0"/>
              <a:t>}</a:t>
            </a:r>
          </a:p>
          <a:p>
            <a:pPr marL="0" indent="0">
              <a:buNone/>
            </a:pPr>
            <a:endParaRPr lang="en-IN" sz="2800" dirty="0"/>
          </a:p>
          <a:p>
            <a:pPr marL="0" indent="0">
              <a:buNone/>
            </a:pPr>
            <a:r>
              <a:rPr lang="en-IN" sz="2800" dirty="0"/>
              <a:t>&lt;/style&gt;</a:t>
            </a:r>
          </a:p>
          <a:p>
            <a:endParaRPr lang="en-IN" sz="2800" dirty="0"/>
          </a:p>
          <a:p>
            <a:endParaRPr lang="en-IN" sz="2800" dirty="0"/>
          </a:p>
          <a:p>
            <a:endParaRPr lang="en-IN" dirty="0"/>
          </a:p>
        </p:txBody>
      </p:sp>
    </p:spTree>
    <p:extLst>
      <p:ext uri="{BB962C8B-B14F-4D97-AF65-F5344CB8AC3E}">
        <p14:creationId xmlns:p14="http://schemas.microsoft.com/office/powerpoint/2010/main" val="402228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20137-2541-74EA-CE3F-4942D4B5BE5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B0491B9-60E8-F809-6243-4DE87A6C165A}"/>
              </a:ext>
            </a:extLst>
          </p:cNvPr>
          <p:cNvPicPr>
            <a:picLocks noGrp="1" noChangeAspect="1"/>
          </p:cNvPicPr>
          <p:nvPr>
            <p:ph idx="1"/>
          </p:nvPr>
        </p:nvPicPr>
        <p:blipFill>
          <a:blip r:embed="rId2"/>
          <a:stretch>
            <a:fillRect/>
          </a:stretch>
        </p:blipFill>
        <p:spPr>
          <a:xfrm>
            <a:off x="2902943" y="2595282"/>
            <a:ext cx="6386113" cy="2812024"/>
          </a:xfrm>
        </p:spPr>
      </p:pic>
    </p:spTree>
    <p:extLst>
      <p:ext uri="{BB962C8B-B14F-4D97-AF65-F5344CB8AC3E}">
        <p14:creationId xmlns:p14="http://schemas.microsoft.com/office/powerpoint/2010/main" val="18658630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41C09-9618-D701-7D4D-C3D46C031CD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CE768C5-DFF6-E144-F69C-59A2F799F871}"/>
              </a:ext>
            </a:extLst>
          </p:cNvPr>
          <p:cNvPicPr>
            <a:picLocks noGrp="1" noChangeAspect="1"/>
          </p:cNvPicPr>
          <p:nvPr>
            <p:ph idx="1"/>
          </p:nvPr>
        </p:nvPicPr>
        <p:blipFill>
          <a:blip r:embed="rId2"/>
          <a:stretch>
            <a:fillRect/>
          </a:stretch>
        </p:blipFill>
        <p:spPr>
          <a:xfrm>
            <a:off x="1584569" y="1837026"/>
            <a:ext cx="9022862" cy="4328535"/>
          </a:xfrm>
        </p:spPr>
      </p:pic>
    </p:spTree>
    <p:extLst>
      <p:ext uri="{BB962C8B-B14F-4D97-AF65-F5344CB8AC3E}">
        <p14:creationId xmlns:p14="http://schemas.microsoft.com/office/powerpoint/2010/main" val="1023411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50479-41C9-632C-27EF-6BB11DBB044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124C437-EDE0-525F-E368-02D18E473DA0}"/>
              </a:ext>
            </a:extLst>
          </p:cNvPr>
          <p:cNvPicPr>
            <a:picLocks noGrp="1" noChangeAspect="1"/>
          </p:cNvPicPr>
          <p:nvPr>
            <p:ph idx="1"/>
          </p:nvPr>
        </p:nvPicPr>
        <p:blipFill>
          <a:blip r:embed="rId2"/>
          <a:stretch>
            <a:fillRect/>
          </a:stretch>
        </p:blipFill>
        <p:spPr>
          <a:xfrm>
            <a:off x="1481690" y="2221870"/>
            <a:ext cx="9228620" cy="3558848"/>
          </a:xfrm>
        </p:spPr>
      </p:pic>
    </p:spTree>
    <p:extLst>
      <p:ext uri="{BB962C8B-B14F-4D97-AF65-F5344CB8AC3E}">
        <p14:creationId xmlns:p14="http://schemas.microsoft.com/office/powerpoint/2010/main" val="28084297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2BAA8-CB9A-A8E3-E37D-7140D5009283}"/>
              </a:ext>
            </a:extLst>
          </p:cNvPr>
          <p:cNvSpPr>
            <a:spLocks noGrp="1"/>
          </p:cNvSpPr>
          <p:nvPr>
            <p:ph type="title"/>
          </p:nvPr>
        </p:nvSpPr>
        <p:spPr/>
        <p:txBody>
          <a:bodyPr/>
          <a:lstStyle/>
          <a:p>
            <a:r>
              <a:rPr lang="en-IN" dirty="0" err="1"/>
              <a:t>Color</a:t>
            </a:r>
            <a:r>
              <a:rPr lang="en-IN" dirty="0"/>
              <a:t> Properties</a:t>
            </a:r>
          </a:p>
        </p:txBody>
      </p:sp>
      <p:sp>
        <p:nvSpPr>
          <p:cNvPr id="3" name="Content Placeholder 2">
            <a:extLst>
              <a:ext uri="{FF2B5EF4-FFF2-40B4-BE49-F238E27FC236}">
                <a16:creationId xmlns:a16="http://schemas.microsoft.com/office/drawing/2014/main" id="{A8111DB5-6304-D6E6-3F96-C885016DDD82}"/>
              </a:ext>
            </a:extLst>
          </p:cNvPr>
          <p:cNvSpPr>
            <a:spLocks noGrp="1"/>
          </p:cNvSpPr>
          <p:nvPr>
            <p:ph idx="1"/>
          </p:nvPr>
        </p:nvSpPr>
        <p:spPr/>
        <p:txBody>
          <a:bodyPr>
            <a:normAutofit fontScale="92500" lnSpcReduction="20000"/>
          </a:bodyPr>
          <a:lstStyle/>
          <a:p>
            <a:pPr algn="l"/>
            <a:r>
              <a:rPr lang="en-US" b="0" i="0" dirty="0">
                <a:solidFill>
                  <a:srgbClr val="A52A2A"/>
                </a:solidFill>
                <a:effectLst/>
                <a:latin typeface="Consolas" panose="020B0609020204030204" pitchFamily="49" charset="0"/>
              </a:rPr>
              <a:t>body </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color</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red</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br>
              <a:rPr lang="en-US" b="0" i="0" dirty="0">
                <a:solidFill>
                  <a:srgbClr val="A52A2A"/>
                </a:solidFill>
                <a:effectLst/>
                <a:latin typeface="Consolas" panose="020B0609020204030204" pitchFamily="49" charset="0"/>
              </a:rPr>
            </a:br>
            <a:br>
              <a:rPr lang="en-US" b="0" i="0" dirty="0">
                <a:solidFill>
                  <a:srgbClr val="A52A2A"/>
                </a:solidFill>
                <a:effectLst/>
                <a:latin typeface="Consolas" panose="020B0609020204030204" pitchFamily="49" charset="0"/>
              </a:rPr>
            </a:br>
            <a:r>
              <a:rPr lang="en-US" b="0" i="0" dirty="0">
                <a:solidFill>
                  <a:srgbClr val="A52A2A"/>
                </a:solidFill>
                <a:effectLst/>
                <a:latin typeface="Consolas" panose="020B0609020204030204" pitchFamily="49" charset="0"/>
              </a:rPr>
              <a:t>h1 </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color</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#00ff00</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br>
              <a:rPr lang="en-US" b="0" i="0" dirty="0">
                <a:solidFill>
                  <a:srgbClr val="A52A2A"/>
                </a:solidFill>
                <a:effectLst/>
                <a:latin typeface="Consolas" panose="020B0609020204030204" pitchFamily="49" charset="0"/>
              </a:rPr>
            </a:br>
            <a:br>
              <a:rPr lang="en-US" b="0" i="0" dirty="0">
                <a:solidFill>
                  <a:srgbClr val="A52A2A"/>
                </a:solidFill>
                <a:effectLst/>
                <a:latin typeface="Consolas" panose="020B0609020204030204" pitchFamily="49" charset="0"/>
              </a:rPr>
            </a:br>
            <a:r>
              <a:rPr lang="en-US" b="0" i="0" dirty="0" err="1">
                <a:solidFill>
                  <a:srgbClr val="A52A2A"/>
                </a:solidFill>
                <a:effectLst/>
                <a:latin typeface="Consolas" panose="020B0609020204030204" pitchFamily="49" charset="0"/>
              </a:rPr>
              <a:t>p.ex</a:t>
            </a:r>
            <a:r>
              <a:rPr lang="en-US" b="0" i="0" dirty="0">
                <a:solidFill>
                  <a:srgbClr val="A52A2A"/>
                </a:solidFill>
                <a:effectLst/>
                <a:latin typeface="Consolas" panose="020B0609020204030204" pitchFamily="49" charset="0"/>
              </a:rPr>
              <a:t> </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color</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a:t>
            </a:r>
            <a:r>
              <a:rPr lang="en-US" b="0" i="0" dirty="0" err="1">
                <a:solidFill>
                  <a:srgbClr val="0000CD"/>
                </a:solidFill>
                <a:effectLst/>
                <a:latin typeface="Consolas" panose="020B0609020204030204" pitchFamily="49" charset="0"/>
              </a:rPr>
              <a:t>rgb</a:t>
            </a:r>
            <a:r>
              <a:rPr lang="en-US" b="0" i="0" dirty="0">
                <a:solidFill>
                  <a:srgbClr val="0000CD"/>
                </a:solidFill>
                <a:effectLst/>
                <a:latin typeface="Consolas" panose="020B0609020204030204" pitchFamily="49" charset="0"/>
              </a:rPr>
              <a:t>(0,0,255)</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p>
          <a:p>
            <a:pPr algn="l"/>
            <a:r>
              <a:rPr lang="en-US" b="0" i="0" u="none" strike="noStrike" dirty="0">
                <a:solidFill>
                  <a:srgbClr val="FFFFFF"/>
                </a:solidFill>
                <a:effectLst/>
                <a:latin typeface="Source Sans Pro" panose="020B0503030403020204" pitchFamily="34" charset="0"/>
                <a:hlinkClick r:id="rId2"/>
              </a:rPr>
              <a:t>Try it Yourself »</a:t>
            </a:r>
            <a:endParaRPr lang="en-US" b="0" i="0" dirty="0">
              <a:solidFill>
                <a:srgbClr val="000000"/>
              </a:solidFill>
              <a:effectLst/>
              <a:latin typeface="Verdana" panose="020B0604030504040204" pitchFamily="34" charset="0"/>
            </a:endParaRPr>
          </a:p>
          <a:p>
            <a:br>
              <a:rPr lang="en-US" dirty="0"/>
            </a:br>
            <a:endParaRPr lang="en-IN" dirty="0"/>
          </a:p>
        </p:txBody>
      </p:sp>
    </p:spTree>
    <p:extLst>
      <p:ext uri="{BB962C8B-B14F-4D97-AF65-F5344CB8AC3E}">
        <p14:creationId xmlns:p14="http://schemas.microsoft.com/office/powerpoint/2010/main" val="4234754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26F1D-2659-5DDD-FD30-5A409899FB95}"/>
              </a:ext>
            </a:extLst>
          </p:cNvPr>
          <p:cNvSpPr>
            <a:spLocks noGrp="1"/>
          </p:cNvSpPr>
          <p:nvPr>
            <p:ph type="title"/>
          </p:nvPr>
        </p:nvSpPr>
        <p:spPr/>
        <p:txBody>
          <a:bodyPr/>
          <a:lstStyle/>
          <a:p>
            <a:r>
              <a:rPr lang="en-IN" b="0" i="0" dirty="0">
                <a:solidFill>
                  <a:srgbClr val="000000"/>
                </a:solidFill>
                <a:effectLst/>
                <a:latin typeface="Segoe UI" panose="020B0502040204020203" pitchFamily="34" charset="0"/>
              </a:rPr>
              <a:t>CSS font Property</a:t>
            </a:r>
            <a:br>
              <a:rPr lang="en-IN" b="0" i="0" dirty="0">
                <a:solidFill>
                  <a:srgbClr val="000000"/>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id="{DD1A2EF7-F80E-1EB9-FBEF-46B199670CD1}"/>
              </a:ext>
            </a:extLst>
          </p:cNvPr>
          <p:cNvSpPr>
            <a:spLocks noGrp="1"/>
          </p:cNvSpPr>
          <p:nvPr>
            <p:ph idx="1"/>
          </p:nvPr>
        </p:nvSpPr>
        <p:spPr/>
        <p:txBody>
          <a:bodyPr/>
          <a:lstStyle/>
          <a:p>
            <a:r>
              <a:rPr lang="en-IN" b="0" i="0" dirty="0" err="1">
                <a:solidFill>
                  <a:srgbClr val="A52A2A"/>
                </a:solidFill>
                <a:effectLst/>
                <a:latin typeface="Consolas" panose="020B0609020204030204" pitchFamily="49" charset="0"/>
              </a:rPr>
              <a:t>p.a</a:t>
            </a:r>
            <a:r>
              <a:rPr lang="en-IN" b="0" i="0" dirty="0">
                <a:solidFill>
                  <a:srgbClr val="A52A2A"/>
                </a:solidFill>
                <a:effectLst/>
                <a:latin typeface="Consolas" panose="020B0609020204030204" pitchFamily="49" charset="0"/>
              </a:rPr>
              <a:t> </a:t>
            </a:r>
            <a:r>
              <a:rPr lang="en-IN" b="0" i="0" dirty="0">
                <a:solidFill>
                  <a:srgbClr val="000000"/>
                </a:solidFill>
                <a:effectLst/>
                <a:latin typeface="Consolas" panose="020B0609020204030204" pitchFamily="49" charset="0"/>
              </a:rPr>
              <a:t>{</a:t>
            </a:r>
            <a:br>
              <a:rPr lang="en-IN" b="0" i="0" dirty="0">
                <a:solidFill>
                  <a:srgbClr val="FF0000"/>
                </a:solidFill>
                <a:effectLst/>
                <a:latin typeface="Consolas" panose="020B0609020204030204" pitchFamily="49" charset="0"/>
              </a:rPr>
            </a:br>
            <a:r>
              <a:rPr lang="en-IN" b="0" i="0" dirty="0">
                <a:solidFill>
                  <a:srgbClr val="FF0000"/>
                </a:solidFill>
                <a:effectLst/>
                <a:latin typeface="Consolas" panose="020B0609020204030204" pitchFamily="49" charset="0"/>
              </a:rPr>
              <a:t>  font</a:t>
            </a:r>
            <a:r>
              <a:rPr lang="en-IN" b="0" i="0" dirty="0">
                <a:solidFill>
                  <a:srgbClr val="000000"/>
                </a:solidFill>
                <a:effectLst/>
                <a:latin typeface="Consolas" panose="020B0609020204030204" pitchFamily="49" charset="0"/>
              </a:rPr>
              <a:t>:</a:t>
            </a:r>
            <a:r>
              <a:rPr lang="en-IN" b="0" i="0" dirty="0">
                <a:solidFill>
                  <a:srgbClr val="0000CD"/>
                </a:solidFill>
                <a:effectLst/>
                <a:latin typeface="Consolas" panose="020B0609020204030204" pitchFamily="49" charset="0"/>
              </a:rPr>
              <a:t> 15px Arial, sans-serif</a:t>
            </a:r>
            <a:r>
              <a:rPr lang="en-IN" b="0" i="0" dirty="0">
                <a:solidFill>
                  <a:srgbClr val="000000"/>
                </a:solidFill>
                <a:effectLst/>
                <a:latin typeface="Consolas" panose="020B0609020204030204" pitchFamily="49" charset="0"/>
              </a:rPr>
              <a:t>;</a:t>
            </a:r>
            <a:br>
              <a:rPr lang="en-IN" b="0" i="0" dirty="0">
                <a:solidFill>
                  <a:srgbClr val="FF0000"/>
                </a:solidFill>
                <a:effectLst/>
                <a:latin typeface="Consolas" panose="020B0609020204030204" pitchFamily="49" charset="0"/>
              </a:rPr>
            </a:br>
            <a:r>
              <a:rPr lang="en-IN" b="0" i="0" dirty="0">
                <a:solidFill>
                  <a:srgbClr val="000000"/>
                </a:solidFill>
                <a:effectLst/>
                <a:latin typeface="Consolas" panose="020B0609020204030204" pitchFamily="49" charset="0"/>
              </a:rPr>
              <a:t>}</a:t>
            </a:r>
            <a:br>
              <a:rPr lang="en-IN" dirty="0"/>
            </a:br>
            <a:br>
              <a:rPr lang="en-IN" dirty="0"/>
            </a:br>
            <a:r>
              <a:rPr lang="en-IN" b="0" i="0" dirty="0" err="1">
                <a:solidFill>
                  <a:srgbClr val="A52A2A"/>
                </a:solidFill>
                <a:effectLst/>
                <a:latin typeface="Consolas" panose="020B0609020204030204" pitchFamily="49" charset="0"/>
              </a:rPr>
              <a:t>p.b</a:t>
            </a:r>
            <a:r>
              <a:rPr lang="en-IN" b="0" i="0" dirty="0">
                <a:solidFill>
                  <a:srgbClr val="A52A2A"/>
                </a:solidFill>
                <a:effectLst/>
                <a:latin typeface="Consolas" panose="020B0609020204030204" pitchFamily="49" charset="0"/>
              </a:rPr>
              <a:t> </a:t>
            </a:r>
            <a:r>
              <a:rPr lang="en-IN" b="0" i="0" dirty="0">
                <a:solidFill>
                  <a:srgbClr val="000000"/>
                </a:solidFill>
                <a:effectLst/>
                <a:latin typeface="Consolas" panose="020B0609020204030204" pitchFamily="49" charset="0"/>
              </a:rPr>
              <a:t>{</a:t>
            </a:r>
            <a:br>
              <a:rPr lang="en-IN" b="0" i="0" dirty="0">
                <a:solidFill>
                  <a:srgbClr val="FF0000"/>
                </a:solidFill>
                <a:effectLst/>
                <a:latin typeface="Consolas" panose="020B0609020204030204" pitchFamily="49" charset="0"/>
              </a:rPr>
            </a:br>
            <a:r>
              <a:rPr lang="en-IN" b="0" i="0" dirty="0">
                <a:solidFill>
                  <a:srgbClr val="FF0000"/>
                </a:solidFill>
                <a:effectLst/>
                <a:latin typeface="Consolas" panose="020B0609020204030204" pitchFamily="49" charset="0"/>
              </a:rPr>
              <a:t>  font</a:t>
            </a:r>
            <a:r>
              <a:rPr lang="en-IN" b="0" i="0" dirty="0">
                <a:solidFill>
                  <a:srgbClr val="000000"/>
                </a:solidFill>
                <a:effectLst/>
                <a:latin typeface="Consolas" panose="020B0609020204030204" pitchFamily="49" charset="0"/>
              </a:rPr>
              <a:t>:</a:t>
            </a:r>
            <a:r>
              <a:rPr lang="en-IN" b="0" i="0" dirty="0">
                <a:solidFill>
                  <a:srgbClr val="0000CD"/>
                </a:solidFill>
                <a:effectLst/>
                <a:latin typeface="Consolas" panose="020B0609020204030204" pitchFamily="49" charset="0"/>
              </a:rPr>
              <a:t> italic small-caps bold 12px/30px Georgia, serif</a:t>
            </a:r>
            <a:r>
              <a:rPr lang="en-IN" b="0" i="0" dirty="0">
                <a:solidFill>
                  <a:srgbClr val="000000"/>
                </a:solidFill>
                <a:effectLst/>
                <a:latin typeface="Consolas" panose="020B0609020204030204" pitchFamily="49" charset="0"/>
              </a:rPr>
              <a:t>;</a:t>
            </a:r>
            <a:br>
              <a:rPr lang="en-IN" b="0" i="0" dirty="0">
                <a:solidFill>
                  <a:srgbClr val="FF0000"/>
                </a:solidFill>
                <a:effectLst/>
                <a:latin typeface="Consolas" panose="020B0609020204030204" pitchFamily="49" charset="0"/>
              </a:rPr>
            </a:br>
            <a:r>
              <a:rPr lang="en-IN" b="0" i="0" dirty="0">
                <a:solidFill>
                  <a:srgbClr val="000000"/>
                </a:solidFill>
                <a:effectLst/>
                <a:latin typeface="Consolas" panose="020B0609020204030204" pitchFamily="49" charset="0"/>
              </a:rPr>
              <a:t>}</a:t>
            </a:r>
            <a:endParaRPr lang="en-IN" dirty="0"/>
          </a:p>
        </p:txBody>
      </p:sp>
    </p:spTree>
    <p:extLst>
      <p:ext uri="{BB962C8B-B14F-4D97-AF65-F5344CB8AC3E}">
        <p14:creationId xmlns:p14="http://schemas.microsoft.com/office/powerpoint/2010/main" val="16862484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6D9FE5-9934-F5C9-991D-B34EA33A8E7D}"/>
              </a:ext>
            </a:extLst>
          </p:cNvPr>
          <p:cNvSpPr>
            <a:spLocks noGrp="1"/>
          </p:cNvSpPr>
          <p:nvPr>
            <p:ph idx="1"/>
          </p:nvPr>
        </p:nvSpPr>
        <p:spPr>
          <a:xfrm>
            <a:off x="0" y="0"/>
            <a:ext cx="11353800" cy="6774024"/>
          </a:xfrm>
        </p:spPr>
        <p:txBody>
          <a:bodyPr>
            <a:normAutofit fontScale="70000" lnSpcReduction="20000"/>
          </a:bodyPr>
          <a:lstStyle/>
          <a:p>
            <a:pPr marL="0" indent="0">
              <a:buNone/>
            </a:pPr>
            <a:r>
              <a:rPr lang="en-US" dirty="0"/>
              <a:t>&lt;!DOCTYPE html&gt;</a:t>
            </a:r>
          </a:p>
          <a:p>
            <a:pPr marL="0" indent="0">
              <a:buNone/>
            </a:pPr>
            <a:r>
              <a:rPr lang="en-US" dirty="0"/>
              <a:t>&lt;html&gt;</a:t>
            </a:r>
          </a:p>
          <a:p>
            <a:pPr marL="0" indent="0">
              <a:buNone/>
            </a:pPr>
            <a:r>
              <a:rPr lang="en-US" dirty="0"/>
              <a:t>&lt;head&gt;</a:t>
            </a:r>
          </a:p>
          <a:p>
            <a:pPr marL="0" indent="0">
              <a:buNone/>
            </a:pPr>
            <a:r>
              <a:rPr lang="en-US" dirty="0"/>
              <a:t>&lt;style&gt;</a:t>
            </a:r>
          </a:p>
          <a:p>
            <a:pPr marL="0" indent="0">
              <a:buNone/>
            </a:pPr>
            <a:r>
              <a:rPr lang="en-US" dirty="0" err="1"/>
              <a:t>p.a</a:t>
            </a:r>
            <a:r>
              <a:rPr lang="en-US" dirty="0"/>
              <a:t> {</a:t>
            </a:r>
          </a:p>
          <a:p>
            <a:pPr marL="0" indent="0">
              <a:buNone/>
            </a:pPr>
            <a:r>
              <a:rPr lang="en-US" dirty="0"/>
              <a:t>  font: 15px Arial, sans-serif;</a:t>
            </a:r>
          </a:p>
          <a:p>
            <a:pPr marL="0" indent="0">
              <a:buNone/>
            </a:pPr>
            <a:r>
              <a:rPr lang="en-US" dirty="0"/>
              <a:t>}</a:t>
            </a:r>
          </a:p>
          <a:p>
            <a:pPr marL="0" indent="0">
              <a:buNone/>
            </a:pPr>
            <a:r>
              <a:rPr lang="en-US" dirty="0" err="1"/>
              <a:t>p.b</a:t>
            </a:r>
            <a:r>
              <a:rPr lang="en-US" dirty="0"/>
              <a:t> {</a:t>
            </a:r>
          </a:p>
          <a:p>
            <a:pPr marL="0" indent="0">
              <a:buNone/>
            </a:pPr>
            <a:r>
              <a:rPr lang="en-US" dirty="0"/>
              <a:t>  font: italic small-caps bold 12px/30px Georgia, serif;</a:t>
            </a:r>
          </a:p>
          <a:p>
            <a:pPr marL="0" indent="0">
              <a:buNone/>
            </a:pPr>
            <a:r>
              <a:rPr lang="en-US" dirty="0"/>
              <a:t>}</a:t>
            </a:r>
          </a:p>
          <a:p>
            <a:pPr marL="0" indent="0">
              <a:buNone/>
            </a:pPr>
            <a:r>
              <a:rPr lang="en-US" dirty="0"/>
              <a:t>&lt;/style&gt;</a:t>
            </a:r>
          </a:p>
          <a:p>
            <a:pPr marL="0" indent="0">
              <a:buNone/>
            </a:pPr>
            <a:r>
              <a:rPr lang="en-US" dirty="0"/>
              <a:t>&lt;/head&gt;</a:t>
            </a:r>
          </a:p>
          <a:p>
            <a:pPr marL="0" indent="0">
              <a:buNone/>
            </a:pPr>
            <a:r>
              <a:rPr lang="en-US" dirty="0"/>
              <a:t>&lt;body&gt;</a:t>
            </a:r>
          </a:p>
          <a:p>
            <a:pPr marL="0" indent="0">
              <a:buNone/>
            </a:pPr>
            <a:r>
              <a:rPr lang="en-US" dirty="0"/>
              <a:t>&lt;h1&gt;The font Property&lt;/h1&gt;</a:t>
            </a:r>
          </a:p>
          <a:p>
            <a:pPr marL="0" indent="0">
              <a:buNone/>
            </a:pPr>
            <a:r>
              <a:rPr lang="en-US" dirty="0"/>
              <a:t>&lt;p class="a"&gt;This is a paragraph. The font size is set to 15 pixels, and the font family is Arial.&lt;/p&gt;</a:t>
            </a:r>
          </a:p>
          <a:p>
            <a:pPr marL="0" indent="0">
              <a:buNone/>
            </a:pPr>
            <a:r>
              <a:rPr lang="en-US" dirty="0"/>
              <a:t>&lt;p class="b"&gt;This is a paragraph. The font is set to italic and bold, with small-caps (all lowercase letters are converted to uppercase). The font size is set to 12 pixels, the line height is set to 30 pixels, and the font family is Georgia.&lt;/p&gt;</a:t>
            </a:r>
          </a:p>
          <a:p>
            <a:pPr marL="0" indent="0">
              <a:buNone/>
            </a:pPr>
            <a:r>
              <a:rPr lang="en-US" dirty="0"/>
              <a:t>&lt;/body&gt;</a:t>
            </a:r>
          </a:p>
          <a:p>
            <a:pPr marL="0" indent="0">
              <a:buNone/>
            </a:pPr>
            <a:r>
              <a:rPr lang="en-US" dirty="0"/>
              <a:t>&lt;/html&gt;</a:t>
            </a:r>
            <a:endParaRPr lang="en-IN" dirty="0"/>
          </a:p>
        </p:txBody>
      </p:sp>
    </p:spTree>
    <p:extLst>
      <p:ext uri="{BB962C8B-B14F-4D97-AF65-F5344CB8AC3E}">
        <p14:creationId xmlns:p14="http://schemas.microsoft.com/office/powerpoint/2010/main" val="301641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5A7D-1527-2C95-42CC-B030A8B07985}"/>
              </a:ext>
            </a:extLst>
          </p:cNvPr>
          <p:cNvSpPr>
            <a:spLocks noGrp="1"/>
          </p:cNvSpPr>
          <p:nvPr>
            <p:ph type="title"/>
          </p:nvPr>
        </p:nvSpPr>
        <p:spPr>
          <a:xfrm>
            <a:off x="838200" y="365126"/>
            <a:ext cx="10515600" cy="717226"/>
          </a:xfrm>
        </p:spPr>
        <p:txBody>
          <a:bodyPr/>
          <a:lstStyle/>
          <a:p>
            <a:r>
              <a:rPr lang="en-IN" dirty="0"/>
              <a:t>Font Variant</a:t>
            </a:r>
          </a:p>
        </p:txBody>
      </p:sp>
      <p:sp>
        <p:nvSpPr>
          <p:cNvPr id="3" name="Content Placeholder 2">
            <a:extLst>
              <a:ext uri="{FF2B5EF4-FFF2-40B4-BE49-F238E27FC236}">
                <a16:creationId xmlns:a16="http://schemas.microsoft.com/office/drawing/2014/main" id="{D25302B9-BD29-B87D-0A0B-659B4F43AF68}"/>
              </a:ext>
            </a:extLst>
          </p:cNvPr>
          <p:cNvSpPr>
            <a:spLocks noGrp="1"/>
          </p:cNvSpPr>
          <p:nvPr>
            <p:ph idx="1"/>
          </p:nvPr>
        </p:nvSpPr>
        <p:spPr>
          <a:xfrm>
            <a:off x="838200" y="1082352"/>
            <a:ext cx="10515600" cy="5094611"/>
          </a:xfrm>
        </p:spPr>
        <p:txBody>
          <a:bodyPr>
            <a:noAutofit/>
          </a:bodyPr>
          <a:lstStyle/>
          <a:p>
            <a:pPr marL="0" indent="0">
              <a:buNone/>
            </a:pPr>
            <a:r>
              <a:rPr lang="en-IN" sz="2000" dirty="0">
                <a:latin typeface="Times New Roman" panose="02020603050405020304" pitchFamily="18" charset="0"/>
                <a:cs typeface="Times New Roman" panose="02020603050405020304" pitchFamily="18" charset="0"/>
              </a:rPr>
              <a:t>&lt;!DOCTYPE html&gt;</a:t>
            </a:r>
          </a:p>
          <a:p>
            <a:pPr marL="0" indent="0">
              <a:buNone/>
            </a:pPr>
            <a:r>
              <a:rPr lang="en-IN" sz="2000" dirty="0">
                <a:latin typeface="Times New Roman" panose="02020603050405020304" pitchFamily="18" charset="0"/>
                <a:cs typeface="Times New Roman" panose="02020603050405020304" pitchFamily="18" charset="0"/>
              </a:rPr>
              <a:t>&lt;html&gt;</a:t>
            </a:r>
          </a:p>
          <a:p>
            <a:pPr marL="0" indent="0">
              <a:buNone/>
            </a:pPr>
            <a:r>
              <a:rPr lang="en-IN" sz="2000" dirty="0">
                <a:latin typeface="Times New Roman" panose="02020603050405020304" pitchFamily="18" charset="0"/>
                <a:cs typeface="Times New Roman" panose="02020603050405020304" pitchFamily="18" charset="0"/>
              </a:rPr>
              <a:t>&lt;body&gt;</a:t>
            </a:r>
          </a:p>
          <a:p>
            <a:pPr marL="0" indent="0">
              <a:buNone/>
            </a:pPr>
            <a:r>
              <a:rPr lang="en-IN" sz="2000" dirty="0">
                <a:latin typeface="Times New Roman" panose="02020603050405020304" pitchFamily="18" charset="0"/>
                <a:cs typeface="Times New Roman" panose="02020603050405020304" pitchFamily="18" charset="0"/>
              </a:rPr>
              <a:t>&lt;h1&gt;The font Property&lt;/h1&gt;</a:t>
            </a:r>
          </a:p>
          <a:p>
            <a:pPr marL="0" indent="0">
              <a:buNone/>
            </a:pPr>
            <a:r>
              <a:rPr lang="en-IN" sz="2000" dirty="0">
                <a:latin typeface="Times New Roman" panose="02020603050405020304" pitchFamily="18" charset="0"/>
                <a:cs typeface="Times New Roman" panose="02020603050405020304" pitchFamily="18" charset="0"/>
              </a:rPr>
              <a:t>&lt;p style="</a:t>
            </a:r>
            <a:r>
              <a:rPr lang="en-IN" sz="2000" dirty="0" err="1">
                <a:latin typeface="Times New Roman" panose="02020603050405020304" pitchFamily="18" charset="0"/>
                <a:cs typeface="Times New Roman" panose="02020603050405020304" pitchFamily="18" charset="0"/>
              </a:rPr>
              <a:t>font:caption</a:t>
            </a:r>
            <a:r>
              <a:rPr lang="en-IN" sz="2000" dirty="0">
                <a:latin typeface="Times New Roman" panose="02020603050405020304" pitchFamily="18" charset="0"/>
                <a:cs typeface="Times New Roman" panose="02020603050405020304" pitchFamily="18" charset="0"/>
              </a:rPr>
              <a:t>"&gt;The font used in captioned controls.&lt;/p&gt;</a:t>
            </a:r>
          </a:p>
          <a:p>
            <a:pPr marL="0" indent="0">
              <a:buNone/>
            </a:pPr>
            <a:r>
              <a:rPr lang="en-IN" sz="2000" dirty="0">
                <a:latin typeface="Times New Roman" panose="02020603050405020304" pitchFamily="18" charset="0"/>
                <a:cs typeface="Times New Roman" panose="02020603050405020304" pitchFamily="18" charset="0"/>
              </a:rPr>
              <a:t>&lt;p style="</a:t>
            </a:r>
            <a:r>
              <a:rPr lang="en-IN" sz="2000" dirty="0" err="1">
                <a:latin typeface="Times New Roman" panose="02020603050405020304" pitchFamily="18" charset="0"/>
                <a:cs typeface="Times New Roman" panose="02020603050405020304" pitchFamily="18" charset="0"/>
              </a:rPr>
              <a:t>font:icon</a:t>
            </a:r>
            <a:r>
              <a:rPr lang="en-IN" sz="2000" dirty="0">
                <a:latin typeface="Times New Roman" panose="02020603050405020304" pitchFamily="18" charset="0"/>
                <a:cs typeface="Times New Roman" panose="02020603050405020304" pitchFamily="18" charset="0"/>
              </a:rPr>
              <a:t>"&gt;The font used in icon labels.&lt;/p&gt;</a:t>
            </a:r>
          </a:p>
          <a:p>
            <a:pPr marL="0" indent="0">
              <a:buNone/>
            </a:pPr>
            <a:r>
              <a:rPr lang="en-IN" sz="2000" dirty="0">
                <a:latin typeface="Times New Roman" panose="02020603050405020304" pitchFamily="18" charset="0"/>
                <a:cs typeface="Times New Roman" panose="02020603050405020304" pitchFamily="18" charset="0"/>
              </a:rPr>
              <a:t>&lt;p style="</a:t>
            </a:r>
            <a:r>
              <a:rPr lang="en-IN" sz="2000" dirty="0" err="1">
                <a:latin typeface="Times New Roman" panose="02020603050405020304" pitchFamily="18" charset="0"/>
                <a:cs typeface="Times New Roman" panose="02020603050405020304" pitchFamily="18" charset="0"/>
              </a:rPr>
              <a:t>font:menu</a:t>
            </a:r>
            <a:r>
              <a:rPr lang="en-IN" sz="2000" dirty="0">
                <a:latin typeface="Times New Roman" panose="02020603050405020304" pitchFamily="18" charset="0"/>
                <a:cs typeface="Times New Roman" panose="02020603050405020304" pitchFamily="18" charset="0"/>
              </a:rPr>
              <a:t>"&gt;The font used in dropdown menus.&lt;/p&gt;</a:t>
            </a:r>
          </a:p>
          <a:p>
            <a:pPr marL="0" indent="0">
              <a:buNone/>
            </a:pPr>
            <a:r>
              <a:rPr lang="en-IN" sz="2000" dirty="0">
                <a:latin typeface="Times New Roman" panose="02020603050405020304" pitchFamily="18" charset="0"/>
                <a:cs typeface="Times New Roman" panose="02020603050405020304" pitchFamily="18" charset="0"/>
              </a:rPr>
              <a:t>&lt;p style="</a:t>
            </a:r>
            <a:r>
              <a:rPr lang="en-IN" sz="2000" dirty="0" err="1">
                <a:latin typeface="Times New Roman" panose="02020603050405020304" pitchFamily="18" charset="0"/>
                <a:cs typeface="Times New Roman" panose="02020603050405020304" pitchFamily="18" charset="0"/>
              </a:rPr>
              <a:t>font:message-box</a:t>
            </a:r>
            <a:r>
              <a:rPr lang="en-IN" sz="2000" dirty="0">
                <a:latin typeface="Times New Roman" panose="02020603050405020304" pitchFamily="18" charset="0"/>
                <a:cs typeface="Times New Roman" panose="02020603050405020304" pitchFamily="18" charset="0"/>
              </a:rPr>
              <a:t>"&gt;The font used in dialog boxes.&lt;/p&gt;</a:t>
            </a:r>
          </a:p>
          <a:p>
            <a:pPr marL="0" indent="0">
              <a:buNone/>
            </a:pPr>
            <a:r>
              <a:rPr lang="en-IN" sz="2000" dirty="0">
                <a:latin typeface="Times New Roman" panose="02020603050405020304" pitchFamily="18" charset="0"/>
                <a:cs typeface="Times New Roman" panose="02020603050405020304" pitchFamily="18" charset="0"/>
              </a:rPr>
              <a:t>&lt;p style="</a:t>
            </a:r>
            <a:r>
              <a:rPr lang="en-IN" sz="2000" dirty="0" err="1">
                <a:latin typeface="Times New Roman" panose="02020603050405020304" pitchFamily="18" charset="0"/>
                <a:cs typeface="Times New Roman" panose="02020603050405020304" pitchFamily="18" charset="0"/>
              </a:rPr>
              <a:t>font:small-caption</a:t>
            </a:r>
            <a:r>
              <a:rPr lang="en-IN" sz="2000" dirty="0">
                <a:latin typeface="Times New Roman" panose="02020603050405020304" pitchFamily="18" charset="0"/>
                <a:cs typeface="Times New Roman" panose="02020603050405020304" pitchFamily="18" charset="0"/>
              </a:rPr>
              <a:t>"&gt;A smaller version of the caption font.&lt;/p&gt;</a:t>
            </a:r>
          </a:p>
          <a:p>
            <a:pPr marL="0" indent="0">
              <a:buNone/>
            </a:pPr>
            <a:r>
              <a:rPr lang="en-IN" sz="2000" dirty="0">
                <a:latin typeface="Times New Roman" panose="02020603050405020304" pitchFamily="18" charset="0"/>
                <a:cs typeface="Times New Roman" panose="02020603050405020304" pitchFamily="18" charset="0"/>
              </a:rPr>
              <a:t>&lt;p style="</a:t>
            </a:r>
            <a:r>
              <a:rPr lang="en-IN" sz="2000" dirty="0" err="1">
                <a:latin typeface="Times New Roman" panose="02020603050405020304" pitchFamily="18" charset="0"/>
                <a:cs typeface="Times New Roman" panose="02020603050405020304" pitchFamily="18" charset="0"/>
              </a:rPr>
              <a:t>font:status-bar</a:t>
            </a:r>
            <a:r>
              <a:rPr lang="en-IN" sz="2000" dirty="0">
                <a:latin typeface="Times New Roman" panose="02020603050405020304" pitchFamily="18" charset="0"/>
                <a:cs typeface="Times New Roman" panose="02020603050405020304" pitchFamily="18" charset="0"/>
              </a:rPr>
              <a:t>"&gt;The font used in the status bar.&lt;/p&gt;</a:t>
            </a:r>
          </a:p>
          <a:p>
            <a:pPr marL="0" indent="0">
              <a:buNone/>
            </a:pPr>
            <a:r>
              <a:rPr lang="en-IN" sz="2000" dirty="0">
                <a:latin typeface="Times New Roman" panose="02020603050405020304" pitchFamily="18" charset="0"/>
                <a:cs typeface="Times New Roman" panose="02020603050405020304" pitchFamily="18" charset="0"/>
              </a:rPr>
              <a:t>&lt;p&gt;&lt;b&gt;Note:&lt;/b&gt; The result of the font keywords is browser dependant.&lt;/p&gt;</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&lt;/body&gt;</a:t>
            </a:r>
          </a:p>
          <a:p>
            <a:pPr marL="0" indent="0">
              <a:buNone/>
            </a:pPr>
            <a:r>
              <a:rPr lang="en-IN" sz="2000" dirty="0">
                <a:latin typeface="Times New Roman" panose="02020603050405020304" pitchFamily="18" charset="0"/>
                <a:cs typeface="Times New Roman" panose="02020603050405020304" pitchFamily="18" charset="0"/>
              </a:rPr>
              <a:t>&lt;/html&gt;</a:t>
            </a:r>
          </a:p>
        </p:txBody>
      </p:sp>
    </p:spTree>
    <p:extLst>
      <p:ext uri="{BB962C8B-B14F-4D97-AF65-F5344CB8AC3E}">
        <p14:creationId xmlns:p14="http://schemas.microsoft.com/office/powerpoint/2010/main" val="34068199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E285D2-F8C8-BF07-0A61-329AA89C9A48}"/>
              </a:ext>
            </a:extLst>
          </p:cNvPr>
          <p:cNvSpPr>
            <a:spLocks noGrp="1"/>
          </p:cNvSpPr>
          <p:nvPr>
            <p:ph type="ctrTitle"/>
          </p:nvPr>
        </p:nvSpPr>
        <p:spPr/>
        <p:txBody>
          <a:bodyPr/>
          <a:lstStyle/>
          <a:p>
            <a:r>
              <a:rPr lang="en-IN" b="1" i="0" dirty="0">
                <a:solidFill>
                  <a:srgbClr val="000000"/>
                </a:solidFill>
                <a:effectLst/>
                <a:latin typeface="Times New Roman" panose="02020603050405020304" pitchFamily="18" charset="0"/>
              </a:rPr>
              <a:t>The font-size Property</a:t>
            </a:r>
            <a:br>
              <a:rPr lang="en-IN" b="1" i="0" dirty="0">
                <a:solidFill>
                  <a:srgbClr val="000000"/>
                </a:solidFill>
                <a:effectLst/>
                <a:latin typeface="Times New Roman" panose="02020603050405020304" pitchFamily="18" charset="0"/>
              </a:rPr>
            </a:br>
            <a:endParaRPr lang="en-IN" dirty="0"/>
          </a:p>
        </p:txBody>
      </p:sp>
      <p:sp>
        <p:nvSpPr>
          <p:cNvPr id="5" name="Subtitle 4">
            <a:extLst>
              <a:ext uri="{FF2B5EF4-FFF2-40B4-BE49-F238E27FC236}">
                <a16:creationId xmlns:a16="http://schemas.microsoft.com/office/drawing/2014/main" id="{4D9458A5-E4EA-DF63-F007-84EE662EE9F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8772124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1AF6D8-0D61-D6F3-915C-B7225706941A}"/>
              </a:ext>
            </a:extLst>
          </p:cNvPr>
          <p:cNvSpPr>
            <a:spLocks noGrp="1"/>
          </p:cNvSpPr>
          <p:nvPr>
            <p:ph idx="1"/>
          </p:nvPr>
        </p:nvSpPr>
        <p:spPr>
          <a:xfrm>
            <a:off x="166396" y="0"/>
            <a:ext cx="11879424" cy="6279502"/>
          </a:xfrm>
        </p:spPr>
        <p:txBody>
          <a:bodyPr>
            <a:noAutofit/>
          </a:bodyPr>
          <a:lstStyle/>
          <a:p>
            <a:pPr marL="0" indent="0">
              <a:buNone/>
            </a:pPr>
            <a:r>
              <a:rPr lang="en-IN" sz="1200" dirty="0">
                <a:latin typeface="Times New Roman" panose="02020603050405020304" pitchFamily="18" charset="0"/>
                <a:cs typeface="Times New Roman" panose="02020603050405020304" pitchFamily="18" charset="0"/>
              </a:rPr>
              <a:t>&lt;!DOCTYPE html&gt;</a:t>
            </a:r>
          </a:p>
          <a:p>
            <a:pPr marL="0" indent="0">
              <a:buNone/>
            </a:pPr>
            <a:r>
              <a:rPr lang="en-IN" sz="1200" dirty="0">
                <a:latin typeface="Times New Roman" panose="02020603050405020304" pitchFamily="18" charset="0"/>
                <a:cs typeface="Times New Roman" panose="02020603050405020304" pitchFamily="18" charset="0"/>
              </a:rPr>
              <a:t>&lt;html&gt;</a:t>
            </a:r>
          </a:p>
          <a:p>
            <a:pPr marL="0" indent="0">
              <a:buNone/>
            </a:pPr>
            <a:r>
              <a:rPr lang="en-IN" sz="1200" dirty="0">
                <a:latin typeface="Times New Roman" panose="02020603050405020304" pitchFamily="18" charset="0"/>
                <a:cs typeface="Times New Roman" panose="02020603050405020304" pitchFamily="18" charset="0"/>
              </a:rPr>
              <a:t>&lt;head&gt;</a:t>
            </a:r>
          </a:p>
          <a:p>
            <a:pPr marL="0" indent="0">
              <a:buNone/>
            </a:pPr>
            <a:r>
              <a:rPr lang="en-IN" sz="1200" dirty="0">
                <a:latin typeface="Times New Roman" panose="02020603050405020304" pitchFamily="18" charset="0"/>
                <a:cs typeface="Times New Roman" panose="02020603050405020304" pitchFamily="18" charset="0"/>
              </a:rPr>
              <a:t>&lt;style&gt;</a:t>
            </a:r>
          </a:p>
          <a:p>
            <a:pPr marL="0" indent="0">
              <a:buNone/>
            </a:pPr>
            <a:r>
              <a:rPr lang="en-IN" sz="1200" dirty="0" err="1">
                <a:latin typeface="Times New Roman" panose="02020603050405020304" pitchFamily="18" charset="0"/>
                <a:cs typeface="Times New Roman" panose="02020603050405020304" pitchFamily="18" charset="0"/>
              </a:rPr>
              <a:t>div.a</a:t>
            </a:r>
            <a:r>
              <a:rPr lang="en-IN" sz="1200" dirty="0">
                <a:latin typeface="Times New Roman" panose="02020603050405020304" pitchFamily="18" charset="0"/>
                <a:cs typeface="Times New Roman" panose="02020603050405020304" pitchFamily="18" charset="0"/>
              </a:rPr>
              <a:t> {</a:t>
            </a:r>
          </a:p>
          <a:p>
            <a:pPr marL="0" indent="0">
              <a:buNone/>
            </a:pPr>
            <a:r>
              <a:rPr lang="en-IN" sz="1200" dirty="0">
                <a:latin typeface="Times New Roman" panose="02020603050405020304" pitchFamily="18" charset="0"/>
                <a:cs typeface="Times New Roman" panose="02020603050405020304" pitchFamily="18" charset="0"/>
              </a:rPr>
              <a:t>  font-size: 15px;</a:t>
            </a:r>
          </a:p>
          <a:p>
            <a:pPr marL="0" indent="0">
              <a:buNone/>
            </a:pPr>
            <a:r>
              <a:rPr lang="en-IN" sz="1200" dirty="0">
                <a:latin typeface="Times New Roman" panose="02020603050405020304" pitchFamily="18" charset="0"/>
                <a:cs typeface="Times New Roman" panose="02020603050405020304" pitchFamily="18" charset="0"/>
              </a:rPr>
              <a:t>}</a:t>
            </a:r>
          </a:p>
          <a:p>
            <a:pPr marL="0" indent="0">
              <a:buNone/>
            </a:pPr>
            <a:r>
              <a:rPr lang="en-IN" sz="1200" dirty="0" err="1">
                <a:latin typeface="Times New Roman" panose="02020603050405020304" pitchFamily="18" charset="0"/>
                <a:cs typeface="Times New Roman" panose="02020603050405020304" pitchFamily="18" charset="0"/>
              </a:rPr>
              <a:t>div.b</a:t>
            </a:r>
            <a:r>
              <a:rPr lang="en-IN" sz="1200" dirty="0">
                <a:latin typeface="Times New Roman" panose="02020603050405020304" pitchFamily="18" charset="0"/>
                <a:cs typeface="Times New Roman" panose="02020603050405020304" pitchFamily="18" charset="0"/>
              </a:rPr>
              <a:t> {</a:t>
            </a:r>
          </a:p>
          <a:p>
            <a:pPr marL="0" indent="0">
              <a:buNone/>
            </a:pPr>
            <a:r>
              <a:rPr lang="en-IN" sz="1200" dirty="0">
                <a:latin typeface="Times New Roman" panose="02020603050405020304" pitchFamily="18" charset="0"/>
                <a:cs typeface="Times New Roman" panose="02020603050405020304" pitchFamily="18" charset="0"/>
              </a:rPr>
              <a:t>  font-size: large;</a:t>
            </a:r>
          </a:p>
          <a:p>
            <a:pPr marL="0" indent="0">
              <a:buNone/>
            </a:pPr>
            <a:r>
              <a:rPr lang="en-IN" sz="1200" dirty="0">
                <a:latin typeface="Times New Roman" panose="02020603050405020304" pitchFamily="18" charset="0"/>
                <a:cs typeface="Times New Roman" panose="02020603050405020304" pitchFamily="18" charset="0"/>
              </a:rPr>
              <a:t>}</a:t>
            </a:r>
          </a:p>
          <a:p>
            <a:pPr marL="0" indent="0">
              <a:buNone/>
            </a:pPr>
            <a:r>
              <a:rPr lang="en-IN" sz="1200" dirty="0" err="1">
                <a:latin typeface="Times New Roman" panose="02020603050405020304" pitchFamily="18" charset="0"/>
                <a:cs typeface="Times New Roman" panose="02020603050405020304" pitchFamily="18" charset="0"/>
              </a:rPr>
              <a:t>div.c</a:t>
            </a:r>
            <a:r>
              <a:rPr lang="en-IN" sz="1200" dirty="0">
                <a:latin typeface="Times New Roman" panose="02020603050405020304" pitchFamily="18" charset="0"/>
                <a:cs typeface="Times New Roman" panose="02020603050405020304" pitchFamily="18" charset="0"/>
              </a:rPr>
              <a:t> {</a:t>
            </a:r>
          </a:p>
          <a:p>
            <a:pPr marL="0" indent="0">
              <a:buNone/>
            </a:pPr>
            <a:r>
              <a:rPr lang="en-IN" sz="1200" dirty="0">
                <a:latin typeface="Times New Roman" panose="02020603050405020304" pitchFamily="18" charset="0"/>
                <a:cs typeface="Times New Roman" panose="02020603050405020304" pitchFamily="18" charset="0"/>
              </a:rPr>
              <a:t>  font-size: 150%;</a:t>
            </a:r>
          </a:p>
          <a:p>
            <a:pPr marL="0" indent="0">
              <a:buNone/>
            </a:pPr>
            <a:r>
              <a:rPr lang="en-IN" sz="1200" dirty="0">
                <a:latin typeface="Times New Roman" panose="02020603050405020304" pitchFamily="18" charset="0"/>
                <a:cs typeface="Times New Roman" panose="02020603050405020304" pitchFamily="18" charset="0"/>
              </a:rPr>
              <a:t>}</a:t>
            </a:r>
          </a:p>
          <a:p>
            <a:pPr marL="0" indent="0">
              <a:buNone/>
            </a:pPr>
            <a:r>
              <a:rPr lang="en-IN" sz="1200" dirty="0">
                <a:latin typeface="Times New Roman" panose="02020603050405020304" pitchFamily="18" charset="0"/>
                <a:cs typeface="Times New Roman" panose="02020603050405020304" pitchFamily="18" charset="0"/>
              </a:rPr>
              <a:t>&lt;/style&gt;</a:t>
            </a:r>
          </a:p>
          <a:p>
            <a:pPr marL="0" indent="0">
              <a:buNone/>
            </a:pPr>
            <a:r>
              <a:rPr lang="en-IN" sz="1200" dirty="0">
                <a:latin typeface="Times New Roman" panose="02020603050405020304" pitchFamily="18" charset="0"/>
                <a:cs typeface="Times New Roman" panose="02020603050405020304" pitchFamily="18" charset="0"/>
              </a:rPr>
              <a:t>&lt;/head&gt;</a:t>
            </a:r>
          </a:p>
          <a:p>
            <a:pPr marL="0" indent="0">
              <a:buNone/>
            </a:pPr>
            <a:r>
              <a:rPr lang="en-IN" sz="1200" dirty="0">
                <a:latin typeface="Times New Roman" panose="02020603050405020304" pitchFamily="18" charset="0"/>
                <a:cs typeface="Times New Roman" panose="02020603050405020304" pitchFamily="18" charset="0"/>
              </a:rPr>
              <a:t>&lt;body&gt;</a:t>
            </a:r>
          </a:p>
          <a:p>
            <a:pPr marL="0" indent="0">
              <a:buNone/>
            </a:pPr>
            <a:r>
              <a:rPr lang="en-IN" sz="1200" dirty="0">
                <a:latin typeface="Times New Roman" panose="02020603050405020304" pitchFamily="18" charset="0"/>
                <a:cs typeface="Times New Roman" panose="02020603050405020304" pitchFamily="18" charset="0"/>
              </a:rPr>
              <a:t>&lt;h1&gt;The font-size Property&lt;/h1&gt;</a:t>
            </a:r>
          </a:p>
          <a:p>
            <a:pPr marL="0" indent="0">
              <a:buNone/>
            </a:pPr>
            <a:r>
              <a:rPr lang="en-IN" sz="1200" dirty="0">
                <a:latin typeface="Times New Roman" panose="02020603050405020304" pitchFamily="18" charset="0"/>
                <a:cs typeface="Times New Roman" panose="02020603050405020304" pitchFamily="18" charset="0"/>
              </a:rPr>
              <a:t>&lt;div class="a"&gt;This is some text.&lt;/div&gt;</a:t>
            </a:r>
          </a:p>
          <a:p>
            <a:pPr marL="0" indent="0">
              <a:buNone/>
            </a:pPr>
            <a:r>
              <a:rPr lang="en-IN" sz="1200" dirty="0">
                <a:latin typeface="Times New Roman" panose="02020603050405020304" pitchFamily="18" charset="0"/>
                <a:cs typeface="Times New Roman" panose="02020603050405020304" pitchFamily="18" charset="0"/>
              </a:rPr>
              <a:t>&lt;div class="b"&gt;This is some text.&lt;/div&gt;</a:t>
            </a:r>
          </a:p>
          <a:p>
            <a:pPr marL="0" indent="0">
              <a:buNone/>
            </a:pPr>
            <a:r>
              <a:rPr lang="en-IN" sz="1200" dirty="0">
                <a:latin typeface="Times New Roman" panose="02020603050405020304" pitchFamily="18" charset="0"/>
                <a:cs typeface="Times New Roman" panose="02020603050405020304" pitchFamily="18" charset="0"/>
              </a:rPr>
              <a:t>&lt;div class="c"&gt;This is some text.&lt;/div&gt;</a:t>
            </a:r>
          </a:p>
          <a:p>
            <a:pPr marL="0" indent="0">
              <a:buNone/>
            </a:pPr>
            <a:r>
              <a:rPr lang="en-IN" sz="1200" dirty="0">
                <a:latin typeface="Times New Roman" panose="02020603050405020304" pitchFamily="18" charset="0"/>
                <a:cs typeface="Times New Roman" panose="02020603050405020304" pitchFamily="18" charset="0"/>
              </a:rPr>
              <a:t>&lt;/body&gt;</a:t>
            </a:r>
          </a:p>
          <a:p>
            <a:pPr marL="0" indent="0">
              <a:buNone/>
            </a:pPr>
            <a:r>
              <a:rPr lang="en-IN" sz="1200" dirty="0">
                <a:latin typeface="Times New Roman" panose="02020603050405020304" pitchFamily="18" charset="0"/>
                <a:cs typeface="Times New Roman" panose="02020603050405020304" pitchFamily="18" charset="0"/>
              </a:rPr>
              <a:t>&lt;/html&gt;</a:t>
            </a:r>
          </a:p>
        </p:txBody>
      </p:sp>
    </p:spTree>
    <p:extLst>
      <p:ext uri="{BB962C8B-B14F-4D97-AF65-F5344CB8AC3E}">
        <p14:creationId xmlns:p14="http://schemas.microsoft.com/office/powerpoint/2010/main" val="17557250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E7066F-2468-3DE1-2C6E-E9C7F3AA4284}"/>
              </a:ext>
            </a:extLst>
          </p:cNvPr>
          <p:cNvSpPr>
            <a:spLocks noGrp="1"/>
          </p:cNvSpPr>
          <p:nvPr>
            <p:ph type="ctrTitle"/>
          </p:nvPr>
        </p:nvSpPr>
        <p:spPr/>
        <p:txBody>
          <a:bodyPr/>
          <a:lstStyle/>
          <a:p>
            <a:r>
              <a:rPr lang="en-IN" dirty="0"/>
              <a:t>Line Height Property</a:t>
            </a:r>
          </a:p>
        </p:txBody>
      </p:sp>
      <p:sp>
        <p:nvSpPr>
          <p:cNvPr id="5" name="Subtitle 4">
            <a:extLst>
              <a:ext uri="{FF2B5EF4-FFF2-40B4-BE49-F238E27FC236}">
                <a16:creationId xmlns:a16="http://schemas.microsoft.com/office/drawing/2014/main" id="{72E389E8-1E69-D79F-B90D-DBEDF6EF640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1229438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4FFB1C-6029-C0E6-36EA-285115425891}"/>
              </a:ext>
            </a:extLst>
          </p:cNvPr>
          <p:cNvSpPr>
            <a:spLocks noGrp="1"/>
          </p:cNvSpPr>
          <p:nvPr>
            <p:ph idx="1"/>
          </p:nvPr>
        </p:nvSpPr>
        <p:spPr>
          <a:xfrm>
            <a:off x="0" y="71469"/>
            <a:ext cx="5173579" cy="6341363"/>
          </a:xfrm>
        </p:spPr>
        <p:txBody>
          <a:bodyPr>
            <a:normAutofit fontScale="55000" lnSpcReduction="20000"/>
          </a:bodyPr>
          <a:lstStyle/>
          <a:p>
            <a:pPr marL="0" indent="0">
              <a:buNone/>
            </a:pPr>
            <a:r>
              <a:rPr lang="en-US" dirty="0"/>
              <a:t>&lt;!DOCTYPE html&gt;</a:t>
            </a:r>
          </a:p>
          <a:p>
            <a:pPr marL="0" indent="0">
              <a:buNone/>
            </a:pPr>
            <a:r>
              <a:rPr lang="en-US" dirty="0"/>
              <a:t>&lt;html&gt;</a:t>
            </a:r>
          </a:p>
          <a:p>
            <a:pPr marL="0" indent="0">
              <a:buNone/>
            </a:pPr>
            <a:r>
              <a:rPr lang="en-US" dirty="0"/>
              <a:t>&lt;head&gt;</a:t>
            </a:r>
          </a:p>
          <a:p>
            <a:pPr marL="0" indent="0">
              <a:buNone/>
            </a:pPr>
            <a:r>
              <a:rPr lang="en-US" dirty="0"/>
              <a:t>&lt;style&gt;</a:t>
            </a:r>
          </a:p>
          <a:p>
            <a:pPr marL="0" indent="0">
              <a:buNone/>
            </a:pPr>
            <a:r>
              <a:rPr lang="en-US" dirty="0" err="1"/>
              <a:t>div.a</a:t>
            </a:r>
            <a:r>
              <a:rPr lang="en-US" dirty="0"/>
              <a:t> {</a:t>
            </a:r>
          </a:p>
          <a:p>
            <a:pPr marL="0" indent="0">
              <a:buNone/>
            </a:pPr>
            <a:r>
              <a:rPr lang="en-US" dirty="0"/>
              <a:t>  line-height: normal;</a:t>
            </a:r>
          </a:p>
          <a:p>
            <a:pPr marL="0" indent="0">
              <a:buNone/>
            </a:pPr>
            <a:r>
              <a:rPr lang="en-US" dirty="0"/>
              <a:t>}</a:t>
            </a:r>
          </a:p>
          <a:p>
            <a:pPr marL="0" indent="0">
              <a:buNone/>
            </a:pPr>
            <a:endParaRPr lang="en-US" dirty="0"/>
          </a:p>
          <a:p>
            <a:pPr marL="0" indent="0">
              <a:buNone/>
            </a:pPr>
            <a:r>
              <a:rPr lang="en-US" dirty="0" err="1"/>
              <a:t>div.b</a:t>
            </a:r>
            <a:r>
              <a:rPr lang="en-US" dirty="0"/>
              <a:t> {</a:t>
            </a:r>
          </a:p>
          <a:p>
            <a:pPr marL="0" indent="0">
              <a:buNone/>
            </a:pPr>
            <a:r>
              <a:rPr lang="en-US" dirty="0"/>
              <a:t>  line-height: 1.6;</a:t>
            </a:r>
          </a:p>
          <a:p>
            <a:pPr marL="0" indent="0">
              <a:buNone/>
            </a:pPr>
            <a:r>
              <a:rPr lang="en-US" dirty="0"/>
              <a:t>}</a:t>
            </a:r>
          </a:p>
          <a:p>
            <a:pPr marL="0" indent="0">
              <a:buNone/>
            </a:pPr>
            <a:endParaRPr lang="en-US" dirty="0"/>
          </a:p>
          <a:p>
            <a:pPr marL="0" indent="0">
              <a:buNone/>
            </a:pPr>
            <a:r>
              <a:rPr lang="en-US" dirty="0" err="1"/>
              <a:t>div.c</a:t>
            </a:r>
            <a:r>
              <a:rPr lang="en-US" dirty="0"/>
              <a:t> {</a:t>
            </a:r>
          </a:p>
          <a:p>
            <a:pPr marL="0" indent="0">
              <a:buNone/>
            </a:pPr>
            <a:r>
              <a:rPr lang="en-US" dirty="0"/>
              <a:t>  line-height: 80%;</a:t>
            </a:r>
          </a:p>
          <a:p>
            <a:pPr marL="0" indent="0">
              <a:buNone/>
            </a:pPr>
            <a:r>
              <a:rPr lang="en-US" dirty="0"/>
              <a:t>}</a:t>
            </a:r>
          </a:p>
          <a:p>
            <a:pPr marL="0" indent="0">
              <a:buNone/>
            </a:pPr>
            <a:endParaRPr lang="en-US" dirty="0"/>
          </a:p>
          <a:p>
            <a:pPr marL="0" indent="0">
              <a:buNone/>
            </a:pPr>
            <a:r>
              <a:rPr lang="en-US" dirty="0" err="1"/>
              <a:t>div.d</a:t>
            </a:r>
            <a:r>
              <a:rPr lang="en-US" dirty="0"/>
              <a:t> {</a:t>
            </a:r>
          </a:p>
          <a:p>
            <a:pPr marL="0" indent="0">
              <a:buNone/>
            </a:pPr>
            <a:r>
              <a:rPr lang="en-US" dirty="0"/>
              <a:t>  line-height: 200%;</a:t>
            </a:r>
          </a:p>
          <a:p>
            <a:pPr marL="0" indent="0">
              <a:buNone/>
            </a:pPr>
            <a:r>
              <a:rPr lang="en-US" dirty="0"/>
              <a:t>}</a:t>
            </a:r>
          </a:p>
          <a:p>
            <a:pPr marL="0" indent="0">
              <a:buNone/>
            </a:pPr>
            <a:r>
              <a:rPr lang="en-US" dirty="0"/>
              <a:t>&lt;/style&gt;</a:t>
            </a:r>
          </a:p>
          <a:p>
            <a:pPr marL="0" indent="0">
              <a:buNone/>
            </a:pPr>
            <a:r>
              <a:rPr lang="en-US" dirty="0"/>
              <a:t>&lt;/head&gt;</a:t>
            </a:r>
          </a:p>
        </p:txBody>
      </p:sp>
      <p:sp>
        <p:nvSpPr>
          <p:cNvPr id="4" name="TextBox 3">
            <a:extLst>
              <a:ext uri="{FF2B5EF4-FFF2-40B4-BE49-F238E27FC236}">
                <a16:creationId xmlns:a16="http://schemas.microsoft.com/office/drawing/2014/main" id="{DB88210F-E557-E8DB-8042-00C85200BDF7}"/>
              </a:ext>
            </a:extLst>
          </p:cNvPr>
          <p:cNvSpPr txBox="1"/>
          <p:nvPr/>
        </p:nvSpPr>
        <p:spPr>
          <a:xfrm>
            <a:off x="3453346" y="46224"/>
            <a:ext cx="8738654" cy="6740307"/>
          </a:xfrm>
          <a:prstGeom prst="rect">
            <a:avLst/>
          </a:prstGeom>
          <a:noFill/>
        </p:spPr>
        <p:txBody>
          <a:bodyPr wrap="square" rtlCol="0">
            <a:spAutoFit/>
          </a:bodyPr>
          <a:lstStyle/>
          <a:p>
            <a:r>
              <a:rPr lang="en-US" dirty="0"/>
              <a:t>&lt;body&gt;</a:t>
            </a:r>
          </a:p>
          <a:p>
            <a:endParaRPr lang="en-US" dirty="0"/>
          </a:p>
          <a:p>
            <a:r>
              <a:rPr lang="en-US" dirty="0"/>
              <a:t>&lt;h1&gt;The line-height Property&lt;/h1&gt;</a:t>
            </a:r>
          </a:p>
          <a:p>
            <a:endParaRPr lang="en-US" dirty="0"/>
          </a:p>
          <a:p>
            <a:r>
              <a:rPr lang="en-US" dirty="0"/>
              <a:t>&lt;h2&gt;line-height: normal (default):&lt;/h2&gt;</a:t>
            </a:r>
          </a:p>
          <a:p>
            <a:r>
              <a:rPr lang="en-US" dirty="0"/>
              <a:t>&lt;div class="a"&gt;This is a paragraph with a standard line-height.&lt;</a:t>
            </a:r>
            <a:r>
              <a:rPr lang="en-US" dirty="0" err="1"/>
              <a:t>br</a:t>
            </a:r>
            <a:r>
              <a:rPr lang="en-US" dirty="0"/>
              <a:t>&gt;</a:t>
            </a:r>
          </a:p>
          <a:p>
            <a:r>
              <a:rPr lang="en-US" dirty="0"/>
              <a:t>The standard line height in most browsers is about 110% to 120%.&lt;/div&gt;</a:t>
            </a:r>
          </a:p>
          <a:p>
            <a:endParaRPr lang="en-US" dirty="0"/>
          </a:p>
          <a:p>
            <a:r>
              <a:rPr lang="en-US" dirty="0"/>
              <a:t>&lt;h2&gt;line-height: 1.6 (recommended):&lt;/h2&gt;</a:t>
            </a:r>
          </a:p>
          <a:p>
            <a:r>
              <a:rPr lang="en-US" dirty="0"/>
              <a:t>&lt;div class="b"&gt;This is a paragraph with the recommended line-height.&lt;</a:t>
            </a:r>
            <a:r>
              <a:rPr lang="en-US" dirty="0" err="1"/>
              <a:t>br</a:t>
            </a:r>
            <a:r>
              <a:rPr lang="en-US" dirty="0"/>
              <a:t>&gt;</a:t>
            </a:r>
          </a:p>
          <a:p>
            <a:r>
              <a:rPr lang="en-US" dirty="0"/>
              <a:t>The line height is here set to 1.6. This is a unitless value;&lt;</a:t>
            </a:r>
            <a:r>
              <a:rPr lang="en-US" dirty="0" err="1"/>
              <a:t>br</a:t>
            </a:r>
            <a:r>
              <a:rPr lang="en-US" dirty="0"/>
              <a:t>&gt;</a:t>
            </a:r>
          </a:p>
          <a:p>
            <a:r>
              <a:rPr lang="en-US" dirty="0"/>
              <a:t>meaning that the line height will be relative to the font size.&lt;/div&gt;</a:t>
            </a:r>
          </a:p>
          <a:p>
            <a:endParaRPr lang="en-US" dirty="0"/>
          </a:p>
          <a:p>
            <a:r>
              <a:rPr lang="en-US" dirty="0"/>
              <a:t>&lt;h2&gt;line-height: 80%:&lt;/h2&gt;</a:t>
            </a:r>
          </a:p>
          <a:p>
            <a:r>
              <a:rPr lang="en-US" dirty="0"/>
              <a:t>&lt;div class="c"&gt;This is a paragraph with a smaller line-height.&lt;</a:t>
            </a:r>
            <a:r>
              <a:rPr lang="en-US" dirty="0" err="1"/>
              <a:t>br</a:t>
            </a:r>
            <a:r>
              <a:rPr lang="en-US" dirty="0"/>
              <a:t>&gt;</a:t>
            </a:r>
          </a:p>
          <a:p>
            <a:r>
              <a:rPr lang="en-US" dirty="0"/>
              <a:t>The line height is here set to 80%.&lt;/div&gt;</a:t>
            </a:r>
          </a:p>
          <a:p>
            <a:endParaRPr lang="en-US" dirty="0"/>
          </a:p>
          <a:p>
            <a:r>
              <a:rPr lang="en-US" dirty="0"/>
              <a:t>&lt;h2&gt;line-height: 200%:&lt;/h2&gt;</a:t>
            </a:r>
          </a:p>
          <a:p>
            <a:r>
              <a:rPr lang="en-US" dirty="0"/>
              <a:t>&lt;div class="d"&gt;This is a paragraph with a bigger line-height.&lt;</a:t>
            </a:r>
            <a:r>
              <a:rPr lang="en-US" dirty="0" err="1"/>
              <a:t>br</a:t>
            </a:r>
            <a:r>
              <a:rPr lang="en-US" dirty="0"/>
              <a:t>&gt;</a:t>
            </a:r>
          </a:p>
          <a:p>
            <a:r>
              <a:rPr lang="en-US" dirty="0"/>
              <a:t>The line height is here set to 200%.&lt;/div&gt;</a:t>
            </a:r>
          </a:p>
          <a:p>
            <a:endParaRPr lang="en-US" dirty="0"/>
          </a:p>
          <a:p>
            <a:r>
              <a:rPr lang="en-US" dirty="0"/>
              <a:t>&lt;/body&gt;</a:t>
            </a:r>
          </a:p>
          <a:p>
            <a:r>
              <a:rPr lang="en-US" dirty="0"/>
              <a:t>&lt;/html&gt;</a:t>
            </a:r>
            <a:endParaRPr lang="en-IN" dirty="0"/>
          </a:p>
          <a:p>
            <a:endParaRPr lang="en-IN" dirty="0"/>
          </a:p>
        </p:txBody>
      </p:sp>
    </p:spTree>
    <p:extLst>
      <p:ext uri="{BB962C8B-B14F-4D97-AF65-F5344CB8AC3E}">
        <p14:creationId xmlns:p14="http://schemas.microsoft.com/office/powerpoint/2010/main" val="6429346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8FD7A9-DAF9-A467-69BF-D6D1316A47F4}"/>
              </a:ext>
            </a:extLst>
          </p:cNvPr>
          <p:cNvSpPr>
            <a:spLocks noGrp="1"/>
          </p:cNvSpPr>
          <p:nvPr>
            <p:ph type="ctrTitle"/>
          </p:nvPr>
        </p:nvSpPr>
        <p:spPr/>
        <p:txBody>
          <a:bodyPr/>
          <a:lstStyle/>
          <a:p>
            <a:r>
              <a:rPr lang="en-IN" dirty="0"/>
              <a:t>Text Properties</a:t>
            </a:r>
          </a:p>
        </p:txBody>
      </p:sp>
      <p:sp>
        <p:nvSpPr>
          <p:cNvPr id="5" name="Subtitle 4">
            <a:extLst>
              <a:ext uri="{FF2B5EF4-FFF2-40B4-BE49-F238E27FC236}">
                <a16:creationId xmlns:a16="http://schemas.microsoft.com/office/drawing/2014/main" id="{227AA1A2-FD94-80B7-98DF-85C91BEBCF6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0205736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393CF61-D33A-C6AA-7A0C-657DB4DDB6A0}"/>
              </a:ext>
            </a:extLst>
          </p:cNvPr>
          <p:cNvPicPr>
            <a:picLocks noGrp="1" noChangeAspect="1"/>
          </p:cNvPicPr>
          <p:nvPr>
            <p:ph idx="1"/>
          </p:nvPr>
        </p:nvPicPr>
        <p:blipFill>
          <a:blip r:embed="rId2"/>
          <a:stretch>
            <a:fillRect/>
          </a:stretch>
        </p:blipFill>
        <p:spPr>
          <a:xfrm>
            <a:off x="643467" y="948097"/>
            <a:ext cx="10905066" cy="4961804"/>
          </a:xfrm>
          <a:prstGeom prst="rect">
            <a:avLst/>
          </a:prstGeom>
        </p:spPr>
      </p:pic>
    </p:spTree>
    <p:extLst>
      <p:ext uri="{BB962C8B-B14F-4D97-AF65-F5344CB8AC3E}">
        <p14:creationId xmlns:p14="http://schemas.microsoft.com/office/powerpoint/2010/main" val="10606231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Description automatically generated">
            <a:extLst>
              <a:ext uri="{FF2B5EF4-FFF2-40B4-BE49-F238E27FC236}">
                <a16:creationId xmlns:a16="http://schemas.microsoft.com/office/drawing/2014/main" id="{DEA444C3-537F-A29C-F58E-7C76898A8B1D}"/>
              </a:ext>
            </a:extLst>
          </p:cNvPr>
          <p:cNvPicPr>
            <a:picLocks noGrp="1" noChangeAspect="1"/>
          </p:cNvPicPr>
          <p:nvPr>
            <p:ph idx="1"/>
          </p:nvPr>
        </p:nvPicPr>
        <p:blipFill>
          <a:blip r:embed="rId2"/>
          <a:stretch>
            <a:fillRect/>
          </a:stretch>
        </p:blipFill>
        <p:spPr>
          <a:xfrm>
            <a:off x="1165852" y="643466"/>
            <a:ext cx="9860296" cy="5571067"/>
          </a:xfrm>
          <a:prstGeom prst="rect">
            <a:avLst/>
          </a:prstGeom>
        </p:spPr>
      </p:pic>
    </p:spTree>
    <p:extLst>
      <p:ext uri="{BB962C8B-B14F-4D97-AF65-F5344CB8AC3E}">
        <p14:creationId xmlns:p14="http://schemas.microsoft.com/office/powerpoint/2010/main" val="28274703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F69875A-0CD0-7A6C-734A-979ADFD79318}"/>
              </a:ext>
            </a:extLst>
          </p:cNvPr>
          <p:cNvPicPr>
            <a:picLocks noGrp="1" noChangeAspect="1"/>
          </p:cNvPicPr>
          <p:nvPr>
            <p:ph idx="1"/>
          </p:nvPr>
        </p:nvPicPr>
        <p:blipFill>
          <a:blip r:embed="rId2"/>
          <a:stretch>
            <a:fillRect/>
          </a:stretch>
        </p:blipFill>
        <p:spPr>
          <a:xfrm>
            <a:off x="225168" y="925734"/>
            <a:ext cx="12104069" cy="4048602"/>
          </a:xfrm>
        </p:spPr>
      </p:pic>
    </p:spTree>
    <p:extLst>
      <p:ext uri="{BB962C8B-B14F-4D97-AF65-F5344CB8AC3E}">
        <p14:creationId xmlns:p14="http://schemas.microsoft.com/office/powerpoint/2010/main" val="16883033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DFF04-BE81-C5AC-887E-177667C2058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DAA79CD-D2A9-CBFF-16AF-69B747CDDDB3}"/>
              </a:ext>
            </a:extLst>
          </p:cNvPr>
          <p:cNvPicPr>
            <a:picLocks noGrp="1" noChangeAspect="1"/>
          </p:cNvPicPr>
          <p:nvPr>
            <p:ph idx="1"/>
          </p:nvPr>
        </p:nvPicPr>
        <p:blipFill>
          <a:blip r:embed="rId2"/>
          <a:stretch>
            <a:fillRect/>
          </a:stretch>
        </p:blipFill>
        <p:spPr>
          <a:xfrm>
            <a:off x="1443587" y="2461920"/>
            <a:ext cx="9304826" cy="3078747"/>
          </a:xfrm>
        </p:spPr>
      </p:pic>
    </p:spTree>
    <p:extLst>
      <p:ext uri="{BB962C8B-B14F-4D97-AF65-F5344CB8AC3E}">
        <p14:creationId xmlns:p14="http://schemas.microsoft.com/office/powerpoint/2010/main" val="3500243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9CBAF-E766-9CD4-3514-0CE183D11E6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F025BBD-81F1-68FE-CAB7-AF988697BF92}"/>
              </a:ext>
            </a:extLst>
          </p:cNvPr>
          <p:cNvPicPr>
            <a:picLocks noGrp="1" noChangeAspect="1"/>
          </p:cNvPicPr>
          <p:nvPr>
            <p:ph idx="1"/>
          </p:nvPr>
        </p:nvPicPr>
        <p:blipFill>
          <a:blip r:embed="rId2"/>
          <a:stretch>
            <a:fillRect/>
          </a:stretch>
        </p:blipFill>
        <p:spPr>
          <a:xfrm>
            <a:off x="2013443" y="1825625"/>
            <a:ext cx="8165114" cy="4351338"/>
          </a:xfrm>
        </p:spPr>
      </p:pic>
    </p:spTree>
    <p:extLst>
      <p:ext uri="{BB962C8B-B14F-4D97-AF65-F5344CB8AC3E}">
        <p14:creationId xmlns:p14="http://schemas.microsoft.com/office/powerpoint/2010/main" val="36781702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3F9F83-929C-EEC5-52CF-7DC8125D373E}"/>
              </a:ext>
            </a:extLst>
          </p:cNvPr>
          <p:cNvSpPr>
            <a:spLocks noGrp="1"/>
          </p:cNvSpPr>
          <p:nvPr>
            <p:ph idx="1"/>
          </p:nvPr>
        </p:nvSpPr>
        <p:spPr>
          <a:xfrm>
            <a:off x="521208" y="1016381"/>
            <a:ext cx="10515600" cy="4351338"/>
          </a:xfrm>
        </p:spPr>
        <p:txBody>
          <a:bodyPr>
            <a:normAutofit lnSpcReduction="10000"/>
          </a:bodyPr>
          <a:lstStyle/>
          <a:p>
            <a:pPr marL="0" indent="0">
              <a:buNone/>
            </a:pPr>
            <a:r>
              <a:rPr lang="en-IN" dirty="0"/>
              <a:t>&lt;!DOCTYPE html&gt;</a:t>
            </a:r>
          </a:p>
          <a:p>
            <a:pPr marL="0" indent="0">
              <a:buNone/>
            </a:pPr>
            <a:r>
              <a:rPr lang="en-IN" dirty="0"/>
              <a:t>&lt;html&gt;</a:t>
            </a:r>
          </a:p>
          <a:p>
            <a:pPr marL="0" indent="0">
              <a:buNone/>
            </a:pPr>
            <a:r>
              <a:rPr lang="en-IN" dirty="0"/>
              <a:t>&lt;head&gt;</a:t>
            </a:r>
          </a:p>
          <a:p>
            <a:pPr marL="0" indent="0">
              <a:buNone/>
            </a:pPr>
            <a:r>
              <a:rPr lang="en-IN" dirty="0"/>
              <a:t>&lt;style&gt;</a:t>
            </a:r>
          </a:p>
          <a:p>
            <a:pPr marL="0" indent="0">
              <a:buNone/>
            </a:pPr>
            <a:r>
              <a:rPr lang="en-IN" dirty="0" err="1"/>
              <a:t>img.a</a:t>
            </a:r>
            <a:r>
              <a:rPr lang="en-IN" dirty="0"/>
              <a:t> {</a:t>
            </a:r>
          </a:p>
          <a:p>
            <a:pPr marL="0" indent="0">
              <a:buNone/>
            </a:pPr>
            <a:r>
              <a:rPr lang="en-IN" dirty="0"/>
              <a:t>  vertical-align: baseline;</a:t>
            </a:r>
          </a:p>
          <a:p>
            <a:pPr marL="0" indent="0">
              <a:buNone/>
            </a:pPr>
            <a:r>
              <a:rPr lang="en-IN" dirty="0"/>
              <a:t>}</a:t>
            </a:r>
          </a:p>
          <a:p>
            <a:pPr marL="0" indent="0">
              <a:buNone/>
            </a:pPr>
            <a:r>
              <a:rPr lang="en-IN" dirty="0"/>
              <a:t>&lt;/style&gt;</a:t>
            </a:r>
          </a:p>
          <a:p>
            <a:pPr marL="0" indent="0">
              <a:buNone/>
            </a:pPr>
            <a:r>
              <a:rPr lang="en-IN" dirty="0"/>
              <a:t>&lt;/head&gt;</a:t>
            </a:r>
          </a:p>
        </p:txBody>
      </p:sp>
    </p:spTree>
    <p:extLst>
      <p:ext uri="{BB962C8B-B14F-4D97-AF65-F5344CB8AC3E}">
        <p14:creationId xmlns:p14="http://schemas.microsoft.com/office/powerpoint/2010/main" val="30582729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D67A9-C7E7-C6DC-B4CD-BF875CEC770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F7CD108-7C2D-96A6-41F4-785517E9C86D}"/>
              </a:ext>
            </a:extLst>
          </p:cNvPr>
          <p:cNvSpPr>
            <a:spLocks noGrp="1"/>
          </p:cNvSpPr>
          <p:nvPr>
            <p:ph idx="1"/>
          </p:nvPr>
        </p:nvSpPr>
        <p:spPr/>
        <p:txBody>
          <a:bodyPr>
            <a:normAutofit fontScale="92500" lnSpcReduction="10000"/>
          </a:bodyPr>
          <a:lstStyle/>
          <a:p>
            <a:pPr marL="0" indent="0">
              <a:buNone/>
            </a:pPr>
            <a:endParaRPr lang="en-IN" dirty="0"/>
          </a:p>
          <a:p>
            <a:pPr marL="0" indent="0">
              <a:buNone/>
            </a:pPr>
            <a:r>
              <a:rPr lang="en-IN" dirty="0"/>
              <a:t>&lt;h1&gt;The vertical-align Property&lt;/h1&gt;</a:t>
            </a:r>
          </a:p>
          <a:p>
            <a:pPr marL="0" indent="0">
              <a:buNone/>
            </a:pPr>
            <a:endParaRPr lang="en-IN" dirty="0"/>
          </a:p>
          <a:p>
            <a:pPr marL="0" indent="0">
              <a:buNone/>
            </a:pPr>
            <a:r>
              <a:rPr lang="en-IN" dirty="0"/>
              <a:t>&lt;h2&gt;vertical-align: baseline (default):&lt;/h2&gt;</a:t>
            </a:r>
          </a:p>
          <a:p>
            <a:pPr marL="0" indent="0">
              <a:buNone/>
            </a:pPr>
            <a:r>
              <a:rPr lang="en-IN" dirty="0"/>
              <a:t>&lt;p&gt;An &lt;</a:t>
            </a:r>
            <a:r>
              <a:rPr lang="en-IN" dirty="0" err="1"/>
              <a:t>img</a:t>
            </a:r>
            <a:r>
              <a:rPr lang="en-IN" dirty="0"/>
              <a:t> class="a" </a:t>
            </a:r>
            <a:r>
              <a:rPr lang="en-IN" dirty="0" err="1"/>
              <a:t>src</a:t>
            </a:r>
            <a:r>
              <a:rPr lang="en-IN" dirty="0"/>
              <a:t>="sqpurple.gif" width="9" height="9"&gt; image with a default alignment.&lt;/p&gt; </a:t>
            </a:r>
          </a:p>
          <a:p>
            <a:pPr marL="0" indent="0">
              <a:buNone/>
            </a:pPr>
            <a:endParaRPr lang="en-IN" dirty="0"/>
          </a:p>
          <a:p>
            <a:pPr marL="0" indent="0">
              <a:buNone/>
            </a:pPr>
            <a:endParaRPr lang="en-IN" dirty="0"/>
          </a:p>
          <a:p>
            <a:pPr marL="0" indent="0">
              <a:buNone/>
            </a:pPr>
            <a:r>
              <a:rPr lang="en-IN" dirty="0"/>
              <a:t>&lt;/body&gt;</a:t>
            </a:r>
          </a:p>
          <a:p>
            <a:pPr marL="0" indent="0">
              <a:buNone/>
            </a:pPr>
            <a:r>
              <a:rPr lang="en-IN" dirty="0"/>
              <a:t>&lt;/html&gt;</a:t>
            </a:r>
          </a:p>
          <a:p>
            <a:endParaRPr lang="en-IN" dirty="0"/>
          </a:p>
        </p:txBody>
      </p:sp>
    </p:spTree>
    <p:extLst>
      <p:ext uri="{BB962C8B-B14F-4D97-AF65-F5344CB8AC3E}">
        <p14:creationId xmlns:p14="http://schemas.microsoft.com/office/powerpoint/2010/main" val="13998998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2017CF-E508-7E96-2254-28913D188B9C}"/>
              </a:ext>
            </a:extLst>
          </p:cNvPr>
          <p:cNvSpPr>
            <a:spLocks noGrp="1"/>
          </p:cNvSpPr>
          <p:nvPr>
            <p:ph idx="1"/>
          </p:nvPr>
        </p:nvSpPr>
        <p:spPr>
          <a:xfrm>
            <a:off x="838200" y="279918"/>
            <a:ext cx="6411686" cy="5897045"/>
          </a:xfrm>
        </p:spPr>
        <p:txBody>
          <a:bodyPr>
            <a:normAutofit fontScale="55000" lnSpcReduction="20000"/>
          </a:bodyPr>
          <a:lstStyle/>
          <a:p>
            <a:pPr marL="0" indent="0">
              <a:buNone/>
            </a:pPr>
            <a:r>
              <a:rPr lang="en-IN" b="1" dirty="0"/>
              <a:t>&lt;!DOCTYPE html&gt;</a:t>
            </a:r>
          </a:p>
          <a:p>
            <a:pPr marL="0" indent="0">
              <a:buNone/>
            </a:pPr>
            <a:r>
              <a:rPr lang="en-IN" b="1" dirty="0"/>
              <a:t>&lt;html&gt;</a:t>
            </a:r>
          </a:p>
          <a:p>
            <a:pPr marL="0" indent="0">
              <a:buNone/>
            </a:pPr>
            <a:r>
              <a:rPr lang="en-IN" b="1" dirty="0"/>
              <a:t>&lt;head&gt;</a:t>
            </a:r>
          </a:p>
          <a:p>
            <a:pPr marL="0" indent="0">
              <a:buNone/>
            </a:pPr>
            <a:r>
              <a:rPr lang="en-IN" b="1" dirty="0"/>
              <a:t>&lt;style&gt;</a:t>
            </a:r>
          </a:p>
          <a:p>
            <a:pPr marL="0" indent="0">
              <a:buNone/>
            </a:pPr>
            <a:r>
              <a:rPr lang="en-IN" b="1" dirty="0"/>
              <a:t>div {</a:t>
            </a:r>
          </a:p>
          <a:p>
            <a:pPr marL="0" indent="0">
              <a:buNone/>
            </a:pPr>
            <a:r>
              <a:rPr lang="en-IN" b="1" dirty="0"/>
              <a:t>  border: 1px solid black;</a:t>
            </a:r>
          </a:p>
          <a:p>
            <a:pPr marL="0" indent="0">
              <a:buNone/>
            </a:pPr>
            <a:r>
              <a:rPr lang="en-IN" b="1" dirty="0"/>
              <a:t>  background-</a:t>
            </a:r>
            <a:r>
              <a:rPr lang="en-IN" b="1" dirty="0" err="1"/>
              <a:t>color</a:t>
            </a:r>
            <a:r>
              <a:rPr lang="en-IN" b="1" dirty="0"/>
              <a:t>: </a:t>
            </a:r>
            <a:r>
              <a:rPr lang="en-IN" b="1" dirty="0" err="1"/>
              <a:t>lightblue</a:t>
            </a:r>
            <a:r>
              <a:rPr lang="en-IN" b="1" dirty="0"/>
              <a:t>;</a:t>
            </a:r>
          </a:p>
          <a:p>
            <a:pPr marL="0" indent="0">
              <a:buNone/>
            </a:pPr>
            <a:r>
              <a:rPr lang="en-IN" b="1" dirty="0"/>
              <a:t>  padding-top: 50px;</a:t>
            </a:r>
          </a:p>
          <a:p>
            <a:pPr marL="0" indent="0">
              <a:buNone/>
            </a:pPr>
            <a:r>
              <a:rPr lang="en-IN" b="1" dirty="0"/>
              <a:t>  padding-right: 30px;</a:t>
            </a:r>
          </a:p>
          <a:p>
            <a:pPr marL="0" indent="0">
              <a:buNone/>
            </a:pPr>
            <a:r>
              <a:rPr lang="en-IN" b="1" dirty="0"/>
              <a:t>  padding-bottom: 50px;</a:t>
            </a:r>
          </a:p>
          <a:p>
            <a:pPr marL="0" indent="0">
              <a:buNone/>
            </a:pPr>
            <a:r>
              <a:rPr lang="en-IN" b="1" dirty="0"/>
              <a:t>  padding-left: 80px;</a:t>
            </a:r>
          </a:p>
          <a:p>
            <a:pPr marL="0" indent="0">
              <a:buNone/>
            </a:pPr>
            <a:r>
              <a:rPr lang="en-IN" b="1" dirty="0"/>
              <a:t>}</a:t>
            </a:r>
          </a:p>
          <a:p>
            <a:pPr marL="0" indent="0">
              <a:buNone/>
            </a:pPr>
            <a:r>
              <a:rPr lang="en-IN" b="1" dirty="0"/>
              <a:t>&lt;/style&gt;</a:t>
            </a:r>
          </a:p>
          <a:p>
            <a:pPr marL="0" indent="0">
              <a:buNone/>
            </a:pPr>
            <a:r>
              <a:rPr lang="en-IN" b="1" dirty="0"/>
              <a:t>&lt;/head&gt;</a:t>
            </a:r>
          </a:p>
          <a:p>
            <a:pPr marL="0" indent="0">
              <a:buNone/>
            </a:pPr>
            <a:r>
              <a:rPr lang="en-IN" b="1" dirty="0"/>
              <a:t>&lt;body&gt;</a:t>
            </a:r>
          </a:p>
          <a:p>
            <a:pPr marL="0" indent="0">
              <a:buNone/>
            </a:pPr>
            <a:r>
              <a:rPr lang="en-IN" b="1" dirty="0"/>
              <a:t>&lt;h2&gt;Using individual padding properties&lt;/h2&gt;</a:t>
            </a:r>
          </a:p>
          <a:p>
            <a:pPr marL="0" indent="0">
              <a:buNone/>
            </a:pPr>
            <a:r>
              <a:rPr lang="en-IN" b="1" dirty="0"/>
              <a:t>&lt;div&gt;This div element has a top padding of 50px, a right padding of 30px, a bottom padding of 50px, and a left padding of 80px.&lt;/div&gt;</a:t>
            </a:r>
          </a:p>
          <a:p>
            <a:pPr marL="0" indent="0">
              <a:buNone/>
            </a:pPr>
            <a:endParaRPr lang="en-IN" b="1" dirty="0"/>
          </a:p>
          <a:p>
            <a:pPr marL="0" indent="0">
              <a:buNone/>
            </a:pPr>
            <a:r>
              <a:rPr lang="en-IN" b="1" dirty="0"/>
              <a:t>&lt;/body&gt;</a:t>
            </a:r>
          </a:p>
          <a:p>
            <a:pPr marL="0" indent="0">
              <a:buNone/>
            </a:pPr>
            <a:r>
              <a:rPr lang="en-IN" b="1" dirty="0"/>
              <a:t>&lt;/html&gt;</a:t>
            </a:r>
          </a:p>
        </p:txBody>
      </p:sp>
    </p:spTree>
    <p:extLst>
      <p:ext uri="{BB962C8B-B14F-4D97-AF65-F5344CB8AC3E}">
        <p14:creationId xmlns:p14="http://schemas.microsoft.com/office/powerpoint/2010/main" val="9505164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5D0D59-ECCB-D9AA-ED48-EAD193EFE01D}"/>
              </a:ext>
            </a:extLst>
          </p:cNvPr>
          <p:cNvSpPr>
            <a:spLocks noGrp="1"/>
          </p:cNvSpPr>
          <p:nvPr>
            <p:ph idx="1"/>
          </p:nvPr>
        </p:nvSpPr>
        <p:spPr>
          <a:xfrm>
            <a:off x="838200" y="457200"/>
            <a:ext cx="10515600" cy="5719763"/>
          </a:xfrm>
        </p:spPr>
        <p:txBody>
          <a:bodyPr>
            <a:normAutofit fontScale="85000" lnSpcReduction="20000"/>
          </a:bodyPr>
          <a:lstStyle/>
          <a:p>
            <a:pPr marL="0" indent="0">
              <a:buNone/>
            </a:pPr>
            <a:r>
              <a:rPr lang="en-IN" dirty="0"/>
              <a:t>&lt;!DOCTYPE html&gt;</a:t>
            </a:r>
          </a:p>
          <a:p>
            <a:pPr marL="0" indent="0">
              <a:buNone/>
            </a:pPr>
            <a:r>
              <a:rPr lang="en-IN" dirty="0"/>
              <a:t>&lt;html&gt;</a:t>
            </a:r>
          </a:p>
          <a:p>
            <a:pPr marL="0" indent="0">
              <a:buNone/>
            </a:pPr>
            <a:r>
              <a:rPr lang="en-IN" dirty="0"/>
              <a:t>&lt;head&gt;</a:t>
            </a:r>
          </a:p>
          <a:p>
            <a:pPr marL="0" indent="0">
              <a:buNone/>
            </a:pPr>
            <a:r>
              <a:rPr lang="en-IN" dirty="0"/>
              <a:t>&lt;style&gt;</a:t>
            </a:r>
          </a:p>
          <a:p>
            <a:pPr marL="0" indent="0">
              <a:buNone/>
            </a:pPr>
            <a:r>
              <a:rPr lang="en-IN" dirty="0"/>
              <a:t>div {</a:t>
            </a:r>
          </a:p>
          <a:p>
            <a:pPr marL="0" indent="0">
              <a:buNone/>
            </a:pPr>
            <a:r>
              <a:rPr lang="en-IN" dirty="0"/>
              <a:t>  margin: 70px;</a:t>
            </a:r>
          </a:p>
          <a:p>
            <a:pPr marL="0" indent="0">
              <a:buNone/>
            </a:pPr>
            <a:r>
              <a:rPr lang="en-IN" dirty="0"/>
              <a:t>  border: 1px solid #4CAF50;</a:t>
            </a:r>
          </a:p>
          <a:p>
            <a:pPr marL="0" indent="0">
              <a:buNone/>
            </a:pPr>
            <a:r>
              <a:rPr lang="en-IN" dirty="0"/>
              <a:t>}</a:t>
            </a:r>
          </a:p>
          <a:p>
            <a:pPr marL="0" indent="0">
              <a:buNone/>
            </a:pPr>
            <a:r>
              <a:rPr lang="en-IN" dirty="0"/>
              <a:t>&lt;/style&gt;</a:t>
            </a:r>
          </a:p>
          <a:p>
            <a:pPr marL="0" indent="0">
              <a:buNone/>
            </a:pPr>
            <a:r>
              <a:rPr lang="en-IN" dirty="0"/>
              <a:t>&lt;/head&gt;</a:t>
            </a:r>
          </a:p>
          <a:p>
            <a:pPr marL="0" indent="0">
              <a:buNone/>
            </a:pPr>
            <a:r>
              <a:rPr lang="en-IN" dirty="0"/>
              <a:t>&lt;body&gt;</a:t>
            </a:r>
          </a:p>
          <a:p>
            <a:pPr marL="0" indent="0">
              <a:buNone/>
            </a:pPr>
            <a:r>
              <a:rPr lang="en-IN" dirty="0"/>
              <a:t>&lt;h2&gt;CSS Margins&lt;/h2&gt;</a:t>
            </a:r>
          </a:p>
          <a:p>
            <a:pPr marL="0" indent="0">
              <a:buNone/>
            </a:pPr>
            <a:r>
              <a:rPr lang="en-IN" dirty="0"/>
              <a:t>&lt;div&gt;This element has a margin of 70px.&lt;/div&gt;</a:t>
            </a:r>
          </a:p>
          <a:p>
            <a:pPr marL="0" indent="0">
              <a:buNone/>
            </a:pPr>
            <a:r>
              <a:rPr lang="en-IN" dirty="0"/>
              <a:t>&lt;/body&gt;</a:t>
            </a:r>
          </a:p>
          <a:p>
            <a:pPr marL="0" indent="0">
              <a:buNone/>
            </a:pPr>
            <a:r>
              <a:rPr lang="en-IN" dirty="0"/>
              <a:t>&lt;/html&gt;</a:t>
            </a:r>
          </a:p>
          <a:p>
            <a:endParaRPr lang="en-IN" dirty="0"/>
          </a:p>
          <a:p>
            <a:endParaRPr lang="en-IN" dirty="0"/>
          </a:p>
          <a:p>
            <a:endParaRPr lang="en-IN" dirty="0"/>
          </a:p>
        </p:txBody>
      </p:sp>
    </p:spTree>
    <p:extLst>
      <p:ext uri="{BB962C8B-B14F-4D97-AF65-F5344CB8AC3E}">
        <p14:creationId xmlns:p14="http://schemas.microsoft.com/office/powerpoint/2010/main" val="13535854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148D2-D066-CB03-0DED-38DBE3254E30}"/>
              </a:ext>
            </a:extLst>
          </p:cNvPr>
          <p:cNvSpPr>
            <a:spLocks noGrp="1"/>
          </p:cNvSpPr>
          <p:nvPr>
            <p:ph type="title"/>
          </p:nvPr>
        </p:nvSpPr>
        <p:spPr/>
        <p:txBody>
          <a:bodyPr/>
          <a:lstStyle/>
          <a:p>
            <a:endParaRPr lang="en-IN"/>
          </a:p>
        </p:txBody>
      </p:sp>
      <p:sp>
        <p:nvSpPr>
          <p:cNvPr id="4" name="Rectangle 1">
            <a:extLst>
              <a:ext uri="{FF2B5EF4-FFF2-40B4-BE49-F238E27FC236}">
                <a16:creationId xmlns:a16="http://schemas.microsoft.com/office/drawing/2014/main" id="{347AA570-DCC3-29DD-4E54-9CAF2535594F}"/>
              </a:ext>
            </a:extLst>
          </p:cNvPr>
          <p:cNvSpPr>
            <a:spLocks noGrp="1" noChangeArrowheads="1"/>
          </p:cNvSpPr>
          <p:nvPr>
            <p:ph idx="1"/>
          </p:nvPr>
        </p:nvSpPr>
        <p:spPr bwMode="auto">
          <a:xfrm>
            <a:off x="838200" y="2738138"/>
            <a:ext cx="10171054" cy="252631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a:ln>
                  <a:noFill/>
                </a:ln>
                <a:solidFill>
                  <a:srgbClr val="273239"/>
                </a:solidFill>
                <a:effectLst/>
                <a:latin typeface="Nunito" pitchFamily="2" charset="0"/>
              </a:rPr>
              <a:t>RGB Color Value Syntax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rgbClr val="273239"/>
                </a:solidFill>
                <a:effectLst/>
                <a:latin typeface="Consolas" panose="020B0609020204030204" pitchFamily="49" charset="0"/>
              </a:rPr>
              <a:t>// Blue background</a:t>
            </a:r>
            <a:br>
              <a:rPr kumimoji="0" lang="en-US" altLang="en-US" sz="3200" b="0" i="0" u="none" strike="noStrike" cap="none" normalizeH="0" baseline="0">
                <a:ln>
                  <a:noFill/>
                </a:ln>
                <a:solidFill>
                  <a:srgbClr val="273239"/>
                </a:solidFill>
                <a:effectLst/>
                <a:latin typeface="Consolas" panose="020B0609020204030204" pitchFamily="49" charset="0"/>
              </a:rPr>
            </a:br>
            <a:r>
              <a:rPr kumimoji="0" lang="en-US" altLang="en-US" sz="3200" b="0" i="0" u="none" strike="noStrike" cap="none" normalizeH="0" baseline="0">
                <a:ln>
                  <a:noFill/>
                </a:ln>
                <a:solidFill>
                  <a:srgbClr val="273239"/>
                </a:solidFill>
                <a:effectLst/>
                <a:latin typeface="Consolas" panose="020B0609020204030204" pitchFamily="49" charset="0"/>
              </a:rPr>
              <a:t>&lt;p style="background-color: rgb(0, 0, 255);"&gt;</a:t>
            </a:r>
            <a:br>
              <a:rPr kumimoji="0" lang="en-US" altLang="en-US" sz="3200" b="0" i="0" u="none" strike="noStrike" cap="none" normalizeH="0" baseline="0">
                <a:ln>
                  <a:noFill/>
                </a:ln>
                <a:solidFill>
                  <a:srgbClr val="273239"/>
                </a:solidFill>
                <a:effectLst/>
                <a:latin typeface="Consolas" panose="020B0609020204030204" pitchFamily="49" charset="0"/>
              </a:rPr>
            </a:br>
            <a:r>
              <a:rPr kumimoji="0" lang="en-US" altLang="en-US" sz="3200" b="0" i="0" u="none" strike="noStrike" cap="none" normalizeH="0" baseline="0">
                <a:ln>
                  <a:noFill/>
                </a:ln>
                <a:solidFill>
                  <a:srgbClr val="273239"/>
                </a:solidFill>
                <a:effectLst/>
                <a:latin typeface="Consolas" panose="020B0609020204030204" pitchFamily="49" charset="0"/>
              </a:rPr>
              <a:t>Is the sky background Blue by using RGB</a:t>
            </a:r>
            <a:br>
              <a:rPr kumimoji="0" lang="en-US" altLang="en-US" sz="3200" b="0" i="0" u="none" strike="noStrike" cap="none" normalizeH="0" baseline="0">
                <a:ln>
                  <a:noFill/>
                </a:ln>
                <a:solidFill>
                  <a:srgbClr val="273239"/>
                </a:solidFill>
                <a:effectLst/>
                <a:latin typeface="Consolas" panose="020B0609020204030204" pitchFamily="49" charset="0"/>
              </a:rPr>
            </a:br>
            <a:r>
              <a:rPr kumimoji="0" lang="en-US" altLang="en-US" sz="3200" b="0" i="0" u="none" strike="noStrike" cap="none" normalizeH="0" baseline="0">
                <a:ln>
                  <a:noFill/>
                </a:ln>
                <a:solidFill>
                  <a:srgbClr val="273239"/>
                </a:solidFill>
                <a:effectLst/>
                <a:latin typeface="Consolas" panose="020B0609020204030204" pitchFamily="49" charset="0"/>
              </a:rPr>
              <a:t>&lt;/p&gt;</a:t>
            </a:r>
            <a:r>
              <a:rPr kumimoji="0" lang="en-US" altLang="en-US" sz="3200" b="0" i="0" u="none" strike="noStrike" cap="none" normalizeH="0" baseline="0">
                <a:ln>
                  <a:noFill/>
                </a:ln>
                <a:solidFill>
                  <a:schemeClr val="tx1"/>
                </a:solidFill>
                <a:effectLst/>
              </a:rPr>
              <a:t> </a:t>
            </a:r>
            <a:endParaRPr kumimoji="0" lang="en-US" altLang="en-US" sz="32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914444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B9857-4C5A-57AC-76D2-7DC83571A9C1}"/>
              </a:ext>
            </a:extLst>
          </p:cNvPr>
          <p:cNvSpPr>
            <a:spLocks noGrp="1"/>
          </p:cNvSpPr>
          <p:nvPr>
            <p:ph type="title"/>
          </p:nvPr>
        </p:nvSpPr>
        <p:spPr/>
        <p:txBody>
          <a:bodyPr/>
          <a:lstStyle/>
          <a:p>
            <a:endParaRPr lang="en-IN"/>
          </a:p>
        </p:txBody>
      </p:sp>
      <p:sp>
        <p:nvSpPr>
          <p:cNvPr id="4" name="Rectangle 1">
            <a:extLst>
              <a:ext uri="{FF2B5EF4-FFF2-40B4-BE49-F238E27FC236}">
                <a16:creationId xmlns:a16="http://schemas.microsoft.com/office/drawing/2014/main" id="{A195BD71-00AC-E413-3A4F-B11314BB05D9}"/>
              </a:ext>
            </a:extLst>
          </p:cNvPr>
          <p:cNvSpPr>
            <a:spLocks noGrp="1" noChangeArrowheads="1"/>
          </p:cNvSpPr>
          <p:nvPr>
            <p:ph idx="1"/>
          </p:nvPr>
        </p:nvSpPr>
        <p:spPr bwMode="auto">
          <a:xfrm>
            <a:off x="838200" y="2892026"/>
            <a:ext cx="8083944" cy="221853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Nunito" pitchFamily="2" charset="0"/>
              </a:rPr>
              <a:t>HEX Color Value Syntax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onsolas" panose="020B0609020204030204" pitchFamily="49" charset="0"/>
              </a:rPr>
              <a:t>// Pinkish Background</a:t>
            </a:r>
            <a:br>
              <a:rPr kumimoji="0" lang="en-US" altLang="en-US" b="0" i="0" u="none" strike="noStrike" cap="none" normalizeH="0" baseline="0" dirty="0">
                <a:ln>
                  <a:noFill/>
                </a:ln>
                <a:solidFill>
                  <a:srgbClr val="273239"/>
                </a:solidFill>
                <a:effectLst/>
                <a:latin typeface="Consolas" panose="020B0609020204030204" pitchFamily="49" charset="0"/>
              </a:rPr>
            </a:br>
            <a:r>
              <a:rPr kumimoji="0" lang="en-US" altLang="en-US" b="0" i="0" u="none" strike="noStrike" cap="none" normalizeH="0" baseline="0" dirty="0">
                <a:ln>
                  <a:noFill/>
                </a:ln>
                <a:solidFill>
                  <a:srgbClr val="273239"/>
                </a:solidFill>
                <a:effectLst/>
                <a:latin typeface="Consolas" panose="020B0609020204030204" pitchFamily="49" charset="0"/>
              </a:rPr>
              <a:t>&lt;div style="background-color: #FF69B4;"&gt;</a:t>
            </a:r>
            <a:br>
              <a:rPr kumimoji="0" lang="en-US" altLang="en-US" b="0" i="0" u="none" strike="noStrike" cap="none" normalizeH="0" baseline="0" dirty="0">
                <a:ln>
                  <a:noFill/>
                </a:ln>
                <a:solidFill>
                  <a:srgbClr val="273239"/>
                </a:solidFill>
                <a:effectLst/>
                <a:latin typeface="Consolas" panose="020B0609020204030204" pitchFamily="49" charset="0"/>
              </a:rPr>
            </a:br>
            <a:r>
              <a:rPr kumimoji="0" lang="en-US" altLang="en-US" b="0" i="0" u="none" strike="noStrike" cap="none" normalizeH="0" baseline="0" dirty="0">
                <a:ln>
                  <a:noFill/>
                </a:ln>
                <a:solidFill>
                  <a:srgbClr val="273239"/>
                </a:solidFill>
                <a:effectLst/>
                <a:latin typeface="Consolas" panose="020B0609020204030204" pitchFamily="49" charset="0"/>
              </a:rPr>
              <a:t>div has a pinkish background by using Hex</a:t>
            </a:r>
            <a:br>
              <a:rPr kumimoji="0" lang="en-US" altLang="en-US" b="0" i="0" u="none" strike="noStrike" cap="none" normalizeH="0" baseline="0" dirty="0">
                <a:ln>
                  <a:noFill/>
                </a:ln>
                <a:solidFill>
                  <a:srgbClr val="273239"/>
                </a:solidFill>
                <a:effectLst/>
                <a:latin typeface="Consolas" panose="020B0609020204030204" pitchFamily="49" charset="0"/>
              </a:rPr>
            </a:br>
            <a:r>
              <a:rPr kumimoji="0" lang="en-US" altLang="en-US" b="0" i="0" u="none" strike="noStrike" cap="none" normalizeH="0" baseline="0" dirty="0">
                <a:ln>
                  <a:noFill/>
                </a:ln>
                <a:solidFill>
                  <a:srgbClr val="273239"/>
                </a:solidFill>
                <a:effectLst/>
                <a:latin typeface="Consolas" panose="020B0609020204030204" pitchFamily="49" charset="0"/>
              </a:rPr>
              <a:t>&lt;/div&gt;</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01933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E005A-947E-7556-2432-F97A54A4BB0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47E778-979F-BAAE-4EAA-5A4DCF9DA155}"/>
              </a:ext>
            </a:extLst>
          </p:cNvPr>
          <p:cNvSpPr>
            <a:spLocks noGrp="1"/>
          </p:cNvSpPr>
          <p:nvPr>
            <p:ph idx="1"/>
          </p:nvPr>
        </p:nvSpPr>
        <p:spPr/>
        <p:txBody>
          <a:bodyPr>
            <a:normAutofit fontScale="85000" lnSpcReduction="20000"/>
          </a:bodyPr>
          <a:lstStyle/>
          <a:p>
            <a:pPr algn="l" fontAlgn="base"/>
            <a:r>
              <a:rPr lang="en-US" b="1" i="0" dirty="0">
                <a:solidFill>
                  <a:srgbClr val="273239"/>
                </a:solidFill>
                <a:effectLst/>
                <a:latin typeface="Nunito" pitchFamily="2" charset="0"/>
              </a:rPr>
              <a:t>HSL (Hue, Saturation, Lightness) Value</a:t>
            </a:r>
          </a:p>
          <a:p>
            <a:pPr algn="l" rtl="0" fontAlgn="base"/>
            <a:r>
              <a:rPr lang="en-US" b="0" i="0" dirty="0">
                <a:solidFill>
                  <a:srgbClr val="273239"/>
                </a:solidFill>
                <a:effectLst/>
                <a:latin typeface="Nunito" pitchFamily="2" charset="0"/>
              </a:rPr>
              <a:t>HSL color values in HTML represent colors by defining their hue, saturation, and lightness. The hue signifies the type of color (red, blue, green, etc.), saturation refers to the intensity or purity of the color, and lightness determines the brightness or darkness.</a:t>
            </a:r>
          </a:p>
          <a:p>
            <a:pPr algn="l" fontAlgn="base"/>
            <a:r>
              <a:rPr lang="en-US" b="1" i="0" dirty="0">
                <a:solidFill>
                  <a:srgbClr val="273239"/>
                </a:solidFill>
                <a:effectLst/>
                <a:latin typeface="Nunito" pitchFamily="2" charset="0"/>
              </a:rPr>
              <a:t>HSL Color value Properties:</a:t>
            </a:r>
          </a:p>
          <a:p>
            <a:pPr algn="l" fontAlgn="base">
              <a:buFont typeface="Arial" panose="020B0604020202020204" pitchFamily="34" charset="0"/>
              <a:buChar char="•"/>
            </a:pPr>
            <a:r>
              <a:rPr lang="en-US" b="0" i="0" dirty="0">
                <a:solidFill>
                  <a:srgbClr val="273239"/>
                </a:solidFill>
                <a:effectLst/>
                <a:latin typeface="Nunito" pitchFamily="2" charset="0"/>
              </a:rPr>
              <a:t>HSL representation defines colors based on Hue, Saturation, and Lightness components, offering a more intuitive way to specify colors.</a:t>
            </a:r>
          </a:p>
          <a:p>
            <a:pPr algn="l" fontAlgn="base">
              <a:buFont typeface="Arial" panose="020B0604020202020204" pitchFamily="34" charset="0"/>
              <a:buChar char="•"/>
            </a:pPr>
            <a:r>
              <a:rPr lang="en-US" b="0" i="0" dirty="0">
                <a:solidFill>
                  <a:srgbClr val="273239"/>
                </a:solidFill>
                <a:effectLst/>
                <a:latin typeface="Nunito" pitchFamily="2" charset="0"/>
              </a:rPr>
              <a:t>Hue represents the color type, ranging from 0 to 360 degrees.</a:t>
            </a:r>
          </a:p>
          <a:p>
            <a:pPr algn="l" fontAlgn="base">
              <a:buFont typeface="Arial" panose="020B0604020202020204" pitchFamily="34" charset="0"/>
              <a:buChar char="•"/>
            </a:pPr>
            <a:r>
              <a:rPr lang="en-US" b="0" i="0" dirty="0">
                <a:solidFill>
                  <a:srgbClr val="273239"/>
                </a:solidFill>
                <a:effectLst/>
                <a:latin typeface="Nunito" pitchFamily="2" charset="0"/>
              </a:rPr>
              <a:t>Saturation determines the intensity or purity of the color, from 0% (grayscale) to 100% (full color).</a:t>
            </a:r>
          </a:p>
          <a:p>
            <a:pPr algn="l" fontAlgn="base">
              <a:buFont typeface="Arial" panose="020B0604020202020204" pitchFamily="34" charset="0"/>
              <a:buChar char="•"/>
            </a:pPr>
            <a:r>
              <a:rPr lang="en-US" b="0" i="0" dirty="0">
                <a:solidFill>
                  <a:srgbClr val="273239"/>
                </a:solidFill>
                <a:effectLst/>
                <a:latin typeface="Nunito" pitchFamily="2" charset="0"/>
              </a:rPr>
              <a:t>Lightness controls the brightness of the color, ranging from 0% (black) to 100% (white), with 50% representing normal.</a:t>
            </a:r>
          </a:p>
          <a:p>
            <a:endParaRPr lang="en-IN" dirty="0"/>
          </a:p>
        </p:txBody>
      </p:sp>
    </p:spTree>
    <p:extLst>
      <p:ext uri="{BB962C8B-B14F-4D97-AF65-F5344CB8AC3E}">
        <p14:creationId xmlns:p14="http://schemas.microsoft.com/office/powerpoint/2010/main" val="26878406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DD7B1-D605-5CCB-FC3D-886A18073B02}"/>
              </a:ext>
            </a:extLst>
          </p:cNvPr>
          <p:cNvSpPr>
            <a:spLocks noGrp="1"/>
          </p:cNvSpPr>
          <p:nvPr>
            <p:ph type="title"/>
          </p:nvPr>
        </p:nvSpPr>
        <p:spPr/>
        <p:txBody>
          <a:bodyPr/>
          <a:lstStyle/>
          <a:p>
            <a:endParaRPr lang="en-IN"/>
          </a:p>
        </p:txBody>
      </p:sp>
      <p:sp>
        <p:nvSpPr>
          <p:cNvPr id="4" name="Rectangle 1">
            <a:extLst>
              <a:ext uri="{FF2B5EF4-FFF2-40B4-BE49-F238E27FC236}">
                <a16:creationId xmlns:a16="http://schemas.microsoft.com/office/drawing/2014/main" id="{9C6FC328-9BE7-E69B-CAEC-D58D4BBCE979}"/>
              </a:ext>
            </a:extLst>
          </p:cNvPr>
          <p:cNvSpPr>
            <a:spLocks noGrp="1" noChangeArrowheads="1"/>
          </p:cNvSpPr>
          <p:nvPr>
            <p:ph idx="1"/>
          </p:nvPr>
        </p:nvSpPr>
        <p:spPr bwMode="auto">
          <a:xfrm>
            <a:off x="838200" y="3353691"/>
            <a:ext cx="7194277" cy="1295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Golden Background</a:t>
            </a:r>
            <a:br>
              <a:rPr kumimoji="0" lang="en-US" altLang="en-US" sz="2000" b="0" i="0" u="none" strike="noStrike" cap="none" normalizeH="0" baseline="0" dirty="0">
                <a:ln>
                  <a:noFill/>
                </a:ln>
                <a:solidFill>
                  <a:srgbClr val="273239"/>
                </a:solidFill>
                <a:effectLst/>
                <a:latin typeface="Consolas" panose="020B0609020204030204" pitchFamily="49" charset="0"/>
              </a:rPr>
            </a:br>
            <a:r>
              <a:rPr kumimoji="0" lang="en-US" altLang="en-US" sz="2000" b="0" i="0" u="none" strike="noStrike" cap="none" normalizeH="0" baseline="0" dirty="0">
                <a:ln>
                  <a:noFill/>
                </a:ln>
                <a:solidFill>
                  <a:srgbClr val="273239"/>
                </a:solidFill>
                <a:effectLst/>
                <a:latin typeface="Consolas" panose="020B0609020204030204" pitchFamily="49" charset="0"/>
              </a:rPr>
              <a:t>&lt;div style="background-color: </a:t>
            </a:r>
            <a:r>
              <a:rPr kumimoji="0" lang="en-US" altLang="en-US" sz="2000" b="0" i="0" u="none" strike="noStrike" cap="none" normalizeH="0" baseline="0" dirty="0" err="1">
                <a:ln>
                  <a:noFill/>
                </a:ln>
                <a:solidFill>
                  <a:srgbClr val="273239"/>
                </a:solidFill>
                <a:effectLst/>
                <a:latin typeface="Consolas" panose="020B0609020204030204" pitchFamily="49" charset="0"/>
              </a:rPr>
              <a:t>hsl</a:t>
            </a:r>
            <a:r>
              <a:rPr kumimoji="0" lang="en-US" altLang="en-US" sz="2000" b="0" i="0" u="none" strike="noStrike" cap="none" normalizeH="0" baseline="0" dirty="0">
                <a:ln>
                  <a:noFill/>
                </a:ln>
                <a:solidFill>
                  <a:srgbClr val="273239"/>
                </a:solidFill>
                <a:effectLst/>
                <a:latin typeface="Consolas" panose="020B0609020204030204" pitchFamily="49" charset="0"/>
              </a:rPr>
              <a:t>(45, 100%, 50%);"&gt;</a:t>
            </a:r>
            <a:br>
              <a:rPr kumimoji="0" lang="en-US" altLang="en-US" sz="2000" b="0" i="0" u="none" strike="noStrike" cap="none" normalizeH="0" baseline="0" dirty="0">
                <a:ln>
                  <a:noFill/>
                </a:ln>
                <a:solidFill>
                  <a:srgbClr val="273239"/>
                </a:solidFill>
                <a:effectLst/>
                <a:latin typeface="Consolas" panose="020B0609020204030204" pitchFamily="49" charset="0"/>
              </a:rPr>
            </a:br>
            <a:r>
              <a:rPr kumimoji="0" lang="en-US" altLang="en-US" sz="2000" b="0" i="0" u="none" strike="noStrike" cap="none" normalizeH="0" baseline="0" dirty="0">
                <a:ln>
                  <a:noFill/>
                </a:ln>
                <a:solidFill>
                  <a:srgbClr val="273239"/>
                </a:solidFill>
                <a:effectLst/>
                <a:latin typeface="Consolas" panose="020B0609020204030204" pitchFamily="49" charset="0"/>
              </a:rPr>
              <a:t>This div has a golden background using HSL</a:t>
            </a:r>
            <a:br>
              <a:rPr kumimoji="0" lang="en-US" altLang="en-US" sz="2000" b="0" i="0" u="none" strike="noStrike" cap="none" normalizeH="0" baseline="0" dirty="0">
                <a:ln>
                  <a:noFill/>
                </a:ln>
                <a:solidFill>
                  <a:srgbClr val="273239"/>
                </a:solidFill>
                <a:effectLst/>
                <a:latin typeface="Consolas" panose="020B0609020204030204" pitchFamily="49" charset="0"/>
              </a:rPr>
            </a:br>
            <a:r>
              <a:rPr kumimoji="0" lang="en-US" altLang="en-US" sz="2000" b="0" i="0" u="none" strike="noStrike" cap="none" normalizeH="0" baseline="0" dirty="0">
                <a:ln>
                  <a:noFill/>
                </a:ln>
                <a:solidFill>
                  <a:srgbClr val="273239"/>
                </a:solidFill>
                <a:effectLst/>
                <a:latin typeface="Consolas" panose="020B0609020204030204" pitchFamily="49" charset="0"/>
              </a:rPr>
              <a:t>&lt;/div&gt;</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79533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6338</TotalTime>
  <Words>2344</Words>
  <Application>Microsoft Office PowerPoint</Application>
  <PresentationFormat>Widescreen</PresentationFormat>
  <Paragraphs>304</Paragraphs>
  <Slides>51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51</vt:i4>
      </vt:variant>
    </vt:vector>
  </HeadingPairs>
  <TitlesOfParts>
    <vt:vector size="62" baseType="lpstr">
      <vt:lpstr>Aptos</vt:lpstr>
      <vt:lpstr>Aptos Display</vt:lpstr>
      <vt:lpstr>Arial</vt:lpstr>
      <vt:lpstr>Calibri</vt:lpstr>
      <vt:lpstr>Consolas</vt:lpstr>
      <vt:lpstr>Nunito</vt:lpstr>
      <vt:lpstr>Segoe UI</vt:lpstr>
      <vt:lpstr>Source Sans Pro</vt:lpstr>
      <vt:lpstr>Times New Roman</vt:lpstr>
      <vt:lpstr>Verdana</vt:lpstr>
      <vt:lpstr>Office Theme</vt:lpstr>
      <vt:lpstr>Unit 3</vt:lpstr>
      <vt:lpstr>Unit 3</vt:lpstr>
      <vt:lpstr>What is CSS? </vt:lpstr>
      <vt:lpstr>PowerPoint Presentation</vt:lpstr>
      <vt:lpstr>PowerPoint Presentation</vt:lpstr>
      <vt:lpstr>PowerPoint Presentation</vt:lpstr>
      <vt:lpstr>Inline CSS </vt:lpstr>
      <vt:lpstr>Internal CSS </vt:lpstr>
      <vt:lpstr>External CSS</vt:lpstr>
      <vt:lpstr>PowerPoint Presentation</vt:lpstr>
      <vt:lpstr>Cascading Order </vt:lpstr>
      <vt:lpstr>CSS Comments </vt:lpstr>
      <vt:lpstr>PowerPoint Presentation</vt:lpstr>
      <vt:lpstr>PowerPoint Presentation</vt:lpstr>
      <vt:lpstr>PowerPoint Presentation</vt:lpstr>
      <vt:lpstr>PowerPoint Presentation</vt:lpstr>
      <vt:lpstr>PowerPoint Presentation</vt:lpstr>
      <vt:lpstr>CSS Class Selector</vt:lpstr>
      <vt:lpstr>PowerPoint Presentation</vt:lpstr>
      <vt:lpstr>PowerPoint Presentation</vt:lpstr>
      <vt:lpstr>PowerPoint Presentation</vt:lpstr>
      <vt:lpstr>PowerPoint Presentation</vt:lpstr>
      <vt:lpstr>PowerPoint Presentation</vt:lpstr>
      <vt:lpstr>ID Selector</vt:lpstr>
      <vt:lpstr>PowerPoint Presentation</vt:lpstr>
      <vt:lpstr>PowerPoint Presentation</vt:lpstr>
      <vt:lpstr>PowerPoint Presentation</vt:lpstr>
      <vt:lpstr>PowerPoint Presentation</vt:lpstr>
      <vt:lpstr>PowerPoint Presentation</vt:lpstr>
      <vt:lpstr>Color Properties</vt:lpstr>
      <vt:lpstr>CSS font Property </vt:lpstr>
      <vt:lpstr>PowerPoint Presentation</vt:lpstr>
      <vt:lpstr>Font Variant</vt:lpstr>
      <vt:lpstr>The font-size Property </vt:lpstr>
      <vt:lpstr>PowerPoint Presentation</vt:lpstr>
      <vt:lpstr>Line Height Property</vt:lpstr>
      <vt:lpstr>PowerPoint Presentation</vt:lpstr>
      <vt:lpstr>Text Properties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dc:title>
  <dc:creator>shashvat.sharma13@outlook.com</dc:creator>
  <cp:lastModifiedBy>Dr. Arshpreet  Kaur</cp:lastModifiedBy>
  <cp:revision>22</cp:revision>
  <dcterms:created xsi:type="dcterms:W3CDTF">2024-03-14T06:57:25Z</dcterms:created>
  <dcterms:modified xsi:type="dcterms:W3CDTF">2025-03-25T05:51:17Z</dcterms:modified>
</cp:coreProperties>
</file>